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 id="2147483804" r:id="rId2"/>
  </p:sldMasterIdLst>
  <p:notesMasterIdLst>
    <p:notesMasterId r:id="rId19"/>
  </p:notesMasterIdLst>
  <p:handoutMasterIdLst>
    <p:handoutMasterId r:id="rId20"/>
  </p:handoutMasterIdLst>
  <p:sldIdLst>
    <p:sldId id="436" r:id="rId25"/>
    <p:sldId id="437"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FEA"/>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24" autoAdjust="0"/>
  </p:normalViewPr>
  <p:slideViewPr>
    <p:cSldViewPr>
      <p:cViewPr varScale="1">
        <p:scale>
          <a:sx n="65" d="100"/>
          <a:sy n="65" d="100"/>
        </p:scale>
        <p:origin x="155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51B6C61-D26D-4CEA-A1F0-27D95809EFC3}" type="datetimeFigureOut">
              <a:rPr lang="en-US" smtClean="0"/>
              <a:pPr/>
              <a:t>9/5/2026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F6C1F1A-88C9-4BF9-8699-F22C6D8974EF}" type="slidenum">
              <a:rPr lang="en-US" smtClean="0"/>
              <a:pPr/>
              <a:t>‹#›</a:t>
            </a:fld>
            <a:endParaRPr lang="en-US"/>
          </a:p>
        </p:txBody>
      </p:sp>
    </p:spTree>
    <p:extLst>
      <p:ext uri="{BB962C8B-B14F-4D97-AF65-F5344CB8AC3E}">
        <p14:creationId xmlns:p14="http://schemas.microsoft.com/office/powerpoint/2010/main" val="22679753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05/09/2026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1751717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seminar topic is AI in Disaster Management: how artificial intelligence helps predict disasters, assess damage, extract critical information and plan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the presentation, following the seminar template.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Disasters such as floods, cyclones and earthquakes cause huge losses every year. Traditional management depends on manual surveys and delayed information. Today we have satellite and drone imagery, IoT sensors and social media giving data in real time. AI can process this data quickly. The diagram shows the disaster management cycle - mitigation, preparedness, response and recovery - and AI can support every 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objectives are to understand where AI fits in each phase of disaster management, study the main AI techniques, explore real applications, analyse a complete system pipeline, and discuss challenges.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grouped the literature into four themes. Systematic reviews give the overall map - the Muthukumar review alone synthesises 96 studies. Hazard-specific papers cover floods, earthquakes and wildfires. The ACL survey covers large language models, and the Nature Communications paper presents DisasTeller, a multi-agent vision-language system for damage assessment and reporting.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each paper and what it reports. The first four are broad reviews and hazard-specific reviews for floods, fires and earthquakes.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summarises each paper and what it reports. These cover AIoT for wildfires, large language models, and the DisasTeller vision-language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primary baseline is the systematic review by Muthukumar et al., because it covers all phases and AI approaches. The ACL survey supports the language-model part, and the DisasTeller paper shows how vision-language agents can automate damage assessment and reporting.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overall system. Data comes from satellites and drones, IoT sensors, social media and government databases. The AI layer cleans and fuses it, then applies deep learning, NLP and optimization models. The decision-support layer predicts risk, assesses damage, extracts information and allocates resources. Outputs are warnings, damage maps, evacuation routes and reports. A feedback loop with human validation keeps improving the models.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early warning, the model takes historical and real-time readings such as rainfall and river level. After normalisation the data is split into time windows and fed to an LSTM or Transformer. The LSTM's gates let it remember long-term patterns like several days of rain. It predicts the flood risk for the next hours; if the prediction crosses a threshold, an alert is issued for that region.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damage assessment, the system takes satellite or drone images from before and after the event. After aligning them, a CNN or Vision Transformer performs semantic segmentation and labels each building or region: no damage, minor, major or destroyed. The result is a damage map overlaid on GIS for responders. DisasTeller extends this with four vision-language agents that also produce alerts, emergency reports and resource and recovery plans.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a disaster people post messages like these. An NLP model such as BERT or an LLM with named entity recognition extracts structured fields - location, event, need and severity - so responders can prioritise. For evacuation, reinforcement learning treats routing as a game: the agent observes the state - location, congestion and hazard - chooses the next road, and gets a reward for safety and speed. Algorithms like PPO or DQN learn the best evacuation policy.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features are data fusion, real-time monitoring, prediction, automatic mapping and decision support. Advantages include more lead time, faster assessment and better use of resources. But there are real limitations: data on rare disasters is scarce, models may not transfer to new regions, black-box outputs reduce trust, infrastructure can fail during the disaster itself, and social media contains misinformation.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Applications include flood forecasting, wildfire detection with AI-enabled IoT, earthquake damage mapping, cyclone tracking, crisis informatics using language models, and relief logistics.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traditional and AI-based approaches: AI gives earlier warnings, maps damage in hours instead of days, triages social media automatically, adapts routes as conditions change and generates reports quickly. But AI should support human decision-makers, and its outputs must be explainable and trusted.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AI can strengthen early detection, damage assessment, information extraction and resource allocation. Future work should focus on multimodal models, explainability, edge deployment and close collaboration with disaster-management authorities.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format; numbers in square brackets on the slides point to this list.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A9361A-5752-4A3F-B317-24EB821E62FC}"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84ABE7-6F46-483A-A318-EB7CEB294141}"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677C19-3876-44A2-A0CE-E292A435F0D3}"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47744B-983E-408C-A292-CA00D1954083}"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3B162A-B07D-4289-86AD-0FFE81BAD1C7}" type="datetime1">
              <a:rPr lang="en-GB" smtClean="0"/>
              <a:t>05/09/2026</a:t>
            </a:fld>
            <a:endParaRPr lang="en-GB"/>
          </a:p>
        </p:txBody>
      </p:sp>
      <p:sp>
        <p:nvSpPr>
          <p:cNvPr id="8" name="Footer Placeholder 7"/>
          <p:cNvSpPr>
            <a:spLocks noGrp="1"/>
          </p:cNvSpPr>
          <p:nvPr>
            <p:ph type="ftr" sz="quarter" idx="11"/>
          </p:nvPr>
        </p:nvSpPr>
        <p:spPr/>
        <p:txBody>
          <a:bodyPr/>
          <a:lstStyle/>
          <a:p>
            <a:r>
              <a:rPr lang="en-GB"/>
              <a:t>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661FC8-3BD0-4B3E-92B0-041560FB0C80}" type="datetime1">
              <a:rPr lang="en-GB" smtClean="0"/>
              <a:t>05/09/2026</a:t>
            </a:fld>
            <a:endParaRPr lang="en-GB"/>
          </a:p>
        </p:txBody>
      </p:sp>
      <p:sp>
        <p:nvSpPr>
          <p:cNvPr id="4" name="Footer Placeholder 3"/>
          <p:cNvSpPr>
            <a:spLocks noGrp="1"/>
          </p:cNvSpPr>
          <p:nvPr>
            <p:ph type="ftr" sz="quarter" idx="11"/>
          </p:nvPr>
        </p:nvSpPr>
        <p:spPr/>
        <p:txBody>
          <a:bodyPr/>
          <a:lstStyle/>
          <a:p>
            <a:r>
              <a:rPr lang="en-GB"/>
              <a:t>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02F35F-FAE8-42C5-8897-AB27EC360220}" type="datetime1">
              <a:rPr lang="en-GB" smtClean="0"/>
              <a:t>05/09/2026</a:t>
            </a:fld>
            <a:endParaRPr lang="en-GB"/>
          </a:p>
        </p:txBody>
      </p:sp>
      <p:sp>
        <p:nvSpPr>
          <p:cNvPr id="3" name="Footer Placeholder 2"/>
          <p:cNvSpPr>
            <a:spLocks noGrp="1"/>
          </p:cNvSpPr>
          <p:nvPr>
            <p:ph type="ftr" sz="quarter" idx="11"/>
          </p:nvPr>
        </p:nvSpPr>
        <p:spPr/>
        <p:txBody>
          <a:bodyPr/>
          <a:lstStyle/>
          <a:p>
            <a:r>
              <a:rPr lang="en-GB"/>
              <a:t>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7C1F6-3D22-4CB7-8FE7-C5A85987562C}"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DA32B8-8311-4207-ADB6-15A12511FDD5}"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FA4A5E-0E72-4911-9A6C-0A673FF39788}"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FDF5CE2-47B1-41AD-9B44-AEAA57961DF6}"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448341-C165-4832-A930-9C14941FE0C1}"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5333B3-7E08-4232-BF01-CEA4A255EC85}"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3250C1-0B22-40BA-8D3C-820F66690A62}"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66D7607-6B78-432E-ACEE-70CC6F79C167}"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B2FA96-2CB9-4FF3-985F-7F96F41E8B43}" type="datetime1">
              <a:rPr lang="en-GB" smtClean="0"/>
              <a:t>05/09/2026</a:t>
            </a:fld>
            <a:endParaRPr lang="en-GB"/>
          </a:p>
        </p:txBody>
      </p:sp>
      <p:sp>
        <p:nvSpPr>
          <p:cNvPr id="8" name="Footer Placeholder 7"/>
          <p:cNvSpPr>
            <a:spLocks noGrp="1"/>
          </p:cNvSpPr>
          <p:nvPr>
            <p:ph type="ftr" sz="quarter" idx="11"/>
          </p:nvPr>
        </p:nvSpPr>
        <p:spPr/>
        <p:txBody>
          <a:bodyPr/>
          <a:lstStyle/>
          <a:p>
            <a:r>
              <a:rPr lang="en-GB"/>
              <a:t>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8717EC-8CF9-4F7A-A293-4675CA811524}" type="datetime1">
              <a:rPr lang="en-GB" smtClean="0"/>
              <a:t>05/09/2026</a:t>
            </a:fld>
            <a:endParaRPr lang="en-GB"/>
          </a:p>
        </p:txBody>
      </p:sp>
      <p:sp>
        <p:nvSpPr>
          <p:cNvPr id="4" name="Footer Placeholder 3"/>
          <p:cNvSpPr>
            <a:spLocks noGrp="1"/>
          </p:cNvSpPr>
          <p:nvPr>
            <p:ph type="ftr" sz="quarter" idx="11"/>
          </p:nvPr>
        </p:nvSpPr>
        <p:spPr/>
        <p:txBody>
          <a:bodyPr/>
          <a:lstStyle/>
          <a:p>
            <a:r>
              <a:rPr lang="en-GB"/>
              <a:t>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A5CBD2-66C1-423B-A11A-13158259126E}" type="datetime1">
              <a:rPr lang="en-GB" smtClean="0"/>
              <a:t>05/09/2026</a:t>
            </a:fld>
            <a:endParaRPr lang="en-GB"/>
          </a:p>
        </p:txBody>
      </p:sp>
      <p:sp>
        <p:nvSpPr>
          <p:cNvPr id="3" name="Footer Placeholder 2"/>
          <p:cNvSpPr>
            <a:spLocks noGrp="1"/>
          </p:cNvSpPr>
          <p:nvPr>
            <p:ph type="ftr" sz="quarter" idx="11"/>
          </p:nvPr>
        </p:nvSpPr>
        <p:spPr/>
        <p:txBody>
          <a:bodyPr/>
          <a:lstStyle/>
          <a:p>
            <a:r>
              <a:rPr lang="en-GB"/>
              <a:t>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65167D-FA03-46DF-85C9-4E3D5ADDD51D}"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27E4E-DF66-43CE-8D2C-97EC90D9C7A6}" type="datetime1">
              <a:rPr lang="en-GB" smtClean="0"/>
              <a:t>05/09/2026</a:t>
            </a:fld>
            <a:endParaRPr lang="en-GB"/>
          </a:p>
        </p:txBody>
      </p:sp>
      <p:sp>
        <p:nvSpPr>
          <p:cNvPr id="6" name="Footer Placeholder 5"/>
          <p:cNvSpPr>
            <a:spLocks noGrp="1"/>
          </p:cNvSpPr>
          <p:nvPr>
            <p:ph type="ftr" sz="quarter" idx="11"/>
          </p:nvPr>
        </p:nvSpPr>
        <p:spPr/>
        <p:txBody>
          <a:bodyPr/>
          <a:lstStyle/>
          <a:p>
            <a:r>
              <a:rPr lang="en-GB"/>
              <a:t>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F1A745-BAE3-4F75-B15E-70CC5EF55A39}"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3DBEF5-61E2-41D4-ADC0-52B6DDA9D0E3}" type="datetime1">
              <a:rPr lang="en-GB" smtClean="0"/>
              <a:t>05/09/2026</a:t>
            </a:fld>
            <a:endParaRPr lang="en-GB"/>
          </a:p>
        </p:txBody>
      </p:sp>
      <p:sp>
        <p:nvSpPr>
          <p:cNvPr id="5" name="Footer Placeholder 4"/>
          <p:cNvSpPr>
            <a:spLocks noGrp="1"/>
          </p:cNvSpPr>
          <p:nvPr>
            <p:ph type="ftr" sz="quarter" idx="11"/>
          </p:nvPr>
        </p:nvSpPr>
        <p:spPr/>
        <p:txBody>
          <a:bodyPr/>
          <a:lstStyle/>
          <a:p>
            <a:r>
              <a:rPr lang="en-GB"/>
              <a:t>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transition advClick="0" advTm="2000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60F32-3C46-499F-A5B1-466BADF91087}" type="datetime1">
              <a:rPr lang="en-GB" smtClean="0"/>
              <a:t>05/09/2026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advClick="0" advTm="20000"/>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4274D-0DB2-4E56-B769-729881BF81BB}" type="datetime1">
              <a:rPr lang="en-GB" smtClean="0"/>
              <a:t>05/09/2026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advClick="0" advTm="20000"/>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image" Target="../media/image30.png"/><Relationship Id="rId15" Type="http://schemas.openxmlformats.org/officeDocument/2006/relationships/image" Target="../media/image31.png"/><Relationship Id="rId16" Type="http://schemas.openxmlformats.org/officeDocument/2006/relationships/image" Target="../media/image32.png"/><Relationship Id="rId17" Type="http://schemas.openxmlformats.org/officeDocument/2006/relationships/image" Target="../media/image33.png"/><Relationship Id="rId18" Type="http://schemas.openxmlformats.org/officeDocument/2006/relationships/image" Target="../media/image34.png"/><Relationship Id="rId19"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17.png"/><Relationship Id="rId8" Type="http://schemas.openxmlformats.org/officeDocument/2006/relationships/image" Target="../media/image45.png"/><Relationship Id="rId9"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39.png"/><Relationship Id="rId4" Type="http://schemas.openxmlformats.org/officeDocument/2006/relationships/image" Target="../media/image9.png"/><Relationship Id="rId5"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jpe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notesSlide" Target="../notesSlides/notesSlide19.xml"/></Relationships>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685800" y="1417320"/>
            <a:ext cx="7772400" cy="5257800"/>
          </a:xfrm>
        </p:spPr>
        <p:txBody>
          <a:bodyPr anchor="t">
            <a:noAutofit/>
          </a:bodyPr>
          <a:lstStyle/>
          <a:p>
            <a:pPr algn="ctr">
              <a:spcAft>
                <a:spcPts val="1400"/>
              </a:spcAft>
            </a:pPr>
            <a:r>
              <a:rPr lang="en-US" sz="3000" b="1" dirty="0">
                <a:solidFill>
                  <a:srgbClr val="1F497D"/>
                </a:solidFill>
                <a:latin typeface="Times New Roman"/>
                <a:cs typeface="Times New Roman"/>
              </a:rPr>
              <a:t>AI in Disaster Management</a:t>
            </a:r>
          </a:p>
          <a:p>
            <a:pPr algn="ctr">
              <a:spcAft>
                <a:spcPts val="400"/>
              </a:spcAft>
            </a:pPr>
            <a:r>
              <a:rPr lang="en-US" sz="2000" b="1" dirty="0">
                <a:solidFill>
                  <a:srgbClr val="000000"/>
                </a:solidFill>
                <a:latin typeface="Times New Roman"/>
                <a:cs typeface="Times New Roman"/>
              </a:rPr>
              <a:t>Delivered By:</a:t>
            </a:r>
          </a:p>
          <a:p>
            <a:pPr algn="ctr">
              <a:spcAft>
                <a:spcPts val="0"/>
              </a:spcAft>
            </a:pPr>
            <a:r>
              <a:rPr lang="en-US" sz="1800" b="1" dirty="0">
                <a:solidFill>
                  <a:srgbClr val="000000"/>
                </a:solidFill>
                <a:latin typeface="Times New Roman"/>
                <a:cs typeface="Times New Roman"/>
              </a:rPr>
              <a:t>Vedika Dandade</a:t>
            </a:r>
          </a:p>
          <a:p>
            <a:pPr algn="ctr">
              <a:spcAft>
                <a:spcPts val="1200"/>
              </a:spcAft>
            </a:pPr>
            <a:r>
              <a:rPr lang="en-US" sz="1600" b="0" dirty="0">
                <a:solidFill>
                  <a:srgbClr val="000000"/>
                </a:solidFill>
                <a:latin typeface="Times New Roman"/>
                <a:cs typeface="Times New Roman"/>
              </a:rPr>
              <a:t>Roll No.: B344  |  Third Year (Semester V)</a:t>
            </a:r>
          </a:p>
          <a:p>
            <a:pPr algn="ctr">
              <a:spcAft>
                <a:spcPts val="0"/>
              </a:spcAft>
            </a:pPr>
            <a:r>
              <a:rPr lang="en-US" sz="1800" b="1" dirty="0">
                <a:solidFill>
                  <a:srgbClr val="000000"/>
                </a:solidFill>
                <a:latin typeface="Times New Roman"/>
                <a:cs typeface="Times New Roman"/>
              </a:rPr>
              <a:t>Department of Computer Engineering</a:t>
            </a:r>
          </a:p>
          <a:p>
            <a:pPr algn="ctr">
              <a:spcAft>
                <a:spcPts val="1200"/>
              </a:spcAft>
            </a:pPr>
            <a:r>
              <a:rPr lang="en-US" sz="1800" b="1" dirty="0">
                <a:solidFill>
                  <a:srgbClr val="000000"/>
                </a:solidFill>
                <a:latin typeface="Times New Roman"/>
                <a:cs typeface="Times New Roman"/>
              </a:rPr>
              <a:t>Bajaj Institute of Technology, Wardha.</a:t>
            </a:r>
          </a:p>
          <a:p>
            <a:pPr algn="ctr">
              <a:spcAft>
                <a:spcPts val="400"/>
              </a:spcAft>
            </a:pPr>
            <a:r>
              <a:rPr lang="en-US" sz="1800" b="1" dirty="0">
                <a:solidFill>
                  <a:srgbClr val="000000"/>
                </a:solidFill>
                <a:latin typeface="Times New Roman"/>
                <a:cs typeface="Times New Roman"/>
              </a:rPr>
              <a:t>Under Supervision of:</a:t>
            </a:r>
          </a:p>
          <a:p>
            <a:pPr algn="ctr">
              <a:spcAft>
                <a:spcPts val="0"/>
              </a:spcAft>
            </a:pPr>
            <a:r>
              <a:rPr lang="en-US" sz="1800" b="1" dirty="0">
                <a:solidFill>
                  <a:srgbClr val="FF0000"/>
                </a:solidFill>
                <a:latin typeface="Times New Roman"/>
                <a:cs typeface="Times New Roman"/>
              </a:rPr>
              <a:t>Name of Faculty</a:t>
            </a:r>
          </a:p>
          <a:p>
            <a:pPr algn="ctr">
              <a:spcAft>
                <a:spcPts val="0"/>
              </a:spcAft>
            </a:pPr>
            <a:r>
              <a:rPr lang="en-US" sz="1800" b="1" dirty="0">
                <a:solidFill>
                  <a:srgbClr val="FF0000"/>
                </a:solidFill>
                <a:latin typeface="Times New Roman"/>
                <a:cs typeface="Times New Roman"/>
              </a:rPr>
              <a:t>Designation of faculty</a:t>
            </a:r>
          </a:p>
          <a:p>
            <a:pPr algn="ctr">
              <a:spcAft>
                <a:spcPts val="0"/>
              </a:spcAft>
            </a:pPr>
            <a:r>
              <a:rPr lang="en-US" sz="1800" b="1" dirty="0">
                <a:solidFill>
                  <a:srgbClr val="000000"/>
                </a:solidFill>
                <a:latin typeface="Times New Roman"/>
                <a:cs typeface="Times New Roman"/>
              </a:rPr>
              <a:t>Computer Engineering Department, BIT, Wardha</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1745" r="3185"/>
          <a:stretch/>
        </p:blipFill>
        <p:spPr>
          <a:xfrm>
            <a:off x="1167826" y="54591"/>
            <a:ext cx="6984776" cy="1196752"/>
          </a:xfrm>
          <a:prstGeom prst="rect">
            <a:avLst/>
          </a:prstGeom>
        </p:spPr>
      </p:pic>
      <p:pic>
        <p:nvPicPr>
          <p:cNvPr id="8" name="Picture 7"/>
          <p:cNvPicPr>
            <a:picLocks noChangeAspect="1"/>
          </p:cNvPicPr>
          <p:nvPr/>
        </p:nvPicPr>
        <p:blipFill>
          <a:blip r:embed="rId3" cstate="print">
            <a:clrChange>
              <a:clrFrom>
                <a:srgbClr val="FDFCFA"/>
              </a:clrFrom>
              <a:clrTo>
                <a:srgbClr val="FDFCFA">
                  <a:alpha val="0"/>
                </a:srgbClr>
              </a:clrTo>
            </a:clrChange>
            <a:extLst>
              <a:ext uri="{28A0092B-C50C-407E-A947-70E740481C1C}">
                <a14:useLocalDpi xmlns:a14="http://schemas.microsoft.com/office/drawing/2010/main" val="0"/>
              </a:ext>
            </a:extLst>
          </a:blip>
          <a:stretch>
            <a:fillRect/>
          </a:stretch>
        </p:blipFill>
        <p:spPr>
          <a:xfrm>
            <a:off x="226388" y="218109"/>
            <a:ext cx="918823" cy="76053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p:cNvSpPr>
            <a:spLocks noGrp="1"/>
          </p:cNvSpPr>
          <p:nvPr>
            <p:ph type="title"/>
          </p:nvPr>
        </p:nvSpPr>
        <p:spPr>
          <a:xfrm>
            <a:off x="0" y="-24"/>
            <a:ext cx="9144000" cy="936104"/>
          </a:xfrm>
        </p:spPr>
        <p:style>
          <a:lnRef idx="1">
            <a:schemeClr val="accent1"/>
          </a:lnRef>
          <a:fillRef idx="2">
            <a:schemeClr val="accent1"/>
          </a:fillRef>
          <a:effectRef idx="1">
            <a:schemeClr val="accent1"/>
          </a:effectRef>
          <a:fontRef idx="minor">
            <a:schemeClr val="dk1"/>
          </a:fontRef>
        </p:style>
        <p:txBody>
          <a:bodyPr>
            <a:normAutofit/>
          </a:bodyPr>
          <a:lstStyle/>
          <a:p>
            <a:r>
              <a:rPr lang="en-US" sz="3600" dirty="0">
                <a:latin typeface="Times New Roman" pitchFamily="18" charset="0"/>
                <a:cs typeface="Times New Roman" pitchFamily="18" charset="0"/>
              </a:rPr>
              <a:t>Index</a:t>
            </a:r>
            <a:endParaRPr lang="en-US" sz="3600" b="1" dirty="0">
              <a:solidFill>
                <a:schemeClr val="bg1"/>
              </a:solidFill>
              <a:cs typeface="Times New Roman" pitchFamily="18" charset="0"/>
            </a:endParaRPr>
          </a:p>
        </p:txBody>
      </p:sp>
      <p:sp>
        <p:nvSpPr>
          <p:cNvPr id="6" name="Content Placeholder 6"/>
          <p:cNvSpPr txBox="1">
            <a:spLocks/>
          </p:cNvSpPr>
          <p:nvPr/>
        </p:nvSpPr>
        <p:spPr>
          <a:xfrm>
            <a:off x="0" y="980728"/>
            <a:ext cx="88392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8" name="TextBox 7"/>
          <p:cNvSpPr txBox="1"/>
          <p:nvPr/>
        </p:nvSpPr>
        <p:spPr>
          <a:xfrm>
            <a:off x="179512" y="1014687"/>
            <a:ext cx="8821644" cy="3970318"/>
          </a:xfrm>
          <a:prstGeom prst="rect">
            <a:avLst/>
          </a:prstGeom>
          <a:noFill/>
        </p:spPr>
        <p:txBody>
          <a:bodyPr wrap="square" rtlCol="0">
            <a:spAutoFit/>
          </a:bodyPr>
          <a:lstStyle/>
          <a:p>
            <a:pPr>
              <a:buFont typeface="Arial" pitchFamily="34" charset="0"/>
              <a:buChar char="•"/>
              <a:spcBef>
                <a:spcPts val="300"/>
              </a:spcBef>
            </a:pPr>
            <a:r>
              <a:rPr lang="en-US" sz="2200" dirty="0">
                <a:latin typeface="Times New Roman" pitchFamily="18" charset="0"/>
                <a:cs typeface="Times New Roman" pitchFamily="18" charset="0"/>
              </a:rPr>
              <a:t>  Introduction</a:t>
            </a:r>
          </a:p>
          <a:p>
            <a:pPr>
              <a:buFont typeface="Arial" pitchFamily="34" charset="0"/>
              <a:buChar char="•"/>
              <a:spcBef>
                <a:spcPts val="300"/>
              </a:spcBef>
            </a:pPr>
            <a:r>
              <a:rPr lang="en-US" sz="2200" dirty="0">
                <a:latin typeface="Times New Roman" pitchFamily="18" charset="0"/>
                <a:cs typeface="Times New Roman" pitchFamily="18" charset="0"/>
              </a:rPr>
              <a:t>  Objectives</a:t>
            </a:r>
          </a:p>
          <a:p>
            <a:pPr>
              <a:buFont typeface="Arial" pitchFamily="34" charset="0"/>
              <a:buChar char="•"/>
              <a:spcBef>
                <a:spcPts val="300"/>
              </a:spcBef>
            </a:pPr>
            <a:r>
              <a:rPr lang="en-US" sz="2200" dirty="0">
                <a:latin typeface="Times New Roman" pitchFamily="18" charset="0"/>
                <a:cs typeface="Times New Roman" pitchFamily="18" charset="0"/>
              </a:rPr>
              <a:t>  Literature Review</a:t>
            </a:r>
          </a:p>
          <a:p>
            <a:pPr>
              <a:buFont typeface="Arial" pitchFamily="34" charset="0"/>
              <a:buChar char="•"/>
              <a:spcBef>
                <a:spcPts val="300"/>
              </a:spcBef>
            </a:pPr>
            <a:r>
              <a:rPr lang="en-US" sz="2200" dirty="0">
                <a:latin typeface="Times New Roman" pitchFamily="18" charset="0"/>
                <a:cs typeface="Times New Roman" pitchFamily="18" charset="0"/>
              </a:rPr>
              <a:t>  Literature Survey (Tabular Form)</a:t>
            </a:r>
          </a:p>
          <a:p>
            <a:pPr>
              <a:buFont typeface="Arial" pitchFamily="34" charset="0"/>
              <a:buChar char="•"/>
              <a:spcBef>
                <a:spcPts val="300"/>
              </a:spcBef>
            </a:pPr>
            <a:r>
              <a:rPr lang="en-US" sz="2200" dirty="0">
                <a:latin typeface="Times New Roman" pitchFamily="18" charset="0"/>
                <a:cs typeface="Times New Roman" pitchFamily="18" charset="0"/>
              </a:rPr>
              <a:t>  Baseline Papers Selected</a:t>
            </a:r>
          </a:p>
          <a:p>
            <a:pPr>
              <a:buFont typeface="Arial" pitchFamily="34" charset="0"/>
              <a:buChar char="•"/>
              <a:spcBef>
                <a:spcPts val="300"/>
              </a:spcBef>
            </a:pPr>
            <a:r>
              <a:rPr lang="en-US" sz="2200" dirty="0">
                <a:latin typeface="Times New Roman" pitchFamily="18" charset="0"/>
                <a:cs typeface="Times New Roman" pitchFamily="18" charset="0"/>
              </a:rPr>
              <a:t>  System Architecture / Algorithms Studied</a:t>
            </a:r>
          </a:p>
          <a:p>
            <a:pPr>
              <a:buFont typeface="Arial" pitchFamily="34" charset="0"/>
              <a:buChar char="•"/>
              <a:spcBef>
                <a:spcPts val="300"/>
              </a:spcBef>
            </a:pPr>
            <a:r>
              <a:rPr lang="en-US" sz="2200" dirty="0">
                <a:latin typeface="Times New Roman" pitchFamily="18" charset="0"/>
                <a:cs typeface="Times New Roman" pitchFamily="18" charset="0"/>
              </a:rPr>
              <a:t>  Features / Advantages / Disadvantages</a:t>
            </a:r>
          </a:p>
          <a:p>
            <a:pPr>
              <a:buFont typeface="Arial" pitchFamily="34" charset="0"/>
              <a:buChar char="•"/>
              <a:spcBef>
                <a:spcPts val="300"/>
              </a:spcBef>
            </a:pPr>
            <a:r>
              <a:rPr lang="en-US" sz="2200" dirty="0">
                <a:latin typeface="Times New Roman" pitchFamily="18" charset="0"/>
                <a:cs typeface="Times New Roman" pitchFamily="18" charset="0"/>
              </a:rPr>
              <a:t>  Applications</a:t>
            </a:r>
          </a:p>
          <a:p>
            <a:pPr>
              <a:buFont typeface="Arial" pitchFamily="34" charset="0"/>
              <a:buChar char="•"/>
              <a:spcBef>
                <a:spcPts val="300"/>
              </a:spcBef>
            </a:pPr>
            <a:r>
              <a:rPr lang="en-US" sz="2200" dirty="0">
                <a:latin typeface="Times New Roman" pitchFamily="18" charset="0"/>
                <a:cs typeface="Times New Roman" pitchFamily="18" charset="0"/>
              </a:rPr>
              <a:t>  Analysis / Comparison</a:t>
            </a:r>
          </a:p>
          <a:p>
            <a:pPr>
              <a:buFont typeface="Arial" pitchFamily="34" charset="0"/>
              <a:buChar char="•"/>
              <a:spcBef>
                <a:spcPts val="300"/>
              </a:spcBef>
            </a:pPr>
            <a:r>
              <a:rPr lang="en-US" sz="2200" dirty="0">
                <a:latin typeface="Times New Roman" pitchFamily="18" charset="0"/>
                <a:cs typeface="Times New Roman" pitchFamily="18" charset="0"/>
              </a:rPr>
              <a:t>  Conclusion &amp; Future Scope</a:t>
            </a:r>
          </a:p>
          <a:p>
            <a:pPr>
              <a:buFont typeface="Arial" pitchFamily="34" charset="0"/>
              <a:buChar char="•"/>
              <a:spcBef>
                <a:spcPts val="300"/>
              </a:spcBef>
            </a:pPr>
            <a:r>
              <a:rPr lang="en-US" sz="2200" dirty="0">
                <a:latin typeface="Times New Roman" pitchFamily="18" charset="0"/>
                <a:cs typeface="Times New Roman" pitchFamily="18" charset="0"/>
              </a:rPr>
              <a:t>  References</a:t>
            </a:r>
          </a:p>
        </p:txBody>
      </p:sp>
      <p:sp>
        <p:nvSpPr>
          <p:cNvPr id="11" name="Slide Number Placeholder 10"/>
          <p:cNvSpPr>
            <a:spLocks noGrp="1"/>
          </p:cNvSpPr>
          <p:nvPr>
            <p:ph type="sldNum" sz="quarter" idx="12"/>
          </p:nvPr>
        </p:nvSpPr>
        <p:spPr/>
        <p:txBody>
          <a:bodyPr/>
          <a:lstStyle/>
          <a:p>
            <a:fld id="{1EC248AB-E565-412B-9D95-9B07D6A4F3F3}" type="slidenum">
              <a:rPr lang="en-GB" smtClean="0"/>
              <a:pPr/>
              <a:t>4</a:t>
            </a:fld>
            <a:endParaRPr lang="en-GB"/>
          </a:p>
        </p:txBody>
      </p:sp>
      <p:pic>
        <p:nvPicPr>
          <p:cNvPr id="3" name="Picture 2"/>
          <p:cNvPicPr>
            <a:picLocks noChangeAspect="1"/>
          </p:cNvPicPr>
          <p:nvPr/>
        </p:nvPicPr>
        <p:blipFill>
          <a:blip r:embed="rId2" cstate="print">
            <a:clrChange>
              <a:clrFrom>
                <a:srgbClr val="FDFCFA"/>
              </a:clrFrom>
              <a:clrTo>
                <a:srgbClr val="FDFCFA">
                  <a:alpha val="0"/>
                </a:srgbClr>
              </a:clrTo>
            </a:clrChange>
            <a:extLst>
              <a:ext uri="{28A0092B-C50C-407E-A947-70E740481C1C}">
                <a14:useLocalDpi xmlns:a14="http://schemas.microsoft.com/office/drawing/2010/main" val="0"/>
              </a:ext>
            </a:extLst>
          </a:blip>
          <a:stretch>
            <a:fillRect/>
          </a:stretch>
        </p:blipFill>
        <p:spPr>
          <a:xfrm>
            <a:off x="-1" y="15990"/>
            <a:ext cx="1092271" cy="9041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Introduction</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Rounded Rectangle 5"/>
          <p:cNvSpPr/>
          <p:nvPr/>
        </p:nvSpPr>
        <p:spPr>
          <a:xfrm>
            <a:off x="365760" y="1234440"/>
            <a:ext cx="4160520" cy="1481328"/>
          </a:xfrm>
          <a:prstGeom prst="roundRect">
            <a:avLst>
              <a:gd name="adj" fmla="val 4938"/>
            </a:avLst>
          </a:prstGeom>
          <a:solidFill>
            <a:srgbClr val="F2F6FB"/>
          </a:solidFill>
          <a:ln>
            <a:noFill/>
          </a:ln>
        </p:spPr>
        <p:txBody>
          <a:bodyPr rtlCol="0" anchor="ctr" wrap="square" lIns="54864" rIns="54864" tIns="54864" bIns="54864"/>
          <a:lstStyle/>
          <a:p>
            <a:pPr algn="ctr"/>
          </a:p>
        </p:txBody>
      </p:sp>
      <p:sp>
        <p:nvSpPr>
          <p:cNvPr id="7" name="Oval 6"/>
          <p:cNvSpPr/>
          <p:nvPr/>
        </p:nvSpPr>
        <p:spPr>
          <a:xfrm>
            <a:off x="502920" y="1389888"/>
            <a:ext cx="502920" cy="502920"/>
          </a:xfrm>
          <a:prstGeom prst="ellipse">
            <a:avLst/>
          </a:prstGeom>
          <a:solidFill>
            <a:srgbClr val="1F497D"/>
          </a:solidFill>
          <a:ln>
            <a:noFill/>
          </a:ln>
        </p:spPr>
        <p:txBody>
          <a:bodyPr rtlCol="0" anchor="ctr" wrap="square" lIns="54864" rIns="54864" tIns="54864" bIns="54864"/>
          <a:lstStyle/>
          <a:p>
            <a:pPr algn="ctr"/>
          </a:p>
        </p:txBody>
      </p:sp>
      <p:pic>
        <p:nvPicPr>
          <p:cNvPr id="8" name="Picture 7" descr="house_w.png"/>
          <p:cNvPicPr>
            <a:picLocks noChangeAspect="1"/>
          </p:cNvPicPr>
          <p:nvPr/>
        </p:nvPicPr>
        <p:blipFill>
          <a:blip r:embed="rId3"/>
          <a:stretch>
            <a:fillRect/>
          </a:stretch>
        </p:blipFill>
        <p:spPr>
          <a:xfrm>
            <a:off x="623620" y="1510588"/>
            <a:ext cx="261518" cy="261518"/>
          </a:xfrm>
          <a:prstGeom prst="rect">
            <a:avLst/>
          </a:prstGeom>
        </p:spPr>
      </p:pic>
      <p:sp>
        <p:nvSpPr>
          <p:cNvPr id="9" name="TextBox 8"/>
          <p:cNvSpPr txBox="1"/>
          <p:nvPr/>
        </p:nvSpPr>
        <p:spPr>
          <a:xfrm>
            <a:off x="1143000" y="1389888"/>
            <a:ext cx="3200400" cy="502920"/>
          </a:xfrm>
          <a:prstGeom prst="rect">
            <a:avLst/>
          </a:prstGeom>
          <a:noFill/>
        </p:spPr>
        <p:txBody>
          <a:bodyPr wrap="square" anchor="ctr" lIns="36576" rIns="36576" tIns="36576" bIns="36576"/>
          <a:lstStyle/>
          <a:p>
            <a:pPr algn="l">
              <a:spcAft>
                <a:spcPts val="400"/>
              </a:spcAft>
            </a:pPr>
            <a:r>
              <a:rPr sz="1700" b="1" i="0">
                <a:solidFill>
                  <a:srgbClr val="1F497D"/>
                </a:solidFill>
                <a:latin typeface="Calibri"/>
              </a:rPr>
              <a:t>Background</a:t>
            </a:r>
          </a:p>
        </p:txBody>
      </p:sp>
      <p:sp>
        <p:nvSpPr>
          <p:cNvPr id="10" name="TextBox 9"/>
          <p:cNvSpPr txBox="1"/>
          <p:nvPr/>
        </p:nvSpPr>
        <p:spPr>
          <a:xfrm>
            <a:off x="502920" y="1965960"/>
            <a:ext cx="3931920" cy="731520"/>
          </a:xfrm>
          <a:prstGeom prst="rect">
            <a:avLst/>
          </a:prstGeom>
          <a:noFill/>
        </p:spPr>
        <p:txBody>
          <a:bodyPr wrap="square" anchor="t" lIns="36576" rIns="36576" tIns="36576" bIns="36576"/>
          <a:lstStyle/>
          <a:p>
            <a:pPr algn="l">
              <a:spcAft>
                <a:spcPts val="400"/>
              </a:spcAft>
            </a:pPr>
            <a:r>
              <a:rPr sz="1400" b="0" i="0">
                <a:solidFill>
                  <a:srgbClr val="262626"/>
                </a:solidFill>
                <a:latin typeface="Calibri"/>
              </a:rPr>
              <a:t>Floods, cyclones, earthquakes, wildfires and landslides cause loss of life, damage to infrastructure and economic setbacks.</a:t>
            </a:r>
          </a:p>
        </p:txBody>
      </p:sp>
      <p:sp>
        <p:nvSpPr>
          <p:cNvPr id="11" name="Rounded Rectangle 10"/>
          <p:cNvSpPr/>
          <p:nvPr/>
        </p:nvSpPr>
        <p:spPr>
          <a:xfrm>
            <a:off x="365760" y="2880360"/>
            <a:ext cx="4160520" cy="1481328"/>
          </a:xfrm>
          <a:prstGeom prst="roundRect">
            <a:avLst>
              <a:gd name="adj" fmla="val 4938"/>
            </a:avLst>
          </a:prstGeom>
          <a:solidFill>
            <a:srgbClr val="F2F6FB"/>
          </a:solidFill>
          <a:ln>
            <a:noFill/>
          </a:ln>
        </p:spPr>
        <p:txBody>
          <a:bodyPr rtlCol="0" anchor="ctr" wrap="square" lIns="54864" rIns="54864" tIns="54864" bIns="54864"/>
          <a:lstStyle/>
          <a:p>
            <a:pPr algn="ctr"/>
          </a:p>
        </p:txBody>
      </p:sp>
      <p:sp>
        <p:nvSpPr>
          <p:cNvPr id="12" name="Oval 11"/>
          <p:cNvSpPr/>
          <p:nvPr/>
        </p:nvSpPr>
        <p:spPr>
          <a:xfrm>
            <a:off x="502920" y="3035808"/>
            <a:ext cx="502920" cy="502920"/>
          </a:xfrm>
          <a:prstGeom prst="ellipse">
            <a:avLst/>
          </a:prstGeom>
          <a:solidFill>
            <a:srgbClr val="C0504D"/>
          </a:solidFill>
          <a:ln>
            <a:noFill/>
          </a:ln>
        </p:spPr>
        <p:txBody>
          <a:bodyPr rtlCol="0" anchor="ctr" wrap="square" lIns="54864" rIns="54864" tIns="54864" bIns="54864"/>
          <a:lstStyle/>
          <a:p>
            <a:pPr algn="ctr"/>
          </a:p>
        </p:txBody>
      </p:sp>
      <p:pic>
        <p:nvPicPr>
          <p:cNvPr id="13" name="Picture 12" descr="clock_w.png"/>
          <p:cNvPicPr>
            <a:picLocks noChangeAspect="1"/>
          </p:cNvPicPr>
          <p:nvPr/>
        </p:nvPicPr>
        <p:blipFill>
          <a:blip r:embed="rId4"/>
          <a:stretch>
            <a:fillRect/>
          </a:stretch>
        </p:blipFill>
        <p:spPr>
          <a:xfrm>
            <a:off x="623620" y="3156508"/>
            <a:ext cx="261518" cy="261518"/>
          </a:xfrm>
          <a:prstGeom prst="rect">
            <a:avLst/>
          </a:prstGeom>
        </p:spPr>
      </p:pic>
      <p:sp>
        <p:nvSpPr>
          <p:cNvPr id="14" name="TextBox 13"/>
          <p:cNvSpPr txBox="1"/>
          <p:nvPr/>
        </p:nvSpPr>
        <p:spPr>
          <a:xfrm>
            <a:off x="1143000" y="3035808"/>
            <a:ext cx="3200400" cy="502920"/>
          </a:xfrm>
          <a:prstGeom prst="rect">
            <a:avLst/>
          </a:prstGeom>
          <a:noFill/>
        </p:spPr>
        <p:txBody>
          <a:bodyPr wrap="square" anchor="ctr" lIns="36576" rIns="36576" tIns="36576" bIns="36576"/>
          <a:lstStyle/>
          <a:p>
            <a:pPr algn="l">
              <a:spcAft>
                <a:spcPts val="400"/>
              </a:spcAft>
            </a:pPr>
            <a:r>
              <a:rPr sz="1700" b="1" i="0">
                <a:solidFill>
                  <a:srgbClr val="C0504D"/>
                </a:solidFill>
                <a:latin typeface="Calibri"/>
              </a:rPr>
              <a:t>Problem</a:t>
            </a:r>
          </a:p>
        </p:txBody>
      </p:sp>
      <p:sp>
        <p:nvSpPr>
          <p:cNvPr id="15" name="TextBox 14"/>
          <p:cNvSpPr txBox="1"/>
          <p:nvPr/>
        </p:nvSpPr>
        <p:spPr>
          <a:xfrm>
            <a:off x="502920" y="3611880"/>
            <a:ext cx="3931920" cy="731520"/>
          </a:xfrm>
          <a:prstGeom prst="rect">
            <a:avLst/>
          </a:prstGeom>
          <a:noFill/>
        </p:spPr>
        <p:txBody>
          <a:bodyPr wrap="square" anchor="t" lIns="36576" rIns="36576" tIns="36576" bIns="36576"/>
          <a:lstStyle/>
          <a:p>
            <a:pPr algn="l">
              <a:spcAft>
                <a:spcPts val="400"/>
              </a:spcAft>
            </a:pPr>
            <a:r>
              <a:rPr sz="1400" b="0" i="0">
                <a:solidFill>
                  <a:srgbClr val="262626"/>
                </a:solidFill>
                <a:latin typeface="Calibri"/>
              </a:rPr>
              <a:t>Traditional disaster management relies on manual surveys and delayed reports, which slows decisions.</a:t>
            </a:r>
          </a:p>
        </p:txBody>
      </p:sp>
      <p:sp>
        <p:nvSpPr>
          <p:cNvPr id="16" name="Rounded Rectangle 15"/>
          <p:cNvSpPr/>
          <p:nvPr/>
        </p:nvSpPr>
        <p:spPr>
          <a:xfrm>
            <a:off x="365760" y="4526280"/>
            <a:ext cx="4160520" cy="1481328"/>
          </a:xfrm>
          <a:prstGeom prst="roundRect">
            <a:avLst>
              <a:gd name="adj" fmla="val 4938"/>
            </a:avLst>
          </a:prstGeom>
          <a:solidFill>
            <a:srgbClr val="F2F6FB"/>
          </a:solidFill>
          <a:ln>
            <a:noFill/>
          </a:ln>
        </p:spPr>
        <p:txBody>
          <a:bodyPr rtlCol="0" anchor="ctr" wrap="square" lIns="54864" rIns="54864" tIns="54864" bIns="54864"/>
          <a:lstStyle/>
          <a:p>
            <a:pPr algn="ctr"/>
          </a:p>
        </p:txBody>
      </p:sp>
      <p:sp>
        <p:nvSpPr>
          <p:cNvPr id="17" name="Oval 16"/>
          <p:cNvSpPr/>
          <p:nvPr/>
        </p:nvSpPr>
        <p:spPr>
          <a:xfrm>
            <a:off x="502920" y="4681728"/>
            <a:ext cx="502920" cy="502920"/>
          </a:xfrm>
          <a:prstGeom prst="ellipse">
            <a:avLst/>
          </a:prstGeom>
          <a:solidFill>
            <a:srgbClr val="E46C0A"/>
          </a:solidFill>
          <a:ln>
            <a:noFill/>
          </a:ln>
        </p:spPr>
        <p:txBody>
          <a:bodyPr rtlCol="0" anchor="ctr" wrap="square" lIns="54864" rIns="54864" tIns="54864" bIns="54864"/>
          <a:lstStyle/>
          <a:p>
            <a:pPr algn="ctr"/>
          </a:p>
        </p:txBody>
      </p:sp>
      <p:pic>
        <p:nvPicPr>
          <p:cNvPr id="18" name="Picture 17" descr="lightbulb_w.png"/>
          <p:cNvPicPr>
            <a:picLocks noChangeAspect="1"/>
          </p:cNvPicPr>
          <p:nvPr/>
        </p:nvPicPr>
        <p:blipFill>
          <a:blip r:embed="rId5"/>
          <a:stretch>
            <a:fillRect/>
          </a:stretch>
        </p:blipFill>
        <p:spPr>
          <a:xfrm>
            <a:off x="623620" y="4802428"/>
            <a:ext cx="261518" cy="261518"/>
          </a:xfrm>
          <a:prstGeom prst="rect">
            <a:avLst/>
          </a:prstGeom>
        </p:spPr>
      </p:pic>
      <p:sp>
        <p:nvSpPr>
          <p:cNvPr id="19" name="TextBox 18"/>
          <p:cNvSpPr txBox="1"/>
          <p:nvPr/>
        </p:nvSpPr>
        <p:spPr>
          <a:xfrm>
            <a:off x="1143000" y="4681728"/>
            <a:ext cx="3200400" cy="502920"/>
          </a:xfrm>
          <a:prstGeom prst="rect">
            <a:avLst/>
          </a:prstGeom>
          <a:noFill/>
        </p:spPr>
        <p:txBody>
          <a:bodyPr wrap="square" anchor="ctr" lIns="36576" rIns="36576" tIns="36576" bIns="36576"/>
          <a:lstStyle/>
          <a:p>
            <a:pPr algn="l">
              <a:spcAft>
                <a:spcPts val="400"/>
              </a:spcAft>
            </a:pPr>
            <a:r>
              <a:rPr sz="1700" b="1" i="0">
                <a:solidFill>
                  <a:srgbClr val="E46C0A"/>
                </a:solidFill>
                <a:latin typeface="Calibri"/>
              </a:rPr>
              <a:t>Inspiration</a:t>
            </a:r>
          </a:p>
        </p:txBody>
      </p:sp>
      <p:sp>
        <p:nvSpPr>
          <p:cNvPr id="20" name="TextBox 19"/>
          <p:cNvSpPr txBox="1"/>
          <p:nvPr/>
        </p:nvSpPr>
        <p:spPr>
          <a:xfrm>
            <a:off x="502920" y="5257800"/>
            <a:ext cx="3931920" cy="731520"/>
          </a:xfrm>
          <a:prstGeom prst="rect">
            <a:avLst/>
          </a:prstGeom>
          <a:noFill/>
        </p:spPr>
        <p:txBody>
          <a:bodyPr wrap="square" anchor="t" lIns="36576" rIns="36576" tIns="36576" bIns="36576"/>
          <a:lstStyle/>
          <a:p>
            <a:pPr algn="l">
              <a:spcAft>
                <a:spcPts val="400"/>
              </a:spcAft>
            </a:pPr>
            <a:r>
              <a:rPr sz="1400" b="0" i="0">
                <a:solidFill>
                  <a:srgbClr val="262626"/>
                </a:solidFill>
                <a:latin typeface="Calibri"/>
              </a:rPr>
              <a:t>Satellites, IoT sensors and social media now give real-time data; AI turns it into early, actionable insight [1].</a:t>
            </a:r>
          </a:p>
        </p:txBody>
      </p:sp>
      <p:sp>
        <p:nvSpPr>
          <p:cNvPr id="21" name="TextBox 20"/>
          <p:cNvSpPr txBox="1"/>
          <p:nvPr/>
        </p:nvSpPr>
        <p:spPr>
          <a:xfrm>
            <a:off x="4709160" y="1143000"/>
            <a:ext cx="4114800" cy="365760"/>
          </a:xfrm>
          <a:prstGeom prst="rect">
            <a:avLst/>
          </a:prstGeom>
          <a:noFill/>
        </p:spPr>
        <p:txBody>
          <a:bodyPr wrap="square" anchor="t" lIns="36576" rIns="36576" tIns="36576" bIns="36576"/>
          <a:lstStyle/>
          <a:p>
            <a:pPr algn="ctr">
              <a:spcAft>
                <a:spcPts val="400"/>
              </a:spcAft>
            </a:pPr>
            <a:r>
              <a:rPr sz="1600" b="1" i="0">
                <a:solidFill>
                  <a:srgbClr val="1F497D"/>
                </a:solidFill>
                <a:latin typeface="Calibri"/>
              </a:rPr>
              <a:t>Disaster management cycle</a:t>
            </a:r>
          </a:p>
        </p:txBody>
      </p:sp>
      <p:sp>
        <p:nvSpPr>
          <p:cNvPr id="22" name="Oval 21"/>
          <p:cNvSpPr/>
          <p:nvPr/>
        </p:nvSpPr>
        <p:spPr>
          <a:xfrm>
            <a:off x="6199632" y="3227832"/>
            <a:ext cx="1133856" cy="1133856"/>
          </a:xfrm>
          <a:prstGeom prst="ellipse">
            <a:avLst/>
          </a:prstGeom>
          <a:solidFill>
            <a:srgbClr val="E46C0A"/>
          </a:solidFill>
          <a:ln>
            <a:noFill/>
          </a:ln>
        </p:spPr>
        <p:txBody>
          <a:bodyPr rtlCol="0" anchor="ctr" wrap="square" lIns="54864" rIns="54864" tIns="54864" bIns="54864"/>
          <a:lstStyle/>
          <a:p>
            <a:pPr algn="ctr">
              <a:spcAft>
                <a:spcPts val="0"/>
              </a:spcAft>
            </a:pPr>
            <a:r>
              <a:rPr sz="2200" b="1" i="0">
                <a:solidFill>
                  <a:srgbClr val="FFFFFF"/>
                </a:solidFill>
                <a:latin typeface="Calibri"/>
              </a:rPr>
              <a:t>AI</a:t>
            </a:r>
          </a:p>
          <a:p>
            <a:pPr algn="ctr">
              <a:spcAft>
                <a:spcPts val="0"/>
              </a:spcAft>
            </a:pPr>
            <a:r>
              <a:rPr sz="1200" b="0" i="0">
                <a:solidFill>
                  <a:srgbClr val="FFFFFF"/>
                </a:solidFill>
                <a:latin typeface="Calibri"/>
              </a:rPr>
              <a:t>support</a:t>
            </a:r>
          </a:p>
        </p:txBody>
      </p:sp>
      <p:sp>
        <p:nvSpPr>
          <p:cNvPr id="23" name="Rounded Rectangle 22"/>
          <p:cNvSpPr/>
          <p:nvPr/>
        </p:nvSpPr>
        <p:spPr>
          <a:xfrm>
            <a:off x="6035040" y="1783080"/>
            <a:ext cx="1463040" cy="822960"/>
          </a:xfrm>
          <a:prstGeom prst="roundRect">
            <a:avLst>
              <a:gd name="adj" fmla="val 8888"/>
            </a:avLst>
          </a:prstGeom>
          <a:solidFill>
            <a:srgbClr val="1F497D"/>
          </a:solidFill>
          <a:ln>
            <a:noFill/>
          </a:ln>
        </p:spPr>
        <p:txBody>
          <a:bodyPr rtlCol="0" anchor="ctr" wrap="square" lIns="54864" rIns="54864" tIns="54864" bIns="54864"/>
          <a:lstStyle/>
          <a:p>
            <a:pPr algn="ctr">
              <a:spcAft>
                <a:spcPts val="0"/>
              </a:spcAft>
            </a:pPr>
            <a:r>
              <a:rPr sz="1400" b="1" i="0">
                <a:solidFill>
                  <a:srgbClr val="FFFFFF"/>
                </a:solidFill>
                <a:latin typeface="Calibri"/>
              </a:rPr>
              <a:t>Mitigation</a:t>
            </a:r>
          </a:p>
          <a:p>
            <a:pPr algn="ctr">
              <a:spcAft>
                <a:spcPts val="0"/>
              </a:spcAft>
            </a:pPr>
            <a:r>
              <a:rPr sz="1100" b="0" i="0">
                <a:solidFill>
                  <a:srgbClr val="FFFFFF"/>
                </a:solidFill>
                <a:latin typeface="Calibri"/>
              </a:rPr>
              <a:t>risk mapping</a:t>
            </a:r>
          </a:p>
        </p:txBody>
      </p:sp>
      <p:sp>
        <p:nvSpPr>
          <p:cNvPr id="24" name="Rounded Rectangle 23"/>
          <p:cNvSpPr/>
          <p:nvPr/>
        </p:nvSpPr>
        <p:spPr>
          <a:xfrm>
            <a:off x="7360919" y="3383280"/>
            <a:ext cx="1463040" cy="822960"/>
          </a:xfrm>
          <a:prstGeom prst="roundRect">
            <a:avLst>
              <a:gd name="adj" fmla="val 8888"/>
            </a:avLst>
          </a:prstGeom>
          <a:solidFill>
            <a:srgbClr val="4F81BD"/>
          </a:solidFill>
          <a:ln>
            <a:noFill/>
          </a:ln>
        </p:spPr>
        <p:txBody>
          <a:bodyPr rtlCol="0" anchor="ctr" wrap="square" lIns="54864" rIns="54864" tIns="54864" bIns="54864"/>
          <a:lstStyle/>
          <a:p>
            <a:pPr algn="ctr">
              <a:spcAft>
                <a:spcPts val="0"/>
              </a:spcAft>
            </a:pPr>
            <a:r>
              <a:rPr sz="1400" b="1" i="0">
                <a:solidFill>
                  <a:srgbClr val="FFFFFF"/>
                </a:solidFill>
                <a:latin typeface="Calibri"/>
              </a:rPr>
              <a:t>Preparedness</a:t>
            </a:r>
          </a:p>
          <a:p>
            <a:pPr algn="ctr">
              <a:spcAft>
                <a:spcPts val="0"/>
              </a:spcAft>
            </a:pPr>
            <a:r>
              <a:rPr sz="1100" b="0" i="0">
                <a:solidFill>
                  <a:srgbClr val="FFFFFF"/>
                </a:solidFill>
                <a:latin typeface="Calibri"/>
              </a:rPr>
              <a:t>early warning</a:t>
            </a:r>
          </a:p>
        </p:txBody>
      </p:sp>
      <p:sp>
        <p:nvSpPr>
          <p:cNvPr id="25" name="Rounded Rectangle 24"/>
          <p:cNvSpPr/>
          <p:nvPr/>
        </p:nvSpPr>
        <p:spPr>
          <a:xfrm>
            <a:off x="6035040" y="4983480"/>
            <a:ext cx="1463040" cy="822960"/>
          </a:xfrm>
          <a:prstGeom prst="roundRect">
            <a:avLst>
              <a:gd name="adj" fmla="val 8888"/>
            </a:avLst>
          </a:prstGeom>
          <a:solidFill>
            <a:srgbClr val="C0504D"/>
          </a:solidFill>
          <a:ln>
            <a:noFill/>
          </a:ln>
        </p:spPr>
        <p:txBody>
          <a:bodyPr rtlCol="0" anchor="ctr" wrap="square" lIns="54864" rIns="54864" tIns="54864" bIns="54864"/>
          <a:lstStyle/>
          <a:p>
            <a:pPr algn="ctr">
              <a:spcAft>
                <a:spcPts val="0"/>
              </a:spcAft>
            </a:pPr>
            <a:r>
              <a:rPr sz="1400" b="1" i="0">
                <a:solidFill>
                  <a:srgbClr val="FFFFFF"/>
                </a:solidFill>
                <a:latin typeface="Calibri"/>
              </a:rPr>
              <a:t>Response</a:t>
            </a:r>
          </a:p>
          <a:p>
            <a:pPr algn="ctr">
              <a:spcAft>
                <a:spcPts val="0"/>
              </a:spcAft>
            </a:pPr>
            <a:r>
              <a:rPr sz="1100" b="0" i="0">
                <a:solidFill>
                  <a:srgbClr val="FFFFFF"/>
                </a:solidFill>
                <a:latin typeface="Calibri"/>
              </a:rPr>
              <a:t>damage &amp; info extraction</a:t>
            </a:r>
          </a:p>
        </p:txBody>
      </p:sp>
      <p:sp>
        <p:nvSpPr>
          <p:cNvPr id="26" name="Rounded Rectangle 25"/>
          <p:cNvSpPr/>
          <p:nvPr/>
        </p:nvSpPr>
        <p:spPr>
          <a:xfrm>
            <a:off x="4709160" y="3383280"/>
            <a:ext cx="1463040" cy="822960"/>
          </a:xfrm>
          <a:prstGeom prst="roundRect">
            <a:avLst>
              <a:gd name="adj" fmla="val 8888"/>
            </a:avLst>
          </a:prstGeom>
          <a:solidFill>
            <a:srgbClr val="76923C"/>
          </a:solidFill>
          <a:ln>
            <a:noFill/>
          </a:ln>
        </p:spPr>
        <p:txBody>
          <a:bodyPr rtlCol="0" anchor="ctr" wrap="square" lIns="54864" rIns="54864" tIns="54864" bIns="54864"/>
          <a:lstStyle/>
          <a:p>
            <a:pPr algn="ctr">
              <a:spcAft>
                <a:spcPts val="0"/>
              </a:spcAft>
            </a:pPr>
            <a:r>
              <a:rPr sz="1400" b="1" i="0">
                <a:solidFill>
                  <a:srgbClr val="FFFFFF"/>
                </a:solidFill>
                <a:latin typeface="Calibri"/>
              </a:rPr>
              <a:t>Recovery</a:t>
            </a:r>
          </a:p>
          <a:p>
            <a:pPr algn="ctr">
              <a:spcAft>
                <a:spcPts val="0"/>
              </a:spcAft>
            </a:pPr>
            <a:r>
              <a:rPr sz="1100" b="0" i="0">
                <a:solidFill>
                  <a:srgbClr val="FFFFFF"/>
                </a:solidFill>
                <a:latin typeface="Calibri"/>
              </a:rPr>
              <a:t>planning &amp; reports</a:t>
            </a:r>
          </a:p>
        </p:txBody>
      </p:sp>
      <p:cxnSp>
        <p:nvCxnSpPr>
          <p:cNvPr id="27" name="Connector 26"/>
          <p:cNvCxnSpPr/>
          <p:nvPr/>
        </p:nvCxnSpPr>
        <p:spPr>
          <a:xfrm>
            <a:off x="7498080" y="2331720"/>
            <a:ext cx="457200" cy="1051560"/>
          </a:xfrm>
          <a:prstGeom prst="line">
            <a:avLst/>
          </a:prstGeom>
          <a:ln w="25400">
            <a:solidFill>
              <a:srgbClr val="595959"/>
            </a:solidFill>
            <a:tailEnd type="triangle" w="med" len="med"/>
          </a:ln>
        </p:spPr>
      </p:cxnSp>
      <p:cxnSp>
        <p:nvCxnSpPr>
          <p:cNvPr id="28" name="Connector 27"/>
          <p:cNvCxnSpPr/>
          <p:nvPr/>
        </p:nvCxnSpPr>
        <p:spPr>
          <a:xfrm flipH="1">
            <a:off x="7498080" y="4206240"/>
            <a:ext cx="457200" cy="1051560"/>
          </a:xfrm>
          <a:prstGeom prst="line">
            <a:avLst/>
          </a:prstGeom>
          <a:ln w="25400">
            <a:solidFill>
              <a:srgbClr val="595959"/>
            </a:solidFill>
            <a:tailEnd type="triangle" w="med" len="med"/>
          </a:ln>
        </p:spPr>
      </p:cxnSp>
      <p:cxnSp>
        <p:nvCxnSpPr>
          <p:cNvPr id="29" name="Connector 28"/>
          <p:cNvCxnSpPr/>
          <p:nvPr/>
        </p:nvCxnSpPr>
        <p:spPr>
          <a:xfrm flipH="1" flipV="1">
            <a:off x="5577840" y="4206240"/>
            <a:ext cx="457200" cy="1051560"/>
          </a:xfrm>
          <a:prstGeom prst="line">
            <a:avLst/>
          </a:prstGeom>
          <a:ln w="25400">
            <a:solidFill>
              <a:srgbClr val="595959"/>
            </a:solidFill>
            <a:tailEnd type="triangle" w="med" len="med"/>
          </a:ln>
        </p:spPr>
      </p:cxnSp>
      <p:cxnSp>
        <p:nvCxnSpPr>
          <p:cNvPr id="30" name="Connector 29"/>
          <p:cNvCxnSpPr/>
          <p:nvPr/>
        </p:nvCxnSpPr>
        <p:spPr>
          <a:xfrm flipV="1">
            <a:off x="5577840" y="2331720"/>
            <a:ext cx="457200" cy="1051560"/>
          </a:xfrm>
          <a:prstGeom prst="line">
            <a:avLst/>
          </a:prstGeom>
          <a:ln w="25400">
            <a:solidFill>
              <a:srgbClr val="595959"/>
            </a:solidFill>
            <a:tailEnd type="triangle" w="med" len="med"/>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Objectives</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Rounded Rectangle 5"/>
          <p:cNvSpPr/>
          <p:nvPr/>
        </p:nvSpPr>
        <p:spPr>
          <a:xfrm>
            <a:off x="457200" y="1234440"/>
            <a:ext cx="8229600" cy="841248"/>
          </a:xfrm>
          <a:prstGeom prst="roundRect">
            <a:avLst>
              <a:gd name="adj" fmla="val 8695"/>
            </a:avLst>
          </a:prstGeom>
          <a:solidFill>
            <a:srgbClr val="F2F6FB"/>
          </a:solidFill>
          <a:ln>
            <a:noFill/>
          </a:ln>
        </p:spPr>
        <p:txBody>
          <a:bodyPr rtlCol="0" anchor="ctr" wrap="square" lIns="54864" rIns="54864" tIns="54864" bIns="54864"/>
          <a:lstStyle/>
          <a:p>
            <a:pPr algn="ctr"/>
          </a:p>
        </p:txBody>
      </p:sp>
      <p:sp>
        <p:nvSpPr>
          <p:cNvPr id="7" name="Oval 6"/>
          <p:cNvSpPr/>
          <p:nvPr/>
        </p:nvSpPr>
        <p:spPr>
          <a:xfrm>
            <a:off x="621792" y="1399032"/>
            <a:ext cx="512064" cy="512064"/>
          </a:xfrm>
          <a:prstGeom prst="ellipse">
            <a:avLst/>
          </a:prstGeom>
          <a:solidFill>
            <a:srgbClr val="1F497D"/>
          </a:solidFill>
          <a:ln>
            <a:noFill/>
          </a:ln>
        </p:spPr>
        <p:txBody>
          <a:bodyPr rtlCol="0" anchor="ctr" wrap="square" lIns="54864" rIns="54864" tIns="54864" bIns="54864"/>
          <a:lstStyle/>
          <a:p>
            <a:pPr algn="ctr">
              <a:spcAft>
                <a:spcPts val="0"/>
              </a:spcAft>
            </a:pPr>
            <a:r>
              <a:rPr sz="2000" b="1" i="0">
                <a:solidFill>
                  <a:srgbClr val="FFFFFF"/>
                </a:solidFill>
                <a:latin typeface="Calibri"/>
              </a:rPr>
              <a:t>1</a:t>
            </a:r>
          </a:p>
        </p:txBody>
      </p:sp>
      <p:sp>
        <p:nvSpPr>
          <p:cNvPr id="8" name="TextBox 7"/>
          <p:cNvSpPr txBox="1"/>
          <p:nvPr/>
        </p:nvSpPr>
        <p:spPr>
          <a:xfrm>
            <a:off x="1298448" y="1271016"/>
            <a:ext cx="6583680" cy="768096"/>
          </a:xfrm>
          <a:prstGeom prst="rect">
            <a:avLst/>
          </a:prstGeom>
          <a:noFill/>
        </p:spPr>
        <p:txBody>
          <a:bodyPr wrap="square" anchor="ctr" lIns="36576" rIns="36576" tIns="36576" bIns="36576"/>
          <a:lstStyle/>
          <a:p>
            <a:pPr algn="l">
              <a:spcAft>
                <a:spcPts val="400"/>
              </a:spcAft>
            </a:pPr>
            <a:r>
              <a:rPr sz="1600" b="1" i="0">
                <a:solidFill>
                  <a:srgbClr val="1F497D"/>
                </a:solidFill>
                <a:latin typeface="Calibri"/>
              </a:rPr>
              <a:t>Disaster lifecycle: </a:t>
            </a:r>
            <a:r>
              <a:rPr sz="1600" b="0" i="0">
                <a:solidFill>
                  <a:srgbClr val="262626"/>
                </a:solidFill>
                <a:latin typeface="Calibri"/>
              </a:rPr>
              <a:t>Understand the role of AI in mitigation, preparedness, response and recovery.</a:t>
            </a:r>
          </a:p>
        </p:txBody>
      </p:sp>
      <p:pic>
        <p:nvPicPr>
          <p:cNvPr id="9" name="Picture 8" descr="sync_o.png"/>
          <p:cNvPicPr>
            <a:picLocks noChangeAspect="1"/>
          </p:cNvPicPr>
          <p:nvPr/>
        </p:nvPicPr>
        <p:blipFill>
          <a:blip r:embed="rId3"/>
          <a:stretch>
            <a:fillRect/>
          </a:stretch>
        </p:blipFill>
        <p:spPr>
          <a:xfrm>
            <a:off x="8065008" y="1426464"/>
            <a:ext cx="457200" cy="457200"/>
          </a:xfrm>
          <a:prstGeom prst="rect">
            <a:avLst/>
          </a:prstGeom>
        </p:spPr>
      </p:pic>
      <p:sp>
        <p:nvSpPr>
          <p:cNvPr id="10" name="Rounded Rectangle 9"/>
          <p:cNvSpPr/>
          <p:nvPr/>
        </p:nvSpPr>
        <p:spPr>
          <a:xfrm>
            <a:off x="457200" y="2221992"/>
            <a:ext cx="8229600" cy="841248"/>
          </a:xfrm>
          <a:prstGeom prst="roundRect">
            <a:avLst>
              <a:gd name="adj" fmla="val 8695"/>
            </a:avLst>
          </a:prstGeom>
          <a:solidFill>
            <a:srgbClr val="F2F6FB"/>
          </a:solidFill>
          <a:ln>
            <a:noFill/>
          </a:ln>
        </p:spPr>
        <p:txBody>
          <a:bodyPr rtlCol="0" anchor="ctr" wrap="square" lIns="54864" rIns="54864" tIns="54864" bIns="54864"/>
          <a:lstStyle/>
          <a:p>
            <a:pPr algn="ctr"/>
          </a:p>
        </p:txBody>
      </p:sp>
      <p:sp>
        <p:nvSpPr>
          <p:cNvPr id="11" name="Oval 10"/>
          <p:cNvSpPr/>
          <p:nvPr/>
        </p:nvSpPr>
        <p:spPr>
          <a:xfrm>
            <a:off x="621792" y="2386584"/>
            <a:ext cx="512064" cy="512064"/>
          </a:xfrm>
          <a:prstGeom prst="ellipse">
            <a:avLst/>
          </a:prstGeom>
          <a:solidFill>
            <a:srgbClr val="1F497D"/>
          </a:solidFill>
          <a:ln>
            <a:noFill/>
          </a:ln>
        </p:spPr>
        <p:txBody>
          <a:bodyPr rtlCol="0" anchor="ctr" wrap="square" lIns="54864" rIns="54864" tIns="54864" bIns="54864"/>
          <a:lstStyle/>
          <a:p>
            <a:pPr algn="ctr">
              <a:spcAft>
                <a:spcPts val="0"/>
              </a:spcAft>
            </a:pPr>
            <a:r>
              <a:rPr sz="2000" b="1" i="0">
                <a:solidFill>
                  <a:srgbClr val="FFFFFF"/>
                </a:solidFill>
                <a:latin typeface="Calibri"/>
              </a:rPr>
              <a:t>2</a:t>
            </a:r>
          </a:p>
        </p:txBody>
      </p:sp>
      <p:sp>
        <p:nvSpPr>
          <p:cNvPr id="12" name="TextBox 11"/>
          <p:cNvSpPr txBox="1"/>
          <p:nvPr/>
        </p:nvSpPr>
        <p:spPr>
          <a:xfrm>
            <a:off x="1298448" y="2258568"/>
            <a:ext cx="6583680" cy="768096"/>
          </a:xfrm>
          <a:prstGeom prst="rect">
            <a:avLst/>
          </a:prstGeom>
          <a:noFill/>
        </p:spPr>
        <p:txBody>
          <a:bodyPr wrap="square" anchor="ctr" lIns="36576" rIns="36576" tIns="36576" bIns="36576"/>
          <a:lstStyle/>
          <a:p>
            <a:pPr algn="l">
              <a:spcAft>
                <a:spcPts val="400"/>
              </a:spcAft>
            </a:pPr>
            <a:r>
              <a:rPr sz="1600" b="1" i="0">
                <a:solidFill>
                  <a:srgbClr val="1F497D"/>
                </a:solidFill>
                <a:latin typeface="Calibri"/>
              </a:rPr>
              <a:t>AI techniques: </a:t>
            </a:r>
            <a:r>
              <a:rPr sz="1600" b="0" i="0">
                <a:solidFill>
                  <a:srgbClr val="262626"/>
                </a:solidFill>
                <a:latin typeface="Calibri"/>
              </a:rPr>
              <a:t>Study ML, deep learning, computer vision, NLP and spatio-temporal analysis for disasters.</a:t>
            </a:r>
          </a:p>
        </p:txBody>
      </p:sp>
      <p:pic>
        <p:nvPicPr>
          <p:cNvPr id="13" name="Picture 12" descr="brain_o.png"/>
          <p:cNvPicPr>
            <a:picLocks noChangeAspect="1"/>
          </p:cNvPicPr>
          <p:nvPr/>
        </p:nvPicPr>
        <p:blipFill>
          <a:blip r:embed="rId4"/>
          <a:stretch>
            <a:fillRect/>
          </a:stretch>
        </p:blipFill>
        <p:spPr>
          <a:xfrm>
            <a:off x="8065008" y="2414016"/>
            <a:ext cx="457200" cy="457200"/>
          </a:xfrm>
          <a:prstGeom prst="rect">
            <a:avLst/>
          </a:prstGeom>
        </p:spPr>
      </p:pic>
      <p:sp>
        <p:nvSpPr>
          <p:cNvPr id="14" name="Rounded Rectangle 13"/>
          <p:cNvSpPr/>
          <p:nvPr/>
        </p:nvSpPr>
        <p:spPr>
          <a:xfrm>
            <a:off x="457200" y="3209544"/>
            <a:ext cx="8229600" cy="841248"/>
          </a:xfrm>
          <a:prstGeom prst="roundRect">
            <a:avLst>
              <a:gd name="adj" fmla="val 8695"/>
            </a:avLst>
          </a:prstGeom>
          <a:solidFill>
            <a:srgbClr val="F2F6FB"/>
          </a:solidFill>
          <a:ln>
            <a:noFill/>
          </a:ln>
        </p:spPr>
        <p:txBody>
          <a:bodyPr rtlCol="0" anchor="ctr" wrap="square" lIns="54864" rIns="54864" tIns="54864" bIns="54864"/>
          <a:lstStyle/>
          <a:p>
            <a:pPr algn="ctr"/>
          </a:p>
        </p:txBody>
      </p:sp>
      <p:sp>
        <p:nvSpPr>
          <p:cNvPr id="15" name="Oval 14"/>
          <p:cNvSpPr/>
          <p:nvPr/>
        </p:nvSpPr>
        <p:spPr>
          <a:xfrm>
            <a:off x="621792" y="3374136"/>
            <a:ext cx="512064" cy="512064"/>
          </a:xfrm>
          <a:prstGeom prst="ellipse">
            <a:avLst/>
          </a:prstGeom>
          <a:solidFill>
            <a:srgbClr val="1F497D"/>
          </a:solidFill>
          <a:ln>
            <a:noFill/>
          </a:ln>
        </p:spPr>
        <p:txBody>
          <a:bodyPr rtlCol="0" anchor="ctr" wrap="square" lIns="54864" rIns="54864" tIns="54864" bIns="54864"/>
          <a:lstStyle/>
          <a:p>
            <a:pPr algn="ctr">
              <a:spcAft>
                <a:spcPts val="0"/>
              </a:spcAft>
            </a:pPr>
            <a:r>
              <a:rPr sz="2000" b="1" i="0">
                <a:solidFill>
                  <a:srgbClr val="FFFFFF"/>
                </a:solidFill>
                <a:latin typeface="Calibri"/>
              </a:rPr>
              <a:t>3</a:t>
            </a:r>
          </a:p>
        </p:txBody>
      </p:sp>
      <p:sp>
        <p:nvSpPr>
          <p:cNvPr id="16" name="TextBox 15"/>
          <p:cNvSpPr txBox="1"/>
          <p:nvPr/>
        </p:nvSpPr>
        <p:spPr>
          <a:xfrm>
            <a:off x="1298448" y="3246120"/>
            <a:ext cx="6583680" cy="768096"/>
          </a:xfrm>
          <a:prstGeom prst="rect">
            <a:avLst/>
          </a:prstGeom>
          <a:noFill/>
        </p:spPr>
        <p:txBody>
          <a:bodyPr wrap="square" anchor="ctr" lIns="36576" rIns="36576" tIns="36576" bIns="36576"/>
          <a:lstStyle/>
          <a:p>
            <a:pPr algn="l">
              <a:spcAft>
                <a:spcPts val="400"/>
              </a:spcAft>
            </a:pPr>
            <a:r>
              <a:rPr sz="1600" b="1" i="0">
                <a:solidFill>
                  <a:srgbClr val="1F497D"/>
                </a:solidFill>
                <a:latin typeface="Calibri"/>
              </a:rPr>
              <a:t>Applications: </a:t>
            </a:r>
            <a:r>
              <a:rPr sz="1600" b="0" i="0">
                <a:solidFill>
                  <a:srgbClr val="262626"/>
                </a:solidFill>
                <a:latin typeface="Calibri"/>
              </a:rPr>
              <a:t>Explore flood prediction, wildfire detection, damage assessment and crisis information.</a:t>
            </a:r>
          </a:p>
        </p:txBody>
      </p:sp>
      <p:pic>
        <p:nvPicPr>
          <p:cNvPr id="17" name="Picture 16" descr="water_o.png"/>
          <p:cNvPicPr>
            <a:picLocks noChangeAspect="1"/>
          </p:cNvPicPr>
          <p:nvPr/>
        </p:nvPicPr>
        <p:blipFill>
          <a:blip r:embed="rId5"/>
          <a:stretch>
            <a:fillRect/>
          </a:stretch>
        </p:blipFill>
        <p:spPr>
          <a:xfrm>
            <a:off x="8065008" y="3401568"/>
            <a:ext cx="457200" cy="457200"/>
          </a:xfrm>
          <a:prstGeom prst="rect">
            <a:avLst/>
          </a:prstGeom>
        </p:spPr>
      </p:pic>
      <p:sp>
        <p:nvSpPr>
          <p:cNvPr id="18" name="Rounded Rectangle 17"/>
          <p:cNvSpPr/>
          <p:nvPr/>
        </p:nvSpPr>
        <p:spPr>
          <a:xfrm>
            <a:off x="457200" y="4197096"/>
            <a:ext cx="8229600" cy="841248"/>
          </a:xfrm>
          <a:prstGeom prst="roundRect">
            <a:avLst>
              <a:gd name="adj" fmla="val 8695"/>
            </a:avLst>
          </a:prstGeom>
          <a:solidFill>
            <a:srgbClr val="F2F6FB"/>
          </a:solidFill>
          <a:ln>
            <a:noFill/>
          </a:ln>
        </p:spPr>
        <p:txBody>
          <a:bodyPr rtlCol="0" anchor="ctr" wrap="square" lIns="54864" rIns="54864" tIns="54864" bIns="54864"/>
          <a:lstStyle/>
          <a:p>
            <a:pPr algn="ctr"/>
          </a:p>
        </p:txBody>
      </p:sp>
      <p:sp>
        <p:nvSpPr>
          <p:cNvPr id="19" name="Oval 18"/>
          <p:cNvSpPr/>
          <p:nvPr/>
        </p:nvSpPr>
        <p:spPr>
          <a:xfrm>
            <a:off x="621792" y="4361688"/>
            <a:ext cx="512064" cy="512064"/>
          </a:xfrm>
          <a:prstGeom prst="ellipse">
            <a:avLst/>
          </a:prstGeom>
          <a:solidFill>
            <a:srgbClr val="1F497D"/>
          </a:solidFill>
          <a:ln>
            <a:noFill/>
          </a:ln>
        </p:spPr>
        <p:txBody>
          <a:bodyPr rtlCol="0" anchor="ctr" wrap="square" lIns="54864" rIns="54864" tIns="54864" bIns="54864"/>
          <a:lstStyle/>
          <a:p>
            <a:pPr algn="ctr">
              <a:spcAft>
                <a:spcPts val="0"/>
              </a:spcAft>
            </a:pPr>
            <a:r>
              <a:rPr sz="2000" b="1" i="0">
                <a:solidFill>
                  <a:srgbClr val="FFFFFF"/>
                </a:solidFill>
                <a:latin typeface="Calibri"/>
              </a:rPr>
              <a:t>4</a:t>
            </a:r>
          </a:p>
        </p:txBody>
      </p:sp>
      <p:sp>
        <p:nvSpPr>
          <p:cNvPr id="20" name="TextBox 19"/>
          <p:cNvSpPr txBox="1"/>
          <p:nvPr/>
        </p:nvSpPr>
        <p:spPr>
          <a:xfrm>
            <a:off x="1298448" y="4233672"/>
            <a:ext cx="6583680" cy="768096"/>
          </a:xfrm>
          <a:prstGeom prst="rect">
            <a:avLst/>
          </a:prstGeom>
          <a:noFill/>
        </p:spPr>
        <p:txBody>
          <a:bodyPr wrap="square" anchor="ctr" lIns="36576" rIns="36576" tIns="36576" bIns="36576"/>
          <a:lstStyle/>
          <a:p>
            <a:pPr algn="l">
              <a:spcAft>
                <a:spcPts val="400"/>
              </a:spcAft>
            </a:pPr>
            <a:r>
              <a:rPr sz="1600" b="1" i="0">
                <a:solidFill>
                  <a:srgbClr val="1F497D"/>
                </a:solidFill>
                <a:latin typeface="Calibri"/>
              </a:rPr>
              <a:t>System design: </a:t>
            </a:r>
            <a:r>
              <a:rPr sz="1600" b="0" i="0">
                <a:solidFill>
                  <a:srgbClr val="262626"/>
                </a:solidFill>
                <a:latin typeface="Calibri"/>
              </a:rPr>
              <a:t>Analyse an end-to-end AI-based disaster management pipeline.</a:t>
            </a:r>
          </a:p>
        </p:txBody>
      </p:sp>
      <p:pic>
        <p:nvPicPr>
          <p:cNvPr id="21" name="Picture 20" descr="sitemap_o.png"/>
          <p:cNvPicPr>
            <a:picLocks noChangeAspect="1"/>
          </p:cNvPicPr>
          <p:nvPr/>
        </p:nvPicPr>
        <p:blipFill>
          <a:blip r:embed="rId6"/>
          <a:stretch>
            <a:fillRect/>
          </a:stretch>
        </p:blipFill>
        <p:spPr>
          <a:xfrm>
            <a:off x="8065008" y="4389120"/>
            <a:ext cx="457200" cy="457200"/>
          </a:xfrm>
          <a:prstGeom prst="rect">
            <a:avLst/>
          </a:prstGeom>
        </p:spPr>
      </p:pic>
      <p:sp>
        <p:nvSpPr>
          <p:cNvPr id="22" name="Rounded Rectangle 21"/>
          <p:cNvSpPr/>
          <p:nvPr/>
        </p:nvSpPr>
        <p:spPr>
          <a:xfrm>
            <a:off x="457200" y="5184648"/>
            <a:ext cx="8229600" cy="841248"/>
          </a:xfrm>
          <a:prstGeom prst="roundRect">
            <a:avLst>
              <a:gd name="adj" fmla="val 8695"/>
            </a:avLst>
          </a:prstGeom>
          <a:solidFill>
            <a:srgbClr val="F2F6FB"/>
          </a:solidFill>
          <a:ln>
            <a:noFill/>
          </a:ln>
        </p:spPr>
        <p:txBody>
          <a:bodyPr rtlCol="0" anchor="ctr" wrap="square" lIns="54864" rIns="54864" tIns="54864" bIns="54864"/>
          <a:lstStyle/>
          <a:p>
            <a:pPr algn="ctr"/>
          </a:p>
        </p:txBody>
      </p:sp>
      <p:sp>
        <p:nvSpPr>
          <p:cNvPr id="23" name="Oval 22"/>
          <p:cNvSpPr/>
          <p:nvPr/>
        </p:nvSpPr>
        <p:spPr>
          <a:xfrm>
            <a:off x="621792" y="5349240"/>
            <a:ext cx="512064" cy="512064"/>
          </a:xfrm>
          <a:prstGeom prst="ellipse">
            <a:avLst/>
          </a:prstGeom>
          <a:solidFill>
            <a:srgbClr val="1F497D"/>
          </a:solidFill>
          <a:ln>
            <a:noFill/>
          </a:ln>
        </p:spPr>
        <p:txBody>
          <a:bodyPr rtlCol="0" anchor="ctr" wrap="square" lIns="54864" rIns="54864" tIns="54864" bIns="54864"/>
          <a:lstStyle/>
          <a:p>
            <a:pPr algn="ctr">
              <a:spcAft>
                <a:spcPts val="0"/>
              </a:spcAft>
            </a:pPr>
            <a:r>
              <a:rPr sz="2000" b="1" i="0">
                <a:solidFill>
                  <a:srgbClr val="FFFFFF"/>
                </a:solidFill>
                <a:latin typeface="Calibri"/>
              </a:rPr>
              <a:t>5</a:t>
            </a:r>
          </a:p>
        </p:txBody>
      </p:sp>
      <p:sp>
        <p:nvSpPr>
          <p:cNvPr id="24" name="TextBox 23"/>
          <p:cNvSpPr txBox="1"/>
          <p:nvPr/>
        </p:nvSpPr>
        <p:spPr>
          <a:xfrm>
            <a:off x="1298448" y="5221224"/>
            <a:ext cx="6583680" cy="768096"/>
          </a:xfrm>
          <a:prstGeom prst="rect">
            <a:avLst/>
          </a:prstGeom>
          <a:noFill/>
        </p:spPr>
        <p:txBody>
          <a:bodyPr wrap="square" anchor="ctr" lIns="36576" rIns="36576" tIns="36576" bIns="36576"/>
          <a:lstStyle/>
          <a:p>
            <a:pPr algn="l">
              <a:spcAft>
                <a:spcPts val="400"/>
              </a:spcAft>
            </a:pPr>
            <a:r>
              <a:rPr sz="1600" b="1" i="0">
                <a:solidFill>
                  <a:srgbClr val="1F497D"/>
                </a:solidFill>
                <a:latin typeface="Calibri"/>
              </a:rPr>
              <a:t>Challenges: </a:t>
            </a:r>
            <a:r>
              <a:rPr sz="1600" b="0" i="0">
                <a:solidFill>
                  <a:srgbClr val="262626"/>
                </a:solidFill>
                <a:latin typeface="Calibri"/>
              </a:rPr>
              <a:t>Identify issues in data, generalization, interpretability and fairness; suggest future directions.</a:t>
            </a:r>
          </a:p>
        </p:txBody>
      </p:sp>
      <p:pic>
        <p:nvPicPr>
          <p:cNvPr id="25" name="Picture 24" descr="balance_o.png"/>
          <p:cNvPicPr>
            <a:picLocks noChangeAspect="1"/>
          </p:cNvPicPr>
          <p:nvPr/>
        </p:nvPicPr>
        <p:blipFill>
          <a:blip r:embed="rId7"/>
          <a:stretch>
            <a:fillRect/>
          </a:stretch>
        </p:blipFill>
        <p:spPr>
          <a:xfrm>
            <a:off x="8065008" y="5376672"/>
            <a:ext cx="457200" cy="457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Literature Review</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TextBox 5"/>
          <p:cNvSpPr txBox="1"/>
          <p:nvPr/>
        </p:nvSpPr>
        <p:spPr>
          <a:xfrm>
            <a:off x="457200" y="1097280"/>
            <a:ext cx="8229600" cy="457200"/>
          </a:xfrm>
          <a:prstGeom prst="rect">
            <a:avLst/>
          </a:prstGeom>
          <a:noFill/>
        </p:spPr>
        <p:txBody>
          <a:bodyPr wrap="square" anchor="t" lIns="36576" rIns="36576" tIns="36576" bIns="36576"/>
          <a:lstStyle/>
          <a:p>
            <a:pPr algn="l">
              <a:spcAft>
                <a:spcPts val="400"/>
              </a:spcAft>
            </a:pPr>
            <a:r>
              <a:rPr sz="1400" b="0" i="1">
                <a:solidFill>
                  <a:srgbClr val="595959"/>
                </a:solidFill>
                <a:latin typeface="Calibri"/>
              </a:rPr>
              <a:t>Peer-reviewed reviews and surveys (2024–2026) were grouped into four themes.</a:t>
            </a:r>
          </a:p>
        </p:txBody>
      </p:sp>
      <p:sp>
        <p:nvSpPr>
          <p:cNvPr id="7" name="Rounded Rectangle 6"/>
          <p:cNvSpPr/>
          <p:nvPr/>
        </p:nvSpPr>
        <p:spPr>
          <a:xfrm>
            <a:off x="457200" y="1600200"/>
            <a:ext cx="4023360" cy="1828800"/>
          </a:xfrm>
          <a:prstGeom prst="roundRect">
            <a:avLst>
              <a:gd name="adj" fmla="val 4000"/>
            </a:avLst>
          </a:prstGeom>
          <a:solidFill>
            <a:srgbClr val="F2F6FB"/>
          </a:solidFill>
          <a:ln>
            <a:noFill/>
          </a:ln>
        </p:spPr>
        <p:txBody>
          <a:bodyPr rtlCol="0" anchor="ctr" wrap="square" lIns="54864" rIns="54864" tIns="54864" bIns="54864"/>
          <a:lstStyle/>
          <a:p>
            <a:pPr algn="ctr"/>
          </a:p>
        </p:txBody>
      </p:sp>
      <p:sp>
        <p:nvSpPr>
          <p:cNvPr id="8" name="Oval 7"/>
          <p:cNvSpPr/>
          <p:nvPr/>
        </p:nvSpPr>
        <p:spPr>
          <a:xfrm>
            <a:off x="594360" y="1737360"/>
            <a:ext cx="502920" cy="502920"/>
          </a:xfrm>
          <a:prstGeom prst="ellipse">
            <a:avLst/>
          </a:prstGeom>
          <a:solidFill>
            <a:srgbClr val="1F497D"/>
          </a:solidFill>
          <a:ln>
            <a:noFill/>
          </a:ln>
        </p:spPr>
        <p:txBody>
          <a:bodyPr rtlCol="0" anchor="ctr" wrap="square" lIns="54864" rIns="54864" tIns="54864" bIns="54864"/>
          <a:lstStyle/>
          <a:p>
            <a:pPr algn="ctr"/>
          </a:p>
        </p:txBody>
      </p:sp>
      <p:pic>
        <p:nvPicPr>
          <p:cNvPr id="9" name="Picture 8" descr="book_w.png"/>
          <p:cNvPicPr>
            <a:picLocks noChangeAspect="1"/>
          </p:cNvPicPr>
          <p:nvPr/>
        </p:nvPicPr>
        <p:blipFill>
          <a:blip r:embed="rId3"/>
          <a:stretch>
            <a:fillRect/>
          </a:stretch>
        </p:blipFill>
        <p:spPr>
          <a:xfrm>
            <a:off x="715060" y="1858060"/>
            <a:ext cx="261518" cy="261518"/>
          </a:xfrm>
          <a:prstGeom prst="rect">
            <a:avLst/>
          </a:prstGeom>
        </p:spPr>
      </p:pic>
      <p:sp>
        <p:nvSpPr>
          <p:cNvPr id="10" name="TextBox 9"/>
          <p:cNvSpPr txBox="1"/>
          <p:nvPr/>
        </p:nvSpPr>
        <p:spPr>
          <a:xfrm>
            <a:off x="1188720" y="1709928"/>
            <a:ext cx="3200400" cy="566928"/>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Reviews &amp; Frameworks</a:t>
            </a:r>
          </a:p>
          <a:p>
            <a:pPr algn="l">
              <a:spcAft>
                <a:spcPts val="0"/>
              </a:spcAft>
            </a:pPr>
            <a:r>
              <a:rPr sz="1100" b="0" i="0">
                <a:solidFill>
                  <a:srgbClr val="595959"/>
                </a:solidFill>
                <a:latin typeface="Calibri"/>
              </a:rPr>
              <a:t>[1], [2]</a:t>
            </a:r>
          </a:p>
        </p:txBody>
      </p:sp>
      <p:sp>
        <p:nvSpPr>
          <p:cNvPr id="11" name="TextBox 10"/>
          <p:cNvSpPr txBox="1"/>
          <p:nvPr/>
        </p:nvSpPr>
        <p:spPr>
          <a:xfrm>
            <a:off x="594360" y="2350008"/>
            <a:ext cx="3749040" cy="1005840"/>
          </a:xfrm>
          <a:prstGeom prst="rect">
            <a:avLst/>
          </a:prstGeom>
          <a:noFill/>
        </p:spPr>
        <p:txBody>
          <a:bodyPr wrap="square" anchor="t" lIns="36576" rIns="36576" tIns="36576" bIns="36576"/>
          <a:lstStyle/>
          <a:p>
            <a:pPr algn="l">
              <a:spcAft>
                <a:spcPts val="400"/>
              </a:spcAft>
            </a:pPr>
            <a:r>
              <a:rPr sz="1500" b="0" i="0">
                <a:solidFill>
                  <a:srgbClr val="262626"/>
                </a:solidFill>
                <a:latin typeface="Calibri"/>
              </a:rPr>
              <a:t>Map AI methods to every disaster phase (96 studies in [1]); stress trustworthy, explainable deployment [2].</a:t>
            </a:r>
          </a:p>
        </p:txBody>
      </p:sp>
      <p:sp>
        <p:nvSpPr>
          <p:cNvPr id="12" name="Rounded Rectangle 11"/>
          <p:cNvSpPr/>
          <p:nvPr/>
        </p:nvSpPr>
        <p:spPr>
          <a:xfrm>
            <a:off x="4663440" y="1600200"/>
            <a:ext cx="4023360" cy="1828800"/>
          </a:xfrm>
          <a:prstGeom prst="roundRect">
            <a:avLst>
              <a:gd name="adj" fmla="val 4000"/>
            </a:avLst>
          </a:prstGeom>
          <a:solidFill>
            <a:srgbClr val="F2F6FB"/>
          </a:solidFill>
          <a:ln>
            <a:noFill/>
          </a:ln>
        </p:spPr>
        <p:txBody>
          <a:bodyPr rtlCol="0" anchor="ctr" wrap="square" lIns="54864" rIns="54864" tIns="54864" bIns="54864"/>
          <a:lstStyle/>
          <a:p>
            <a:pPr algn="ctr"/>
          </a:p>
        </p:txBody>
      </p:sp>
      <p:sp>
        <p:nvSpPr>
          <p:cNvPr id="13" name="Oval 12"/>
          <p:cNvSpPr/>
          <p:nvPr/>
        </p:nvSpPr>
        <p:spPr>
          <a:xfrm>
            <a:off x="4800600" y="1737360"/>
            <a:ext cx="502920" cy="502920"/>
          </a:xfrm>
          <a:prstGeom prst="ellipse">
            <a:avLst/>
          </a:prstGeom>
          <a:solidFill>
            <a:srgbClr val="E46C0A"/>
          </a:solidFill>
          <a:ln>
            <a:noFill/>
          </a:ln>
        </p:spPr>
        <p:txBody>
          <a:bodyPr rtlCol="0" anchor="ctr" wrap="square" lIns="54864" rIns="54864" tIns="54864" bIns="54864"/>
          <a:lstStyle/>
          <a:p>
            <a:pPr algn="ctr"/>
          </a:p>
        </p:txBody>
      </p:sp>
      <p:pic>
        <p:nvPicPr>
          <p:cNvPr id="14" name="Picture 13" descr="layers_w.png"/>
          <p:cNvPicPr>
            <a:picLocks noChangeAspect="1"/>
          </p:cNvPicPr>
          <p:nvPr/>
        </p:nvPicPr>
        <p:blipFill>
          <a:blip r:embed="rId4"/>
          <a:stretch>
            <a:fillRect/>
          </a:stretch>
        </p:blipFill>
        <p:spPr>
          <a:xfrm>
            <a:off x="4921300" y="1858060"/>
            <a:ext cx="261518" cy="261518"/>
          </a:xfrm>
          <a:prstGeom prst="rect">
            <a:avLst/>
          </a:prstGeom>
        </p:spPr>
      </p:pic>
      <p:sp>
        <p:nvSpPr>
          <p:cNvPr id="15" name="TextBox 14"/>
          <p:cNvSpPr txBox="1"/>
          <p:nvPr/>
        </p:nvSpPr>
        <p:spPr>
          <a:xfrm>
            <a:off x="5394959" y="1709928"/>
            <a:ext cx="3200400" cy="566928"/>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Hazard-Specific Deep Learning</a:t>
            </a:r>
          </a:p>
          <a:p>
            <a:pPr algn="l">
              <a:spcAft>
                <a:spcPts val="0"/>
              </a:spcAft>
            </a:pPr>
            <a:r>
              <a:rPr sz="1100" b="0" i="0">
                <a:solidFill>
                  <a:srgbClr val="595959"/>
                </a:solidFill>
                <a:latin typeface="Calibri"/>
              </a:rPr>
              <a:t>[3], [4], [5]</a:t>
            </a:r>
          </a:p>
        </p:txBody>
      </p:sp>
      <p:sp>
        <p:nvSpPr>
          <p:cNvPr id="16" name="TextBox 15"/>
          <p:cNvSpPr txBox="1"/>
          <p:nvPr/>
        </p:nvSpPr>
        <p:spPr>
          <a:xfrm>
            <a:off x="4800600" y="2350008"/>
            <a:ext cx="3749040" cy="1005840"/>
          </a:xfrm>
          <a:prstGeom prst="rect">
            <a:avLst/>
          </a:prstGeom>
          <a:noFill/>
        </p:spPr>
        <p:txBody>
          <a:bodyPr wrap="square" anchor="t" lIns="36576" rIns="36576" tIns="36576" bIns="36576"/>
          <a:lstStyle/>
          <a:p>
            <a:pPr algn="l">
              <a:spcAft>
                <a:spcPts val="400"/>
              </a:spcAft>
            </a:pPr>
            <a:r>
              <a:rPr sz="1500" b="0" i="0">
                <a:solidFill>
                  <a:srgbClr val="262626"/>
                </a:solidFill>
                <a:latin typeface="Calibri"/>
              </a:rPr>
              <a:t>CNNs, LSTMs and AIoT for floods, earthquakes and wildfires: prediction, detection and damage assessment.</a:t>
            </a:r>
          </a:p>
        </p:txBody>
      </p:sp>
      <p:sp>
        <p:nvSpPr>
          <p:cNvPr id="17" name="Rounded Rectangle 16"/>
          <p:cNvSpPr/>
          <p:nvPr/>
        </p:nvSpPr>
        <p:spPr>
          <a:xfrm>
            <a:off x="457200" y="3566160"/>
            <a:ext cx="4023360" cy="1828800"/>
          </a:xfrm>
          <a:prstGeom prst="roundRect">
            <a:avLst>
              <a:gd name="adj" fmla="val 4000"/>
            </a:avLst>
          </a:prstGeom>
          <a:solidFill>
            <a:srgbClr val="F2F6FB"/>
          </a:solidFill>
          <a:ln>
            <a:noFill/>
          </a:ln>
        </p:spPr>
        <p:txBody>
          <a:bodyPr rtlCol="0" anchor="ctr" wrap="square" lIns="54864" rIns="54864" tIns="54864" bIns="54864"/>
          <a:lstStyle/>
          <a:p>
            <a:pPr algn="ctr"/>
          </a:p>
        </p:txBody>
      </p:sp>
      <p:sp>
        <p:nvSpPr>
          <p:cNvPr id="18" name="Oval 17"/>
          <p:cNvSpPr/>
          <p:nvPr/>
        </p:nvSpPr>
        <p:spPr>
          <a:xfrm>
            <a:off x="594360" y="3703320"/>
            <a:ext cx="502920" cy="502920"/>
          </a:xfrm>
          <a:prstGeom prst="ellipse">
            <a:avLst/>
          </a:prstGeom>
          <a:solidFill>
            <a:srgbClr val="E46C0A"/>
          </a:solidFill>
          <a:ln>
            <a:noFill/>
          </a:ln>
        </p:spPr>
        <p:txBody>
          <a:bodyPr rtlCol="0" anchor="ctr" wrap="square" lIns="54864" rIns="54864" tIns="54864" bIns="54864"/>
          <a:lstStyle/>
          <a:p>
            <a:pPr algn="ctr"/>
          </a:p>
        </p:txBody>
      </p:sp>
      <p:pic>
        <p:nvPicPr>
          <p:cNvPr id="19" name="Picture 18" descr="comment_w.png"/>
          <p:cNvPicPr>
            <a:picLocks noChangeAspect="1"/>
          </p:cNvPicPr>
          <p:nvPr/>
        </p:nvPicPr>
        <p:blipFill>
          <a:blip r:embed="rId5"/>
          <a:stretch>
            <a:fillRect/>
          </a:stretch>
        </p:blipFill>
        <p:spPr>
          <a:xfrm>
            <a:off x="715060" y="3824020"/>
            <a:ext cx="261518" cy="261518"/>
          </a:xfrm>
          <a:prstGeom prst="rect">
            <a:avLst/>
          </a:prstGeom>
        </p:spPr>
      </p:pic>
      <p:sp>
        <p:nvSpPr>
          <p:cNvPr id="20" name="TextBox 19"/>
          <p:cNvSpPr txBox="1"/>
          <p:nvPr/>
        </p:nvSpPr>
        <p:spPr>
          <a:xfrm>
            <a:off x="1188720" y="3675887"/>
            <a:ext cx="3200400" cy="566928"/>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Large Language Models</a:t>
            </a:r>
          </a:p>
          <a:p>
            <a:pPr algn="l">
              <a:spcAft>
                <a:spcPts val="0"/>
              </a:spcAft>
            </a:pPr>
            <a:r>
              <a:rPr sz="1100" b="0" i="0">
                <a:solidFill>
                  <a:srgbClr val="595959"/>
                </a:solidFill>
                <a:latin typeface="Calibri"/>
              </a:rPr>
              <a:t>[6]</a:t>
            </a:r>
          </a:p>
        </p:txBody>
      </p:sp>
      <p:sp>
        <p:nvSpPr>
          <p:cNvPr id="21" name="TextBox 20"/>
          <p:cNvSpPr txBox="1"/>
          <p:nvPr/>
        </p:nvSpPr>
        <p:spPr>
          <a:xfrm>
            <a:off x="594360" y="4315968"/>
            <a:ext cx="3749040" cy="1005840"/>
          </a:xfrm>
          <a:prstGeom prst="rect">
            <a:avLst/>
          </a:prstGeom>
          <a:noFill/>
        </p:spPr>
        <p:txBody>
          <a:bodyPr wrap="square" anchor="t" lIns="36576" rIns="36576" tIns="36576" bIns="36576"/>
          <a:lstStyle/>
          <a:p>
            <a:pPr algn="l">
              <a:spcAft>
                <a:spcPts val="400"/>
              </a:spcAft>
            </a:pPr>
            <a:r>
              <a:rPr sz="1500" b="0" i="0">
                <a:solidFill>
                  <a:srgbClr val="262626"/>
                </a:solidFill>
                <a:latin typeface="Calibri"/>
              </a:rPr>
              <a:t>LLMs across disaster phases: classifying crisis messages, extracting information, generating reports.</a:t>
            </a:r>
          </a:p>
        </p:txBody>
      </p:sp>
      <p:sp>
        <p:nvSpPr>
          <p:cNvPr id="22" name="Rounded Rectangle 21"/>
          <p:cNvSpPr/>
          <p:nvPr/>
        </p:nvSpPr>
        <p:spPr>
          <a:xfrm>
            <a:off x="4663440" y="3566160"/>
            <a:ext cx="4023360" cy="1828800"/>
          </a:xfrm>
          <a:prstGeom prst="roundRect">
            <a:avLst>
              <a:gd name="adj" fmla="val 4000"/>
            </a:avLst>
          </a:prstGeom>
          <a:solidFill>
            <a:srgbClr val="F2F6FB"/>
          </a:solidFill>
          <a:ln>
            <a:noFill/>
          </a:ln>
        </p:spPr>
        <p:txBody>
          <a:bodyPr rtlCol="0" anchor="ctr" wrap="square" lIns="54864" rIns="54864" tIns="54864" bIns="54864"/>
          <a:lstStyle/>
          <a:p>
            <a:pPr algn="ctr"/>
          </a:p>
        </p:txBody>
      </p:sp>
      <p:sp>
        <p:nvSpPr>
          <p:cNvPr id="23" name="Oval 22"/>
          <p:cNvSpPr/>
          <p:nvPr/>
        </p:nvSpPr>
        <p:spPr>
          <a:xfrm>
            <a:off x="4800600" y="3703320"/>
            <a:ext cx="502920" cy="502920"/>
          </a:xfrm>
          <a:prstGeom prst="ellipse">
            <a:avLst/>
          </a:prstGeom>
          <a:solidFill>
            <a:srgbClr val="1F497D"/>
          </a:solidFill>
          <a:ln>
            <a:noFill/>
          </a:ln>
        </p:spPr>
        <p:txBody>
          <a:bodyPr rtlCol="0" anchor="ctr" wrap="square" lIns="54864" rIns="54864" tIns="54864" bIns="54864"/>
          <a:lstStyle/>
          <a:p>
            <a:pPr algn="ctr"/>
          </a:p>
        </p:txBody>
      </p:sp>
      <p:pic>
        <p:nvPicPr>
          <p:cNvPr id="24" name="Picture 23" descr="eye_w.png"/>
          <p:cNvPicPr>
            <a:picLocks noChangeAspect="1"/>
          </p:cNvPicPr>
          <p:nvPr/>
        </p:nvPicPr>
        <p:blipFill>
          <a:blip r:embed="rId6"/>
          <a:stretch>
            <a:fillRect/>
          </a:stretch>
        </p:blipFill>
        <p:spPr>
          <a:xfrm>
            <a:off x="4921300" y="3824020"/>
            <a:ext cx="261518" cy="261518"/>
          </a:xfrm>
          <a:prstGeom prst="rect">
            <a:avLst/>
          </a:prstGeom>
        </p:spPr>
      </p:pic>
      <p:sp>
        <p:nvSpPr>
          <p:cNvPr id="25" name="TextBox 24"/>
          <p:cNvSpPr txBox="1"/>
          <p:nvPr/>
        </p:nvSpPr>
        <p:spPr>
          <a:xfrm>
            <a:off x="5394959" y="3675887"/>
            <a:ext cx="3200400" cy="566928"/>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Vision-Language Agents</a:t>
            </a:r>
          </a:p>
          <a:p>
            <a:pPr algn="l">
              <a:spcAft>
                <a:spcPts val="0"/>
              </a:spcAft>
            </a:pPr>
            <a:r>
              <a:rPr sz="1100" b="0" i="0">
                <a:solidFill>
                  <a:srgbClr val="595959"/>
                </a:solidFill>
                <a:latin typeface="Calibri"/>
              </a:rPr>
              <a:t>[7]</a:t>
            </a:r>
          </a:p>
        </p:txBody>
      </p:sp>
      <p:sp>
        <p:nvSpPr>
          <p:cNvPr id="26" name="TextBox 25"/>
          <p:cNvSpPr txBox="1"/>
          <p:nvPr/>
        </p:nvSpPr>
        <p:spPr>
          <a:xfrm>
            <a:off x="4800600" y="4315968"/>
            <a:ext cx="3749040" cy="1005840"/>
          </a:xfrm>
          <a:prstGeom prst="rect">
            <a:avLst/>
          </a:prstGeom>
          <a:noFill/>
        </p:spPr>
        <p:txBody>
          <a:bodyPr wrap="square" anchor="t" lIns="36576" rIns="36576" tIns="36576" bIns="36576"/>
          <a:lstStyle/>
          <a:p>
            <a:pPr algn="l">
              <a:spcAft>
                <a:spcPts val="400"/>
              </a:spcAft>
            </a:pPr>
            <a:r>
              <a:rPr sz="1500" b="0" i="0">
                <a:solidFill>
                  <a:srgbClr val="262626"/>
                </a:solidFill>
                <a:latin typeface="Calibri"/>
              </a:rPr>
              <a:t>DisasTeller: four specialised agents turn post-disaster imagery into assessments, alerts and plans.</a:t>
            </a:r>
          </a:p>
        </p:txBody>
      </p:sp>
      <p:sp>
        <p:nvSpPr>
          <p:cNvPr id="27" name="Rounded Rectangle 26"/>
          <p:cNvSpPr/>
          <p:nvPr/>
        </p:nvSpPr>
        <p:spPr>
          <a:xfrm>
            <a:off x="457200" y="5596128"/>
            <a:ext cx="8229600" cy="621792"/>
          </a:xfrm>
          <a:prstGeom prst="roundRect">
            <a:avLst>
              <a:gd name="adj" fmla="val 11764"/>
            </a:avLst>
          </a:prstGeom>
          <a:solidFill>
            <a:srgbClr val="DCE6F2"/>
          </a:solidFill>
          <a:ln>
            <a:noFill/>
          </a:ln>
        </p:spPr>
        <p:txBody>
          <a:bodyPr rtlCol="0" anchor="ctr" wrap="square" lIns="109728" rIns="109728" tIns="109728" bIns="109728"/>
          <a:lstStyle/>
          <a:p>
            <a:pPr algn="ctr">
              <a:spcAft>
                <a:spcPts val="0"/>
              </a:spcAft>
            </a:pPr>
            <a:r>
              <a:rPr sz="1400" b="1" i="0">
                <a:solidFill>
                  <a:srgbClr val="1F497D"/>
                </a:solidFill>
                <a:latin typeface="Calibri"/>
              </a:rPr>
              <a:t>Common finding: </a:t>
            </a:r>
            <a:r>
              <a:rPr sz="1400" b="0" i="0">
                <a:solidFill>
                  <a:srgbClr val="262626"/>
                </a:solidFill>
                <a:latin typeface="Calibri"/>
              </a:rPr>
              <a:t>AI helps most when several data sources are fused and outputs are trustworthy enough for responders to act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Literature Survey in Tabular Form (1/2)</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graphicFrame>
        <p:nvGraphicFramePr>
          <p:cNvPr id="6" name="Table 5"/>
          <p:cNvGraphicFramePr>
            <a:graphicFrameLocks noGrp="1"/>
          </p:cNvGraphicFramePr>
          <p:nvPr/>
        </p:nvGraphicFramePr>
        <p:xfrm>
          <a:off x="411480" y="1188720"/>
          <a:ext cx="8321039" cy="4663440"/>
        </p:xfrm>
        <a:graphic>
          <a:graphicData uri="http://schemas.openxmlformats.org/drawingml/2006/table">
            <a:tbl>
              <a:tblPr firstRow="1" bandRow="1">
                <a:tableStyleId>{5C22544A-7EE6-4342-B048-85BDC9FD1C3A}</a:tableStyleId>
              </a:tblPr>
              <a:tblGrid>
                <a:gridCol w="685800"/>
                <a:gridCol w="3749039"/>
                <a:gridCol w="3886200"/>
              </a:tblGrid>
              <a:tr h="457200">
                <a:tc>
                  <a:txBody>
                    <a:bodyPr wrap="square"/>
                    <a:lstStyle/>
                    <a:p>
                      <a:pPr algn="l">
                        <a:spcAft>
                          <a:spcPts val="0"/>
                        </a:spcAft>
                      </a:pPr>
                      <a:r>
                        <a:rPr sz="1300" b="1" i="0">
                          <a:solidFill>
                            <a:srgbClr val="FFFFFF"/>
                          </a:solidFill>
                          <a:latin typeface="Calibri"/>
                        </a:rPr>
                        <a:t>Sr. No</a:t>
                      </a:r>
                    </a:p>
                  </a:txBody>
                  <a:tcPr marL="64008" marR="64008" marT="36576" marB="36576" anchor="ctr"/>
                </a:tc>
                <a:tc>
                  <a:txBody>
                    <a:bodyPr wrap="square"/>
                    <a:lstStyle/>
                    <a:p>
                      <a:pPr algn="l">
                        <a:spcAft>
                          <a:spcPts val="0"/>
                        </a:spcAft>
                      </a:pPr>
                      <a:r>
                        <a:rPr sz="1300" b="1" i="0">
                          <a:solidFill>
                            <a:srgbClr val="FFFFFF"/>
                          </a:solidFill>
                          <a:latin typeface="Calibri"/>
                        </a:rPr>
                        <a:t>Details of Paper</a:t>
                      </a:r>
                    </a:p>
                  </a:txBody>
                  <a:tcPr marL="64008" marR="64008" marT="36576" marB="36576" anchor="ctr"/>
                </a:tc>
                <a:tc>
                  <a:txBody>
                    <a:bodyPr wrap="square"/>
                    <a:lstStyle/>
                    <a:p>
                      <a:pPr algn="l">
                        <a:spcAft>
                          <a:spcPts val="0"/>
                        </a:spcAft>
                      </a:pPr>
                      <a:r>
                        <a:rPr sz="1300" b="1" i="0">
                          <a:solidFill>
                            <a:srgbClr val="FFFFFF"/>
                          </a:solidFill>
                          <a:latin typeface="Calibri"/>
                        </a:rPr>
                        <a:t>Work Reported</a:t>
                      </a:r>
                    </a:p>
                  </a:txBody>
                  <a:tcPr marL="64008" marR="64008" marT="36576" marB="36576" anchor="ctr"/>
                </a:tc>
              </a:tr>
              <a:tr h="1051560">
                <a:tc>
                  <a:txBody>
                    <a:bodyPr wrap="square"/>
                    <a:lstStyle/>
                    <a:p>
                      <a:pPr algn="ctr">
                        <a:spcAft>
                          <a:spcPts val="0"/>
                        </a:spcAft>
                      </a:pPr>
                      <a:r>
                        <a:rPr sz="1300" b="0" i="0">
                          <a:solidFill>
                            <a:srgbClr val="262626"/>
                          </a:solidFill>
                          <a:latin typeface="Calibri"/>
                        </a:rPr>
                        <a:t>1</a:t>
                      </a:r>
                    </a:p>
                  </a:txBody>
                  <a:tcPr marL="64008" marR="64008" marT="36576" marB="36576" anchor="ctr"/>
                </a:tc>
                <a:tc>
                  <a:txBody>
                    <a:bodyPr wrap="square"/>
                    <a:lstStyle/>
                    <a:p>
                      <a:pPr algn="l">
                        <a:spcAft>
                          <a:spcPts val="0"/>
                        </a:spcAft>
                      </a:pPr>
                      <a:r>
                        <a:rPr sz="1300" b="1" i="0">
                          <a:solidFill>
                            <a:srgbClr val="262626"/>
                          </a:solidFill>
                          <a:latin typeface="Calibri"/>
                        </a:rPr>
                        <a:t>A systematic review of AI frameworks for holistic disaster management</a:t>
                      </a:r>
                    </a:p>
                    <a:p>
                      <a:pPr algn="l">
                        <a:spcAft>
                          <a:spcPts val="0"/>
                        </a:spcAft>
                      </a:pPr>
                      <a:r>
                        <a:rPr sz="1100" b="0" i="0">
                          <a:solidFill>
                            <a:srgbClr val="595959"/>
                          </a:solidFill>
                          <a:latin typeface="Calibri"/>
                        </a:rPr>
                        <a:t>S. Muthukumar et al. — Discover Artificial Intelligence, 2026</a:t>
                      </a:r>
                    </a:p>
                  </a:txBody>
                  <a:tcPr marL="64008" marR="64008" marT="36576" marB="36576" anchor="ctr"/>
                </a:tc>
                <a:tc>
                  <a:txBody>
                    <a:bodyPr wrap="square"/>
                    <a:lstStyle/>
                    <a:p>
                      <a:pPr algn="l">
                        <a:spcAft>
                          <a:spcPts val="0"/>
                        </a:spcAft>
                      </a:pPr>
                      <a:r>
                        <a:rPr sz="1300" b="0" i="0">
                          <a:solidFill>
                            <a:srgbClr val="262626"/>
                          </a:solidFill>
                          <a:latin typeface="Calibri"/>
                        </a:rPr>
                        <a:t>Synthesises 96 peer-reviewed studies; maps AI approaches to each disaster-management phase.</a:t>
                      </a:r>
                    </a:p>
                  </a:txBody>
                  <a:tcPr marL="64008" marR="64008" marT="36576" marB="36576" anchor="ctr"/>
                </a:tc>
              </a:tr>
              <a:tr h="1051560">
                <a:tc>
                  <a:txBody>
                    <a:bodyPr wrap="square"/>
                    <a:lstStyle/>
                    <a:p>
                      <a:pPr algn="ctr">
                        <a:spcAft>
                          <a:spcPts val="0"/>
                        </a:spcAft>
                      </a:pPr>
                      <a:r>
                        <a:rPr sz="1300" b="0" i="0">
                          <a:solidFill>
                            <a:srgbClr val="262626"/>
                          </a:solidFill>
                          <a:latin typeface="Calibri"/>
                        </a:rPr>
                        <a:t>2</a:t>
                      </a:r>
                    </a:p>
                  </a:txBody>
                  <a:tcPr marL="64008" marR="64008" marT="36576" marB="36576" anchor="ctr"/>
                </a:tc>
                <a:tc>
                  <a:txBody>
                    <a:bodyPr wrap="square"/>
                    <a:lstStyle/>
                    <a:p>
                      <a:pPr algn="l">
                        <a:spcAft>
                          <a:spcPts val="0"/>
                        </a:spcAft>
                      </a:pPr>
                      <a:r>
                        <a:rPr sz="1300" b="1" i="0">
                          <a:solidFill>
                            <a:srgbClr val="262626"/>
                          </a:solidFill>
                          <a:latin typeface="Calibri"/>
                        </a:rPr>
                        <a:t>A systematic review of trustworthy AI applications in natural disasters</a:t>
                      </a:r>
                    </a:p>
                    <a:p>
                      <a:pPr algn="l">
                        <a:spcAft>
                          <a:spcPts val="0"/>
                        </a:spcAft>
                      </a:pPr>
                      <a:r>
                        <a:rPr sz="1100" b="0" i="0">
                          <a:solidFill>
                            <a:srgbClr val="595959"/>
                          </a:solidFill>
                          <a:latin typeface="Calibri"/>
                        </a:rPr>
                        <a:t>Computers &amp; Electrical Engineering, 2024</a:t>
                      </a:r>
                    </a:p>
                  </a:txBody>
                  <a:tcPr marL="64008" marR="64008" marT="36576" marB="36576" anchor="ctr"/>
                </a:tc>
                <a:tc>
                  <a:txBody>
                    <a:bodyPr wrap="square"/>
                    <a:lstStyle/>
                    <a:p>
                      <a:pPr algn="l">
                        <a:spcAft>
                          <a:spcPts val="0"/>
                        </a:spcAft>
                      </a:pPr>
                      <a:r>
                        <a:rPr sz="1300" b="0" i="0">
                          <a:solidFill>
                            <a:srgbClr val="262626"/>
                          </a:solidFill>
                          <a:latin typeface="Calibri"/>
                        </a:rPr>
                        <a:t>Reviews AI for prediction, risk assessment, early warning and evacuation, with focus on trustworthy deployment.</a:t>
                      </a:r>
                    </a:p>
                  </a:txBody>
                  <a:tcPr marL="64008" marR="64008" marT="36576" marB="36576" anchor="ctr"/>
                </a:tc>
              </a:tr>
              <a:tr h="1051560">
                <a:tc>
                  <a:txBody>
                    <a:bodyPr wrap="square"/>
                    <a:lstStyle/>
                    <a:p>
                      <a:pPr algn="ctr">
                        <a:spcAft>
                          <a:spcPts val="0"/>
                        </a:spcAft>
                      </a:pPr>
                      <a:r>
                        <a:rPr sz="1300" b="0" i="0">
                          <a:solidFill>
                            <a:srgbClr val="262626"/>
                          </a:solidFill>
                          <a:latin typeface="Calibri"/>
                        </a:rPr>
                        <a:t>3</a:t>
                      </a:r>
                    </a:p>
                  </a:txBody>
                  <a:tcPr marL="64008" marR="64008" marT="36576" marB="36576" anchor="ctr"/>
                </a:tc>
                <a:tc>
                  <a:txBody>
                    <a:bodyPr wrap="square"/>
                    <a:lstStyle/>
                    <a:p>
                      <a:pPr algn="l">
                        <a:spcAft>
                          <a:spcPts val="0"/>
                        </a:spcAft>
                      </a:pPr>
                      <a:r>
                        <a:rPr sz="1300" b="1" i="0">
                          <a:solidFill>
                            <a:srgbClr val="262626"/>
                          </a:solidFill>
                          <a:latin typeface="Calibri"/>
                        </a:rPr>
                        <a:t>Deep AI applications for natural disaster management systems: A methodological review</a:t>
                      </a:r>
                    </a:p>
                    <a:p>
                      <a:pPr algn="l">
                        <a:spcAft>
                          <a:spcPts val="0"/>
                        </a:spcAft>
                      </a:pPr>
                      <a:r>
                        <a:rPr sz="1100" b="0" i="0">
                          <a:solidFill>
                            <a:srgbClr val="595959"/>
                          </a:solidFill>
                          <a:latin typeface="Calibri"/>
                        </a:rPr>
                        <a:t>Akhyar et al. — Ecological Indicators, 2024</a:t>
                      </a:r>
                    </a:p>
                  </a:txBody>
                  <a:tcPr marL="64008" marR="64008" marT="36576" marB="36576" anchor="ctr"/>
                </a:tc>
                <a:tc>
                  <a:txBody>
                    <a:bodyPr wrap="square"/>
                    <a:lstStyle/>
                    <a:p>
                      <a:pPr algn="l">
                        <a:spcAft>
                          <a:spcPts val="0"/>
                        </a:spcAft>
                      </a:pPr>
                      <a:r>
                        <a:rPr sz="1300" b="0" i="0">
                          <a:solidFill>
                            <a:srgbClr val="262626"/>
                          </a:solidFill>
                          <a:latin typeface="Calibri"/>
                        </a:rPr>
                        <a:t>Reviews deep-learning applications for forest fires, earthquakes and floods.</a:t>
                      </a:r>
                    </a:p>
                  </a:txBody>
                  <a:tcPr marL="64008" marR="64008" marT="36576" marB="36576" anchor="ctr"/>
                </a:tc>
              </a:tr>
              <a:tr h="1051560">
                <a:tc>
                  <a:txBody>
                    <a:bodyPr wrap="square"/>
                    <a:lstStyle/>
                    <a:p>
                      <a:pPr algn="ctr">
                        <a:spcAft>
                          <a:spcPts val="0"/>
                        </a:spcAft>
                      </a:pPr>
                      <a:r>
                        <a:rPr sz="1300" b="0" i="0">
                          <a:solidFill>
                            <a:srgbClr val="262626"/>
                          </a:solidFill>
                          <a:latin typeface="Calibri"/>
                        </a:rPr>
                        <a:t>4</a:t>
                      </a:r>
                    </a:p>
                  </a:txBody>
                  <a:tcPr marL="64008" marR="64008" marT="36576" marB="36576" anchor="ctr"/>
                </a:tc>
                <a:tc>
                  <a:txBody>
                    <a:bodyPr wrap="square"/>
                    <a:lstStyle/>
                    <a:p>
                      <a:pPr algn="l">
                        <a:spcAft>
                          <a:spcPts val="0"/>
                        </a:spcAft>
                      </a:pPr>
                      <a:r>
                        <a:rPr sz="1300" b="1" i="0">
                          <a:solidFill>
                            <a:srgbClr val="262626"/>
                          </a:solidFill>
                          <a:latin typeface="Calibri"/>
                        </a:rPr>
                        <a:t>AI for flood risk management: A comprehensive state-of-the-art review</a:t>
                      </a:r>
                    </a:p>
                    <a:p>
                      <a:pPr algn="l">
                        <a:spcAft>
                          <a:spcPts val="0"/>
                        </a:spcAft>
                      </a:pPr>
                      <a:r>
                        <a:rPr sz="1100" b="0" i="0">
                          <a:solidFill>
                            <a:srgbClr val="595959"/>
                          </a:solidFill>
                          <a:latin typeface="Calibri"/>
                        </a:rPr>
                        <a:t>Int. J. Disaster Risk Reduction, 2025</a:t>
                      </a:r>
                    </a:p>
                  </a:txBody>
                  <a:tcPr marL="64008" marR="64008" marT="36576" marB="36576" anchor="ctr"/>
                </a:tc>
                <a:tc>
                  <a:txBody>
                    <a:bodyPr wrap="square"/>
                    <a:lstStyle/>
                    <a:p>
                      <a:pPr algn="l">
                        <a:spcAft>
                          <a:spcPts val="0"/>
                        </a:spcAft>
                      </a:pPr>
                      <a:r>
                        <a:rPr sz="1300" b="0" i="0">
                          <a:solidFill>
                            <a:srgbClr val="262626"/>
                          </a:solidFill>
                          <a:latin typeface="Calibri"/>
                        </a:rPr>
                        <a:t>Reviews ML/DL models, input data and applications in flood-risk management.</a:t>
                      </a:r>
                    </a:p>
                  </a:txBody>
                  <a:tcPr marL="64008" marR="64008" marT="36576" marB="36576" anchor="ct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Literature Survey in Tabular Form (2/2)</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graphicFrame>
        <p:nvGraphicFramePr>
          <p:cNvPr id="6" name="Table 5"/>
          <p:cNvGraphicFramePr>
            <a:graphicFrameLocks noGrp="1"/>
          </p:cNvGraphicFramePr>
          <p:nvPr/>
        </p:nvGraphicFramePr>
        <p:xfrm>
          <a:off x="411480" y="1188720"/>
          <a:ext cx="8321039" cy="3611880"/>
        </p:xfrm>
        <a:graphic>
          <a:graphicData uri="http://schemas.openxmlformats.org/drawingml/2006/table">
            <a:tbl>
              <a:tblPr firstRow="1" bandRow="1">
                <a:tableStyleId>{5C22544A-7EE6-4342-B048-85BDC9FD1C3A}</a:tableStyleId>
              </a:tblPr>
              <a:tblGrid>
                <a:gridCol w="685800"/>
                <a:gridCol w="3749039"/>
                <a:gridCol w="3886200"/>
              </a:tblGrid>
              <a:tr h="457200">
                <a:tc>
                  <a:txBody>
                    <a:bodyPr wrap="square"/>
                    <a:lstStyle/>
                    <a:p>
                      <a:pPr algn="l">
                        <a:spcAft>
                          <a:spcPts val="0"/>
                        </a:spcAft>
                      </a:pPr>
                      <a:r>
                        <a:rPr sz="1300" b="1" i="0">
                          <a:solidFill>
                            <a:srgbClr val="FFFFFF"/>
                          </a:solidFill>
                          <a:latin typeface="Calibri"/>
                        </a:rPr>
                        <a:t>Sr. No</a:t>
                      </a:r>
                    </a:p>
                  </a:txBody>
                  <a:tcPr marL="64008" marR="64008" marT="36576" marB="36576" anchor="ctr"/>
                </a:tc>
                <a:tc>
                  <a:txBody>
                    <a:bodyPr wrap="square"/>
                    <a:lstStyle/>
                    <a:p>
                      <a:pPr algn="l">
                        <a:spcAft>
                          <a:spcPts val="0"/>
                        </a:spcAft>
                      </a:pPr>
                      <a:r>
                        <a:rPr sz="1300" b="1" i="0">
                          <a:solidFill>
                            <a:srgbClr val="FFFFFF"/>
                          </a:solidFill>
                          <a:latin typeface="Calibri"/>
                        </a:rPr>
                        <a:t>Details of Paper</a:t>
                      </a:r>
                    </a:p>
                  </a:txBody>
                  <a:tcPr marL="64008" marR="64008" marT="36576" marB="36576" anchor="ctr"/>
                </a:tc>
                <a:tc>
                  <a:txBody>
                    <a:bodyPr wrap="square"/>
                    <a:lstStyle/>
                    <a:p>
                      <a:pPr algn="l">
                        <a:spcAft>
                          <a:spcPts val="0"/>
                        </a:spcAft>
                      </a:pPr>
                      <a:r>
                        <a:rPr sz="1300" b="1" i="0">
                          <a:solidFill>
                            <a:srgbClr val="FFFFFF"/>
                          </a:solidFill>
                          <a:latin typeface="Calibri"/>
                        </a:rPr>
                        <a:t>Work Reported</a:t>
                      </a:r>
                    </a:p>
                  </a:txBody>
                  <a:tcPr marL="64008" marR="64008" marT="36576" marB="36576" anchor="ctr"/>
                </a:tc>
              </a:tr>
              <a:tr h="1051560">
                <a:tc>
                  <a:txBody>
                    <a:bodyPr wrap="square"/>
                    <a:lstStyle/>
                    <a:p>
                      <a:pPr algn="ctr">
                        <a:spcAft>
                          <a:spcPts val="0"/>
                        </a:spcAft>
                      </a:pPr>
                      <a:r>
                        <a:rPr sz="1300" b="0" i="0">
                          <a:solidFill>
                            <a:srgbClr val="262626"/>
                          </a:solidFill>
                          <a:latin typeface="Calibri"/>
                        </a:rPr>
                        <a:t>5</a:t>
                      </a:r>
                    </a:p>
                  </a:txBody>
                  <a:tcPr marL="64008" marR="64008" marT="36576" marB="36576" anchor="ctr"/>
                </a:tc>
                <a:tc>
                  <a:txBody>
                    <a:bodyPr wrap="square"/>
                    <a:lstStyle/>
                    <a:p>
                      <a:pPr algn="l">
                        <a:spcAft>
                          <a:spcPts val="0"/>
                        </a:spcAft>
                      </a:pPr>
                      <a:r>
                        <a:rPr sz="1300" b="1" i="0">
                          <a:solidFill>
                            <a:srgbClr val="262626"/>
                          </a:solidFill>
                          <a:latin typeface="Calibri"/>
                        </a:rPr>
                        <a:t>Survey of AI-Enabled IoT for Wildfire Prediction, Detection, and Post-Operations</a:t>
                      </a:r>
                    </a:p>
                    <a:p>
                      <a:pPr algn="l">
                        <a:spcAft>
                          <a:spcPts val="0"/>
                        </a:spcAft>
                      </a:pPr>
                      <a:r>
                        <a:rPr sz="1100" b="0" i="0">
                          <a:solidFill>
                            <a:srgbClr val="595959"/>
                          </a:solidFill>
                          <a:latin typeface="Calibri"/>
                        </a:rPr>
                        <a:t>IEEE Access, 2026</a:t>
                      </a:r>
                    </a:p>
                  </a:txBody>
                  <a:tcPr marL="64008" marR="64008" marT="36576" marB="36576" anchor="ctr"/>
                </a:tc>
                <a:tc>
                  <a:txBody>
                    <a:bodyPr wrap="square"/>
                    <a:lstStyle/>
                    <a:p>
                      <a:pPr algn="l">
                        <a:spcAft>
                          <a:spcPts val="0"/>
                        </a:spcAft>
                      </a:pPr>
                      <a:r>
                        <a:rPr sz="1300" b="0" i="0">
                          <a:solidFill>
                            <a:srgbClr val="262626"/>
                          </a:solidFill>
                          <a:latin typeface="Calibri"/>
                        </a:rPr>
                        <a:t>AIoT for wildfire prediction, real-time detection, damage assessment and recovery.</a:t>
                      </a:r>
                    </a:p>
                  </a:txBody>
                  <a:tcPr marL="64008" marR="64008" marT="36576" marB="36576" anchor="ctr"/>
                </a:tc>
              </a:tr>
              <a:tr h="1051560">
                <a:tc>
                  <a:txBody>
                    <a:bodyPr wrap="square"/>
                    <a:lstStyle/>
                    <a:p>
                      <a:pPr algn="ctr">
                        <a:spcAft>
                          <a:spcPts val="0"/>
                        </a:spcAft>
                      </a:pPr>
                      <a:r>
                        <a:rPr sz="1300" b="0" i="0">
                          <a:solidFill>
                            <a:srgbClr val="262626"/>
                          </a:solidFill>
                          <a:latin typeface="Calibri"/>
                        </a:rPr>
                        <a:t>6</a:t>
                      </a:r>
                    </a:p>
                  </a:txBody>
                  <a:tcPr marL="64008" marR="64008" marT="36576" marB="36576" anchor="ctr"/>
                </a:tc>
                <a:tc>
                  <a:txBody>
                    <a:bodyPr wrap="square"/>
                    <a:lstStyle/>
                    <a:p>
                      <a:pPr algn="l">
                        <a:spcAft>
                          <a:spcPts val="0"/>
                        </a:spcAft>
                      </a:pPr>
                      <a:r>
                        <a:rPr sz="1300" b="1" i="0">
                          <a:solidFill>
                            <a:srgbClr val="262626"/>
                          </a:solidFill>
                          <a:latin typeface="Calibri"/>
                        </a:rPr>
                        <a:t>Harnessing Large Language Models for Disaster Management: A Survey</a:t>
                      </a:r>
                    </a:p>
                    <a:p>
                      <a:pPr algn="l">
                        <a:spcAft>
                          <a:spcPts val="0"/>
                        </a:spcAft>
                      </a:pPr>
                      <a:r>
                        <a:rPr sz="1100" b="0" i="0">
                          <a:solidFill>
                            <a:srgbClr val="595959"/>
                          </a:solidFill>
                          <a:latin typeface="Calibri"/>
                        </a:rPr>
                        <a:t>Z. Lei et al. — Findings of ACL, 2025</a:t>
                      </a:r>
                    </a:p>
                  </a:txBody>
                  <a:tcPr marL="64008" marR="64008" marT="36576" marB="36576" anchor="ctr"/>
                </a:tc>
                <a:tc>
                  <a:txBody>
                    <a:bodyPr wrap="square"/>
                    <a:lstStyle/>
                    <a:p>
                      <a:pPr algn="l">
                        <a:spcAft>
                          <a:spcPts val="0"/>
                        </a:spcAft>
                      </a:pPr>
                      <a:r>
                        <a:rPr sz="1300" b="0" i="0">
                          <a:solidFill>
                            <a:srgbClr val="262626"/>
                          </a:solidFill>
                          <a:latin typeface="Calibri"/>
                        </a:rPr>
                        <a:t>Taxonomy of LLM uses across disaster phases; datasets, use cases and open challenges.</a:t>
                      </a:r>
                    </a:p>
                  </a:txBody>
                  <a:tcPr marL="64008" marR="64008" marT="36576" marB="36576" anchor="ctr"/>
                </a:tc>
              </a:tr>
              <a:tr h="1051560">
                <a:tc>
                  <a:txBody>
                    <a:bodyPr wrap="square"/>
                    <a:lstStyle/>
                    <a:p>
                      <a:pPr algn="ctr">
                        <a:spcAft>
                          <a:spcPts val="0"/>
                        </a:spcAft>
                      </a:pPr>
                      <a:r>
                        <a:rPr sz="1300" b="0" i="0">
                          <a:solidFill>
                            <a:srgbClr val="262626"/>
                          </a:solidFill>
                          <a:latin typeface="Calibri"/>
                        </a:rPr>
                        <a:t>7</a:t>
                      </a:r>
                    </a:p>
                  </a:txBody>
                  <a:tcPr marL="64008" marR="64008" marT="36576" marB="36576" anchor="ctr"/>
                </a:tc>
                <a:tc>
                  <a:txBody>
                    <a:bodyPr wrap="square"/>
                    <a:lstStyle/>
                    <a:p>
                      <a:pPr algn="l">
                        <a:spcAft>
                          <a:spcPts val="0"/>
                        </a:spcAft>
                      </a:pPr>
                      <a:r>
                        <a:rPr sz="1300" b="1" i="0">
                          <a:solidFill>
                            <a:srgbClr val="262626"/>
                          </a:solidFill>
                          <a:latin typeface="Calibri"/>
                        </a:rPr>
                        <a:t>Integration of large vision language models for post-disaster damage assessment and reporting</a:t>
                      </a:r>
                    </a:p>
                    <a:p>
                      <a:pPr algn="l">
                        <a:spcAft>
                          <a:spcPts val="0"/>
                        </a:spcAft>
                      </a:pPr>
                      <a:r>
                        <a:rPr sz="1100" b="0" i="0">
                          <a:solidFill>
                            <a:srgbClr val="595959"/>
                          </a:solidFill>
                          <a:latin typeface="Calibri"/>
                        </a:rPr>
                        <a:t>Z. Chen et al. — Nature Communications, 2026</a:t>
                      </a:r>
                    </a:p>
                  </a:txBody>
                  <a:tcPr marL="64008" marR="64008" marT="36576" marB="36576" anchor="ctr"/>
                </a:tc>
                <a:tc>
                  <a:txBody>
                    <a:bodyPr wrap="square"/>
                    <a:lstStyle/>
                    <a:p>
                      <a:pPr algn="l">
                        <a:spcAft>
                          <a:spcPts val="0"/>
                        </a:spcAft>
                      </a:pPr>
                      <a:r>
                        <a:rPr sz="1300" b="0" i="0">
                          <a:solidFill>
                            <a:srgbClr val="262626"/>
                          </a:solidFill>
                          <a:latin typeface="Calibri"/>
                        </a:rPr>
                        <a:t>DisasTeller: four vision-language agents for assessment, alerts, emergency reports, resource allocation and recovery planning.</a:t>
                      </a:r>
                    </a:p>
                  </a:txBody>
                  <a:tcPr marL="64008" marR="64008" marT="36576" marB="36576" anchor="ct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Baseline Papers Selected for Seminar Work</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Rounded Rectangle 5"/>
          <p:cNvSpPr/>
          <p:nvPr/>
        </p:nvSpPr>
        <p:spPr>
          <a:xfrm>
            <a:off x="457200" y="1234440"/>
            <a:ext cx="2606040" cy="411480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7" name="Rounded Rectangle 6"/>
          <p:cNvSpPr/>
          <p:nvPr/>
        </p:nvSpPr>
        <p:spPr>
          <a:xfrm>
            <a:off x="457200" y="1234440"/>
            <a:ext cx="2606040" cy="457200"/>
          </a:xfrm>
          <a:prstGeom prst="roundRect">
            <a:avLst>
              <a:gd name="adj" fmla="val 16000"/>
            </a:avLst>
          </a:prstGeom>
          <a:solidFill>
            <a:srgbClr val="1F497D"/>
          </a:solidFill>
          <a:ln>
            <a:noFill/>
          </a:ln>
        </p:spPr>
        <p:txBody>
          <a:bodyPr rtlCol="0" anchor="ctr" wrap="square" lIns="54864" rIns="54864" tIns="54864" bIns="54864"/>
          <a:lstStyle/>
          <a:p>
            <a:pPr algn="ctr">
              <a:spcAft>
                <a:spcPts val="0"/>
              </a:spcAft>
            </a:pPr>
            <a:r>
              <a:rPr sz="1300" b="1" i="0">
                <a:solidFill>
                  <a:srgbClr val="FFFFFF"/>
                </a:solidFill>
                <a:latin typeface="Calibri"/>
              </a:rPr>
              <a:t>PRIMARY BASELINE</a:t>
            </a:r>
          </a:p>
        </p:txBody>
      </p:sp>
      <p:sp>
        <p:nvSpPr>
          <p:cNvPr id="8" name="TextBox 7"/>
          <p:cNvSpPr txBox="1"/>
          <p:nvPr/>
        </p:nvSpPr>
        <p:spPr>
          <a:xfrm>
            <a:off x="594360" y="1783080"/>
            <a:ext cx="2331720" cy="1143000"/>
          </a:xfrm>
          <a:prstGeom prst="rect">
            <a:avLst/>
          </a:prstGeom>
          <a:noFill/>
        </p:spPr>
        <p:txBody>
          <a:bodyPr wrap="square" anchor="t" lIns="36576" rIns="36576" tIns="36576" bIns="36576"/>
          <a:lstStyle/>
          <a:p>
            <a:pPr algn="l">
              <a:spcAft>
                <a:spcPts val="400"/>
              </a:spcAft>
            </a:pPr>
            <a:r>
              <a:rPr sz="1400" b="1" i="0">
                <a:solidFill>
                  <a:srgbClr val="1F497D"/>
                </a:solidFill>
                <a:latin typeface="Calibri"/>
              </a:rPr>
              <a:t>[1] A systematic review of AI frameworks for holistic disaster management</a:t>
            </a:r>
          </a:p>
        </p:txBody>
      </p:sp>
      <p:sp>
        <p:nvSpPr>
          <p:cNvPr id="9" name="TextBox 8"/>
          <p:cNvSpPr txBox="1"/>
          <p:nvPr/>
        </p:nvSpPr>
        <p:spPr>
          <a:xfrm>
            <a:off x="594360" y="2926080"/>
            <a:ext cx="2331720" cy="292608"/>
          </a:xfrm>
          <a:prstGeom prst="rect">
            <a:avLst/>
          </a:prstGeom>
          <a:noFill/>
        </p:spPr>
        <p:txBody>
          <a:bodyPr wrap="square" anchor="t" lIns="36576" rIns="36576" tIns="36576" bIns="36576"/>
          <a:lstStyle/>
          <a:p>
            <a:pPr algn="l">
              <a:spcAft>
                <a:spcPts val="400"/>
              </a:spcAft>
            </a:pPr>
            <a:r>
              <a:rPr sz="1200" b="0" i="1">
                <a:solidFill>
                  <a:srgbClr val="595959"/>
                </a:solidFill>
                <a:latin typeface="Calibri"/>
              </a:rPr>
              <a:t>Discover AI, 2026</a:t>
            </a:r>
          </a:p>
        </p:txBody>
      </p:sp>
      <p:sp>
        <p:nvSpPr>
          <p:cNvPr id="10" name="TextBox 9"/>
          <p:cNvSpPr txBox="1"/>
          <p:nvPr/>
        </p:nvSpPr>
        <p:spPr>
          <a:xfrm>
            <a:off x="594360" y="3291840"/>
            <a:ext cx="2331720" cy="1051560"/>
          </a:xfrm>
          <a:prstGeom prst="rect">
            <a:avLst/>
          </a:prstGeom>
          <a:noFill/>
        </p:spPr>
        <p:txBody>
          <a:bodyPr wrap="square" anchor="t" lIns="36576" rIns="36576" tIns="36576" bIns="36576"/>
          <a:lstStyle/>
          <a:p>
            <a:pPr algn="l">
              <a:spcAft>
                <a:spcPts val="400"/>
              </a:spcAft>
            </a:pPr>
            <a:r>
              <a:rPr sz="1300" b="1" i="0">
                <a:solidFill>
                  <a:srgbClr val="1F497D"/>
                </a:solidFill>
                <a:latin typeface="Calibri"/>
              </a:rPr>
              <a:t>Why selected: </a:t>
            </a:r>
            <a:r>
              <a:rPr sz="1300" b="0" i="0">
                <a:solidFill>
                  <a:srgbClr val="262626"/>
                </a:solidFill>
                <a:latin typeface="Calibri"/>
              </a:rPr>
              <a:t>Most comprehensive recent review (96 studies) across all disaster phases.</a:t>
            </a:r>
          </a:p>
        </p:txBody>
      </p:sp>
      <p:sp>
        <p:nvSpPr>
          <p:cNvPr id="11" name="TextBox 10"/>
          <p:cNvSpPr txBox="1"/>
          <p:nvPr/>
        </p:nvSpPr>
        <p:spPr>
          <a:xfrm>
            <a:off x="594360" y="4343400"/>
            <a:ext cx="2331720" cy="960120"/>
          </a:xfrm>
          <a:prstGeom prst="rect">
            <a:avLst/>
          </a:prstGeom>
          <a:noFill/>
        </p:spPr>
        <p:txBody>
          <a:bodyPr wrap="square" anchor="t" lIns="36576" rIns="36576" tIns="36576" bIns="36576"/>
          <a:lstStyle/>
          <a:p>
            <a:pPr algn="l">
              <a:spcAft>
                <a:spcPts val="400"/>
              </a:spcAft>
            </a:pPr>
            <a:r>
              <a:rPr sz="1300" b="1" i="0">
                <a:solidFill>
                  <a:srgbClr val="1F497D"/>
                </a:solidFill>
                <a:latin typeface="Calibri"/>
              </a:rPr>
              <a:t>Used for: </a:t>
            </a:r>
            <a:r>
              <a:rPr sz="1300" b="0" i="0">
                <a:solidFill>
                  <a:srgbClr val="262626"/>
                </a:solidFill>
                <a:latin typeface="Calibri"/>
              </a:rPr>
              <a:t>Overall structure: phases × AI techniques; system pipeline.</a:t>
            </a:r>
          </a:p>
        </p:txBody>
      </p:sp>
      <p:sp>
        <p:nvSpPr>
          <p:cNvPr id="12" name="Rounded Rectangle 11"/>
          <p:cNvSpPr/>
          <p:nvPr/>
        </p:nvSpPr>
        <p:spPr>
          <a:xfrm>
            <a:off x="3268980" y="1234440"/>
            <a:ext cx="2606040" cy="411480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13" name="Rounded Rectangle 12"/>
          <p:cNvSpPr/>
          <p:nvPr/>
        </p:nvSpPr>
        <p:spPr>
          <a:xfrm>
            <a:off x="3268980" y="1234440"/>
            <a:ext cx="2606040" cy="457200"/>
          </a:xfrm>
          <a:prstGeom prst="roundRect">
            <a:avLst>
              <a:gd name="adj" fmla="val 16000"/>
            </a:avLst>
          </a:prstGeom>
          <a:solidFill>
            <a:srgbClr val="E46C0A"/>
          </a:solidFill>
          <a:ln>
            <a:noFill/>
          </a:ln>
        </p:spPr>
        <p:txBody>
          <a:bodyPr rtlCol="0" anchor="ctr" wrap="square" lIns="54864" rIns="54864" tIns="54864" bIns="54864"/>
          <a:lstStyle/>
          <a:p>
            <a:pPr algn="ctr">
              <a:spcAft>
                <a:spcPts val="0"/>
              </a:spcAft>
            </a:pPr>
            <a:r>
              <a:rPr sz="1300" b="1" i="0">
                <a:solidFill>
                  <a:srgbClr val="FFFFFF"/>
                </a:solidFill>
                <a:latin typeface="Calibri"/>
              </a:rPr>
              <a:t>SUPPORTING</a:t>
            </a:r>
          </a:p>
        </p:txBody>
      </p:sp>
      <p:sp>
        <p:nvSpPr>
          <p:cNvPr id="14" name="TextBox 13"/>
          <p:cNvSpPr txBox="1"/>
          <p:nvPr/>
        </p:nvSpPr>
        <p:spPr>
          <a:xfrm>
            <a:off x="3406140" y="1783080"/>
            <a:ext cx="2331720" cy="1143000"/>
          </a:xfrm>
          <a:prstGeom prst="rect">
            <a:avLst/>
          </a:prstGeom>
          <a:noFill/>
        </p:spPr>
        <p:txBody>
          <a:bodyPr wrap="square" anchor="t" lIns="36576" rIns="36576" tIns="36576" bIns="36576"/>
          <a:lstStyle/>
          <a:p>
            <a:pPr algn="l">
              <a:spcAft>
                <a:spcPts val="400"/>
              </a:spcAft>
            </a:pPr>
            <a:r>
              <a:rPr sz="1400" b="1" i="0">
                <a:solidFill>
                  <a:srgbClr val="1F497D"/>
                </a:solidFill>
                <a:latin typeface="Calibri"/>
              </a:rPr>
              <a:t>[6] Harnessing Large Language Models for Disaster Management: A Survey</a:t>
            </a:r>
          </a:p>
        </p:txBody>
      </p:sp>
      <p:sp>
        <p:nvSpPr>
          <p:cNvPr id="15" name="TextBox 14"/>
          <p:cNvSpPr txBox="1"/>
          <p:nvPr/>
        </p:nvSpPr>
        <p:spPr>
          <a:xfrm>
            <a:off x="3406140" y="2926080"/>
            <a:ext cx="2331720" cy="292608"/>
          </a:xfrm>
          <a:prstGeom prst="rect">
            <a:avLst/>
          </a:prstGeom>
          <a:noFill/>
        </p:spPr>
        <p:txBody>
          <a:bodyPr wrap="square" anchor="t" lIns="36576" rIns="36576" tIns="36576" bIns="36576"/>
          <a:lstStyle/>
          <a:p>
            <a:pPr algn="l">
              <a:spcAft>
                <a:spcPts val="400"/>
              </a:spcAft>
            </a:pPr>
            <a:r>
              <a:rPr sz="1200" b="0" i="1">
                <a:solidFill>
                  <a:srgbClr val="595959"/>
                </a:solidFill>
                <a:latin typeface="Calibri"/>
              </a:rPr>
              <a:t>Findings of ACL, 2025</a:t>
            </a:r>
          </a:p>
        </p:txBody>
      </p:sp>
      <p:sp>
        <p:nvSpPr>
          <p:cNvPr id="16" name="TextBox 15"/>
          <p:cNvSpPr txBox="1"/>
          <p:nvPr/>
        </p:nvSpPr>
        <p:spPr>
          <a:xfrm>
            <a:off x="3406140" y="3291840"/>
            <a:ext cx="2331720" cy="1051560"/>
          </a:xfrm>
          <a:prstGeom prst="rect">
            <a:avLst/>
          </a:prstGeom>
          <a:noFill/>
        </p:spPr>
        <p:txBody>
          <a:bodyPr wrap="square" anchor="t" lIns="36576" rIns="36576" tIns="36576" bIns="36576"/>
          <a:lstStyle/>
          <a:p>
            <a:pPr algn="l">
              <a:spcAft>
                <a:spcPts val="400"/>
              </a:spcAft>
            </a:pPr>
            <a:r>
              <a:rPr sz="1300" b="1" i="0">
                <a:solidFill>
                  <a:srgbClr val="E46C0A"/>
                </a:solidFill>
                <a:latin typeface="Calibri"/>
              </a:rPr>
              <a:t>Why selected: </a:t>
            </a:r>
            <a:r>
              <a:rPr sz="1300" b="0" i="0">
                <a:solidFill>
                  <a:srgbClr val="262626"/>
                </a:solidFill>
                <a:latin typeface="Calibri"/>
              </a:rPr>
              <a:t>Broad survey of LLM use in disaster management.</a:t>
            </a:r>
          </a:p>
        </p:txBody>
      </p:sp>
      <p:sp>
        <p:nvSpPr>
          <p:cNvPr id="17" name="TextBox 16"/>
          <p:cNvSpPr txBox="1"/>
          <p:nvPr/>
        </p:nvSpPr>
        <p:spPr>
          <a:xfrm>
            <a:off x="3406140" y="4343400"/>
            <a:ext cx="2331720" cy="960120"/>
          </a:xfrm>
          <a:prstGeom prst="rect">
            <a:avLst/>
          </a:prstGeom>
          <a:noFill/>
        </p:spPr>
        <p:txBody>
          <a:bodyPr wrap="square" anchor="t" lIns="36576" rIns="36576" tIns="36576" bIns="36576"/>
          <a:lstStyle/>
          <a:p>
            <a:pPr algn="l">
              <a:spcAft>
                <a:spcPts val="400"/>
              </a:spcAft>
            </a:pPr>
            <a:r>
              <a:rPr sz="1300" b="1" i="0">
                <a:solidFill>
                  <a:srgbClr val="E46C0A"/>
                </a:solidFill>
                <a:latin typeface="Calibri"/>
              </a:rPr>
              <a:t>Used for: </a:t>
            </a:r>
            <a:r>
              <a:rPr sz="1300" b="0" i="0">
                <a:solidFill>
                  <a:srgbClr val="262626"/>
                </a:solidFill>
                <a:latin typeface="Calibri"/>
              </a:rPr>
              <a:t>NLP / LLM crisis-information extraction module.</a:t>
            </a:r>
          </a:p>
        </p:txBody>
      </p:sp>
      <p:sp>
        <p:nvSpPr>
          <p:cNvPr id="18" name="Rounded Rectangle 17"/>
          <p:cNvSpPr/>
          <p:nvPr/>
        </p:nvSpPr>
        <p:spPr>
          <a:xfrm>
            <a:off x="6080760" y="1234440"/>
            <a:ext cx="2606040" cy="411480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19" name="Rounded Rectangle 18"/>
          <p:cNvSpPr/>
          <p:nvPr/>
        </p:nvSpPr>
        <p:spPr>
          <a:xfrm>
            <a:off x="6080760" y="1234440"/>
            <a:ext cx="2606040" cy="457200"/>
          </a:xfrm>
          <a:prstGeom prst="roundRect">
            <a:avLst>
              <a:gd name="adj" fmla="val 16000"/>
            </a:avLst>
          </a:prstGeom>
          <a:solidFill>
            <a:srgbClr val="E46C0A"/>
          </a:solidFill>
          <a:ln>
            <a:noFill/>
          </a:ln>
        </p:spPr>
        <p:txBody>
          <a:bodyPr rtlCol="0" anchor="ctr" wrap="square" lIns="54864" rIns="54864" tIns="54864" bIns="54864"/>
          <a:lstStyle/>
          <a:p>
            <a:pPr algn="ctr">
              <a:spcAft>
                <a:spcPts val="0"/>
              </a:spcAft>
            </a:pPr>
            <a:r>
              <a:rPr sz="1300" b="1" i="0">
                <a:solidFill>
                  <a:srgbClr val="FFFFFF"/>
                </a:solidFill>
                <a:latin typeface="Calibri"/>
              </a:rPr>
              <a:t>SUPPORTING</a:t>
            </a:r>
          </a:p>
        </p:txBody>
      </p:sp>
      <p:sp>
        <p:nvSpPr>
          <p:cNvPr id="20" name="TextBox 19"/>
          <p:cNvSpPr txBox="1"/>
          <p:nvPr/>
        </p:nvSpPr>
        <p:spPr>
          <a:xfrm>
            <a:off x="6217920" y="1783080"/>
            <a:ext cx="2331720" cy="1143000"/>
          </a:xfrm>
          <a:prstGeom prst="rect">
            <a:avLst/>
          </a:prstGeom>
          <a:noFill/>
        </p:spPr>
        <p:txBody>
          <a:bodyPr wrap="square" anchor="t" lIns="36576" rIns="36576" tIns="36576" bIns="36576"/>
          <a:lstStyle/>
          <a:p>
            <a:pPr algn="l">
              <a:spcAft>
                <a:spcPts val="400"/>
              </a:spcAft>
            </a:pPr>
            <a:r>
              <a:rPr sz="1400" b="1" i="0">
                <a:solidFill>
                  <a:srgbClr val="1F497D"/>
                </a:solidFill>
                <a:latin typeface="Calibri"/>
              </a:rPr>
              <a:t>[7] Integration of large vision language models … (DisasTeller)</a:t>
            </a:r>
          </a:p>
        </p:txBody>
      </p:sp>
      <p:sp>
        <p:nvSpPr>
          <p:cNvPr id="21" name="TextBox 20"/>
          <p:cNvSpPr txBox="1"/>
          <p:nvPr/>
        </p:nvSpPr>
        <p:spPr>
          <a:xfrm>
            <a:off x="6217920" y="2926080"/>
            <a:ext cx="2331720" cy="292608"/>
          </a:xfrm>
          <a:prstGeom prst="rect">
            <a:avLst/>
          </a:prstGeom>
          <a:noFill/>
        </p:spPr>
        <p:txBody>
          <a:bodyPr wrap="square" anchor="t" lIns="36576" rIns="36576" tIns="36576" bIns="36576"/>
          <a:lstStyle/>
          <a:p>
            <a:pPr algn="l">
              <a:spcAft>
                <a:spcPts val="400"/>
              </a:spcAft>
            </a:pPr>
            <a:r>
              <a:rPr sz="1200" b="0" i="1">
                <a:solidFill>
                  <a:srgbClr val="595959"/>
                </a:solidFill>
                <a:latin typeface="Calibri"/>
              </a:rPr>
              <a:t>Nature Communications, 2026</a:t>
            </a:r>
          </a:p>
        </p:txBody>
      </p:sp>
      <p:sp>
        <p:nvSpPr>
          <p:cNvPr id="22" name="TextBox 21"/>
          <p:cNvSpPr txBox="1"/>
          <p:nvPr/>
        </p:nvSpPr>
        <p:spPr>
          <a:xfrm>
            <a:off x="6217920" y="3291840"/>
            <a:ext cx="2331720" cy="1051560"/>
          </a:xfrm>
          <a:prstGeom prst="rect">
            <a:avLst/>
          </a:prstGeom>
          <a:noFill/>
        </p:spPr>
        <p:txBody>
          <a:bodyPr wrap="square" anchor="t" lIns="36576" rIns="36576" tIns="36576" bIns="36576"/>
          <a:lstStyle/>
          <a:p>
            <a:pPr algn="l">
              <a:spcAft>
                <a:spcPts val="400"/>
              </a:spcAft>
            </a:pPr>
            <a:r>
              <a:rPr sz="1300" b="1" i="0">
                <a:solidFill>
                  <a:srgbClr val="E46C0A"/>
                </a:solidFill>
                <a:latin typeface="Calibri"/>
              </a:rPr>
              <a:t>Why selected: </a:t>
            </a:r>
            <a:r>
              <a:rPr sz="1300" b="0" i="0">
                <a:solidFill>
                  <a:srgbClr val="262626"/>
                </a:solidFill>
                <a:latin typeface="Calibri"/>
              </a:rPr>
              <a:t>Shows a working multi-agent vision-language system.</a:t>
            </a:r>
          </a:p>
        </p:txBody>
      </p:sp>
      <p:sp>
        <p:nvSpPr>
          <p:cNvPr id="23" name="TextBox 22"/>
          <p:cNvSpPr txBox="1"/>
          <p:nvPr/>
        </p:nvSpPr>
        <p:spPr>
          <a:xfrm>
            <a:off x="6217920" y="4343400"/>
            <a:ext cx="2331720" cy="960120"/>
          </a:xfrm>
          <a:prstGeom prst="rect">
            <a:avLst/>
          </a:prstGeom>
          <a:noFill/>
        </p:spPr>
        <p:txBody>
          <a:bodyPr wrap="square" anchor="t" lIns="36576" rIns="36576" tIns="36576" bIns="36576"/>
          <a:lstStyle/>
          <a:p>
            <a:pPr algn="l">
              <a:spcAft>
                <a:spcPts val="400"/>
              </a:spcAft>
            </a:pPr>
            <a:r>
              <a:rPr sz="1300" b="1" i="0">
                <a:solidFill>
                  <a:srgbClr val="E46C0A"/>
                </a:solidFill>
                <a:latin typeface="Calibri"/>
              </a:rPr>
              <a:t>Used for: </a:t>
            </a:r>
            <a:r>
              <a:rPr sz="1300" b="0" i="0">
                <a:solidFill>
                  <a:srgbClr val="262626"/>
                </a:solidFill>
                <a:latin typeface="Calibri"/>
              </a:rPr>
              <a:t>Damage assessment and automated reporting.</a:t>
            </a:r>
          </a:p>
        </p:txBody>
      </p:sp>
      <p:sp>
        <p:nvSpPr>
          <p:cNvPr id="24" name="TextBox 23"/>
          <p:cNvSpPr txBox="1"/>
          <p:nvPr/>
        </p:nvSpPr>
        <p:spPr>
          <a:xfrm>
            <a:off x="457200" y="5532120"/>
            <a:ext cx="8229600" cy="640080"/>
          </a:xfrm>
          <a:prstGeom prst="rect">
            <a:avLst/>
          </a:prstGeom>
          <a:noFill/>
        </p:spPr>
        <p:txBody>
          <a:bodyPr wrap="square" anchor="ctr" lIns="36576" rIns="36576" tIns="36576" bIns="36576"/>
          <a:lstStyle/>
          <a:p>
            <a:pPr algn="ctr">
              <a:spcAft>
                <a:spcPts val="400"/>
              </a:spcAft>
            </a:pPr>
            <a:r>
              <a:rPr sz="1400" b="0" i="1">
                <a:solidFill>
                  <a:srgbClr val="595959"/>
                </a:solidFill>
                <a:latin typeface="Calibri"/>
              </a:rPr>
              <a:t>Reviews [2]–[5] were then used for early-warning, flood and wildfire details.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System Architecture</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TextBox 5"/>
          <p:cNvSpPr txBox="1"/>
          <p:nvPr/>
        </p:nvSpPr>
        <p:spPr>
          <a:xfrm>
            <a:off x="457200" y="987552"/>
            <a:ext cx="8229600" cy="320040"/>
          </a:xfrm>
          <a:prstGeom prst="rect">
            <a:avLst/>
          </a:prstGeom>
          <a:noFill/>
        </p:spPr>
        <p:txBody>
          <a:bodyPr wrap="square" anchor="t" lIns="36576" rIns="36576" tIns="36576" bIns="36576"/>
          <a:lstStyle/>
          <a:p>
            <a:pPr algn="ctr">
              <a:spcAft>
                <a:spcPts val="400"/>
              </a:spcAft>
            </a:pPr>
            <a:r>
              <a:rPr sz="1300" b="0" i="1">
                <a:solidFill>
                  <a:srgbClr val="595959"/>
                </a:solidFill>
                <a:latin typeface="Calibri"/>
              </a:rPr>
              <a:t>End-to-end AI pipeline: from raw data to disaster-management decisions [1]</a:t>
            </a:r>
          </a:p>
        </p:txBody>
      </p:sp>
      <p:sp>
        <p:nvSpPr>
          <p:cNvPr id="7" name="Rounded Rectangle 6"/>
          <p:cNvSpPr/>
          <p:nvPr/>
        </p:nvSpPr>
        <p:spPr>
          <a:xfrm>
            <a:off x="274320" y="1417320"/>
            <a:ext cx="1874519" cy="3794760"/>
          </a:xfrm>
          <a:prstGeom prst="roundRect">
            <a:avLst>
              <a:gd name="adj" fmla="val 3902"/>
            </a:avLst>
          </a:prstGeom>
          <a:solidFill>
            <a:srgbClr val="F2F6FB"/>
          </a:solidFill>
          <a:ln w="15875">
            <a:solidFill>
              <a:srgbClr val="1F497D"/>
            </a:solidFill>
          </a:ln>
        </p:spPr>
        <p:txBody>
          <a:bodyPr rtlCol="0" anchor="ctr" wrap="square" lIns="54864" rIns="54864" tIns="54864" bIns="54864"/>
          <a:lstStyle/>
          <a:p>
            <a:pPr algn="ctr"/>
          </a:p>
        </p:txBody>
      </p:sp>
      <p:sp>
        <p:nvSpPr>
          <p:cNvPr id="8" name="Rounded Rectangle 7"/>
          <p:cNvSpPr/>
          <p:nvPr/>
        </p:nvSpPr>
        <p:spPr>
          <a:xfrm>
            <a:off x="274320" y="1417320"/>
            <a:ext cx="1874519" cy="457200"/>
          </a:xfrm>
          <a:prstGeom prst="roundRect">
            <a:avLst>
              <a:gd name="adj" fmla="val 16000"/>
            </a:avLst>
          </a:prstGeom>
          <a:solidFill>
            <a:srgbClr val="1F497D"/>
          </a:solidFill>
          <a:ln>
            <a:noFill/>
          </a:ln>
        </p:spPr>
        <p:txBody>
          <a:bodyPr rtlCol="0" anchor="ctr" wrap="square" lIns="54864" rIns="54864" tIns="54864" bIns="54864"/>
          <a:lstStyle/>
          <a:p>
            <a:pPr algn="ctr">
              <a:spcAft>
                <a:spcPts val="0"/>
              </a:spcAft>
            </a:pPr>
            <a:r>
              <a:rPr sz="1400" b="1" i="0">
                <a:solidFill>
                  <a:srgbClr val="FFFFFF"/>
                </a:solidFill>
                <a:latin typeface="Calibri"/>
              </a:rPr>
              <a:t>Data Sources</a:t>
            </a:r>
          </a:p>
        </p:txBody>
      </p:sp>
      <p:sp>
        <p:nvSpPr>
          <p:cNvPr id="9" name="Rounded Rectangle 8"/>
          <p:cNvSpPr/>
          <p:nvPr/>
        </p:nvSpPr>
        <p:spPr>
          <a:xfrm>
            <a:off x="365760" y="2011680"/>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10" name="Picture 9" descr="satellite_n.png"/>
          <p:cNvPicPr>
            <a:picLocks noChangeAspect="1"/>
          </p:cNvPicPr>
          <p:nvPr/>
        </p:nvPicPr>
        <p:blipFill>
          <a:blip r:embed="rId3"/>
          <a:stretch>
            <a:fillRect/>
          </a:stretch>
        </p:blipFill>
        <p:spPr>
          <a:xfrm>
            <a:off x="457200" y="2185416"/>
            <a:ext cx="329184" cy="329184"/>
          </a:xfrm>
          <a:prstGeom prst="rect">
            <a:avLst/>
          </a:prstGeom>
        </p:spPr>
      </p:pic>
      <p:sp>
        <p:nvSpPr>
          <p:cNvPr id="11" name="TextBox 10"/>
          <p:cNvSpPr txBox="1"/>
          <p:nvPr/>
        </p:nvSpPr>
        <p:spPr>
          <a:xfrm>
            <a:off x="841247" y="2029968"/>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Satellite / UAV imagery</a:t>
            </a:r>
          </a:p>
        </p:txBody>
      </p:sp>
      <p:sp>
        <p:nvSpPr>
          <p:cNvPr id="12" name="Rounded Rectangle 11"/>
          <p:cNvSpPr/>
          <p:nvPr/>
        </p:nvSpPr>
        <p:spPr>
          <a:xfrm>
            <a:off x="365760" y="2798064"/>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13" name="Picture 12" descr="sensor_n.png"/>
          <p:cNvPicPr>
            <a:picLocks noChangeAspect="1"/>
          </p:cNvPicPr>
          <p:nvPr/>
        </p:nvPicPr>
        <p:blipFill>
          <a:blip r:embed="rId4"/>
          <a:stretch>
            <a:fillRect/>
          </a:stretch>
        </p:blipFill>
        <p:spPr>
          <a:xfrm>
            <a:off x="457200" y="2971800"/>
            <a:ext cx="329184" cy="329184"/>
          </a:xfrm>
          <a:prstGeom prst="rect">
            <a:avLst/>
          </a:prstGeom>
        </p:spPr>
      </p:pic>
      <p:sp>
        <p:nvSpPr>
          <p:cNvPr id="14" name="TextBox 13"/>
          <p:cNvSpPr txBox="1"/>
          <p:nvPr/>
        </p:nvSpPr>
        <p:spPr>
          <a:xfrm>
            <a:off x="841247" y="2816352"/>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IoT sensors: rain, river, seismic</a:t>
            </a:r>
          </a:p>
        </p:txBody>
      </p:sp>
      <p:sp>
        <p:nvSpPr>
          <p:cNvPr id="15" name="Rounded Rectangle 14"/>
          <p:cNvSpPr/>
          <p:nvPr/>
        </p:nvSpPr>
        <p:spPr>
          <a:xfrm>
            <a:off x="365760" y="3584448"/>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16" name="Picture 15" descr="comment_n.png"/>
          <p:cNvPicPr>
            <a:picLocks noChangeAspect="1"/>
          </p:cNvPicPr>
          <p:nvPr/>
        </p:nvPicPr>
        <p:blipFill>
          <a:blip r:embed="rId5"/>
          <a:stretch>
            <a:fillRect/>
          </a:stretch>
        </p:blipFill>
        <p:spPr>
          <a:xfrm>
            <a:off x="457200" y="3758184"/>
            <a:ext cx="329184" cy="329184"/>
          </a:xfrm>
          <a:prstGeom prst="rect">
            <a:avLst/>
          </a:prstGeom>
        </p:spPr>
      </p:pic>
      <p:sp>
        <p:nvSpPr>
          <p:cNvPr id="17" name="TextBox 16"/>
          <p:cNvSpPr txBox="1"/>
          <p:nvPr/>
        </p:nvSpPr>
        <p:spPr>
          <a:xfrm>
            <a:off x="841247" y="3602736"/>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Social media &amp; news</a:t>
            </a:r>
          </a:p>
        </p:txBody>
      </p:sp>
      <p:sp>
        <p:nvSpPr>
          <p:cNvPr id="18" name="Rounded Rectangle 17"/>
          <p:cNvSpPr/>
          <p:nvPr/>
        </p:nvSpPr>
        <p:spPr>
          <a:xfrm>
            <a:off x="365760" y="4370832"/>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19" name="Picture 18" descr="db_n.png"/>
          <p:cNvPicPr>
            <a:picLocks noChangeAspect="1"/>
          </p:cNvPicPr>
          <p:nvPr/>
        </p:nvPicPr>
        <p:blipFill>
          <a:blip r:embed="rId6"/>
          <a:stretch>
            <a:fillRect/>
          </a:stretch>
        </p:blipFill>
        <p:spPr>
          <a:xfrm>
            <a:off x="457200" y="4544568"/>
            <a:ext cx="329184" cy="329184"/>
          </a:xfrm>
          <a:prstGeom prst="rect">
            <a:avLst/>
          </a:prstGeom>
        </p:spPr>
      </p:pic>
      <p:sp>
        <p:nvSpPr>
          <p:cNvPr id="20" name="TextBox 19"/>
          <p:cNvSpPr txBox="1"/>
          <p:nvPr/>
        </p:nvSpPr>
        <p:spPr>
          <a:xfrm>
            <a:off x="841247" y="4389120"/>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Government &amp; historical data</a:t>
            </a:r>
          </a:p>
        </p:txBody>
      </p:sp>
      <p:sp>
        <p:nvSpPr>
          <p:cNvPr id="21" name="Rounded Rectangle 20"/>
          <p:cNvSpPr/>
          <p:nvPr/>
        </p:nvSpPr>
        <p:spPr>
          <a:xfrm>
            <a:off x="2514600" y="1417320"/>
            <a:ext cx="1874519" cy="3794760"/>
          </a:xfrm>
          <a:prstGeom prst="roundRect">
            <a:avLst>
              <a:gd name="adj" fmla="val 3902"/>
            </a:avLst>
          </a:prstGeom>
          <a:solidFill>
            <a:srgbClr val="F2F6FB"/>
          </a:solidFill>
          <a:ln w="15875">
            <a:solidFill>
              <a:srgbClr val="4F81BD"/>
            </a:solidFill>
          </a:ln>
        </p:spPr>
        <p:txBody>
          <a:bodyPr rtlCol="0" anchor="ctr" wrap="square" lIns="54864" rIns="54864" tIns="54864" bIns="54864"/>
          <a:lstStyle/>
          <a:p>
            <a:pPr algn="ctr"/>
          </a:p>
        </p:txBody>
      </p:sp>
      <p:sp>
        <p:nvSpPr>
          <p:cNvPr id="22" name="Rounded Rectangle 21"/>
          <p:cNvSpPr/>
          <p:nvPr/>
        </p:nvSpPr>
        <p:spPr>
          <a:xfrm>
            <a:off x="2514600" y="1417320"/>
            <a:ext cx="1874519" cy="457200"/>
          </a:xfrm>
          <a:prstGeom prst="roundRect">
            <a:avLst>
              <a:gd name="adj" fmla="val 16000"/>
            </a:avLst>
          </a:prstGeom>
          <a:solidFill>
            <a:srgbClr val="4F81BD"/>
          </a:solidFill>
          <a:ln>
            <a:noFill/>
          </a:ln>
        </p:spPr>
        <p:txBody>
          <a:bodyPr rtlCol="0" anchor="ctr" wrap="square" lIns="54864" rIns="54864" tIns="54864" bIns="54864"/>
          <a:lstStyle/>
          <a:p>
            <a:pPr algn="ctr">
              <a:spcAft>
                <a:spcPts val="0"/>
              </a:spcAft>
            </a:pPr>
            <a:r>
              <a:rPr sz="1400" b="1" i="0">
                <a:solidFill>
                  <a:srgbClr val="FFFFFF"/>
                </a:solidFill>
                <a:latin typeface="Calibri"/>
              </a:rPr>
              <a:t>AI Processing</a:t>
            </a:r>
          </a:p>
        </p:txBody>
      </p:sp>
      <p:sp>
        <p:nvSpPr>
          <p:cNvPr id="23" name="Rounded Rectangle 22"/>
          <p:cNvSpPr/>
          <p:nvPr/>
        </p:nvSpPr>
        <p:spPr>
          <a:xfrm>
            <a:off x="2606040" y="2011680"/>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24" name="Picture 23" descr="cogs_b.png"/>
          <p:cNvPicPr>
            <a:picLocks noChangeAspect="1"/>
          </p:cNvPicPr>
          <p:nvPr/>
        </p:nvPicPr>
        <p:blipFill>
          <a:blip r:embed="rId7"/>
          <a:stretch>
            <a:fillRect/>
          </a:stretch>
        </p:blipFill>
        <p:spPr>
          <a:xfrm>
            <a:off x="2697480" y="2185416"/>
            <a:ext cx="329184" cy="329184"/>
          </a:xfrm>
          <a:prstGeom prst="rect">
            <a:avLst/>
          </a:prstGeom>
        </p:spPr>
      </p:pic>
      <p:sp>
        <p:nvSpPr>
          <p:cNvPr id="25" name="TextBox 24"/>
          <p:cNvSpPr txBox="1"/>
          <p:nvPr/>
        </p:nvSpPr>
        <p:spPr>
          <a:xfrm>
            <a:off x="3081528" y="2029968"/>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Preprocessing: cleaning, fusion</a:t>
            </a:r>
          </a:p>
        </p:txBody>
      </p:sp>
      <p:sp>
        <p:nvSpPr>
          <p:cNvPr id="26" name="Rounded Rectangle 25"/>
          <p:cNvSpPr/>
          <p:nvPr/>
        </p:nvSpPr>
        <p:spPr>
          <a:xfrm>
            <a:off x="2606040" y="2798064"/>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27" name="Picture 26" descr="brain_b.png"/>
          <p:cNvPicPr>
            <a:picLocks noChangeAspect="1"/>
          </p:cNvPicPr>
          <p:nvPr/>
        </p:nvPicPr>
        <p:blipFill>
          <a:blip r:embed="rId8"/>
          <a:stretch>
            <a:fillRect/>
          </a:stretch>
        </p:blipFill>
        <p:spPr>
          <a:xfrm>
            <a:off x="2697480" y="2971800"/>
            <a:ext cx="329184" cy="329184"/>
          </a:xfrm>
          <a:prstGeom prst="rect">
            <a:avLst/>
          </a:prstGeom>
        </p:spPr>
      </p:pic>
      <p:sp>
        <p:nvSpPr>
          <p:cNvPr id="28" name="TextBox 27"/>
          <p:cNvSpPr txBox="1"/>
          <p:nvPr/>
        </p:nvSpPr>
        <p:spPr>
          <a:xfrm>
            <a:off x="3081528" y="2816352"/>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ML / DL: CNN, LSTM, ViT</a:t>
            </a:r>
          </a:p>
        </p:txBody>
      </p:sp>
      <p:sp>
        <p:nvSpPr>
          <p:cNvPr id="29" name="Rounded Rectangle 28"/>
          <p:cNvSpPr/>
          <p:nvPr/>
        </p:nvSpPr>
        <p:spPr>
          <a:xfrm>
            <a:off x="2606040" y="3584448"/>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30" name="Picture 29" descr="comment_b.png"/>
          <p:cNvPicPr>
            <a:picLocks noChangeAspect="1"/>
          </p:cNvPicPr>
          <p:nvPr/>
        </p:nvPicPr>
        <p:blipFill>
          <a:blip r:embed="rId9"/>
          <a:stretch>
            <a:fillRect/>
          </a:stretch>
        </p:blipFill>
        <p:spPr>
          <a:xfrm>
            <a:off x="2697480" y="3758184"/>
            <a:ext cx="329184" cy="329184"/>
          </a:xfrm>
          <a:prstGeom prst="rect">
            <a:avLst/>
          </a:prstGeom>
        </p:spPr>
      </p:pic>
      <p:sp>
        <p:nvSpPr>
          <p:cNvPr id="31" name="TextBox 30"/>
          <p:cNvSpPr txBox="1"/>
          <p:nvPr/>
        </p:nvSpPr>
        <p:spPr>
          <a:xfrm>
            <a:off x="3081528" y="3602736"/>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NLP / LLM: BERT, NER</a:t>
            </a:r>
          </a:p>
        </p:txBody>
      </p:sp>
      <p:sp>
        <p:nvSpPr>
          <p:cNvPr id="32" name="Rounded Rectangle 31"/>
          <p:cNvSpPr/>
          <p:nvPr/>
        </p:nvSpPr>
        <p:spPr>
          <a:xfrm>
            <a:off x="2606040" y="4370832"/>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33" name="Picture 32" descr="route_b.png"/>
          <p:cNvPicPr>
            <a:picLocks noChangeAspect="1"/>
          </p:cNvPicPr>
          <p:nvPr/>
        </p:nvPicPr>
        <p:blipFill>
          <a:blip r:embed="rId10"/>
          <a:stretch>
            <a:fillRect/>
          </a:stretch>
        </p:blipFill>
        <p:spPr>
          <a:xfrm>
            <a:off x="2697480" y="4544568"/>
            <a:ext cx="329184" cy="329184"/>
          </a:xfrm>
          <a:prstGeom prst="rect">
            <a:avLst/>
          </a:prstGeom>
        </p:spPr>
      </p:pic>
      <p:sp>
        <p:nvSpPr>
          <p:cNvPr id="34" name="TextBox 33"/>
          <p:cNvSpPr txBox="1"/>
          <p:nvPr/>
        </p:nvSpPr>
        <p:spPr>
          <a:xfrm>
            <a:off x="3081528" y="4389120"/>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Optimization / RL</a:t>
            </a:r>
          </a:p>
        </p:txBody>
      </p:sp>
      <p:sp>
        <p:nvSpPr>
          <p:cNvPr id="35" name="Rounded Rectangle 34"/>
          <p:cNvSpPr/>
          <p:nvPr/>
        </p:nvSpPr>
        <p:spPr>
          <a:xfrm>
            <a:off x="4754880" y="1417320"/>
            <a:ext cx="1874519" cy="3794760"/>
          </a:xfrm>
          <a:prstGeom prst="roundRect">
            <a:avLst>
              <a:gd name="adj" fmla="val 3902"/>
            </a:avLst>
          </a:prstGeom>
          <a:solidFill>
            <a:srgbClr val="F2F6FB"/>
          </a:solidFill>
          <a:ln w="15875">
            <a:solidFill>
              <a:srgbClr val="E46C0A"/>
            </a:solidFill>
          </a:ln>
        </p:spPr>
        <p:txBody>
          <a:bodyPr rtlCol="0" anchor="ctr" wrap="square" lIns="54864" rIns="54864" tIns="54864" bIns="54864"/>
          <a:lstStyle/>
          <a:p>
            <a:pPr algn="ctr"/>
          </a:p>
        </p:txBody>
      </p:sp>
      <p:sp>
        <p:nvSpPr>
          <p:cNvPr id="36" name="Rounded Rectangle 35"/>
          <p:cNvSpPr/>
          <p:nvPr/>
        </p:nvSpPr>
        <p:spPr>
          <a:xfrm>
            <a:off x="4754880" y="1417320"/>
            <a:ext cx="1874519" cy="457200"/>
          </a:xfrm>
          <a:prstGeom prst="roundRect">
            <a:avLst>
              <a:gd name="adj" fmla="val 16000"/>
            </a:avLst>
          </a:prstGeom>
          <a:solidFill>
            <a:srgbClr val="E46C0A"/>
          </a:solidFill>
          <a:ln>
            <a:noFill/>
          </a:ln>
        </p:spPr>
        <p:txBody>
          <a:bodyPr rtlCol="0" anchor="ctr" wrap="square" lIns="54864" rIns="54864" tIns="54864" bIns="54864"/>
          <a:lstStyle/>
          <a:p>
            <a:pPr algn="ctr">
              <a:spcAft>
                <a:spcPts val="0"/>
              </a:spcAft>
            </a:pPr>
            <a:r>
              <a:rPr sz="1400" b="1" i="0">
                <a:solidFill>
                  <a:srgbClr val="FFFFFF"/>
                </a:solidFill>
                <a:latin typeface="Calibri"/>
              </a:rPr>
              <a:t>Decision Support</a:t>
            </a:r>
          </a:p>
        </p:txBody>
      </p:sp>
      <p:sp>
        <p:nvSpPr>
          <p:cNvPr id="37" name="Rounded Rectangle 36"/>
          <p:cNvSpPr/>
          <p:nvPr/>
        </p:nvSpPr>
        <p:spPr>
          <a:xfrm>
            <a:off x="4846320" y="2011680"/>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38" name="Picture 37" descr="chart_o.png"/>
          <p:cNvPicPr>
            <a:picLocks noChangeAspect="1"/>
          </p:cNvPicPr>
          <p:nvPr/>
        </p:nvPicPr>
        <p:blipFill>
          <a:blip r:embed="rId11"/>
          <a:stretch>
            <a:fillRect/>
          </a:stretch>
        </p:blipFill>
        <p:spPr>
          <a:xfrm>
            <a:off x="4937760" y="2185416"/>
            <a:ext cx="329184" cy="329184"/>
          </a:xfrm>
          <a:prstGeom prst="rect">
            <a:avLst/>
          </a:prstGeom>
        </p:spPr>
      </p:pic>
      <p:sp>
        <p:nvSpPr>
          <p:cNvPr id="39" name="TextBox 38"/>
          <p:cNvSpPr txBox="1"/>
          <p:nvPr/>
        </p:nvSpPr>
        <p:spPr>
          <a:xfrm>
            <a:off x="5321808" y="2029968"/>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Risk prediction</a:t>
            </a:r>
          </a:p>
        </p:txBody>
      </p:sp>
      <p:sp>
        <p:nvSpPr>
          <p:cNvPr id="40" name="Rounded Rectangle 39"/>
          <p:cNvSpPr/>
          <p:nvPr/>
        </p:nvSpPr>
        <p:spPr>
          <a:xfrm>
            <a:off x="4846320" y="2798064"/>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41" name="Picture 40" descr="house_o.png"/>
          <p:cNvPicPr>
            <a:picLocks noChangeAspect="1"/>
          </p:cNvPicPr>
          <p:nvPr/>
        </p:nvPicPr>
        <p:blipFill>
          <a:blip r:embed="rId12"/>
          <a:stretch>
            <a:fillRect/>
          </a:stretch>
        </p:blipFill>
        <p:spPr>
          <a:xfrm>
            <a:off x="4937760" y="2971800"/>
            <a:ext cx="329184" cy="329184"/>
          </a:xfrm>
          <a:prstGeom prst="rect">
            <a:avLst/>
          </a:prstGeom>
        </p:spPr>
      </p:pic>
      <p:sp>
        <p:nvSpPr>
          <p:cNvPr id="42" name="TextBox 41"/>
          <p:cNvSpPr txBox="1"/>
          <p:nvPr/>
        </p:nvSpPr>
        <p:spPr>
          <a:xfrm>
            <a:off x="5321808" y="2816352"/>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Damage assessment</a:t>
            </a:r>
          </a:p>
        </p:txBody>
      </p:sp>
      <p:sp>
        <p:nvSpPr>
          <p:cNvPr id="43" name="Rounded Rectangle 42"/>
          <p:cNvSpPr/>
          <p:nvPr/>
        </p:nvSpPr>
        <p:spPr>
          <a:xfrm>
            <a:off x="4846320" y="3584448"/>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44" name="Picture 43" descr="search_o.png"/>
          <p:cNvPicPr>
            <a:picLocks noChangeAspect="1"/>
          </p:cNvPicPr>
          <p:nvPr/>
        </p:nvPicPr>
        <p:blipFill>
          <a:blip r:embed="rId13"/>
          <a:stretch>
            <a:fillRect/>
          </a:stretch>
        </p:blipFill>
        <p:spPr>
          <a:xfrm>
            <a:off x="4937760" y="3758184"/>
            <a:ext cx="329184" cy="329184"/>
          </a:xfrm>
          <a:prstGeom prst="rect">
            <a:avLst/>
          </a:prstGeom>
        </p:spPr>
      </p:pic>
      <p:sp>
        <p:nvSpPr>
          <p:cNvPr id="45" name="TextBox 44"/>
          <p:cNvSpPr txBox="1"/>
          <p:nvPr/>
        </p:nvSpPr>
        <p:spPr>
          <a:xfrm>
            <a:off x="5321808" y="3602736"/>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Information extraction</a:t>
            </a:r>
          </a:p>
        </p:txBody>
      </p:sp>
      <p:sp>
        <p:nvSpPr>
          <p:cNvPr id="46" name="Rounded Rectangle 45"/>
          <p:cNvSpPr/>
          <p:nvPr/>
        </p:nvSpPr>
        <p:spPr>
          <a:xfrm>
            <a:off x="4846320" y="4370832"/>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47" name="Picture 46" descr="truck_o.png"/>
          <p:cNvPicPr>
            <a:picLocks noChangeAspect="1"/>
          </p:cNvPicPr>
          <p:nvPr/>
        </p:nvPicPr>
        <p:blipFill>
          <a:blip r:embed="rId14"/>
          <a:stretch>
            <a:fillRect/>
          </a:stretch>
        </p:blipFill>
        <p:spPr>
          <a:xfrm>
            <a:off x="4937760" y="4544568"/>
            <a:ext cx="329184" cy="329184"/>
          </a:xfrm>
          <a:prstGeom prst="rect">
            <a:avLst/>
          </a:prstGeom>
        </p:spPr>
      </p:pic>
      <p:sp>
        <p:nvSpPr>
          <p:cNvPr id="48" name="TextBox 47"/>
          <p:cNvSpPr txBox="1"/>
          <p:nvPr/>
        </p:nvSpPr>
        <p:spPr>
          <a:xfrm>
            <a:off x="5321808" y="4389120"/>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Resource allocation</a:t>
            </a:r>
          </a:p>
        </p:txBody>
      </p:sp>
      <p:sp>
        <p:nvSpPr>
          <p:cNvPr id="49" name="Rounded Rectangle 48"/>
          <p:cNvSpPr/>
          <p:nvPr/>
        </p:nvSpPr>
        <p:spPr>
          <a:xfrm>
            <a:off x="6995160" y="1417320"/>
            <a:ext cx="1874519" cy="3794760"/>
          </a:xfrm>
          <a:prstGeom prst="roundRect">
            <a:avLst>
              <a:gd name="adj" fmla="val 3902"/>
            </a:avLst>
          </a:prstGeom>
          <a:solidFill>
            <a:srgbClr val="F2F6FB"/>
          </a:solidFill>
          <a:ln w="15875">
            <a:solidFill>
              <a:srgbClr val="76923C"/>
            </a:solidFill>
          </a:ln>
        </p:spPr>
        <p:txBody>
          <a:bodyPr rtlCol="0" anchor="ctr" wrap="square" lIns="54864" rIns="54864" tIns="54864" bIns="54864"/>
          <a:lstStyle/>
          <a:p>
            <a:pPr algn="ctr"/>
          </a:p>
        </p:txBody>
      </p:sp>
      <p:sp>
        <p:nvSpPr>
          <p:cNvPr id="50" name="Rounded Rectangle 49"/>
          <p:cNvSpPr/>
          <p:nvPr/>
        </p:nvSpPr>
        <p:spPr>
          <a:xfrm>
            <a:off x="6995160" y="1417320"/>
            <a:ext cx="1874519" cy="457200"/>
          </a:xfrm>
          <a:prstGeom prst="roundRect">
            <a:avLst>
              <a:gd name="adj" fmla="val 16000"/>
            </a:avLst>
          </a:prstGeom>
          <a:solidFill>
            <a:srgbClr val="76923C"/>
          </a:solidFill>
          <a:ln>
            <a:noFill/>
          </a:ln>
        </p:spPr>
        <p:txBody>
          <a:bodyPr rtlCol="0" anchor="ctr" wrap="square" lIns="54864" rIns="54864" tIns="54864" bIns="54864"/>
          <a:lstStyle/>
          <a:p>
            <a:pPr algn="ctr">
              <a:spcAft>
                <a:spcPts val="0"/>
              </a:spcAft>
            </a:pPr>
            <a:r>
              <a:rPr sz="1400" b="1" i="0">
                <a:solidFill>
                  <a:srgbClr val="FFFFFF"/>
                </a:solidFill>
                <a:latin typeface="Calibri"/>
              </a:rPr>
              <a:t>Outputs</a:t>
            </a:r>
          </a:p>
        </p:txBody>
      </p:sp>
      <p:sp>
        <p:nvSpPr>
          <p:cNvPr id="51" name="Rounded Rectangle 50"/>
          <p:cNvSpPr/>
          <p:nvPr/>
        </p:nvSpPr>
        <p:spPr>
          <a:xfrm>
            <a:off x="7086600" y="2011680"/>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52" name="Picture 51" descr="bell_g.png"/>
          <p:cNvPicPr>
            <a:picLocks noChangeAspect="1"/>
          </p:cNvPicPr>
          <p:nvPr/>
        </p:nvPicPr>
        <p:blipFill>
          <a:blip r:embed="rId15"/>
          <a:stretch>
            <a:fillRect/>
          </a:stretch>
        </p:blipFill>
        <p:spPr>
          <a:xfrm>
            <a:off x="7178040" y="2185416"/>
            <a:ext cx="329184" cy="329184"/>
          </a:xfrm>
          <a:prstGeom prst="rect">
            <a:avLst/>
          </a:prstGeom>
        </p:spPr>
      </p:pic>
      <p:sp>
        <p:nvSpPr>
          <p:cNvPr id="53" name="TextBox 52"/>
          <p:cNvSpPr txBox="1"/>
          <p:nvPr/>
        </p:nvSpPr>
        <p:spPr>
          <a:xfrm>
            <a:off x="7562088" y="2029968"/>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Early warnings</a:t>
            </a:r>
          </a:p>
        </p:txBody>
      </p:sp>
      <p:sp>
        <p:nvSpPr>
          <p:cNvPr id="54" name="Rounded Rectangle 53"/>
          <p:cNvSpPr/>
          <p:nvPr/>
        </p:nvSpPr>
        <p:spPr>
          <a:xfrm>
            <a:off x="7086600" y="2798064"/>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55" name="Picture 54" descr="map_g.png"/>
          <p:cNvPicPr>
            <a:picLocks noChangeAspect="1"/>
          </p:cNvPicPr>
          <p:nvPr/>
        </p:nvPicPr>
        <p:blipFill>
          <a:blip r:embed="rId16"/>
          <a:stretch>
            <a:fillRect/>
          </a:stretch>
        </p:blipFill>
        <p:spPr>
          <a:xfrm>
            <a:off x="7178040" y="2971800"/>
            <a:ext cx="329184" cy="329184"/>
          </a:xfrm>
          <a:prstGeom prst="rect">
            <a:avLst/>
          </a:prstGeom>
        </p:spPr>
      </p:pic>
      <p:sp>
        <p:nvSpPr>
          <p:cNvPr id="56" name="TextBox 55"/>
          <p:cNvSpPr txBox="1"/>
          <p:nvPr/>
        </p:nvSpPr>
        <p:spPr>
          <a:xfrm>
            <a:off x="7562088" y="2816352"/>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Damage maps</a:t>
            </a:r>
          </a:p>
        </p:txBody>
      </p:sp>
      <p:sp>
        <p:nvSpPr>
          <p:cNvPr id="57" name="Rounded Rectangle 56"/>
          <p:cNvSpPr/>
          <p:nvPr/>
        </p:nvSpPr>
        <p:spPr>
          <a:xfrm>
            <a:off x="7086600" y="3584448"/>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58" name="Picture 57" descr="route_g.png"/>
          <p:cNvPicPr>
            <a:picLocks noChangeAspect="1"/>
          </p:cNvPicPr>
          <p:nvPr/>
        </p:nvPicPr>
        <p:blipFill>
          <a:blip r:embed="rId17"/>
          <a:stretch>
            <a:fillRect/>
          </a:stretch>
        </p:blipFill>
        <p:spPr>
          <a:xfrm>
            <a:off x="7178040" y="3758184"/>
            <a:ext cx="329184" cy="329184"/>
          </a:xfrm>
          <a:prstGeom prst="rect">
            <a:avLst/>
          </a:prstGeom>
        </p:spPr>
      </p:pic>
      <p:sp>
        <p:nvSpPr>
          <p:cNvPr id="59" name="TextBox 58"/>
          <p:cNvSpPr txBox="1"/>
          <p:nvPr/>
        </p:nvSpPr>
        <p:spPr>
          <a:xfrm>
            <a:off x="7562088" y="3602736"/>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Evacuation routes</a:t>
            </a:r>
          </a:p>
        </p:txBody>
      </p:sp>
      <p:sp>
        <p:nvSpPr>
          <p:cNvPr id="60" name="Rounded Rectangle 59"/>
          <p:cNvSpPr/>
          <p:nvPr/>
        </p:nvSpPr>
        <p:spPr>
          <a:xfrm>
            <a:off x="7086600" y="4370832"/>
            <a:ext cx="1691639" cy="676656"/>
          </a:xfrm>
          <a:prstGeom prst="roundRect">
            <a:avLst>
              <a:gd name="adj" fmla="val 10810"/>
            </a:avLst>
          </a:prstGeom>
          <a:solidFill>
            <a:srgbClr val="FFFFFF"/>
          </a:solidFill>
          <a:ln w="9525">
            <a:solidFill>
              <a:srgbClr val="DCE6F2"/>
            </a:solidFill>
          </a:ln>
        </p:spPr>
        <p:txBody>
          <a:bodyPr rtlCol="0" anchor="ctr" wrap="square" lIns="54864" rIns="54864" tIns="54864" bIns="54864"/>
          <a:lstStyle/>
          <a:p>
            <a:pPr algn="ctr"/>
          </a:p>
        </p:txBody>
      </p:sp>
      <p:pic>
        <p:nvPicPr>
          <p:cNvPr id="61" name="Picture 60" descr="file_g.png"/>
          <p:cNvPicPr>
            <a:picLocks noChangeAspect="1"/>
          </p:cNvPicPr>
          <p:nvPr/>
        </p:nvPicPr>
        <p:blipFill>
          <a:blip r:embed="rId18"/>
          <a:stretch>
            <a:fillRect/>
          </a:stretch>
        </p:blipFill>
        <p:spPr>
          <a:xfrm>
            <a:off x="7178040" y="4544568"/>
            <a:ext cx="329184" cy="329184"/>
          </a:xfrm>
          <a:prstGeom prst="rect">
            <a:avLst/>
          </a:prstGeom>
        </p:spPr>
      </p:pic>
      <p:sp>
        <p:nvSpPr>
          <p:cNvPr id="62" name="TextBox 61"/>
          <p:cNvSpPr txBox="1"/>
          <p:nvPr/>
        </p:nvSpPr>
        <p:spPr>
          <a:xfrm>
            <a:off x="7562088" y="4389120"/>
            <a:ext cx="1161287" cy="64008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Situation reports</a:t>
            </a:r>
          </a:p>
        </p:txBody>
      </p:sp>
      <p:sp>
        <p:nvSpPr>
          <p:cNvPr id="63" name="Right Arrow 62"/>
          <p:cNvSpPr/>
          <p:nvPr/>
        </p:nvSpPr>
        <p:spPr>
          <a:xfrm>
            <a:off x="2167128" y="3108960"/>
            <a:ext cx="329184" cy="457200"/>
          </a:xfrm>
          <a:prstGeom prst="rightArrow">
            <a:avLst/>
          </a:prstGeom>
          <a:solidFill>
            <a:srgbClr val="595959"/>
          </a:solidFill>
          <a:ln>
            <a:noFill/>
          </a:ln>
        </p:spPr>
        <p:txBody>
          <a:bodyPr rtlCol="0" anchor="ctr" wrap="square" lIns="54864" rIns="54864" tIns="54864" bIns="54864"/>
          <a:lstStyle/>
          <a:p>
            <a:pPr algn="ctr"/>
          </a:p>
        </p:txBody>
      </p:sp>
      <p:sp>
        <p:nvSpPr>
          <p:cNvPr id="64" name="Right Arrow 63"/>
          <p:cNvSpPr/>
          <p:nvPr/>
        </p:nvSpPr>
        <p:spPr>
          <a:xfrm>
            <a:off x="4407407" y="3108960"/>
            <a:ext cx="329184" cy="457200"/>
          </a:xfrm>
          <a:prstGeom prst="rightArrow">
            <a:avLst/>
          </a:prstGeom>
          <a:solidFill>
            <a:srgbClr val="595959"/>
          </a:solidFill>
          <a:ln>
            <a:noFill/>
          </a:ln>
        </p:spPr>
        <p:txBody>
          <a:bodyPr rtlCol="0" anchor="ctr" wrap="square" lIns="54864" rIns="54864" tIns="54864" bIns="54864"/>
          <a:lstStyle/>
          <a:p>
            <a:pPr algn="ctr"/>
          </a:p>
        </p:txBody>
      </p:sp>
      <p:sp>
        <p:nvSpPr>
          <p:cNvPr id="65" name="Right Arrow 64"/>
          <p:cNvSpPr/>
          <p:nvPr/>
        </p:nvSpPr>
        <p:spPr>
          <a:xfrm>
            <a:off x="6647688" y="3108960"/>
            <a:ext cx="329184" cy="457200"/>
          </a:xfrm>
          <a:prstGeom prst="rightArrow">
            <a:avLst/>
          </a:prstGeom>
          <a:solidFill>
            <a:srgbClr val="595959"/>
          </a:solidFill>
          <a:ln>
            <a:noFill/>
          </a:ln>
        </p:spPr>
        <p:txBody>
          <a:bodyPr rtlCol="0" anchor="ctr" wrap="square" lIns="54864" rIns="54864" tIns="54864" bIns="54864"/>
          <a:lstStyle/>
          <a:p>
            <a:pPr algn="ctr"/>
          </a:p>
        </p:txBody>
      </p:sp>
      <p:sp>
        <p:nvSpPr>
          <p:cNvPr id="66" name="Rounded Rectangle 65"/>
          <p:cNvSpPr/>
          <p:nvPr/>
        </p:nvSpPr>
        <p:spPr>
          <a:xfrm>
            <a:off x="1737360" y="5532120"/>
            <a:ext cx="5669280" cy="548640"/>
          </a:xfrm>
          <a:prstGeom prst="roundRect">
            <a:avLst>
              <a:gd name="adj" fmla="val 13333"/>
            </a:avLst>
          </a:prstGeom>
          <a:solidFill>
            <a:srgbClr val="1F497D"/>
          </a:solidFill>
          <a:ln>
            <a:noFill/>
          </a:ln>
        </p:spPr>
        <p:txBody>
          <a:bodyPr rtlCol="0" anchor="ctr" wrap="square" lIns="54864" rIns="54864" tIns="54864" bIns="54864"/>
          <a:lstStyle/>
          <a:p>
            <a:pPr algn="ctr">
              <a:spcAft>
                <a:spcPts val="0"/>
              </a:spcAft>
            </a:pPr>
            <a:r>
              <a:rPr sz="1300" b="1" i="0">
                <a:solidFill>
                  <a:srgbClr val="FFFFFF"/>
                </a:solidFill>
                <a:latin typeface="Calibri"/>
              </a:rPr>
              <a:t>Feedback &amp; continuous learning: </a:t>
            </a:r>
            <a:r>
              <a:rPr sz="1300" b="0" i="0">
                <a:solidFill>
                  <a:srgbClr val="FFFFFF"/>
                </a:solidFill>
                <a:latin typeface="Calibri"/>
              </a:rPr>
              <a:t>model updates · human validation</a:t>
            </a:r>
          </a:p>
        </p:txBody>
      </p:sp>
      <p:cxnSp>
        <p:nvCxnSpPr>
          <p:cNvPr id="67" name="Connector 66"/>
          <p:cNvCxnSpPr/>
          <p:nvPr/>
        </p:nvCxnSpPr>
        <p:spPr>
          <a:xfrm>
            <a:off x="7927848" y="5212080"/>
            <a:ext cx="0" cy="594360"/>
          </a:xfrm>
          <a:prstGeom prst="line">
            <a:avLst/>
          </a:prstGeom>
          <a:ln w="25400">
            <a:solidFill>
              <a:srgbClr val="1F497D"/>
            </a:solidFill>
          </a:ln>
        </p:spPr>
      </p:cxnSp>
      <p:cxnSp>
        <p:nvCxnSpPr>
          <p:cNvPr id="68" name="Connector 67"/>
          <p:cNvCxnSpPr/>
          <p:nvPr/>
        </p:nvCxnSpPr>
        <p:spPr>
          <a:xfrm flipH="1">
            <a:off x="7406640" y="5806440"/>
            <a:ext cx="521208" cy="0"/>
          </a:xfrm>
          <a:prstGeom prst="line">
            <a:avLst/>
          </a:prstGeom>
          <a:ln w="25400">
            <a:solidFill>
              <a:srgbClr val="1F497D"/>
            </a:solidFill>
            <a:tailEnd type="triangle" w="med" len="med"/>
          </a:ln>
        </p:spPr>
      </p:cxnSp>
      <p:cxnSp>
        <p:nvCxnSpPr>
          <p:cNvPr id="69" name="Connector 68"/>
          <p:cNvCxnSpPr/>
          <p:nvPr/>
        </p:nvCxnSpPr>
        <p:spPr>
          <a:xfrm flipH="1">
            <a:off x="1216152" y="5806440"/>
            <a:ext cx="521208" cy="0"/>
          </a:xfrm>
          <a:prstGeom prst="line">
            <a:avLst/>
          </a:prstGeom>
          <a:ln w="25400">
            <a:solidFill>
              <a:srgbClr val="1F497D"/>
            </a:solidFill>
          </a:ln>
        </p:spPr>
      </p:cxnSp>
      <p:cxnSp>
        <p:nvCxnSpPr>
          <p:cNvPr id="70" name="Connector 69"/>
          <p:cNvCxnSpPr/>
          <p:nvPr/>
        </p:nvCxnSpPr>
        <p:spPr>
          <a:xfrm flipV="1">
            <a:off x="1216152" y="5212080"/>
            <a:ext cx="0" cy="594360"/>
          </a:xfrm>
          <a:prstGeom prst="line">
            <a:avLst/>
          </a:prstGeom>
          <a:ln w="25400">
            <a:solidFill>
              <a:srgbClr val="1F497D"/>
            </a:solidFill>
            <a:tailEnd type="triangle" w="med" len="med"/>
          </a:ln>
        </p:spPr>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Algorithm 1: Early Warning (LSTM)</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TextBox 5"/>
          <p:cNvSpPr txBox="1"/>
          <p:nvPr/>
        </p:nvSpPr>
        <p:spPr>
          <a:xfrm>
            <a:off x="457200" y="987552"/>
            <a:ext cx="8229600" cy="320040"/>
          </a:xfrm>
          <a:prstGeom prst="rect">
            <a:avLst/>
          </a:prstGeom>
          <a:noFill/>
        </p:spPr>
        <p:txBody>
          <a:bodyPr wrap="square" anchor="t" lIns="36576" rIns="36576" tIns="36576" bIns="36576"/>
          <a:lstStyle/>
          <a:p>
            <a:pPr algn="ctr">
              <a:spcAft>
                <a:spcPts val="400"/>
              </a:spcAft>
            </a:pPr>
            <a:r>
              <a:rPr sz="1300" b="0" i="1">
                <a:solidFill>
                  <a:srgbClr val="595959"/>
                </a:solidFill>
                <a:latin typeface="Calibri"/>
              </a:rPr>
              <a:t>Learns patterns in historical and real-time time-series data to predict floods [4], [8]</a:t>
            </a:r>
          </a:p>
        </p:txBody>
      </p:sp>
      <p:sp>
        <p:nvSpPr>
          <p:cNvPr id="7" name="Rounded Rectangle 6"/>
          <p:cNvSpPr/>
          <p:nvPr/>
        </p:nvSpPr>
        <p:spPr>
          <a:xfrm>
            <a:off x="274320" y="1463040"/>
            <a:ext cx="1417320" cy="731520"/>
          </a:xfrm>
          <a:prstGeom prst="roundRect">
            <a:avLst>
              <a:gd name="adj" fmla="val 10000"/>
            </a:avLst>
          </a:prstGeom>
          <a:solidFill>
            <a:srgbClr val="4F81BD"/>
          </a:solidFill>
          <a:ln>
            <a:noFill/>
          </a:ln>
        </p:spPr>
        <p:txBody>
          <a:bodyPr rtlCol="0" anchor="ctr" wrap="square" lIns="54864" rIns="54864" tIns="54864" bIns="54864"/>
          <a:lstStyle/>
          <a:p>
            <a:pPr algn="ctr">
              <a:spcAft>
                <a:spcPts val="0"/>
              </a:spcAft>
            </a:pPr>
            <a:r>
              <a:rPr sz="1100" b="1" i="0">
                <a:solidFill>
                  <a:srgbClr val="FFFFFF"/>
                </a:solidFill>
                <a:latin typeface="Calibri"/>
              </a:rPr>
              <a:t>Historical</a:t>
            </a:r>
          </a:p>
          <a:p>
            <a:pPr algn="ctr">
              <a:spcAft>
                <a:spcPts val="0"/>
              </a:spcAft>
            </a:pPr>
            <a:r>
              <a:rPr sz="1100" b="0" i="0">
                <a:solidFill>
                  <a:srgbClr val="FFFFFF"/>
                </a:solidFill>
                <a:latin typeface="Calibri"/>
              </a:rPr>
              <a:t>rainfall, river level</a:t>
            </a:r>
          </a:p>
        </p:txBody>
      </p:sp>
      <p:sp>
        <p:nvSpPr>
          <p:cNvPr id="8" name="Rounded Rectangle 7"/>
          <p:cNvSpPr/>
          <p:nvPr/>
        </p:nvSpPr>
        <p:spPr>
          <a:xfrm>
            <a:off x="274320" y="2377440"/>
            <a:ext cx="1417320" cy="731520"/>
          </a:xfrm>
          <a:prstGeom prst="roundRect">
            <a:avLst>
              <a:gd name="adj" fmla="val 10000"/>
            </a:avLst>
          </a:prstGeom>
          <a:solidFill>
            <a:srgbClr val="4F81BD"/>
          </a:solidFill>
          <a:ln>
            <a:noFill/>
          </a:ln>
        </p:spPr>
        <p:txBody>
          <a:bodyPr rtlCol="0" anchor="ctr" wrap="square" lIns="54864" rIns="54864" tIns="54864" bIns="54864"/>
          <a:lstStyle/>
          <a:p>
            <a:pPr algn="ctr">
              <a:spcAft>
                <a:spcPts val="0"/>
              </a:spcAft>
            </a:pPr>
            <a:r>
              <a:rPr sz="1100" b="1" i="0">
                <a:solidFill>
                  <a:srgbClr val="FFFFFF"/>
                </a:solidFill>
                <a:latin typeface="Calibri"/>
              </a:rPr>
              <a:t>Real-time IoT</a:t>
            </a:r>
          </a:p>
          <a:p>
            <a:pPr algn="ctr">
              <a:spcAft>
                <a:spcPts val="0"/>
              </a:spcAft>
            </a:pPr>
            <a:r>
              <a:rPr sz="1100" b="0" i="0">
                <a:solidFill>
                  <a:srgbClr val="FFFFFF"/>
                </a:solidFill>
                <a:latin typeface="Calibri"/>
              </a:rPr>
              <a:t>sensors, weather feeds</a:t>
            </a:r>
          </a:p>
        </p:txBody>
      </p:sp>
      <p:sp>
        <p:nvSpPr>
          <p:cNvPr id="9" name="Rounded Rectangle 8"/>
          <p:cNvSpPr/>
          <p:nvPr/>
        </p:nvSpPr>
        <p:spPr>
          <a:xfrm>
            <a:off x="1920240" y="1874519"/>
            <a:ext cx="1280160" cy="822960"/>
          </a:xfrm>
          <a:prstGeom prst="roundRect">
            <a:avLst>
              <a:gd name="adj" fmla="val 8888"/>
            </a:avLst>
          </a:prstGeom>
          <a:solidFill>
            <a:srgbClr val="FFFFFF"/>
          </a:solidFill>
          <a:ln w="12700">
            <a:solidFill>
              <a:srgbClr val="1F497D"/>
            </a:solidFill>
          </a:ln>
        </p:spPr>
        <p:txBody>
          <a:bodyPr rtlCol="0" anchor="ctr" wrap="square" lIns="54864" rIns="54864" tIns="54864" bIns="54864"/>
          <a:lstStyle/>
          <a:p>
            <a:pPr algn="ctr">
              <a:spcAft>
                <a:spcPts val="0"/>
              </a:spcAft>
            </a:pPr>
            <a:r>
              <a:rPr sz="1100" b="1" i="0">
                <a:solidFill>
                  <a:srgbClr val="262626"/>
                </a:solidFill>
                <a:latin typeface="Calibri"/>
              </a:rPr>
              <a:t>Preprocess</a:t>
            </a:r>
          </a:p>
          <a:p>
            <a:pPr algn="ctr">
              <a:spcAft>
                <a:spcPts val="0"/>
              </a:spcAft>
            </a:pPr>
            <a:r>
              <a:rPr sz="1100" b="0" i="0">
                <a:solidFill>
                  <a:srgbClr val="262626"/>
                </a:solidFill>
                <a:latin typeface="Calibri"/>
              </a:rPr>
              <a:t>normalize, windows</a:t>
            </a:r>
          </a:p>
        </p:txBody>
      </p:sp>
      <p:sp>
        <p:nvSpPr>
          <p:cNvPr id="10" name="Rounded Rectangle 9"/>
          <p:cNvSpPr/>
          <p:nvPr/>
        </p:nvSpPr>
        <p:spPr>
          <a:xfrm>
            <a:off x="3429000" y="1691640"/>
            <a:ext cx="1280160" cy="1188720"/>
          </a:xfrm>
          <a:prstGeom prst="roundRect">
            <a:avLst>
              <a:gd name="adj" fmla="val 6153"/>
            </a:avLst>
          </a:prstGeom>
          <a:solidFill>
            <a:srgbClr val="1F497D"/>
          </a:solidFill>
          <a:ln>
            <a:noFill/>
          </a:ln>
        </p:spPr>
        <p:txBody>
          <a:bodyPr rtlCol="0" anchor="ctr" wrap="square" lIns="54864" rIns="54864" tIns="54864" bIns="54864"/>
          <a:lstStyle/>
          <a:p>
            <a:pPr algn="ctr">
              <a:spcAft>
                <a:spcPts val="0"/>
              </a:spcAft>
            </a:pPr>
            <a:r>
              <a:rPr sz="1400" b="1" i="0">
                <a:solidFill>
                  <a:srgbClr val="FFFFFF"/>
                </a:solidFill>
                <a:latin typeface="Calibri"/>
              </a:rPr>
              <a:t>LSTM /</a:t>
            </a:r>
          </a:p>
          <a:p>
            <a:pPr algn="ctr">
              <a:spcAft>
                <a:spcPts val="0"/>
              </a:spcAft>
            </a:pPr>
            <a:r>
              <a:rPr sz="1400" b="1" i="0">
                <a:solidFill>
                  <a:srgbClr val="FFFFFF"/>
                </a:solidFill>
                <a:latin typeface="Calibri"/>
              </a:rPr>
              <a:t>Transformer</a:t>
            </a:r>
          </a:p>
          <a:p>
            <a:pPr algn="ctr">
              <a:spcAft>
                <a:spcPts val="0"/>
              </a:spcAft>
            </a:pPr>
            <a:r>
              <a:rPr sz="1100" b="0" i="0">
                <a:solidFill>
                  <a:srgbClr val="FFFFFF"/>
                </a:solidFill>
                <a:latin typeface="Calibri"/>
              </a:rPr>
              <a:t>sequence model</a:t>
            </a:r>
          </a:p>
        </p:txBody>
      </p:sp>
      <p:sp>
        <p:nvSpPr>
          <p:cNvPr id="11" name="Rounded Rectangle 10"/>
          <p:cNvSpPr/>
          <p:nvPr/>
        </p:nvSpPr>
        <p:spPr>
          <a:xfrm>
            <a:off x="4937760" y="1874519"/>
            <a:ext cx="1325880" cy="822960"/>
          </a:xfrm>
          <a:prstGeom prst="roundRect">
            <a:avLst>
              <a:gd name="adj" fmla="val 8888"/>
            </a:avLst>
          </a:prstGeom>
          <a:solidFill>
            <a:srgbClr val="FFFFFF"/>
          </a:solidFill>
          <a:ln w="12700">
            <a:solidFill>
              <a:srgbClr val="1F497D"/>
            </a:solidFill>
          </a:ln>
        </p:spPr>
        <p:txBody>
          <a:bodyPr rtlCol="0" anchor="ctr" wrap="square" lIns="54864" rIns="54864" tIns="54864" bIns="54864"/>
          <a:lstStyle/>
          <a:p>
            <a:pPr algn="ctr">
              <a:spcAft>
                <a:spcPts val="0"/>
              </a:spcAft>
            </a:pPr>
            <a:r>
              <a:rPr sz="1100" b="1" i="0">
                <a:solidFill>
                  <a:srgbClr val="262626"/>
                </a:solidFill>
                <a:latin typeface="Calibri"/>
              </a:rPr>
              <a:t>Flood risk</a:t>
            </a:r>
          </a:p>
          <a:p>
            <a:pPr algn="ctr">
              <a:spcAft>
                <a:spcPts val="0"/>
              </a:spcAft>
            </a:pPr>
            <a:r>
              <a:rPr sz="1100" b="0" i="0">
                <a:solidFill>
                  <a:srgbClr val="262626"/>
                </a:solidFill>
                <a:latin typeface="Calibri"/>
              </a:rPr>
              <a:t>next 6–24 h</a:t>
            </a:r>
          </a:p>
        </p:txBody>
      </p:sp>
      <p:sp>
        <p:nvSpPr>
          <p:cNvPr id="12" name="Diamond 11"/>
          <p:cNvSpPr/>
          <p:nvPr/>
        </p:nvSpPr>
        <p:spPr>
          <a:xfrm>
            <a:off x="6400800" y="1783080"/>
            <a:ext cx="1188720" cy="1005840"/>
          </a:xfrm>
          <a:prstGeom prst="diamond">
            <a:avLst/>
          </a:prstGeom>
          <a:solidFill>
            <a:srgbClr val="F2C314"/>
          </a:solidFill>
          <a:ln>
            <a:noFill/>
          </a:ln>
        </p:spPr>
        <p:txBody>
          <a:bodyPr rtlCol="0" anchor="ctr" wrap="square" lIns="54864" rIns="54864" tIns="54864" bIns="54864"/>
          <a:lstStyle/>
          <a:p>
            <a:pPr algn="ctr">
              <a:spcAft>
                <a:spcPts val="0"/>
              </a:spcAft>
            </a:pPr>
            <a:r>
              <a:rPr sz="1400" b="1" i="0">
                <a:solidFill>
                  <a:srgbClr val="262626"/>
                </a:solidFill>
                <a:latin typeface="Calibri"/>
              </a:rPr>
              <a:t>ŷ &gt; τ ?</a:t>
            </a:r>
          </a:p>
        </p:txBody>
      </p:sp>
      <p:sp>
        <p:nvSpPr>
          <p:cNvPr id="13" name="Rounded Rectangle 12"/>
          <p:cNvSpPr/>
          <p:nvPr/>
        </p:nvSpPr>
        <p:spPr>
          <a:xfrm>
            <a:off x="7772400" y="1874519"/>
            <a:ext cx="1097280" cy="822960"/>
          </a:xfrm>
          <a:prstGeom prst="roundRect">
            <a:avLst>
              <a:gd name="adj" fmla="val 8888"/>
            </a:avLst>
          </a:prstGeom>
          <a:solidFill>
            <a:srgbClr val="E46C0A"/>
          </a:solidFill>
          <a:ln>
            <a:noFill/>
          </a:ln>
        </p:spPr>
        <p:txBody>
          <a:bodyPr rtlCol="0" anchor="ctr" wrap="square" lIns="54864" rIns="54864" tIns="54864" bIns="54864"/>
          <a:lstStyle/>
          <a:p>
            <a:pPr algn="ctr">
              <a:spcAft>
                <a:spcPts val="0"/>
              </a:spcAft>
            </a:pPr>
            <a:r>
              <a:rPr sz="1300" b="1" i="0">
                <a:solidFill>
                  <a:srgbClr val="FFFFFF"/>
                </a:solidFill>
                <a:latin typeface="Calibri"/>
              </a:rPr>
              <a:t>Issue</a:t>
            </a:r>
          </a:p>
          <a:p>
            <a:pPr algn="ctr">
              <a:spcAft>
                <a:spcPts val="0"/>
              </a:spcAft>
            </a:pPr>
            <a:r>
              <a:rPr sz="1300" b="1" i="0">
                <a:solidFill>
                  <a:srgbClr val="FFFFFF"/>
                </a:solidFill>
                <a:latin typeface="Calibri"/>
              </a:rPr>
              <a:t>alert</a:t>
            </a:r>
          </a:p>
        </p:txBody>
      </p:sp>
      <p:cxnSp>
        <p:nvCxnSpPr>
          <p:cNvPr id="14" name="Connector 13"/>
          <p:cNvCxnSpPr/>
          <p:nvPr/>
        </p:nvCxnSpPr>
        <p:spPr>
          <a:xfrm>
            <a:off x="1691640" y="1828800"/>
            <a:ext cx="228600" cy="320040"/>
          </a:xfrm>
          <a:prstGeom prst="line">
            <a:avLst/>
          </a:prstGeom>
          <a:ln w="19050">
            <a:solidFill>
              <a:srgbClr val="595959"/>
            </a:solidFill>
            <a:tailEnd type="triangle" w="med" len="med"/>
          </a:ln>
        </p:spPr>
      </p:cxnSp>
      <p:cxnSp>
        <p:nvCxnSpPr>
          <p:cNvPr id="15" name="Connector 14"/>
          <p:cNvCxnSpPr/>
          <p:nvPr/>
        </p:nvCxnSpPr>
        <p:spPr>
          <a:xfrm flipV="1">
            <a:off x="1691640" y="2423160"/>
            <a:ext cx="228600" cy="320040"/>
          </a:xfrm>
          <a:prstGeom prst="line">
            <a:avLst/>
          </a:prstGeom>
          <a:ln w="19050">
            <a:solidFill>
              <a:srgbClr val="595959"/>
            </a:solidFill>
            <a:tailEnd type="triangle" w="med" len="med"/>
          </a:ln>
        </p:spPr>
      </p:cxnSp>
      <p:cxnSp>
        <p:nvCxnSpPr>
          <p:cNvPr id="16" name="Connector 15"/>
          <p:cNvCxnSpPr/>
          <p:nvPr/>
        </p:nvCxnSpPr>
        <p:spPr>
          <a:xfrm>
            <a:off x="3200400" y="2286000"/>
            <a:ext cx="228600" cy="0"/>
          </a:xfrm>
          <a:prstGeom prst="line">
            <a:avLst/>
          </a:prstGeom>
          <a:ln w="22225">
            <a:solidFill>
              <a:srgbClr val="595959"/>
            </a:solidFill>
            <a:tailEnd type="triangle" w="med" len="med"/>
          </a:ln>
        </p:spPr>
      </p:cxnSp>
      <p:cxnSp>
        <p:nvCxnSpPr>
          <p:cNvPr id="17" name="Connector 16"/>
          <p:cNvCxnSpPr/>
          <p:nvPr/>
        </p:nvCxnSpPr>
        <p:spPr>
          <a:xfrm>
            <a:off x="4709160" y="2286000"/>
            <a:ext cx="228600" cy="0"/>
          </a:xfrm>
          <a:prstGeom prst="line">
            <a:avLst/>
          </a:prstGeom>
          <a:ln w="22225">
            <a:solidFill>
              <a:srgbClr val="595959"/>
            </a:solidFill>
            <a:tailEnd type="triangle" w="med" len="med"/>
          </a:ln>
        </p:spPr>
      </p:cxnSp>
      <p:cxnSp>
        <p:nvCxnSpPr>
          <p:cNvPr id="18" name="Connector 17"/>
          <p:cNvCxnSpPr/>
          <p:nvPr/>
        </p:nvCxnSpPr>
        <p:spPr>
          <a:xfrm>
            <a:off x="6263640" y="2286000"/>
            <a:ext cx="137160" cy="0"/>
          </a:xfrm>
          <a:prstGeom prst="line">
            <a:avLst/>
          </a:prstGeom>
          <a:ln w="22225">
            <a:solidFill>
              <a:srgbClr val="595959"/>
            </a:solidFill>
            <a:tailEnd type="triangle" w="med" len="med"/>
          </a:ln>
        </p:spPr>
      </p:cxnSp>
      <p:cxnSp>
        <p:nvCxnSpPr>
          <p:cNvPr id="19" name="Connector 18"/>
          <p:cNvCxnSpPr/>
          <p:nvPr/>
        </p:nvCxnSpPr>
        <p:spPr>
          <a:xfrm>
            <a:off x="7589520" y="2286000"/>
            <a:ext cx="182880" cy="0"/>
          </a:xfrm>
          <a:prstGeom prst="line">
            <a:avLst/>
          </a:prstGeom>
          <a:ln w="22225">
            <a:solidFill>
              <a:srgbClr val="595959"/>
            </a:solidFill>
            <a:tailEnd type="triangle" w="med" len="med"/>
          </a:ln>
        </p:spPr>
      </p:cxnSp>
      <p:sp>
        <p:nvSpPr>
          <p:cNvPr id="20" name="TextBox 19"/>
          <p:cNvSpPr txBox="1"/>
          <p:nvPr/>
        </p:nvSpPr>
        <p:spPr>
          <a:xfrm>
            <a:off x="7543800" y="1965960"/>
            <a:ext cx="365760" cy="228600"/>
          </a:xfrm>
          <a:prstGeom prst="rect">
            <a:avLst/>
          </a:prstGeom>
          <a:noFill/>
        </p:spPr>
        <p:txBody>
          <a:bodyPr wrap="square" anchor="t" lIns="36576" rIns="36576" tIns="36576" bIns="36576"/>
          <a:lstStyle/>
          <a:p>
            <a:pPr algn="l">
              <a:spcAft>
                <a:spcPts val="400"/>
              </a:spcAft>
            </a:pPr>
            <a:r>
              <a:rPr sz="1000" b="0" i="0">
                <a:solidFill>
                  <a:srgbClr val="595959"/>
                </a:solidFill>
                <a:latin typeface="Calibri"/>
              </a:rPr>
              <a:t>yes</a:t>
            </a:r>
          </a:p>
        </p:txBody>
      </p:sp>
      <p:sp>
        <p:nvSpPr>
          <p:cNvPr id="21" name="Rounded Rectangle 20"/>
          <p:cNvSpPr/>
          <p:nvPr/>
        </p:nvSpPr>
        <p:spPr>
          <a:xfrm>
            <a:off x="365760" y="3429000"/>
            <a:ext cx="3931920" cy="2743200"/>
          </a:xfrm>
          <a:prstGeom prst="roundRect">
            <a:avLst>
              <a:gd name="adj" fmla="val 2666"/>
            </a:avLst>
          </a:prstGeom>
          <a:solidFill>
            <a:srgbClr val="F2F6FB"/>
          </a:solidFill>
          <a:ln>
            <a:noFill/>
          </a:ln>
        </p:spPr>
        <p:txBody>
          <a:bodyPr rtlCol="0" anchor="ctr" wrap="square" lIns="54864" rIns="54864" tIns="54864" bIns="54864"/>
          <a:lstStyle/>
          <a:p>
            <a:pPr algn="ctr"/>
          </a:p>
        </p:txBody>
      </p:sp>
      <p:sp>
        <p:nvSpPr>
          <p:cNvPr id="22" name="TextBox 21"/>
          <p:cNvSpPr txBox="1"/>
          <p:nvPr/>
        </p:nvSpPr>
        <p:spPr>
          <a:xfrm>
            <a:off x="502920" y="3493008"/>
            <a:ext cx="3657600" cy="365760"/>
          </a:xfrm>
          <a:prstGeom prst="rect">
            <a:avLst/>
          </a:prstGeom>
          <a:noFill/>
        </p:spPr>
        <p:txBody>
          <a:bodyPr wrap="square" anchor="t" lIns="36576" rIns="36576" tIns="36576" bIns="36576"/>
          <a:lstStyle/>
          <a:p>
            <a:pPr algn="l">
              <a:spcAft>
                <a:spcPts val="400"/>
              </a:spcAft>
            </a:pPr>
            <a:r>
              <a:rPr sz="1500" b="1" i="0">
                <a:solidFill>
                  <a:srgbClr val="1F497D"/>
                </a:solidFill>
                <a:latin typeface="Calibri"/>
              </a:rPr>
              <a:t>Why LSTM?</a:t>
            </a:r>
          </a:p>
        </p:txBody>
      </p:sp>
      <p:sp>
        <p:nvSpPr>
          <p:cNvPr id="23" name="TextBox 22"/>
          <p:cNvSpPr txBox="1"/>
          <p:nvPr/>
        </p:nvSpPr>
        <p:spPr>
          <a:xfrm>
            <a:off x="502920" y="3886200"/>
            <a:ext cx="3703320" cy="2240280"/>
          </a:xfrm>
          <a:prstGeom prst="rect">
            <a:avLst/>
          </a:prstGeom>
          <a:noFill/>
        </p:spPr>
        <p:txBody>
          <a:bodyPr wrap="square" anchor="t" lIns="36576" rIns="36576" tIns="36576" bIns="36576"/>
          <a:lstStyle/>
          <a:p>
            <a:pPr algn="l" marL="201168" indent="-201168">
              <a:spcAft>
                <a:spcPts val="1000"/>
              </a:spcAft>
              <a:buFont typeface="Arial"/>
              <a:buChar char="•"/>
            </a:pPr>
            <a:r>
              <a:rPr sz="1500" b="0" i="0">
                <a:solidFill>
                  <a:srgbClr val="262626"/>
                </a:solidFill>
                <a:latin typeface="Calibri"/>
              </a:rPr>
              <a:t>Gated memory cells keep long-term patterns, e.g. days of rainfall [8]</a:t>
            </a:r>
          </a:p>
          <a:p>
            <a:pPr algn="l" marL="201168" indent="-201168">
              <a:spcAft>
                <a:spcPts val="1000"/>
              </a:spcAft>
              <a:buFont typeface="Arial"/>
              <a:buChar char="•"/>
            </a:pPr>
            <a:r>
              <a:rPr sz="1500" b="0" i="0">
                <a:solidFill>
                  <a:srgbClr val="262626"/>
                </a:solidFill>
                <a:latin typeface="Calibri"/>
              </a:rPr>
              <a:t>Forget, input and output gates decide what to keep</a:t>
            </a:r>
          </a:p>
          <a:p>
            <a:pPr algn="l" marL="201168" indent="-201168">
              <a:spcAft>
                <a:spcPts val="1000"/>
              </a:spcAft>
              <a:buFont typeface="Arial"/>
              <a:buChar char="•"/>
            </a:pPr>
            <a:r>
              <a:rPr sz="1500" b="0" i="0">
                <a:solidFill>
                  <a:srgbClr val="262626"/>
                </a:solidFill>
                <a:latin typeface="Calibri"/>
              </a:rPr>
              <a:t>Handles noisy, irregular sensor sequences</a:t>
            </a:r>
          </a:p>
          <a:p>
            <a:pPr algn="l" marL="201168" indent="-201168">
              <a:spcAft>
                <a:spcPts val="1000"/>
              </a:spcAft>
              <a:buFont typeface="Arial"/>
              <a:buChar char="•"/>
            </a:pPr>
            <a:r>
              <a:rPr sz="1500" b="0" i="0">
                <a:solidFill>
                  <a:srgbClr val="262626"/>
                </a:solidFill>
                <a:latin typeface="Calibri"/>
              </a:rPr>
              <a:t>Transformers use attention for long-range links</a:t>
            </a:r>
          </a:p>
        </p:txBody>
      </p:sp>
      <p:sp>
        <p:nvSpPr>
          <p:cNvPr id="24" name="Rounded Rectangle 23"/>
          <p:cNvSpPr/>
          <p:nvPr/>
        </p:nvSpPr>
        <p:spPr>
          <a:xfrm>
            <a:off x="4526280" y="3429000"/>
            <a:ext cx="4251960" cy="2743200"/>
          </a:xfrm>
          <a:prstGeom prst="roundRect">
            <a:avLst>
              <a:gd name="adj" fmla="val 2000"/>
            </a:avLst>
          </a:prstGeom>
          <a:solidFill>
            <a:srgbClr val="F2F2F2"/>
          </a:solidFill>
          <a:ln w="9525">
            <a:solidFill>
              <a:srgbClr val="BFBFBF"/>
            </a:solidFill>
          </a:ln>
        </p:spPr>
        <p:txBody>
          <a:bodyPr rtlCol="0" anchor="ctr" wrap="square" lIns="54864" rIns="54864" tIns="54864" bIns="54864"/>
          <a:lstStyle/>
          <a:p>
            <a:pPr algn="ctr"/>
          </a:p>
        </p:txBody>
      </p:sp>
      <p:sp>
        <p:nvSpPr>
          <p:cNvPr id="25" name="TextBox 24"/>
          <p:cNvSpPr txBox="1"/>
          <p:nvPr/>
        </p:nvSpPr>
        <p:spPr>
          <a:xfrm>
            <a:off x="4636008" y="3502152"/>
            <a:ext cx="4032504" cy="292608"/>
          </a:xfrm>
          <a:prstGeom prst="rect">
            <a:avLst/>
          </a:prstGeom>
          <a:noFill/>
        </p:spPr>
        <p:txBody>
          <a:bodyPr wrap="square" anchor="t" lIns="36576" rIns="36576" tIns="36576" bIns="36576"/>
          <a:lstStyle/>
          <a:p>
            <a:pPr algn="l">
              <a:spcAft>
                <a:spcPts val="400"/>
              </a:spcAft>
            </a:pPr>
            <a:r>
              <a:rPr sz="1300" b="1" i="0">
                <a:solidFill>
                  <a:srgbClr val="1F497D"/>
                </a:solidFill>
                <a:latin typeface="Calibri"/>
              </a:rPr>
              <a:t>Pseudocode</a:t>
            </a:r>
          </a:p>
        </p:txBody>
      </p:sp>
      <p:sp>
        <p:nvSpPr>
          <p:cNvPr id="26" name="TextBox 25"/>
          <p:cNvSpPr txBox="1"/>
          <p:nvPr/>
        </p:nvSpPr>
        <p:spPr>
          <a:xfrm>
            <a:off x="4617720" y="3831336"/>
            <a:ext cx="4069080" cy="2295144"/>
          </a:xfrm>
          <a:prstGeom prst="rect">
            <a:avLst/>
          </a:prstGeom>
          <a:noFill/>
        </p:spPr>
        <p:txBody>
          <a:bodyPr wrap="square" anchor="t" lIns="36576" rIns="36576" tIns="36576" bIns="36576"/>
          <a:lstStyle/>
          <a:p>
            <a:pPr algn="l">
              <a:spcAft>
                <a:spcPts val="100"/>
              </a:spcAft>
            </a:pPr>
            <a:r>
              <a:rPr sz="1200" b="0" i="0">
                <a:solidFill>
                  <a:srgbClr val="7F7F7F"/>
                </a:solidFill>
                <a:latin typeface="Courier New"/>
              </a:rPr>
              <a:t> 1  </a:t>
            </a:r>
            <a:r>
              <a:rPr sz="1200" b="0" i="0">
                <a:solidFill>
                  <a:srgbClr val="262626"/>
                </a:solidFill>
                <a:latin typeface="Courier New"/>
              </a:rPr>
              <a:t>Input: series X_t, threshold τ</a:t>
            </a:r>
          </a:p>
          <a:p>
            <a:pPr algn="l">
              <a:spcAft>
                <a:spcPts val="100"/>
              </a:spcAft>
            </a:pPr>
            <a:r>
              <a:rPr sz="1200" b="0" i="0">
                <a:solidFill>
                  <a:srgbClr val="7F7F7F"/>
                </a:solidFill>
                <a:latin typeface="Courier New"/>
              </a:rPr>
              <a:t> 2  </a:t>
            </a:r>
            <a:r>
              <a:rPr sz="1200" b="0" i="0">
                <a:solidFill>
                  <a:srgbClr val="262626"/>
                </a:solidFill>
                <a:latin typeface="Courier New"/>
              </a:rPr>
              <a:t>X ← Normalize(X_t); make windows</a:t>
            </a:r>
          </a:p>
          <a:p>
            <a:pPr algn="l">
              <a:spcAft>
                <a:spcPts val="100"/>
              </a:spcAft>
            </a:pPr>
            <a:r>
              <a:rPr sz="1200" b="0" i="0">
                <a:solidFill>
                  <a:srgbClr val="7F7F7F"/>
                </a:solidFill>
                <a:latin typeface="Courier New"/>
              </a:rPr>
              <a:t> 3  </a:t>
            </a:r>
            <a:r>
              <a:rPr sz="1200" b="0" i="0">
                <a:solidFill>
                  <a:srgbClr val="262626"/>
                </a:solidFill>
                <a:latin typeface="Courier New"/>
              </a:rPr>
              <a:t>h_t ← LSTM(X, h_(t-1))</a:t>
            </a:r>
          </a:p>
          <a:p>
            <a:pPr algn="l">
              <a:spcAft>
                <a:spcPts val="100"/>
              </a:spcAft>
            </a:pPr>
            <a:r>
              <a:rPr sz="1200" b="0" i="0">
                <a:solidFill>
                  <a:srgbClr val="7F7F7F"/>
                </a:solidFill>
                <a:latin typeface="Courier New"/>
              </a:rPr>
              <a:t> 4  </a:t>
            </a:r>
            <a:r>
              <a:rPr sz="1200" b="0" i="0">
                <a:solidFill>
                  <a:srgbClr val="262626"/>
                </a:solidFill>
                <a:latin typeface="Courier New"/>
              </a:rPr>
              <a:t>ŷ_(t+1) ← Predict(h_t)</a:t>
            </a:r>
          </a:p>
          <a:p>
            <a:pPr algn="l">
              <a:spcAft>
                <a:spcPts val="100"/>
              </a:spcAft>
            </a:pPr>
            <a:r>
              <a:rPr sz="1200" b="0" i="0">
                <a:solidFill>
                  <a:srgbClr val="7F7F7F"/>
                </a:solidFill>
                <a:latin typeface="Courier New"/>
              </a:rPr>
              <a:t> 5  </a:t>
            </a:r>
            <a:r>
              <a:rPr sz="1200" b="0" i="0">
                <a:solidFill>
                  <a:srgbClr val="262626"/>
                </a:solidFill>
                <a:latin typeface="Courier New"/>
              </a:rPr>
              <a:t>if ŷ_(t+1) &gt; τ then</a:t>
            </a:r>
          </a:p>
          <a:p>
            <a:pPr algn="l">
              <a:spcAft>
                <a:spcPts val="100"/>
              </a:spcAft>
            </a:pPr>
            <a:r>
              <a:rPr sz="1200" b="0" i="0">
                <a:solidFill>
                  <a:srgbClr val="7F7F7F"/>
                </a:solidFill>
                <a:latin typeface="Courier New"/>
              </a:rPr>
              <a:t> 6  </a:t>
            </a:r>
            <a:r>
              <a:rPr sz="1200" b="0" i="0">
                <a:solidFill>
                  <a:srgbClr val="262626"/>
                </a:solidFill>
                <a:latin typeface="Courier New"/>
              </a:rPr>
              <a:t>    IssueAlert(region, ŷ_(t+1))</a:t>
            </a:r>
          </a:p>
          <a:p>
            <a:pPr algn="l">
              <a:spcAft>
                <a:spcPts val="100"/>
              </a:spcAft>
            </a:pPr>
            <a:r>
              <a:rPr sz="1200" b="0" i="0">
                <a:solidFill>
                  <a:srgbClr val="7F7F7F"/>
                </a:solidFill>
                <a:latin typeface="Courier New"/>
              </a:rPr>
              <a:t> 7  </a:t>
            </a:r>
            <a:r>
              <a:rPr sz="1200" b="0" i="0">
                <a:solidFill>
                  <a:srgbClr val="262626"/>
                </a:solidFill>
                <a:latin typeface="Courier New"/>
              </a:rPr>
              <a:t>return ŷ_(t+1), alert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Algorithm 2: Damage Assessment (CNN/ViT)</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TextBox 5"/>
          <p:cNvSpPr txBox="1"/>
          <p:nvPr/>
        </p:nvSpPr>
        <p:spPr>
          <a:xfrm>
            <a:off x="457200" y="987552"/>
            <a:ext cx="8229600" cy="320040"/>
          </a:xfrm>
          <a:prstGeom prst="rect">
            <a:avLst/>
          </a:prstGeom>
          <a:noFill/>
        </p:spPr>
        <p:txBody>
          <a:bodyPr wrap="square" anchor="t" lIns="36576" rIns="36576" tIns="36576" bIns="36576"/>
          <a:lstStyle/>
          <a:p>
            <a:pPr algn="ctr">
              <a:spcAft>
                <a:spcPts val="400"/>
              </a:spcAft>
            </a:pPr>
            <a:r>
              <a:rPr sz="1300" b="0" i="1">
                <a:solidFill>
                  <a:srgbClr val="595959"/>
                </a:solidFill>
                <a:latin typeface="Calibri"/>
              </a:rPr>
              <a:t>Compares pre- and post-disaster satellite/UAV images to classify damage [3], [7]</a:t>
            </a:r>
          </a:p>
        </p:txBody>
      </p:sp>
      <p:sp>
        <p:nvSpPr>
          <p:cNvPr id="7" name="Rounded Rectangle 6"/>
          <p:cNvSpPr/>
          <p:nvPr/>
        </p:nvSpPr>
        <p:spPr>
          <a:xfrm>
            <a:off x="274320" y="1371600"/>
            <a:ext cx="1600200" cy="868680"/>
          </a:xfrm>
          <a:prstGeom prst="roundRect">
            <a:avLst>
              <a:gd name="adj" fmla="val 8421"/>
            </a:avLst>
          </a:prstGeom>
          <a:solidFill>
            <a:srgbClr val="DCE6F2"/>
          </a:solidFill>
          <a:ln w="12700">
            <a:solidFill>
              <a:srgbClr val="4F81BD"/>
            </a:solidFill>
          </a:ln>
        </p:spPr>
        <p:txBody>
          <a:bodyPr rtlCol="0" anchor="ctr" wrap="square" lIns="54864" rIns="54864" tIns="54864" bIns="54864"/>
          <a:lstStyle/>
          <a:p>
            <a:pPr algn="ctr"/>
          </a:p>
        </p:txBody>
      </p:sp>
      <p:pic>
        <p:nvPicPr>
          <p:cNvPr id="8" name="Picture 7" descr="house_b.png"/>
          <p:cNvPicPr>
            <a:picLocks noChangeAspect="1"/>
          </p:cNvPicPr>
          <p:nvPr/>
        </p:nvPicPr>
        <p:blipFill>
          <a:blip r:embed="rId3"/>
          <a:stretch>
            <a:fillRect/>
          </a:stretch>
        </p:blipFill>
        <p:spPr>
          <a:xfrm>
            <a:off x="411480" y="1554480"/>
            <a:ext cx="502920" cy="502920"/>
          </a:xfrm>
          <a:prstGeom prst="rect">
            <a:avLst/>
          </a:prstGeom>
        </p:spPr>
      </p:pic>
      <p:sp>
        <p:nvSpPr>
          <p:cNvPr id="9" name="TextBox 8"/>
          <p:cNvSpPr txBox="1"/>
          <p:nvPr/>
        </p:nvSpPr>
        <p:spPr>
          <a:xfrm>
            <a:off x="914400" y="1417320"/>
            <a:ext cx="914400" cy="777240"/>
          </a:xfrm>
          <a:prstGeom prst="rect">
            <a:avLst/>
          </a:prstGeom>
          <a:noFill/>
        </p:spPr>
        <p:txBody>
          <a:bodyPr wrap="square" anchor="ctr" lIns="36576" rIns="36576" tIns="36576" bIns="36576"/>
          <a:lstStyle/>
          <a:p>
            <a:pPr algn="l">
              <a:spcAft>
                <a:spcPts val="400"/>
              </a:spcAft>
            </a:pPr>
            <a:r>
              <a:rPr sz="1100" b="0" i="0">
                <a:solidFill>
                  <a:srgbClr val="262626"/>
                </a:solidFill>
                <a:latin typeface="Calibri"/>
              </a:rPr>
              <a:t>Pre-disaster image</a:t>
            </a:r>
          </a:p>
        </p:txBody>
      </p:sp>
      <p:sp>
        <p:nvSpPr>
          <p:cNvPr id="10" name="Rounded Rectangle 9"/>
          <p:cNvSpPr/>
          <p:nvPr/>
        </p:nvSpPr>
        <p:spPr>
          <a:xfrm>
            <a:off x="274320" y="2331720"/>
            <a:ext cx="1600200" cy="868680"/>
          </a:xfrm>
          <a:prstGeom prst="roundRect">
            <a:avLst>
              <a:gd name="adj" fmla="val 8421"/>
            </a:avLst>
          </a:prstGeom>
          <a:solidFill>
            <a:srgbClr val="DCE6F2"/>
          </a:solidFill>
          <a:ln w="12700">
            <a:solidFill>
              <a:srgbClr val="4F81BD"/>
            </a:solidFill>
          </a:ln>
        </p:spPr>
        <p:txBody>
          <a:bodyPr rtlCol="0" anchor="ctr" wrap="square" lIns="54864" rIns="54864" tIns="54864" bIns="54864"/>
          <a:lstStyle/>
          <a:p>
            <a:pPr algn="ctr"/>
          </a:p>
        </p:txBody>
      </p:sp>
      <p:pic>
        <p:nvPicPr>
          <p:cNvPr id="11" name="Picture 10" descr="house_r.png"/>
          <p:cNvPicPr>
            <a:picLocks noChangeAspect="1"/>
          </p:cNvPicPr>
          <p:nvPr/>
        </p:nvPicPr>
        <p:blipFill>
          <a:blip r:embed="rId4"/>
          <a:stretch>
            <a:fillRect/>
          </a:stretch>
        </p:blipFill>
        <p:spPr>
          <a:xfrm>
            <a:off x="411480" y="2514600"/>
            <a:ext cx="502920" cy="502920"/>
          </a:xfrm>
          <a:prstGeom prst="rect">
            <a:avLst/>
          </a:prstGeom>
        </p:spPr>
      </p:pic>
      <p:sp>
        <p:nvSpPr>
          <p:cNvPr id="12" name="TextBox 11"/>
          <p:cNvSpPr txBox="1"/>
          <p:nvPr/>
        </p:nvSpPr>
        <p:spPr>
          <a:xfrm>
            <a:off x="914400" y="2377439"/>
            <a:ext cx="914400" cy="777240"/>
          </a:xfrm>
          <a:prstGeom prst="rect">
            <a:avLst/>
          </a:prstGeom>
          <a:noFill/>
        </p:spPr>
        <p:txBody>
          <a:bodyPr wrap="square" anchor="ctr" lIns="36576" rIns="36576" tIns="36576" bIns="36576"/>
          <a:lstStyle/>
          <a:p>
            <a:pPr algn="l">
              <a:spcAft>
                <a:spcPts val="400"/>
              </a:spcAft>
            </a:pPr>
            <a:r>
              <a:rPr sz="1100" b="0" i="0">
                <a:solidFill>
                  <a:srgbClr val="262626"/>
                </a:solidFill>
                <a:latin typeface="Calibri"/>
              </a:rPr>
              <a:t>Post-disaster image</a:t>
            </a:r>
          </a:p>
        </p:txBody>
      </p:sp>
      <p:sp>
        <p:nvSpPr>
          <p:cNvPr id="13" name="Rounded Rectangle 12"/>
          <p:cNvSpPr/>
          <p:nvPr/>
        </p:nvSpPr>
        <p:spPr>
          <a:xfrm>
            <a:off x="2148840" y="1783080"/>
            <a:ext cx="1325880" cy="1005840"/>
          </a:xfrm>
          <a:prstGeom prst="roundRect">
            <a:avLst>
              <a:gd name="adj" fmla="val 7272"/>
            </a:avLst>
          </a:prstGeom>
          <a:solidFill>
            <a:srgbClr val="FFFFFF"/>
          </a:solidFill>
          <a:ln w="12700">
            <a:solidFill>
              <a:srgbClr val="1F497D"/>
            </a:solidFill>
          </a:ln>
        </p:spPr>
        <p:txBody>
          <a:bodyPr rtlCol="0" anchor="ctr" wrap="square" lIns="54864" rIns="54864" tIns="54864" bIns="54864"/>
          <a:lstStyle/>
          <a:p>
            <a:pPr algn="ctr">
              <a:spcAft>
                <a:spcPts val="0"/>
              </a:spcAft>
            </a:pPr>
            <a:r>
              <a:rPr sz="1100" b="1" i="0">
                <a:solidFill>
                  <a:srgbClr val="262626"/>
                </a:solidFill>
                <a:latin typeface="Calibri"/>
              </a:rPr>
              <a:t>Align &amp;</a:t>
            </a:r>
          </a:p>
          <a:p>
            <a:pPr algn="ctr">
              <a:spcAft>
                <a:spcPts val="0"/>
              </a:spcAft>
            </a:pPr>
            <a:r>
              <a:rPr sz="1100" b="1" i="0">
                <a:solidFill>
                  <a:srgbClr val="262626"/>
                </a:solidFill>
                <a:latin typeface="Calibri"/>
              </a:rPr>
              <a:t>preprocess</a:t>
            </a:r>
          </a:p>
          <a:p>
            <a:pPr algn="ctr">
              <a:spcAft>
                <a:spcPts val="0"/>
              </a:spcAft>
            </a:pPr>
            <a:r>
              <a:rPr sz="1100" b="0" i="0">
                <a:solidFill>
                  <a:srgbClr val="262626"/>
                </a:solidFill>
                <a:latin typeface="Calibri"/>
              </a:rPr>
              <a:t>co-registration</a:t>
            </a:r>
          </a:p>
        </p:txBody>
      </p:sp>
      <p:sp>
        <p:nvSpPr>
          <p:cNvPr id="14" name="Rounded Rectangle 13"/>
          <p:cNvSpPr/>
          <p:nvPr/>
        </p:nvSpPr>
        <p:spPr>
          <a:xfrm>
            <a:off x="3749039" y="1645920"/>
            <a:ext cx="1417320" cy="1280160"/>
          </a:xfrm>
          <a:prstGeom prst="roundRect">
            <a:avLst>
              <a:gd name="adj" fmla="val 5714"/>
            </a:avLst>
          </a:prstGeom>
          <a:solidFill>
            <a:srgbClr val="1F497D"/>
          </a:solidFill>
          <a:ln>
            <a:noFill/>
          </a:ln>
        </p:spPr>
        <p:txBody>
          <a:bodyPr rtlCol="0" anchor="ctr" wrap="square" lIns="54864" rIns="54864" tIns="54864" bIns="54864"/>
          <a:lstStyle/>
          <a:p>
            <a:pPr algn="ctr">
              <a:spcAft>
                <a:spcPts val="0"/>
              </a:spcAft>
            </a:pPr>
            <a:r>
              <a:rPr sz="1400" b="1" i="0">
                <a:solidFill>
                  <a:srgbClr val="FFFFFF"/>
                </a:solidFill>
                <a:latin typeface="Calibri"/>
              </a:rPr>
              <a:t>CNN / ViT</a:t>
            </a:r>
          </a:p>
          <a:p>
            <a:pPr algn="ctr">
              <a:spcAft>
                <a:spcPts val="0"/>
              </a:spcAft>
            </a:pPr>
            <a:r>
              <a:rPr sz="1100" b="0" i="0">
                <a:solidFill>
                  <a:srgbClr val="FFFFFF"/>
                </a:solidFill>
                <a:latin typeface="Calibri"/>
              </a:rPr>
              <a:t>semantic</a:t>
            </a:r>
          </a:p>
          <a:p>
            <a:pPr algn="ctr">
              <a:spcAft>
                <a:spcPts val="0"/>
              </a:spcAft>
            </a:pPr>
            <a:r>
              <a:rPr sz="1100" b="0" i="0">
                <a:solidFill>
                  <a:srgbClr val="FFFFFF"/>
                </a:solidFill>
                <a:latin typeface="Calibri"/>
              </a:rPr>
              <a:t>segmentation</a:t>
            </a:r>
          </a:p>
        </p:txBody>
      </p:sp>
      <p:cxnSp>
        <p:nvCxnSpPr>
          <p:cNvPr id="15" name="Connector 14"/>
          <p:cNvCxnSpPr/>
          <p:nvPr/>
        </p:nvCxnSpPr>
        <p:spPr>
          <a:xfrm>
            <a:off x="1874519" y="1810512"/>
            <a:ext cx="274321" cy="338328"/>
          </a:xfrm>
          <a:prstGeom prst="line">
            <a:avLst/>
          </a:prstGeom>
          <a:ln w="19050">
            <a:solidFill>
              <a:srgbClr val="595959"/>
            </a:solidFill>
            <a:tailEnd type="triangle" w="med" len="med"/>
          </a:ln>
        </p:spPr>
      </p:cxnSp>
      <p:cxnSp>
        <p:nvCxnSpPr>
          <p:cNvPr id="16" name="Connector 15"/>
          <p:cNvCxnSpPr/>
          <p:nvPr/>
        </p:nvCxnSpPr>
        <p:spPr>
          <a:xfrm flipV="1">
            <a:off x="1874519" y="2514600"/>
            <a:ext cx="274321" cy="256032"/>
          </a:xfrm>
          <a:prstGeom prst="line">
            <a:avLst/>
          </a:prstGeom>
          <a:ln w="19050">
            <a:solidFill>
              <a:srgbClr val="595959"/>
            </a:solidFill>
            <a:tailEnd type="triangle" w="med" len="med"/>
          </a:ln>
        </p:spPr>
      </p:cxnSp>
      <p:cxnSp>
        <p:nvCxnSpPr>
          <p:cNvPr id="17" name="Connector 16"/>
          <p:cNvCxnSpPr/>
          <p:nvPr/>
        </p:nvCxnSpPr>
        <p:spPr>
          <a:xfrm>
            <a:off x="3474720" y="2286000"/>
            <a:ext cx="274319" cy="0"/>
          </a:xfrm>
          <a:prstGeom prst="line">
            <a:avLst/>
          </a:prstGeom>
          <a:ln w="22225">
            <a:solidFill>
              <a:srgbClr val="595959"/>
            </a:solidFill>
            <a:tailEnd type="triangle" w="med" len="med"/>
          </a:ln>
        </p:spPr>
      </p:cxnSp>
      <p:cxnSp>
        <p:nvCxnSpPr>
          <p:cNvPr id="18" name="Connector 17"/>
          <p:cNvCxnSpPr/>
          <p:nvPr/>
        </p:nvCxnSpPr>
        <p:spPr>
          <a:xfrm>
            <a:off x="5166360" y="2286000"/>
            <a:ext cx="274320" cy="0"/>
          </a:xfrm>
          <a:prstGeom prst="line">
            <a:avLst/>
          </a:prstGeom>
          <a:ln w="22225">
            <a:solidFill>
              <a:srgbClr val="595959"/>
            </a:solidFill>
            <a:tailEnd type="triangle" w="med" len="med"/>
          </a:ln>
        </p:spPr>
      </p:cxnSp>
      <p:sp>
        <p:nvSpPr>
          <p:cNvPr id="19" name="Rectangle 18"/>
          <p:cNvSpPr/>
          <p:nvPr/>
        </p:nvSpPr>
        <p:spPr>
          <a:xfrm>
            <a:off x="5440680" y="1417320"/>
            <a:ext cx="256032" cy="256032"/>
          </a:xfrm>
          <a:prstGeom prst="rect">
            <a:avLst/>
          </a:prstGeom>
          <a:solidFill>
            <a:srgbClr val="9BBB59"/>
          </a:solidFill>
          <a:ln>
            <a:noFill/>
          </a:ln>
        </p:spPr>
        <p:txBody>
          <a:bodyPr rtlCol="0" anchor="ctr" wrap="square" lIns="54864" rIns="54864" tIns="54864" bIns="54864"/>
          <a:lstStyle/>
          <a:p>
            <a:pPr algn="ctr"/>
          </a:p>
        </p:txBody>
      </p:sp>
      <p:sp>
        <p:nvSpPr>
          <p:cNvPr id="20" name="Rectangle 19"/>
          <p:cNvSpPr/>
          <p:nvPr/>
        </p:nvSpPr>
        <p:spPr>
          <a:xfrm>
            <a:off x="5715000" y="1417320"/>
            <a:ext cx="256032" cy="256032"/>
          </a:xfrm>
          <a:prstGeom prst="rect">
            <a:avLst/>
          </a:prstGeom>
          <a:solidFill>
            <a:srgbClr val="9BBB59"/>
          </a:solidFill>
          <a:ln>
            <a:noFill/>
          </a:ln>
        </p:spPr>
        <p:txBody>
          <a:bodyPr rtlCol="0" anchor="ctr" wrap="square" lIns="54864" rIns="54864" tIns="54864" bIns="54864"/>
          <a:lstStyle/>
          <a:p>
            <a:pPr algn="ctr"/>
          </a:p>
        </p:txBody>
      </p:sp>
      <p:sp>
        <p:nvSpPr>
          <p:cNvPr id="21" name="Rectangle 20"/>
          <p:cNvSpPr/>
          <p:nvPr/>
        </p:nvSpPr>
        <p:spPr>
          <a:xfrm>
            <a:off x="5989320" y="1417320"/>
            <a:ext cx="256032" cy="256032"/>
          </a:xfrm>
          <a:prstGeom prst="rect">
            <a:avLst/>
          </a:prstGeom>
          <a:solidFill>
            <a:srgbClr val="9BBB59"/>
          </a:solidFill>
          <a:ln>
            <a:noFill/>
          </a:ln>
        </p:spPr>
        <p:txBody>
          <a:bodyPr rtlCol="0" anchor="ctr" wrap="square" lIns="54864" rIns="54864" tIns="54864" bIns="54864"/>
          <a:lstStyle/>
          <a:p>
            <a:pPr algn="ctr"/>
          </a:p>
        </p:txBody>
      </p:sp>
      <p:sp>
        <p:nvSpPr>
          <p:cNvPr id="22" name="Rectangle 21"/>
          <p:cNvSpPr/>
          <p:nvPr/>
        </p:nvSpPr>
        <p:spPr>
          <a:xfrm>
            <a:off x="6263640" y="1417320"/>
            <a:ext cx="256032" cy="256032"/>
          </a:xfrm>
          <a:prstGeom prst="rect">
            <a:avLst/>
          </a:prstGeom>
          <a:solidFill>
            <a:srgbClr val="F2C314"/>
          </a:solidFill>
          <a:ln>
            <a:noFill/>
          </a:ln>
        </p:spPr>
        <p:txBody>
          <a:bodyPr rtlCol="0" anchor="ctr" wrap="square" lIns="54864" rIns="54864" tIns="54864" bIns="54864"/>
          <a:lstStyle/>
          <a:p>
            <a:pPr algn="ctr"/>
          </a:p>
        </p:txBody>
      </p:sp>
      <p:sp>
        <p:nvSpPr>
          <p:cNvPr id="23" name="Rectangle 22"/>
          <p:cNvSpPr/>
          <p:nvPr/>
        </p:nvSpPr>
        <p:spPr>
          <a:xfrm>
            <a:off x="6537960" y="1417320"/>
            <a:ext cx="256032" cy="256032"/>
          </a:xfrm>
          <a:prstGeom prst="rect">
            <a:avLst/>
          </a:prstGeom>
          <a:solidFill>
            <a:srgbClr val="F79646"/>
          </a:solidFill>
          <a:ln>
            <a:noFill/>
          </a:ln>
        </p:spPr>
        <p:txBody>
          <a:bodyPr rtlCol="0" anchor="ctr" wrap="square" lIns="54864" rIns="54864" tIns="54864" bIns="54864"/>
          <a:lstStyle/>
          <a:p>
            <a:pPr algn="ctr"/>
          </a:p>
        </p:txBody>
      </p:sp>
      <p:sp>
        <p:nvSpPr>
          <p:cNvPr id="24" name="Rectangle 23"/>
          <p:cNvSpPr/>
          <p:nvPr/>
        </p:nvSpPr>
        <p:spPr>
          <a:xfrm>
            <a:off x="5440680" y="1691640"/>
            <a:ext cx="256032" cy="256032"/>
          </a:xfrm>
          <a:prstGeom prst="rect">
            <a:avLst/>
          </a:prstGeom>
          <a:solidFill>
            <a:srgbClr val="9BBB59"/>
          </a:solidFill>
          <a:ln>
            <a:noFill/>
          </a:ln>
        </p:spPr>
        <p:txBody>
          <a:bodyPr rtlCol="0" anchor="ctr" wrap="square" lIns="54864" rIns="54864" tIns="54864" bIns="54864"/>
          <a:lstStyle/>
          <a:p>
            <a:pPr algn="ctr"/>
          </a:p>
        </p:txBody>
      </p:sp>
      <p:sp>
        <p:nvSpPr>
          <p:cNvPr id="25" name="Rectangle 24"/>
          <p:cNvSpPr/>
          <p:nvPr/>
        </p:nvSpPr>
        <p:spPr>
          <a:xfrm>
            <a:off x="5715000" y="1691640"/>
            <a:ext cx="256032" cy="256032"/>
          </a:xfrm>
          <a:prstGeom prst="rect">
            <a:avLst/>
          </a:prstGeom>
          <a:solidFill>
            <a:srgbClr val="F2C314"/>
          </a:solidFill>
          <a:ln>
            <a:noFill/>
          </a:ln>
        </p:spPr>
        <p:txBody>
          <a:bodyPr rtlCol="0" anchor="ctr" wrap="square" lIns="54864" rIns="54864" tIns="54864" bIns="54864"/>
          <a:lstStyle/>
          <a:p>
            <a:pPr algn="ctr"/>
          </a:p>
        </p:txBody>
      </p:sp>
      <p:sp>
        <p:nvSpPr>
          <p:cNvPr id="26" name="Rectangle 25"/>
          <p:cNvSpPr/>
          <p:nvPr/>
        </p:nvSpPr>
        <p:spPr>
          <a:xfrm>
            <a:off x="5989320" y="1691640"/>
            <a:ext cx="256032" cy="256032"/>
          </a:xfrm>
          <a:prstGeom prst="rect">
            <a:avLst/>
          </a:prstGeom>
          <a:solidFill>
            <a:srgbClr val="F2C314"/>
          </a:solidFill>
          <a:ln>
            <a:noFill/>
          </a:ln>
        </p:spPr>
        <p:txBody>
          <a:bodyPr rtlCol="0" anchor="ctr" wrap="square" lIns="54864" rIns="54864" tIns="54864" bIns="54864"/>
          <a:lstStyle/>
          <a:p>
            <a:pPr algn="ctr"/>
          </a:p>
        </p:txBody>
      </p:sp>
      <p:sp>
        <p:nvSpPr>
          <p:cNvPr id="27" name="Rectangle 26"/>
          <p:cNvSpPr/>
          <p:nvPr/>
        </p:nvSpPr>
        <p:spPr>
          <a:xfrm>
            <a:off x="6263640" y="1691640"/>
            <a:ext cx="256032" cy="256032"/>
          </a:xfrm>
          <a:prstGeom prst="rect">
            <a:avLst/>
          </a:prstGeom>
          <a:solidFill>
            <a:srgbClr val="F79646"/>
          </a:solidFill>
          <a:ln>
            <a:noFill/>
          </a:ln>
        </p:spPr>
        <p:txBody>
          <a:bodyPr rtlCol="0" anchor="ctr" wrap="square" lIns="54864" rIns="54864" tIns="54864" bIns="54864"/>
          <a:lstStyle/>
          <a:p>
            <a:pPr algn="ctr"/>
          </a:p>
        </p:txBody>
      </p:sp>
      <p:sp>
        <p:nvSpPr>
          <p:cNvPr id="28" name="Rectangle 27"/>
          <p:cNvSpPr/>
          <p:nvPr/>
        </p:nvSpPr>
        <p:spPr>
          <a:xfrm>
            <a:off x="6537960" y="1691640"/>
            <a:ext cx="256032" cy="256032"/>
          </a:xfrm>
          <a:prstGeom prst="rect">
            <a:avLst/>
          </a:prstGeom>
          <a:solidFill>
            <a:srgbClr val="C0504D"/>
          </a:solidFill>
          <a:ln>
            <a:noFill/>
          </a:ln>
        </p:spPr>
        <p:txBody>
          <a:bodyPr rtlCol="0" anchor="ctr" wrap="square" lIns="54864" rIns="54864" tIns="54864" bIns="54864"/>
          <a:lstStyle/>
          <a:p>
            <a:pPr algn="ctr"/>
          </a:p>
        </p:txBody>
      </p:sp>
      <p:sp>
        <p:nvSpPr>
          <p:cNvPr id="29" name="Rectangle 28"/>
          <p:cNvSpPr/>
          <p:nvPr/>
        </p:nvSpPr>
        <p:spPr>
          <a:xfrm>
            <a:off x="5440680" y="1965960"/>
            <a:ext cx="256032" cy="256032"/>
          </a:xfrm>
          <a:prstGeom prst="rect">
            <a:avLst/>
          </a:prstGeom>
          <a:solidFill>
            <a:srgbClr val="9BBB59"/>
          </a:solidFill>
          <a:ln>
            <a:noFill/>
          </a:ln>
        </p:spPr>
        <p:txBody>
          <a:bodyPr rtlCol="0" anchor="ctr" wrap="square" lIns="54864" rIns="54864" tIns="54864" bIns="54864"/>
          <a:lstStyle/>
          <a:p>
            <a:pPr algn="ctr"/>
          </a:p>
        </p:txBody>
      </p:sp>
      <p:sp>
        <p:nvSpPr>
          <p:cNvPr id="30" name="Rectangle 29"/>
          <p:cNvSpPr/>
          <p:nvPr/>
        </p:nvSpPr>
        <p:spPr>
          <a:xfrm>
            <a:off x="5715000" y="1965960"/>
            <a:ext cx="256032" cy="256032"/>
          </a:xfrm>
          <a:prstGeom prst="rect">
            <a:avLst/>
          </a:prstGeom>
          <a:solidFill>
            <a:srgbClr val="F2C314"/>
          </a:solidFill>
          <a:ln>
            <a:noFill/>
          </a:ln>
        </p:spPr>
        <p:txBody>
          <a:bodyPr rtlCol="0" anchor="ctr" wrap="square" lIns="54864" rIns="54864" tIns="54864" bIns="54864"/>
          <a:lstStyle/>
          <a:p>
            <a:pPr algn="ctr"/>
          </a:p>
        </p:txBody>
      </p:sp>
      <p:sp>
        <p:nvSpPr>
          <p:cNvPr id="31" name="Rectangle 30"/>
          <p:cNvSpPr/>
          <p:nvPr/>
        </p:nvSpPr>
        <p:spPr>
          <a:xfrm>
            <a:off x="5989320" y="1965960"/>
            <a:ext cx="256032" cy="256032"/>
          </a:xfrm>
          <a:prstGeom prst="rect">
            <a:avLst/>
          </a:prstGeom>
          <a:solidFill>
            <a:srgbClr val="F79646"/>
          </a:solidFill>
          <a:ln>
            <a:noFill/>
          </a:ln>
        </p:spPr>
        <p:txBody>
          <a:bodyPr rtlCol="0" anchor="ctr" wrap="square" lIns="54864" rIns="54864" tIns="54864" bIns="54864"/>
          <a:lstStyle/>
          <a:p>
            <a:pPr algn="ctr"/>
          </a:p>
        </p:txBody>
      </p:sp>
      <p:sp>
        <p:nvSpPr>
          <p:cNvPr id="32" name="Rectangle 31"/>
          <p:cNvSpPr/>
          <p:nvPr/>
        </p:nvSpPr>
        <p:spPr>
          <a:xfrm>
            <a:off x="6263640" y="1965960"/>
            <a:ext cx="256032" cy="256032"/>
          </a:xfrm>
          <a:prstGeom prst="rect">
            <a:avLst/>
          </a:prstGeom>
          <a:solidFill>
            <a:srgbClr val="C0504D"/>
          </a:solidFill>
          <a:ln>
            <a:noFill/>
          </a:ln>
        </p:spPr>
        <p:txBody>
          <a:bodyPr rtlCol="0" anchor="ctr" wrap="square" lIns="54864" rIns="54864" tIns="54864" bIns="54864"/>
          <a:lstStyle/>
          <a:p>
            <a:pPr algn="ctr"/>
          </a:p>
        </p:txBody>
      </p:sp>
      <p:sp>
        <p:nvSpPr>
          <p:cNvPr id="33" name="Rectangle 32"/>
          <p:cNvSpPr/>
          <p:nvPr/>
        </p:nvSpPr>
        <p:spPr>
          <a:xfrm>
            <a:off x="6537960" y="1965960"/>
            <a:ext cx="256032" cy="256032"/>
          </a:xfrm>
          <a:prstGeom prst="rect">
            <a:avLst/>
          </a:prstGeom>
          <a:solidFill>
            <a:srgbClr val="C0504D"/>
          </a:solidFill>
          <a:ln>
            <a:noFill/>
          </a:ln>
        </p:spPr>
        <p:txBody>
          <a:bodyPr rtlCol="0" anchor="ctr" wrap="square" lIns="54864" rIns="54864" tIns="54864" bIns="54864"/>
          <a:lstStyle/>
          <a:p>
            <a:pPr algn="ctr"/>
          </a:p>
        </p:txBody>
      </p:sp>
      <p:sp>
        <p:nvSpPr>
          <p:cNvPr id="34" name="Rectangle 33"/>
          <p:cNvSpPr/>
          <p:nvPr/>
        </p:nvSpPr>
        <p:spPr>
          <a:xfrm>
            <a:off x="5440680" y="2240280"/>
            <a:ext cx="256032" cy="256032"/>
          </a:xfrm>
          <a:prstGeom prst="rect">
            <a:avLst/>
          </a:prstGeom>
          <a:solidFill>
            <a:srgbClr val="9BBB59"/>
          </a:solidFill>
          <a:ln>
            <a:noFill/>
          </a:ln>
        </p:spPr>
        <p:txBody>
          <a:bodyPr rtlCol="0" anchor="ctr" wrap="square" lIns="54864" rIns="54864" tIns="54864" bIns="54864"/>
          <a:lstStyle/>
          <a:p>
            <a:pPr algn="ctr"/>
          </a:p>
        </p:txBody>
      </p:sp>
      <p:sp>
        <p:nvSpPr>
          <p:cNvPr id="35" name="Rectangle 34"/>
          <p:cNvSpPr/>
          <p:nvPr/>
        </p:nvSpPr>
        <p:spPr>
          <a:xfrm>
            <a:off x="5715000" y="2240280"/>
            <a:ext cx="256032" cy="256032"/>
          </a:xfrm>
          <a:prstGeom prst="rect">
            <a:avLst/>
          </a:prstGeom>
          <a:solidFill>
            <a:srgbClr val="9BBB59"/>
          </a:solidFill>
          <a:ln>
            <a:noFill/>
          </a:ln>
        </p:spPr>
        <p:txBody>
          <a:bodyPr rtlCol="0" anchor="ctr" wrap="square" lIns="54864" rIns="54864" tIns="54864" bIns="54864"/>
          <a:lstStyle/>
          <a:p>
            <a:pPr algn="ctr"/>
          </a:p>
        </p:txBody>
      </p:sp>
      <p:sp>
        <p:nvSpPr>
          <p:cNvPr id="36" name="Rectangle 35"/>
          <p:cNvSpPr/>
          <p:nvPr/>
        </p:nvSpPr>
        <p:spPr>
          <a:xfrm>
            <a:off x="5989320" y="2240280"/>
            <a:ext cx="256032" cy="256032"/>
          </a:xfrm>
          <a:prstGeom prst="rect">
            <a:avLst/>
          </a:prstGeom>
          <a:solidFill>
            <a:srgbClr val="F2C314"/>
          </a:solidFill>
          <a:ln>
            <a:noFill/>
          </a:ln>
        </p:spPr>
        <p:txBody>
          <a:bodyPr rtlCol="0" anchor="ctr" wrap="square" lIns="54864" rIns="54864" tIns="54864" bIns="54864"/>
          <a:lstStyle/>
          <a:p>
            <a:pPr algn="ctr"/>
          </a:p>
        </p:txBody>
      </p:sp>
      <p:sp>
        <p:nvSpPr>
          <p:cNvPr id="37" name="Rectangle 36"/>
          <p:cNvSpPr/>
          <p:nvPr/>
        </p:nvSpPr>
        <p:spPr>
          <a:xfrm>
            <a:off x="6263640" y="2240280"/>
            <a:ext cx="256032" cy="256032"/>
          </a:xfrm>
          <a:prstGeom prst="rect">
            <a:avLst/>
          </a:prstGeom>
          <a:solidFill>
            <a:srgbClr val="F79646"/>
          </a:solidFill>
          <a:ln>
            <a:noFill/>
          </a:ln>
        </p:spPr>
        <p:txBody>
          <a:bodyPr rtlCol="0" anchor="ctr" wrap="square" lIns="54864" rIns="54864" tIns="54864" bIns="54864"/>
          <a:lstStyle/>
          <a:p>
            <a:pPr algn="ctr"/>
          </a:p>
        </p:txBody>
      </p:sp>
      <p:sp>
        <p:nvSpPr>
          <p:cNvPr id="38" name="Rectangle 37"/>
          <p:cNvSpPr/>
          <p:nvPr/>
        </p:nvSpPr>
        <p:spPr>
          <a:xfrm>
            <a:off x="6537960" y="2240280"/>
            <a:ext cx="256032" cy="256032"/>
          </a:xfrm>
          <a:prstGeom prst="rect">
            <a:avLst/>
          </a:prstGeom>
          <a:solidFill>
            <a:srgbClr val="F79646"/>
          </a:solidFill>
          <a:ln>
            <a:noFill/>
          </a:ln>
        </p:spPr>
        <p:txBody>
          <a:bodyPr rtlCol="0" anchor="ctr" wrap="square" lIns="54864" rIns="54864" tIns="54864" bIns="54864"/>
          <a:lstStyle/>
          <a:p>
            <a:pPr algn="ctr"/>
          </a:p>
        </p:txBody>
      </p:sp>
      <p:sp>
        <p:nvSpPr>
          <p:cNvPr id="39" name="Rectangle 38"/>
          <p:cNvSpPr/>
          <p:nvPr/>
        </p:nvSpPr>
        <p:spPr>
          <a:xfrm>
            <a:off x="5440680" y="2514600"/>
            <a:ext cx="256032" cy="256032"/>
          </a:xfrm>
          <a:prstGeom prst="rect">
            <a:avLst/>
          </a:prstGeom>
          <a:solidFill>
            <a:srgbClr val="9BBB59"/>
          </a:solidFill>
          <a:ln>
            <a:noFill/>
          </a:ln>
        </p:spPr>
        <p:txBody>
          <a:bodyPr rtlCol="0" anchor="ctr" wrap="square" lIns="54864" rIns="54864" tIns="54864" bIns="54864"/>
          <a:lstStyle/>
          <a:p>
            <a:pPr algn="ctr"/>
          </a:p>
        </p:txBody>
      </p:sp>
      <p:sp>
        <p:nvSpPr>
          <p:cNvPr id="40" name="Rectangle 39"/>
          <p:cNvSpPr/>
          <p:nvPr/>
        </p:nvSpPr>
        <p:spPr>
          <a:xfrm>
            <a:off x="5715000" y="2514600"/>
            <a:ext cx="256032" cy="256032"/>
          </a:xfrm>
          <a:prstGeom prst="rect">
            <a:avLst/>
          </a:prstGeom>
          <a:solidFill>
            <a:srgbClr val="9BBB59"/>
          </a:solidFill>
          <a:ln>
            <a:noFill/>
          </a:ln>
        </p:spPr>
        <p:txBody>
          <a:bodyPr rtlCol="0" anchor="ctr" wrap="square" lIns="54864" rIns="54864" tIns="54864" bIns="54864"/>
          <a:lstStyle/>
          <a:p>
            <a:pPr algn="ctr"/>
          </a:p>
        </p:txBody>
      </p:sp>
      <p:sp>
        <p:nvSpPr>
          <p:cNvPr id="41" name="Rectangle 40"/>
          <p:cNvSpPr/>
          <p:nvPr/>
        </p:nvSpPr>
        <p:spPr>
          <a:xfrm>
            <a:off x="5989320" y="2514600"/>
            <a:ext cx="256032" cy="256032"/>
          </a:xfrm>
          <a:prstGeom prst="rect">
            <a:avLst/>
          </a:prstGeom>
          <a:solidFill>
            <a:srgbClr val="9BBB59"/>
          </a:solidFill>
          <a:ln>
            <a:noFill/>
          </a:ln>
        </p:spPr>
        <p:txBody>
          <a:bodyPr rtlCol="0" anchor="ctr" wrap="square" lIns="54864" rIns="54864" tIns="54864" bIns="54864"/>
          <a:lstStyle/>
          <a:p>
            <a:pPr algn="ctr"/>
          </a:p>
        </p:txBody>
      </p:sp>
      <p:sp>
        <p:nvSpPr>
          <p:cNvPr id="42" name="Rectangle 41"/>
          <p:cNvSpPr/>
          <p:nvPr/>
        </p:nvSpPr>
        <p:spPr>
          <a:xfrm>
            <a:off x="6263640" y="2514600"/>
            <a:ext cx="256032" cy="256032"/>
          </a:xfrm>
          <a:prstGeom prst="rect">
            <a:avLst/>
          </a:prstGeom>
          <a:solidFill>
            <a:srgbClr val="F2C314"/>
          </a:solidFill>
          <a:ln>
            <a:noFill/>
          </a:ln>
        </p:spPr>
        <p:txBody>
          <a:bodyPr rtlCol="0" anchor="ctr" wrap="square" lIns="54864" rIns="54864" tIns="54864" bIns="54864"/>
          <a:lstStyle/>
          <a:p>
            <a:pPr algn="ctr"/>
          </a:p>
        </p:txBody>
      </p:sp>
      <p:sp>
        <p:nvSpPr>
          <p:cNvPr id="43" name="Rectangle 42"/>
          <p:cNvSpPr/>
          <p:nvPr/>
        </p:nvSpPr>
        <p:spPr>
          <a:xfrm>
            <a:off x="6537960" y="2514600"/>
            <a:ext cx="256032" cy="256032"/>
          </a:xfrm>
          <a:prstGeom prst="rect">
            <a:avLst/>
          </a:prstGeom>
          <a:solidFill>
            <a:srgbClr val="F2C314"/>
          </a:solidFill>
          <a:ln>
            <a:noFill/>
          </a:ln>
        </p:spPr>
        <p:txBody>
          <a:bodyPr rtlCol="0" anchor="ctr" wrap="square" lIns="54864" rIns="54864" tIns="54864" bIns="54864"/>
          <a:lstStyle/>
          <a:p>
            <a:pPr algn="ctr"/>
          </a:p>
        </p:txBody>
      </p:sp>
      <p:sp>
        <p:nvSpPr>
          <p:cNvPr id="44" name="TextBox 43"/>
          <p:cNvSpPr txBox="1"/>
          <p:nvPr/>
        </p:nvSpPr>
        <p:spPr>
          <a:xfrm>
            <a:off x="5440680" y="2816352"/>
            <a:ext cx="1371600" cy="274320"/>
          </a:xfrm>
          <a:prstGeom prst="rect">
            <a:avLst/>
          </a:prstGeom>
          <a:noFill/>
        </p:spPr>
        <p:txBody>
          <a:bodyPr wrap="square" anchor="t" lIns="36576" rIns="36576" tIns="36576" bIns="36576"/>
          <a:lstStyle/>
          <a:p>
            <a:pPr algn="ctr">
              <a:spcAft>
                <a:spcPts val="400"/>
              </a:spcAft>
            </a:pPr>
            <a:r>
              <a:rPr sz="1200" b="1" i="0">
                <a:solidFill>
                  <a:srgbClr val="1F497D"/>
                </a:solidFill>
                <a:latin typeface="Calibri"/>
              </a:rPr>
              <a:t>Damage map</a:t>
            </a:r>
          </a:p>
        </p:txBody>
      </p:sp>
      <p:sp>
        <p:nvSpPr>
          <p:cNvPr id="45" name="Rectangle 44"/>
          <p:cNvSpPr/>
          <p:nvPr/>
        </p:nvSpPr>
        <p:spPr>
          <a:xfrm>
            <a:off x="7086600" y="1508760"/>
            <a:ext cx="228600" cy="228600"/>
          </a:xfrm>
          <a:prstGeom prst="rect">
            <a:avLst/>
          </a:prstGeom>
          <a:solidFill>
            <a:srgbClr val="9BBB59"/>
          </a:solidFill>
          <a:ln>
            <a:noFill/>
          </a:ln>
        </p:spPr>
        <p:txBody>
          <a:bodyPr rtlCol="0" anchor="ctr" wrap="square" lIns="54864" rIns="54864" tIns="54864" bIns="54864"/>
          <a:lstStyle/>
          <a:p>
            <a:pPr algn="ctr"/>
          </a:p>
        </p:txBody>
      </p:sp>
      <p:sp>
        <p:nvSpPr>
          <p:cNvPr id="46" name="TextBox 45"/>
          <p:cNvSpPr txBox="1"/>
          <p:nvPr/>
        </p:nvSpPr>
        <p:spPr>
          <a:xfrm>
            <a:off x="7388352" y="1463040"/>
            <a:ext cx="1371600" cy="32004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No damage</a:t>
            </a:r>
          </a:p>
        </p:txBody>
      </p:sp>
      <p:sp>
        <p:nvSpPr>
          <p:cNvPr id="47" name="Rectangle 46"/>
          <p:cNvSpPr/>
          <p:nvPr/>
        </p:nvSpPr>
        <p:spPr>
          <a:xfrm>
            <a:off x="7086600" y="1874519"/>
            <a:ext cx="228600" cy="228600"/>
          </a:xfrm>
          <a:prstGeom prst="rect">
            <a:avLst/>
          </a:prstGeom>
          <a:solidFill>
            <a:srgbClr val="F2C314"/>
          </a:solidFill>
          <a:ln>
            <a:noFill/>
          </a:ln>
        </p:spPr>
        <p:txBody>
          <a:bodyPr rtlCol="0" anchor="ctr" wrap="square" lIns="54864" rIns="54864" tIns="54864" bIns="54864"/>
          <a:lstStyle/>
          <a:p>
            <a:pPr algn="ctr"/>
          </a:p>
        </p:txBody>
      </p:sp>
      <p:sp>
        <p:nvSpPr>
          <p:cNvPr id="48" name="TextBox 47"/>
          <p:cNvSpPr txBox="1"/>
          <p:nvPr/>
        </p:nvSpPr>
        <p:spPr>
          <a:xfrm>
            <a:off x="7388352" y="1828800"/>
            <a:ext cx="1371600" cy="32004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Minor</a:t>
            </a:r>
          </a:p>
        </p:txBody>
      </p:sp>
      <p:sp>
        <p:nvSpPr>
          <p:cNvPr id="49" name="Rectangle 48"/>
          <p:cNvSpPr/>
          <p:nvPr/>
        </p:nvSpPr>
        <p:spPr>
          <a:xfrm>
            <a:off x="7086600" y="2240280"/>
            <a:ext cx="228600" cy="228600"/>
          </a:xfrm>
          <a:prstGeom prst="rect">
            <a:avLst/>
          </a:prstGeom>
          <a:solidFill>
            <a:srgbClr val="F79646"/>
          </a:solidFill>
          <a:ln>
            <a:noFill/>
          </a:ln>
        </p:spPr>
        <p:txBody>
          <a:bodyPr rtlCol="0" anchor="ctr" wrap="square" lIns="54864" rIns="54864" tIns="54864" bIns="54864"/>
          <a:lstStyle/>
          <a:p>
            <a:pPr algn="ctr"/>
          </a:p>
        </p:txBody>
      </p:sp>
      <p:sp>
        <p:nvSpPr>
          <p:cNvPr id="50" name="TextBox 49"/>
          <p:cNvSpPr txBox="1"/>
          <p:nvPr/>
        </p:nvSpPr>
        <p:spPr>
          <a:xfrm>
            <a:off x="7388352" y="2194560"/>
            <a:ext cx="1371600" cy="32004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Major</a:t>
            </a:r>
          </a:p>
        </p:txBody>
      </p:sp>
      <p:sp>
        <p:nvSpPr>
          <p:cNvPr id="51" name="Rectangle 50"/>
          <p:cNvSpPr/>
          <p:nvPr/>
        </p:nvSpPr>
        <p:spPr>
          <a:xfrm>
            <a:off x="7086600" y="2606040"/>
            <a:ext cx="228600" cy="228600"/>
          </a:xfrm>
          <a:prstGeom prst="rect">
            <a:avLst/>
          </a:prstGeom>
          <a:solidFill>
            <a:srgbClr val="C0504D"/>
          </a:solidFill>
          <a:ln>
            <a:noFill/>
          </a:ln>
        </p:spPr>
        <p:txBody>
          <a:bodyPr rtlCol="0" anchor="ctr" wrap="square" lIns="54864" rIns="54864" tIns="54864" bIns="54864"/>
          <a:lstStyle/>
          <a:p>
            <a:pPr algn="ctr"/>
          </a:p>
        </p:txBody>
      </p:sp>
      <p:sp>
        <p:nvSpPr>
          <p:cNvPr id="52" name="TextBox 51"/>
          <p:cNvSpPr txBox="1"/>
          <p:nvPr/>
        </p:nvSpPr>
        <p:spPr>
          <a:xfrm>
            <a:off x="7388352" y="2560320"/>
            <a:ext cx="1371600" cy="320040"/>
          </a:xfrm>
          <a:prstGeom prst="rect">
            <a:avLst/>
          </a:prstGeom>
          <a:noFill/>
        </p:spPr>
        <p:txBody>
          <a:bodyPr wrap="square" anchor="ctr" lIns="36576" rIns="36576" tIns="36576" bIns="36576"/>
          <a:lstStyle/>
          <a:p>
            <a:pPr algn="l">
              <a:spcAft>
                <a:spcPts val="400"/>
              </a:spcAft>
            </a:pPr>
            <a:r>
              <a:rPr sz="1200" b="0" i="0">
                <a:solidFill>
                  <a:srgbClr val="262626"/>
                </a:solidFill>
                <a:latin typeface="Calibri"/>
              </a:rPr>
              <a:t>Destroyed</a:t>
            </a:r>
          </a:p>
        </p:txBody>
      </p:sp>
      <p:sp>
        <p:nvSpPr>
          <p:cNvPr id="53" name="Rounded Rectangle 52"/>
          <p:cNvSpPr/>
          <p:nvPr/>
        </p:nvSpPr>
        <p:spPr>
          <a:xfrm>
            <a:off x="365760" y="3337560"/>
            <a:ext cx="4023360" cy="2834640"/>
          </a:xfrm>
          <a:prstGeom prst="roundRect">
            <a:avLst>
              <a:gd name="adj" fmla="val 2580"/>
            </a:avLst>
          </a:prstGeom>
          <a:solidFill>
            <a:srgbClr val="F2F6FB"/>
          </a:solidFill>
          <a:ln>
            <a:noFill/>
          </a:ln>
        </p:spPr>
        <p:txBody>
          <a:bodyPr rtlCol="0" anchor="ctr" wrap="square" lIns="54864" rIns="54864" tIns="54864" bIns="54864"/>
          <a:lstStyle/>
          <a:p>
            <a:pPr algn="ctr"/>
          </a:p>
        </p:txBody>
      </p:sp>
      <p:sp>
        <p:nvSpPr>
          <p:cNvPr id="54" name="TextBox 53"/>
          <p:cNvSpPr txBox="1"/>
          <p:nvPr/>
        </p:nvSpPr>
        <p:spPr>
          <a:xfrm>
            <a:off x="502920" y="3401568"/>
            <a:ext cx="3749039" cy="365760"/>
          </a:xfrm>
          <a:prstGeom prst="rect">
            <a:avLst/>
          </a:prstGeom>
          <a:noFill/>
        </p:spPr>
        <p:txBody>
          <a:bodyPr wrap="square" anchor="t" lIns="36576" rIns="36576" tIns="36576" bIns="36576"/>
          <a:lstStyle/>
          <a:p>
            <a:pPr algn="l">
              <a:spcAft>
                <a:spcPts val="400"/>
              </a:spcAft>
            </a:pPr>
            <a:r>
              <a:rPr sz="1500" b="1" i="0">
                <a:solidFill>
                  <a:srgbClr val="1F497D"/>
                </a:solidFill>
                <a:latin typeface="Calibri"/>
              </a:rPr>
              <a:t>Steps</a:t>
            </a:r>
          </a:p>
        </p:txBody>
      </p:sp>
      <p:sp>
        <p:nvSpPr>
          <p:cNvPr id="55" name="Oval 54"/>
          <p:cNvSpPr/>
          <p:nvPr/>
        </p:nvSpPr>
        <p:spPr>
          <a:xfrm>
            <a:off x="548640" y="3877056"/>
            <a:ext cx="329184" cy="329184"/>
          </a:xfrm>
          <a:prstGeom prst="ellipse">
            <a:avLst/>
          </a:prstGeom>
          <a:solidFill>
            <a:srgbClr val="E46C0A"/>
          </a:solidFill>
          <a:ln>
            <a:noFill/>
          </a:ln>
        </p:spPr>
        <p:txBody>
          <a:bodyPr rtlCol="0" anchor="ctr" wrap="square" lIns="0" rIns="0" tIns="0" bIns="0"/>
          <a:lstStyle/>
          <a:p>
            <a:pPr algn="ctr">
              <a:spcAft>
                <a:spcPts val="0"/>
              </a:spcAft>
            </a:pPr>
            <a:r>
              <a:rPr sz="1200" b="1" i="0">
                <a:solidFill>
                  <a:srgbClr val="FFFFFF"/>
                </a:solidFill>
                <a:latin typeface="Calibri"/>
              </a:rPr>
              <a:t>1</a:t>
            </a:r>
          </a:p>
        </p:txBody>
      </p:sp>
      <p:sp>
        <p:nvSpPr>
          <p:cNvPr id="56" name="TextBox 55"/>
          <p:cNvSpPr txBox="1"/>
          <p:nvPr/>
        </p:nvSpPr>
        <p:spPr>
          <a:xfrm>
            <a:off x="1005840" y="3840480"/>
            <a:ext cx="3291840" cy="402336"/>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Input pre- and post-event images</a:t>
            </a:r>
          </a:p>
        </p:txBody>
      </p:sp>
      <p:sp>
        <p:nvSpPr>
          <p:cNvPr id="57" name="Oval 56"/>
          <p:cNvSpPr/>
          <p:nvPr/>
        </p:nvSpPr>
        <p:spPr>
          <a:xfrm>
            <a:off x="548640" y="4334256"/>
            <a:ext cx="329184" cy="329184"/>
          </a:xfrm>
          <a:prstGeom prst="ellipse">
            <a:avLst/>
          </a:prstGeom>
          <a:solidFill>
            <a:srgbClr val="E46C0A"/>
          </a:solidFill>
          <a:ln>
            <a:noFill/>
          </a:ln>
        </p:spPr>
        <p:txBody>
          <a:bodyPr rtlCol="0" anchor="ctr" wrap="square" lIns="0" rIns="0" tIns="0" bIns="0"/>
          <a:lstStyle/>
          <a:p>
            <a:pPr algn="ctr">
              <a:spcAft>
                <a:spcPts val="0"/>
              </a:spcAft>
            </a:pPr>
            <a:r>
              <a:rPr sz="1200" b="1" i="0">
                <a:solidFill>
                  <a:srgbClr val="FFFFFF"/>
                </a:solidFill>
                <a:latin typeface="Calibri"/>
              </a:rPr>
              <a:t>2</a:t>
            </a:r>
          </a:p>
        </p:txBody>
      </p:sp>
      <p:sp>
        <p:nvSpPr>
          <p:cNvPr id="58" name="TextBox 57"/>
          <p:cNvSpPr txBox="1"/>
          <p:nvPr/>
        </p:nvSpPr>
        <p:spPr>
          <a:xfrm>
            <a:off x="1005840" y="4297680"/>
            <a:ext cx="3291840" cy="402336"/>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Align and normalise both images</a:t>
            </a:r>
          </a:p>
        </p:txBody>
      </p:sp>
      <p:sp>
        <p:nvSpPr>
          <p:cNvPr id="59" name="Oval 58"/>
          <p:cNvSpPr/>
          <p:nvPr/>
        </p:nvSpPr>
        <p:spPr>
          <a:xfrm>
            <a:off x="548640" y="4791456"/>
            <a:ext cx="329184" cy="329184"/>
          </a:xfrm>
          <a:prstGeom prst="ellipse">
            <a:avLst/>
          </a:prstGeom>
          <a:solidFill>
            <a:srgbClr val="E46C0A"/>
          </a:solidFill>
          <a:ln>
            <a:noFill/>
          </a:ln>
        </p:spPr>
        <p:txBody>
          <a:bodyPr rtlCol="0" anchor="ctr" wrap="square" lIns="0" rIns="0" tIns="0" bIns="0"/>
          <a:lstStyle/>
          <a:p>
            <a:pPr algn="ctr">
              <a:spcAft>
                <a:spcPts val="0"/>
              </a:spcAft>
            </a:pPr>
            <a:r>
              <a:rPr sz="1200" b="1" i="0">
                <a:solidFill>
                  <a:srgbClr val="FFFFFF"/>
                </a:solidFill>
                <a:latin typeface="Calibri"/>
              </a:rPr>
              <a:t>3</a:t>
            </a:r>
          </a:p>
        </p:txBody>
      </p:sp>
      <p:sp>
        <p:nvSpPr>
          <p:cNvPr id="60" name="TextBox 59"/>
          <p:cNvSpPr txBox="1"/>
          <p:nvPr/>
        </p:nvSpPr>
        <p:spPr>
          <a:xfrm>
            <a:off x="1005840" y="4754880"/>
            <a:ext cx="3291840" cy="402336"/>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CNN/ViT labels each pixel or building</a:t>
            </a:r>
          </a:p>
        </p:txBody>
      </p:sp>
      <p:sp>
        <p:nvSpPr>
          <p:cNvPr id="61" name="Oval 60"/>
          <p:cNvSpPr/>
          <p:nvPr/>
        </p:nvSpPr>
        <p:spPr>
          <a:xfrm>
            <a:off x="548640" y="5248656"/>
            <a:ext cx="329184" cy="329184"/>
          </a:xfrm>
          <a:prstGeom prst="ellipse">
            <a:avLst/>
          </a:prstGeom>
          <a:solidFill>
            <a:srgbClr val="E46C0A"/>
          </a:solidFill>
          <a:ln>
            <a:noFill/>
          </a:ln>
        </p:spPr>
        <p:txBody>
          <a:bodyPr rtlCol="0" anchor="ctr" wrap="square" lIns="0" rIns="0" tIns="0" bIns="0"/>
          <a:lstStyle/>
          <a:p>
            <a:pPr algn="ctr">
              <a:spcAft>
                <a:spcPts val="0"/>
              </a:spcAft>
            </a:pPr>
            <a:r>
              <a:rPr sz="1200" b="1" i="0">
                <a:solidFill>
                  <a:srgbClr val="FFFFFF"/>
                </a:solidFill>
                <a:latin typeface="Calibri"/>
              </a:rPr>
              <a:t>4</a:t>
            </a:r>
          </a:p>
        </p:txBody>
      </p:sp>
      <p:sp>
        <p:nvSpPr>
          <p:cNvPr id="62" name="TextBox 61"/>
          <p:cNvSpPr txBox="1"/>
          <p:nvPr/>
        </p:nvSpPr>
        <p:spPr>
          <a:xfrm>
            <a:off x="1005840" y="5212080"/>
            <a:ext cx="3291840" cy="402336"/>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Generate the damage map</a:t>
            </a:r>
          </a:p>
        </p:txBody>
      </p:sp>
      <p:sp>
        <p:nvSpPr>
          <p:cNvPr id="63" name="Oval 62"/>
          <p:cNvSpPr/>
          <p:nvPr/>
        </p:nvSpPr>
        <p:spPr>
          <a:xfrm>
            <a:off x="548640" y="5705856"/>
            <a:ext cx="329184" cy="329184"/>
          </a:xfrm>
          <a:prstGeom prst="ellipse">
            <a:avLst/>
          </a:prstGeom>
          <a:solidFill>
            <a:srgbClr val="E46C0A"/>
          </a:solidFill>
          <a:ln>
            <a:noFill/>
          </a:ln>
        </p:spPr>
        <p:txBody>
          <a:bodyPr rtlCol="0" anchor="ctr" wrap="square" lIns="0" rIns="0" tIns="0" bIns="0"/>
          <a:lstStyle/>
          <a:p>
            <a:pPr algn="ctr">
              <a:spcAft>
                <a:spcPts val="0"/>
              </a:spcAft>
            </a:pPr>
            <a:r>
              <a:rPr sz="1200" b="1" i="0">
                <a:solidFill>
                  <a:srgbClr val="FFFFFF"/>
                </a:solidFill>
                <a:latin typeface="Calibri"/>
              </a:rPr>
              <a:t>5</a:t>
            </a:r>
          </a:p>
        </p:txBody>
      </p:sp>
      <p:sp>
        <p:nvSpPr>
          <p:cNvPr id="64" name="TextBox 63"/>
          <p:cNvSpPr txBox="1"/>
          <p:nvPr/>
        </p:nvSpPr>
        <p:spPr>
          <a:xfrm>
            <a:off x="1005840" y="5669280"/>
            <a:ext cx="3291840" cy="402336"/>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Overlay on GIS maps for responders</a:t>
            </a:r>
          </a:p>
        </p:txBody>
      </p:sp>
      <p:sp>
        <p:nvSpPr>
          <p:cNvPr id="65" name="Rounded Rectangle 64"/>
          <p:cNvSpPr/>
          <p:nvPr/>
        </p:nvSpPr>
        <p:spPr>
          <a:xfrm>
            <a:off x="4617720" y="3337560"/>
            <a:ext cx="4160520" cy="2834640"/>
          </a:xfrm>
          <a:prstGeom prst="roundRect">
            <a:avLst>
              <a:gd name="adj" fmla="val 2580"/>
            </a:avLst>
          </a:prstGeom>
          <a:solidFill>
            <a:srgbClr val="F2F6FB"/>
          </a:solidFill>
          <a:ln>
            <a:noFill/>
          </a:ln>
        </p:spPr>
        <p:txBody>
          <a:bodyPr rtlCol="0" anchor="ctr" wrap="square" lIns="54864" rIns="54864" tIns="54864" bIns="54864"/>
          <a:lstStyle/>
          <a:p>
            <a:pPr algn="ctr"/>
          </a:p>
        </p:txBody>
      </p:sp>
      <p:sp>
        <p:nvSpPr>
          <p:cNvPr id="66" name="TextBox 65"/>
          <p:cNvSpPr txBox="1"/>
          <p:nvPr/>
        </p:nvSpPr>
        <p:spPr>
          <a:xfrm>
            <a:off x="4754880" y="3401568"/>
            <a:ext cx="3931920" cy="365760"/>
          </a:xfrm>
          <a:prstGeom prst="rect">
            <a:avLst/>
          </a:prstGeom>
          <a:noFill/>
        </p:spPr>
        <p:txBody>
          <a:bodyPr wrap="square" anchor="t" lIns="36576" rIns="36576" tIns="36576" bIns="36576"/>
          <a:lstStyle/>
          <a:p>
            <a:pPr algn="l">
              <a:spcAft>
                <a:spcPts val="400"/>
              </a:spcAft>
            </a:pPr>
            <a:r>
              <a:rPr sz="1500" b="1" i="0">
                <a:solidFill>
                  <a:srgbClr val="1F497D"/>
                </a:solidFill>
                <a:latin typeface="Calibri"/>
              </a:rPr>
              <a:t>Extension: DisasTeller [7]</a:t>
            </a:r>
          </a:p>
        </p:txBody>
      </p:sp>
      <p:sp>
        <p:nvSpPr>
          <p:cNvPr id="67" name="TextBox 66"/>
          <p:cNvSpPr txBox="1"/>
          <p:nvPr/>
        </p:nvSpPr>
        <p:spPr>
          <a:xfrm>
            <a:off x="4754880" y="3767328"/>
            <a:ext cx="3931920" cy="548640"/>
          </a:xfrm>
          <a:prstGeom prst="rect">
            <a:avLst/>
          </a:prstGeom>
          <a:noFill/>
        </p:spPr>
        <p:txBody>
          <a:bodyPr wrap="square" anchor="t" lIns="36576" rIns="36576" tIns="36576" bIns="36576"/>
          <a:lstStyle/>
          <a:p>
            <a:pPr algn="l">
              <a:spcAft>
                <a:spcPts val="400"/>
              </a:spcAft>
            </a:pPr>
            <a:r>
              <a:rPr sz="1300" b="0" i="0">
                <a:solidFill>
                  <a:srgbClr val="262626"/>
                </a:solidFill>
                <a:latin typeface="Calibri"/>
              </a:rPr>
              <a:t>Four specialised vision-language agents work together on post-disaster images:</a:t>
            </a:r>
          </a:p>
        </p:txBody>
      </p:sp>
      <p:sp>
        <p:nvSpPr>
          <p:cNvPr id="68" name="Oval 67"/>
          <p:cNvSpPr/>
          <p:nvPr/>
        </p:nvSpPr>
        <p:spPr>
          <a:xfrm>
            <a:off x="4892040" y="4389120"/>
            <a:ext cx="502920" cy="502920"/>
          </a:xfrm>
          <a:prstGeom prst="ellipse">
            <a:avLst/>
          </a:prstGeom>
          <a:solidFill>
            <a:srgbClr val="1F497D"/>
          </a:solidFill>
          <a:ln>
            <a:noFill/>
          </a:ln>
        </p:spPr>
        <p:txBody>
          <a:bodyPr rtlCol="0" anchor="ctr" wrap="square" lIns="54864" rIns="54864" tIns="54864" bIns="54864"/>
          <a:lstStyle/>
          <a:p>
            <a:pPr algn="ctr"/>
          </a:p>
        </p:txBody>
      </p:sp>
      <p:pic>
        <p:nvPicPr>
          <p:cNvPr id="69" name="Picture 68" descr="robot_w.png"/>
          <p:cNvPicPr>
            <a:picLocks noChangeAspect="1"/>
          </p:cNvPicPr>
          <p:nvPr/>
        </p:nvPicPr>
        <p:blipFill>
          <a:blip r:embed="rId5"/>
          <a:stretch>
            <a:fillRect/>
          </a:stretch>
        </p:blipFill>
        <p:spPr>
          <a:xfrm>
            <a:off x="5012740" y="4509820"/>
            <a:ext cx="261518" cy="261518"/>
          </a:xfrm>
          <a:prstGeom prst="rect">
            <a:avLst/>
          </a:prstGeom>
        </p:spPr>
      </p:pic>
      <p:sp>
        <p:nvSpPr>
          <p:cNvPr id="70" name="Oval 69"/>
          <p:cNvSpPr/>
          <p:nvPr/>
        </p:nvSpPr>
        <p:spPr>
          <a:xfrm>
            <a:off x="5852159" y="4389120"/>
            <a:ext cx="502920" cy="502920"/>
          </a:xfrm>
          <a:prstGeom prst="ellipse">
            <a:avLst/>
          </a:prstGeom>
          <a:solidFill>
            <a:srgbClr val="4F81BD"/>
          </a:solidFill>
          <a:ln>
            <a:noFill/>
          </a:ln>
        </p:spPr>
        <p:txBody>
          <a:bodyPr rtlCol="0" anchor="ctr" wrap="square" lIns="54864" rIns="54864" tIns="54864" bIns="54864"/>
          <a:lstStyle/>
          <a:p>
            <a:pPr algn="ctr"/>
          </a:p>
        </p:txBody>
      </p:sp>
      <p:pic>
        <p:nvPicPr>
          <p:cNvPr id="71" name="Picture 70" descr="robot_w.png"/>
          <p:cNvPicPr>
            <a:picLocks noChangeAspect="1"/>
          </p:cNvPicPr>
          <p:nvPr/>
        </p:nvPicPr>
        <p:blipFill>
          <a:blip r:embed="rId5"/>
          <a:stretch>
            <a:fillRect/>
          </a:stretch>
        </p:blipFill>
        <p:spPr>
          <a:xfrm>
            <a:off x="5972860" y="4509820"/>
            <a:ext cx="261518" cy="261518"/>
          </a:xfrm>
          <a:prstGeom prst="rect">
            <a:avLst/>
          </a:prstGeom>
        </p:spPr>
      </p:pic>
      <p:sp>
        <p:nvSpPr>
          <p:cNvPr id="72" name="Oval 71"/>
          <p:cNvSpPr/>
          <p:nvPr/>
        </p:nvSpPr>
        <p:spPr>
          <a:xfrm>
            <a:off x="6812279" y="4389120"/>
            <a:ext cx="502920" cy="502920"/>
          </a:xfrm>
          <a:prstGeom prst="ellipse">
            <a:avLst/>
          </a:prstGeom>
          <a:solidFill>
            <a:srgbClr val="1F497D"/>
          </a:solidFill>
          <a:ln>
            <a:noFill/>
          </a:ln>
        </p:spPr>
        <p:txBody>
          <a:bodyPr rtlCol="0" anchor="ctr" wrap="square" lIns="54864" rIns="54864" tIns="54864" bIns="54864"/>
          <a:lstStyle/>
          <a:p>
            <a:pPr algn="ctr"/>
          </a:p>
        </p:txBody>
      </p:sp>
      <p:pic>
        <p:nvPicPr>
          <p:cNvPr id="73" name="Picture 72" descr="robot_w.png"/>
          <p:cNvPicPr>
            <a:picLocks noChangeAspect="1"/>
          </p:cNvPicPr>
          <p:nvPr/>
        </p:nvPicPr>
        <p:blipFill>
          <a:blip r:embed="rId5"/>
          <a:stretch>
            <a:fillRect/>
          </a:stretch>
        </p:blipFill>
        <p:spPr>
          <a:xfrm>
            <a:off x="6932980" y="4509820"/>
            <a:ext cx="261518" cy="261518"/>
          </a:xfrm>
          <a:prstGeom prst="rect">
            <a:avLst/>
          </a:prstGeom>
        </p:spPr>
      </p:pic>
      <p:sp>
        <p:nvSpPr>
          <p:cNvPr id="74" name="Oval 73"/>
          <p:cNvSpPr/>
          <p:nvPr/>
        </p:nvSpPr>
        <p:spPr>
          <a:xfrm>
            <a:off x="7772400" y="4389120"/>
            <a:ext cx="502920" cy="502920"/>
          </a:xfrm>
          <a:prstGeom prst="ellipse">
            <a:avLst/>
          </a:prstGeom>
          <a:solidFill>
            <a:srgbClr val="4F81BD"/>
          </a:solidFill>
          <a:ln>
            <a:noFill/>
          </a:ln>
        </p:spPr>
        <p:txBody>
          <a:bodyPr rtlCol="0" anchor="ctr" wrap="square" lIns="54864" rIns="54864" tIns="54864" bIns="54864"/>
          <a:lstStyle/>
          <a:p>
            <a:pPr algn="ctr"/>
          </a:p>
        </p:txBody>
      </p:sp>
      <p:pic>
        <p:nvPicPr>
          <p:cNvPr id="75" name="Picture 74" descr="robot_w.png"/>
          <p:cNvPicPr>
            <a:picLocks noChangeAspect="1"/>
          </p:cNvPicPr>
          <p:nvPr/>
        </p:nvPicPr>
        <p:blipFill>
          <a:blip r:embed="rId5"/>
          <a:stretch>
            <a:fillRect/>
          </a:stretch>
        </p:blipFill>
        <p:spPr>
          <a:xfrm>
            <a:off x="7893100" y="4509820"/>
            <a:ext cx="261518" cy="261518"/>
          </a:xfrm>
          <a:prstGeom prst="rect">
            <a:avLst/>
          </a:prstGeom>
        </p:spPr>
      </p:pic>
      <p:sp>
        <p:nvSpPr>
          <p:cNvPr id="76" name="Rounded Rectangle 75"/>
          <p:cNvSpPr/>
          <p:nvPr/>
        </p:nvSpPr>
        <p:spPr>
          <a:xfrm>
            <a:off x="4754880" y="5074920"/>
            <a:ext cx="1892807" cy="411480"/>
          </a:xfrm>
          <a:prstGeom prst="roundRect">
            <a:avLst>
              <a:gd name="adj" fmla="val 17777"/>
            </a:avLst>
          </a:prstGeom>
          <a:solidFill>
            <a:srgbClr val="FFFFFF"/>
          </a:solidFill>
          <a:ln w="12700">
            <a:solidFill>
              <a:srgbClr val="E46C0A"/>
            </a:solidFill>
          </a:ln>
        </p:spPr>
        <p:txBody>
          <a:bodyPr rtlCol="0" anchor="ctr" wrap="square" lIns="54864" rIns="54864" tIns="54864" bIns="54864"/>
          <a:lstStyle/>
          <a:p>
            <a:pPr algn="ctr">
              <a:spcAft>
                <a:spcPts val="0"/>
              </a:spcAft>
            </a:pPr>
            <a:r>
              <a:rPr sz="1200" b="0" i="0">
                <a:solidFill>
                  <a:srgbClr val="262626"/>
                </a:solidFill>
                <a:latin typeface="Calibri"/>
              </a:rPr>
              <a:t>Damage assessment</a:t>
            </a:r>
          </a:p>
        </p:txBody>
      </p:sp>
      <p:sp>
        <p:nvSpPr>
          <p:cNvPr id="77" name="Rounded Rectangle 76"/>
          <p:cNvSpPr/>
          <p:nvPr/>
        </p:nvSpPr>
        <p:spPr>
          <a:xfrm>
            <a:off x="6739128" y="5074920"/>
            <a:ext cx="1892807" cy="411480"/>
          </a:xfrm>
          <a:prstGeom prst="roundRect">
            <a:avLst>
              <a:gd name="adj" fmla="val 17777"/>
            </a:avLst>
          </a:prstGeom>
          <a:solidFill>
            <a:srgbClr val="FFFFFF"/>
          </a:solidFill>
          <a:ln w="12700">
            <a:solidFill>
              <a:srgbClr val="E46C0A"/>
            </a:solidFill>
          </a:ln>
        </p:spPr>
        <p:txBody>
          <a:bodyPr rtlCol="0" anchor="ctr" wrap="square" lIns="54864" rIns="54864" tIns="54864" bIns="54864"/>
          <a:lstStyle/>
          <a:p>
            <a:pPr algn="ctr">
              <a:spcAft>
                <a:spcPts val="0"/>
              </a:spcAft>
            </a:pPr>
            <a:r>
              <a:rPr sz="1200" b="0" i="0">
                <a:solidFill>
                  <a:srgbClr val="262626"/>
                </a:solidFill>
                <a:latin typeface="Calibri"/>
              </a:rPr>
              <a:t>Alerts</a:t>
            </a:r>
          </a:p>
        </p:txBody>
      </p:sp>
      <p:sp>
        <p:nvSpPr>
          <p:cNvPr id="78" name="Rounded Rectangle 77"/>
          <p:cNvSpPr/>
          <p:nvPr/>
        </p:nvSpPr>
        <p:spPr>
          <a:xfrm>
            <a:off x="4754880" y="5577840"/>
            <a:ext cx="1892807" cy="411480"/>
          </a:xfrm>
          <a:prstGeom prst="roundRect">
            <a:avLst>
              <a:gd name="adj" fmla="val 17777"/>
            </a:avLst>
          </a:prstGeom>
          <a:solidFill>
            <a:srgbClr val="FFFFFF"/>
          </a:solidFill>
          <a:ln w="12700">
            <a:solidFill>
              <a:srgbClr val="E46C0A"/>
            </a:solidFill>
          </a:ln>
        </p:spPr>
        <p:txBody>
          <a:bodyPr rtlCol="0" anchor="ctr" wrap="square" lIns="54864" rIns="54864" tIns="54864" bIns="54864"/>
          <a:lstStyle/>
          <a:p>
            <a:pPr algn="ctr">
              <a:spcAft>
                <a:spcPts val="0"/>
              </a:spcAft>
            </a:pPr>
            <a:r>
              <a:rPr sz="1200" b="0" i="0">
                <a:solidFill>
                  <a:srgbClr val="262626"/>
                </a:solidFill>
                <a:latin typeface="Calibri"/>
              </a:rPr>
              <a:t>Emergency reports</a:t>
            </a:r>
          </a:p>
        </p:txBody>
      </p:sp>
      <p:sp>
        <p:nvSpPr>
          <p:cNvPr id="79" name="Rounded Rectangle 78"/>
          <p:cNvSpPr/>
          <p:nvPr/>
        </p:nvSpPr>
        <p:spPr>
          <a:xfrm>
            <a:off x="6739128" y="5577840"/>
            <a:ext cx="1892807" cy="411480"/>
          </a:xfrm>
          <a:prstGeom prst="roundRect">
            <a:avLst>
              <a:gd name="adj" fmla="val 17777"/>
            </a:avLst>
          </a:prstGeom>
          <a:solidFill>
            <a:srgbClr val="FFFFFF"/>
          </a:solidFill>
          <a:ln w="12700">
            <a:solidFill>
              <a:srgbClr val="E46C0A"/>
            </a:solidFill>
          </a:ln>
        </p:spPr>
        <p:txBody>
          <a:bodyPr rtlCol="0" anchor="ctr" wrap="square" lIns="54864" rIns="54864" tIns="54864" bIns="54864"/>
          <a:lstStyle/>
          <a:p>
            <a:pPr algn="ctr">
              <a:spcAft>
                <a:spcPts val="0"/>
              </a:spcAft>
            </a:pPr>
            <a:r>
              <a:rPr sz="1200" b="0" i="0">
                <a:solidFill>
                  <a:srgbClr val="262626"/>
                </a:solidFill>
                <a:latin typeface="Calibri"/>
              </a:rPr>
              <a:t>Resource &amp; recovery plans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Algorithm 3: Crisis Info &amp; Evacuation</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TextBox 5"/>
          <p:cNvSpPr txBox="1"/>
          <p:nvPr/>
        </p:nvSpPr>
        <p:spPr>
          <a:xfrm>
            <a:off x="365760" y="1024128"/>
            <a:ext cx="8412480" cy="347472"/>
          </a:xfrm>
          <a:prstGeom prst="rect">
            <a:avLst/>
          </a:prstGeom>
          <a:noFill/>
        </p:spPr>
        <p:txBody>
          <a:bodyPr wrap="square" anchor="t" lIns="36576" rIns="36576" tIns="36576" bIns="36576"/>
          <a:lstStyle/>
          <a:p>
            <a:pPr algn="l">
              <a:spcAft>
                <a:spcPts val="400"/>
              </a:spcAft>
            </a:pPr>
            <a:r>
              <a:rPr sz="1600" b="1" i="0">
                <a:solidFill>
                  <a:srgbClr val="1F497D"/>
                </a:solidFill>
                <a:latin typeface="Calibri"/>
              </a:rPr>
              <a:t>Crisis information extraction (NLP / LLM) [6]</a:t>
            </a:r>
          </a:p>
        </p:txBody>
      </p:sp>
      <p:sp>
        <p:nvSpPr>
          <p:cNvPr id="7" name="Rounded Rectangle 6"/>
          <p:cNvSpPr/>
          <p:nvPr/>
        </p:nvSpPr>
        <p:spPr>
          <a:xfrm>
            <a:off x="365760" y="1463040"/>
            <a:ext cx="2514600" cy="685800"/>
          </a:xfrm>
          <a:prstGeom prst="roundRect">
            <a:avLst>
              <a:gd name="adj" fmla="val 10666"/>
            </a:avLst>
          </a:prstGeom>
          <a:solidFill>
            <a:srgbClr val="DCE6F2"/>
          </a:solidFill>
          <a:ln w="12700">
            <a:solidFill>
              <a:srgbClr val="4F81BD"/>
            </a:solidFill>
          </a:ln>
        </p:spPr>
        <p:txBody>
          <a:bodyPr rtlCol="0" anchor="ctr" wrap="square" tIns="91440" bIns="91440"/>
          <a:lstStyle/>
          <a:p>
            <a:pPr algn="l">
              <a:spcAft>
                <a:spcPts val="0"/>
              </a:spcAft>
            </a:pPr>
            <a:r>
              <a:rPr sz="1200" b="0" i="1">
                <a:solidFill>
                  <a:srgbClr val="262626"/>
                </a:solidFill>
                <a:latin typeface="Calibri"/>
              </a:rPr>
              <a:t>“Road blocked near the bridge, need rescue!”</a:t>
            </a:r>
          </a:p>
        </p:txBody>
      </p:sp>
      <p:sp>
        <p:nvSpPr>
          <p:cNvPr id="8" name="Rounded Rectangle 7"/>
          <p:cNvSpPr/>
          <p:nvPr/>
        </p:nvSpPr>
        <p:spPr>
          <a:xfrm>
            <a:off x="365760" y="2286000"/>
            <a:ext cx="2514600" cy="685800"/>
          </a:xfrm>
          <a:prstGeom prst="roundRect">
            <a:avLst>
              <a:gd name="adj" fmla="val 10666"/>
            </a:avLst>
          </a:prstGeom>
          <a:solidFill>
            <a:srgbClr val="DCE6F2"/>
          </a:solidFill>
          <a:ln w="12700">
            <a:solidFill>
              <a:srgbClr val="4F81BD"/>
            </a:solidFill>
          </a:ln>
        </p:spPr>
        <p:txBody>
          <a:bodyPr rtlCol="0" anchor="ctr" wrap="square" tIns="91440" bIns="91440"/>
          <a:lstStyle/>
          <a:p>
            <a:pPr algn="l">
              <a:spcAft>
                <a:spcPts val="0"/>
              </a:spcAft>
            </a:pPr>
            <a:r>
              <a:rPr sz="1200" b="0" i="1">
                <a:solidFill>
                  <a:srgbClr val="262626"/>
                </a:solidFill>
                <a:latin typeface="Calibri"/>
              </a:rPr>
              <a:t>“Help needed in Wardha, water rising”</a:t>
            </a:r>
          </a:p>
        </p:txBody>
      </p:sp>
      <p:sp>
        <p:nvSpPr>
          <p:cNvPr id="9" name="Rounded Rectangle 8"/>
          <p:cNvSpPr/>
          <p:nvPr/>
        </p:nvSpPr>
        <p:spPr>
          <a:xfrm>
            <a:off x="3246120" y="1691640"/>
            <a:ext cx="1554480" cy="1051560"/>
          </a:xfrm>
          <a:prstGeom prst="roundRect">
            <a:avLst>
              <a:gd name="adj" fmla="val 6956"/>
            </a:avLst>
          </a:prstGeom>
          <a:solidFill>
            <a:srgbClr val="1F497D"/>
          </a:solidFill>
          <a:ln>
            <a:noFill/>
          </a:ln>
        </p:spPr>
        <p:txBody>
          <a:bodyPr rtlCol="0" anchor="ctr" wrap="square" lIns="54864" rIns="54864" tIns="54864" bIns="54864"/>
          <a:lstStyle/>
          <a:p>
            <a:pPr algn="ctr">
              <a:spcAft>
                <a:spcPts val="0"/>
              </a:spcAft>
            </a:pPr>
            <a:r>
              <a:rPr sz="1400" b="1" i="0">
                <a:solidFill>
                  <a:srgbClr val="FFFFFF"/>
                </a:solidFill>
                <a:latin typeface="Calibri"/>
              </a:rPr>
              <a:t>NLP model</a:t>
            </a:r>
          </a:p>
          <a:p>
            <a:pPr algn="ctr">
              <a:spcAft>
                <a:spcPts val="0"/>
              </a:spcAft>
            </a:pPr>
            <a:r>
              <a:rPr sz="1100" b="0" i="0">
                <a:solidFill>
                  <a:srgbClr val="FFFFFF"/>
                </a:solidFill>
                <a:latin typeface="Calibri"/>
              </a:rPr>
              <a:t>BERT / LLM + NER</a:t>
            </a:r>
          </a:p>
        </p:txBody>
      </p:sp>
      <p:cxnSp>
        <p:nvCxnSpPr>
          <p:cNvPr id="10" name="Connector 9"/>
          <p:cNvCxnSpPr/>
          <p:nvPr/>
        </p:nvCxnSpPr>
        <p:spPr>
          <a:xfrm>
            <a:off x="2880360" y="1810512"/>
            <a:ext cx="365760" cy="246888"/>
          </a:xfrm>
          <a:prstGeom prst="line">
            <a:avLst/>
          </a:prstGeom>
          <a:ln w="19050">
            <a:solidFill>
              <a:srgbClr val="595959"/>
            </a:solidFill>
            <a:tailEnd type="triangle" w="med" len="med"/>
          </a:ln>
        </p:spPr>
      </p:cxnSp>
      <p:cxnSp>
        <p:nvCxnSpPr>
          <p:cNvPr id="11" name="Connector 10"/>
          <p:cNvCxnSpPr/>
          <p:nvPr/>
        </p:nvCxnSpPr>
        <p:spPr>
          <a:xfrm flipV="1">
            <a:off x="2880360" y="2377440"/>
            <a:ext cx="365760" cy="256032"/>
          </a:xfrm>
          <a:prstGeom prst="line">
            <a:avLst/>
          </a:prstGeom>
          <a:ln w="19050">
            <a:solidFill>
              <a:srgbClr val="595959"/>
            </a:solidFill>
            <a:tailEnd type="triangle" w="med" len="med"/>
          </a:ln>
        </p:spPr>
      </p:cxnSp>
      <p:cxnSp>
        <p:nvCxnSpPr>
          <p:cNvPr id="12" name="Connector 11"/>
          <p:cNvCxnSpPr/>
          <p:nvPr/>
        </p:nvCxnSpPr>
        <p:spPr>
          <a:xfrm>
            <a:off x="4800600" y="2212848"/>
            <a:ext cx="320040" cy="0"/>
          </a:xfrm>
          <a:prstGeom prst="line">
            <a:avLst/>
          </a:prstGeom>
          <a:ln w="22225">
            <a:solidFill>
              <a:srgbClr val="595959"/>
            </a:solidFill>
            <a:tailEnd type="triangle" w="med" len="med"/>
          </a:ln>
        </p:spPr>
      </p:cxnSp>
      <p:graphicFrame>
        <p:nvGraphicFramePr>
          <p:cNvPr id="13" name="Table 12"/>
          <p:cNvGraphicFramePr>
            <a:graphicFrameLocks noGrp="1"/>
          </p:cNvGraphicFramePr>
          <p:nvPr/>
        </p:nvGraphicFramePr>
        <p:xfrm>
          <a:off x="5120640" y="1463040"/>
          <a:ext cx="3611880" cy="1508760"/>
        </p:xfrm>
        <a:graphic>
          <a:graphicData uri="http://schemas.openxmlformats.org/drawingml/2006/table">
            <a:tbl>
              <a:tblPr firstRow="1" bandRow="1">
                <a:tableStyleId>{5C22544A-7EE6-4342-B048-85BDC9FD1C3A}</a:tableStyleId>
              </a:tblPr>
              <a:tblGrid>
                <a:gridCol w="1417320"/>
                <a:gridCol w="2194560"/>
              </a:tblGrid>
              <a:tr h="301752">
                <a:tc>
                  <a:txBody>
                    <a:bodyPr wrap="square"/>
                    <a:lstStyle/>
                    <a:p>
                      <a:pPr algn="l">
                        <a:spcAft>
                          <a:spcPts val="0"/>
                        </a:spcAft>
                      </a:pPr>
                      <a:r>
                        <a:rPr sz="1200" b="1" i="0">
                          <a:solidFill>
                            <a:srgbClr val="FFFFFF"/>
                          </a:solidFill>
                          <a:latin typeface="Calibri"/>
                        </a:rPr>
                        <a:t>Field</a:t>
                      </a:r>
                    </a:p>
                  </a:txBody>
                  <a:tcPr marL="64008" marR="64008" marT="36576" marB="36576" anchor="ctr"/>
                </a:tc>
                <a:tc>
                  <a:txBody>
                    <a:bodyPr wrap="square"/>
                    <a:lstStyle/>
                    <a:p>
                      <a:pPr algn="l">
                        <a:spcAft>
                          <a:spcPts val="0"/>
                        </a:spcAft>
                      </a:pPr>
                      <a:r>
                        <a:rPr sz="1200" b="1" i="0">
                          <a:solidFill>
                            <a:srgbClr val="FFFFFF"/>
                          </a:solidFill>
                          <a:latin typeface="Calibri"/>
                        </a:rPr>
                        <a:t>Extracted value</a:t>
                      </a:r>
                    </a:p>
                  </a:txBody>
                  <a:tcPr marL="64008" marR="64008" marT="36576" marB="36576" anchor="ctr"/>
                </a:tc>
              </a:tr>
              <a:tr h="301752">
                <a:tc>
                  <a:txBody>
                    <a:bodyPr wrap="square"/>
                    <a:lstStyle/>
                    <a:p>
                      <a:pPr algn="l">
                        <a:spcAft>
                          <a:spcPts val="0"/>
                        </a:spcAft>
                      </a:pPr>
                      <a:r>
                        <a:rPr sz="1200" b="1" i="0">
                          <a:solidFill>
                            <a:srgbClr val="262626"/>
                          </a:solidFill>
                          <a:latin typeface="Calibri"/>
                        </a:rPr>
                        <a:t>Location</a:t>
                      </a:r>
                    </a:p>
                  </a:txBody>
                  <a:tcPr marL="64008" marR="64008" marT="36576" marB="36576" anchor="ctr"/>
                </a:tc>
                <a:tc>
                  <a:txBody>
                    <a:bodyPr wrap="square"/>
                    <a:lstStyle/>
                    <a:p>
                      <a:pPr algn="l">
                        <a:spcAft>
                          <a:spcPts val="0"/>
                        </a:spcAft>
                      </a:pPr>
                      <a:r>
                        <a:rPr sz="1200" b="0" i="0">
                          <a:solidFill>
                            <a:srgbClr val="262626"/>
                          </a:solidFill>
                          <a:latin typeface="Calibri"/>
                        </a:rPr>
                        <a:t>Wardha</a:t>
                      </a:r>
                    </a:p>
                  </a:txBody>
                  <a:tcPr marL="64008" marR="64008" marT="36576" marB="36576" anchor="ctr"/>
                </a:tc>
              </a:tr>
              <a:tr h="301752">
                <a:tc>
                  <a:txBody>
                    <a:bodyPr wrap="square"/>
                    <a:lstStyle/>
                    <a:p>
                      <a:pPr algn="l">
                        <a:spcAft>
                          <a:spcPts val="0"/>
                        </a:spcAft>
                      </a:pPr>
                      <a:r>
                        <a:rPr sz="1200" b="1" i="0">
                          <a:solidFill>
                            <a:srgbClr val="262626"/>
                          </a:solidFill>
                          <a:latin typeface="Calibri"/>
                        </a:rPr>
                        <a:t>Event</a:t>
                      </a:r>
                    </a:p>
                  </a:txBody>
                  <a:tcPr marL="64008" marR="64008" marT="36576" marB="36576" anchor="ctr"/>
                </a:tc>
                <a:tc>
                  <a:txBody>
                    <a:bodyPr wrap="square"/>
                    <a:lstStyle/>
                    <a:p>
                      <a:pPr algn="l">
                        <a:spcAft>
                          <a:spcPts val="0"/>
                        </a:spcAft>
                      </a:pPr>
                      <a:r>
                        <a:rPr sz="1200" b="0" i="0">
                          <a:solidFill>
                            <a:srgbClr val="262626"/>
                          </a:solidFill>
                          <a:latin typeface="Calibri"/>
                        </a:rPr>
                        <a:t>Flood</a:t>
                      </a:r>
                    </a:p>
                  </a:txBody>
                  <a:tcPr marL="64008" marR="64008" marT="36576" marB="36576" anchor="ctr"/>
                </a:tc>
              </a:tr>
              <a:tr h="301752">
                <a:tc>
                  <a:txBody>
                    <a:bodyPr wrap="square"/>
                    <a:lstStyle/>
                    <a:p>
                      <a:pPr algn="l">
                        <a:spcAft>
                          <a:spcPts val="0"/>
                        </a:spcAft>
                      </a:pPr>
                      <a:r>
                        <a:rPr sz="1200" b="1" i="0">
                          <a:solidFill>
                            <a:srgbClr val="262626"/>
                          </a:solidFill>
                          <a:latin typeface="Calibri"/>
                        </a:rPr>
                        <a:t>Need</a:t>
                      </a:r>
                    </a:p>
                  </a:txBody>
                  <a:tcPr marL="64008" marR="64008" marT="36576" marB="36576" anchor="ctr"/>
                </a:tc>
                <a:tc>
                  <a:txBody>
                    <a:bodyPr wrap="square"/>
                    <a:lstStyle/>
                    <a:p>
                      <a:pPr algn="l">
                        <a:spcAft>
                          <a:spcPts val="0"/>
                        </a:spcAft>
                      </a:pPr>
                      <a:r>
                        <a:rPr sz="1200" b="0" i="0">
                          <a:solidFill>
                            <a:srgbClr val="262626"/>
                          </a:solidFill>
                          <a:latin typeface="Calibri"/>
                        </a:rPr>
                        <a:t>Rescue</a:t>
                      </a:r>
                    </a:p>
                  </a:txBody>
                  <a:tcPr marL="64008" marR="64008" marT="36576" marB="36576" anchor="ctr"/>
                </a:tc>
              </a:tr>
              <a:tr h="301752">
                <a:tc>
                  <a:txBody>
                    <a:bodyPr wrap="square"/>
                    <a:lstStyle/>
                    <a:p>
                      <a:pPr algn="l">
                        <a:spcAft>
                          <a:spcPts val="0"/>
                        </a:spcAft>
                      </a:pPr>
                      <a:r>
                        <a:rPr sz="1200" b="1" i="0">
                          <a:solidFill>
                            <a:srgbClr val="262626"/>
                          </a:solidFill>
                          <a:latin typeface="Calibri"/>
                        </a:rPr>
                        <a:t>Severity</a:t>
                      </a:r>
                    </a:p>
                  </a:txBody>
                  <a:tcPr marL="64008" marR="64008" marT="36576" marB="36576" anchor="ctr"/>
                </a:tc>
                <a:tc>
                  <a:txBody>
                    <a:bodyPr wrap="square"/>
                    <a:lstStyle/>
                    <a:p>
                      <a:pPr algn="l">
                        <a:spcAft>
                          <a:spcPts val="0"/>
                        </a:spcAft>
                      </a:pPr>
                      <a:r>
                        <a:rPr sz="1200" b="0" i="0">
                          <a:solidFill>
                            <a:srgbClr val="262626"/>
                          </a:solidFill>
                          <a:latin typeface="Calibri"/>
                        </a:rPr>
                        <a:t>High</a:t>
                      </a:r>
                    </a:p>
                  </a:txBody>
                  <a:tcPr marL="64008" marR="64008" marT="36576" marB="36576" anchor="ctr"/>
                </a:tc>
              </a:tr>
            </a:tbl>
          </a:graphicData>
        </a:graphic>
      </p:graphicFrame>
      <p:cxnSp>
        <p:nvCxnSpPr>
          <p:cNvPr id="14" name="Connector 13"/>
          <p:cNvCxnSpPr/>
          <p:nvPr/>
        </p:nvCxnSpPr>
        <p:spPr>
          <a:xfrm>
            <a:off x="365760" y="3291840"/>
            <a:ext cx="8412480" cy="0"/>
          </a:xfrm>
          <a:prstGeom prst="line">
            <a:avLst/>
          </a:prstGeom>
          <a:ln w="19050">
            <a:solidFill>
              <a:srgbClr val="DCE6F2"/>
            </a:solidFill>
          </a:ln>
        </p:spPr>
      </p:cxnSp>
      <p:sp>
        <p:nvSpPr>
          <p:cNvPr id="15" name="TextBox 14"/>
          <p:cNvSpPr txBox="1"/>
          <p:nvPr/>
        </p:nvSpPr>
        <p:spPr>
          <a:xfrm>
            <a:off x="365760" y="3383280"/>
            <a:ext cx="8412480" cy="347472"/>
          </a:xfrm>
          <a:prstGeom prst="rect">
            <a:avLst/>
          </a:prstGeom>
          <a:noFill/>
        </p:spPr>
        <p:txBody>
          <a:bodyPr wrap="square" anchor="t" lIns="36576" rIns="36576" tIns="36576" bIns="36576"/>
          <a:lstStyle/>
          <a:p>
            <a:pPr algn="l">
              <a:spcAft>
                <a:spcPts val="400"/>
              </a:spcAft>
            </a:pPr>
            <a:r>
              <a:rPr sz="1600" b="1" i="0">
                <a:solidFill>
                  <a:srgbClr val="1F497D"/>
                </a:solidFill>
                <a:latin typeface="Calibri"/>
              </a:rPr>
              <a:t>Evacuation routing (Reinforcement Learning)</a:t>
            </a:r>
          </a:p>
        </p:txBody>
      </p:sp>
      <p:sp>
        <p:nvSpPr>
          <p:cNvPr id="16" name="Rounded Rectangle 15"/>
          <p:cNvSpPr/>
          <p:nvPr/>
        </p:nvSpPr>
        <p:spPr>
          <a:xfrm>
            <a:off x="457200" y="4114800"/>
            <a:ext cx="1737360" cy="1188720"/>
          </a:xfrm>
          <a:prstGeom prst="roundRect">
            <a:avLst>
              <a:gd name="adj" fmla="val 6153"/>
            </a:avLst>
          </a:prstGeom>
          <a:solidFill>
            <a:srgbClr val="E46C0A"/>
          </a:solidFill>
          <a:ln>
            <a:noFill/>
          </a:ln>
        </p:spPr>
        <p:txBody>
          <a:bodyPr rtlCol="0" anchor="ctr" wrap="square" lIns="54864" rIns="54864" tIns="54864" bIns="54864"/>
          <a:lstStyle/>
          <a:p>
            <a:pPr algn="ctr">
              <a:spcAft>
                <a:spcPts val="0"/>
              </a:spcAft>
            </a:pPr>
            <a:r>
              <a:rPr sz="1500" b="1" i="0">
                <a:solidFill>
                  <a:srgbClr val="FFFFFF"/>
                </a:solidFill>
                <a:latin typeface="Calibri"/>
              </a:rPr>
              <a:t>Agent</a:t>
            </a:r>
          </a:p>
          <a:p>
            <a:pPr algn="ctr">
              <a:spcAft>
                <a:spcPts val="0"/>
              </a:spcAft>
            </a:pPr>
            <a:r>
              <a:rPr sz="1200" b="0" i="0">
                <a:solidFill>
                  <a:srgbClr val="FFFFFF"/>
                </a:solidFill>
                <a:latin typeface="Calibri"/>
              </a:rPr>
              <a:t>policy π</a:t>
            </a:r>
          </a:p>
          <a:p>
            <a:pPr algn="ctr">
              <a:spcAft>
                <a:spcPts val="0"/>
              </a:spcAft>
            </a:pPr>
            <a:r>
              <a:rPr sz="1200" b="0" i="0">
                <a:solidFill>
                  <a:srgbClr val="FFFFFF"/>
                </a:solidFill>
                <a:latin typeface="Calibri"/>
              </a:rPr>
              <a:t>(PPO / DQN)</a:t>
            </a:r>
          </a:p>
        </p:txBody>
      </p:sp>
      <p:sp>
        <p:nvSpPr>
          <p:cNvPr id="17" name="Rounded Rectangle 16"/>
          <p:cNvSpPr/>
          <p:nvPr/>
        </p:nvSpPr>
        <p:spPr>
          <a:xfrm>
            <a:off x="3108960" y="4114800"/>
            <a:ext cx="1737360" cy="1188720"/>
          </a:xfrm>
          <a:prstGeom prst="roundRect">
            <a:avLst>
              <a:gd name="adj" fmla="val 6153"/>
            </a:avLst>
          </a:prstGeom>
          <a:solidFill>
            <a:srgbClr val="4F81BD"/>
          </a:solidFill>
          <a:ln>
            <a:noFill/>
          </a:ln>
        </p:spPr>
        <p:txBody>
          <a:bodyPr rtlCol="0" anchor="ctr" wrap="square" lIns="54864" rIns="54864" tIns="54864" bIns="54864"/>
          <a:lstStyle/>
          <a:p>
            <a:pPr algn="ctr">
              <a:spcAft>
                <a:spcPts val="0"/>
              </a:spcAft>
            </a:pPr>
            <a:r>
              <a:rPr sz="1500" b="1" i="0">
                <a:solidFill>
                  <a:srgbClr val="FFFFFF"/>
                </a:solidFill>
                <a:latin typeface="Calibri"/>
              </a:rPr>
              <a:t>Environment</a:t>
            </a:r>
          </a:p>
          <a:p>
            <a:pPr algn="ctr">
              <a:spcAft>
                <a:spcPts val="0"/>
              </a:spcAft>
            </a:pPr>
            <a:r>
              <a:rPr sz="1200" b="0" i="0">
                <a:solidFill>
                  <a:srgbClr val="FFFFFF"/>
                </a:solidFill>
                <a:latin typeface="Calibri"/>
              </a:rPr>
              <a:t>road network,</a:t>
            </a:r>
          </a:p>
          <a:p>
            <a:pPr algn="ctr">
              <a:spcAft>
                <a:spcPts val="0"/>
              </a:spcAft>
            </a:pPr>
            <a:r>
              <a:rPr sz="1200" b="0" i="0">
                <a:solidFill>
                  <a:srgbClr val="FFFFFF"/>
                </a:solidFill>
                <a:latin typeface="Calibri"/>
              </a:rPr>
              <a:t>hazard map</a:t>
            </a:r>
          </a:p>
        </p:txBody>
      </p:sp>
      <p:cxnSp>
        <p:nvCxnSpPr>
          <p:cNvPr id="18" name="Connector 17"/>
          <p:cNvCxnSpPr/>
          <p:nvPr/>
        </p:nvCxnSpPr>
        <p:spPr>
          <a:xfrm flipV="1">
            <a:off x="1325880" y="3840480"/>
            <a:ext cx="0" cy="274320"/>
          </a:xfrm>
          <a:prstGeom prst="line">
            <a:avLst/>
          </a:prstGeom>
          <a:ln w="22225">
            <a:solidFill>
              <a:srgbClr val="1F497D"/>
            </a:solidFill>
          </a:ln>
        </p:spPr>
      </p:cxnSp>
      <p:cxnSp>
        <p:nvCxnSpPr>
          <p:cNvPr id="19" name="Connector 18"/>
          <p:cNvCxnSpPr/>
          <p:nvPr/>
        </p:nvCxnSpPr>
        <p:spPr>
          <a:xfrm>
            <a:off x="1325880" y="3840480"/>
            <a:ext cx="2651759" cy="0"/>
          </a:xfrm>
          <a:prstGeom prst="line">
            <a:avLst/>
          </a:prstGeom>
          <a:ln w="22225">
            <a:solidFill>
              <a:srgbClr val="1F497D"/>
            </a:solidFill>
          </a:ln>
        </p:spPr>
      </p:cxnSp>
      <p:cxnSp>
        <p:nvCxnSpPr>
          <p:cNvPr id="20" name="Connector 19"/>
          <p:cNvCxnSpPr/>
          <p:nvPr/>
        </p:nvCxnSpPr>
        <p:spPr>
          <a:xfrm>
            <a:off x="3977639" y="3840480"/>
            <a:ext cx="0" cy="274320"/>
          </a:xfrm>
          <a:prstGeom prst="line">
            <a:avLst/>
          </a:prstGeom>
          <a:ln w="22225">
            <a:solidFill>
              <a:srgbClr val="1F497D"/>
            </a:solidFill>
            <a:tailEnd type="triangle" w="med" len="med"/>
          </a:ln>
        </p:spPr>
      </p:cxnSp>
      <p:sp>
        <p:nvSpPr>
          <p:cNvPr id="21" name="TextBox 20"/>
          <p:cNvSpPr txBox="1"/>
          <p:nvPr/>
        </p:nvSpPr>
        <p:spPr>
          <a:xfrm>
            <a:off x="1463040" y="3813048"/>
            <a:ext cx="2377440" cy="274320"/>
          </a:xfrm>
          <a:prstGeom prst="rect">
            <a:avLst/>
          </a:prstGeom>
          <a:noFill/>
        </p:spPr>
        <p:txBody>
          <a:bodyPr wrap="square" anchor="b" lIns="36576" rIns="36576" tIns="36576" bIns="36576"/>
          <a:lstStyle/>
          <a:p>
            <a:pPr algn="ctr">
              <a:spcAft>
                <a:spcPts val="400"/>
              </a:spcAft>
            </a:pPr>
            <a:r>
              <a:rPr sz="1200" b="0" i="0">
                <a:solidFill>
                  <a:srgbClr val="1F497D"/>
                </a:solidFill>
                <a:latin typeface="Calibri"/>
              </a:rPr>
              <a:t>action: choose next road</a:t>
            </a:r>
          </a:p>
        </p:txBody>
      </p:sp>
      <p:cxnSp>
        <p:nvCxnSpPr>
          <p:cNvPr id="22" name="Connector 21"/>
          <p:cNvCxnSpPr/>
          <p:nvPr/>
        </p:nvCxnSpPr>
        <p:spPr>
          <a:xfrm>
            <a:off x="3977639" y="5303520"/>
            <a:ext cx="0" cy="320040"/>
          </a:xfrm>
          <a:prstGeom prst="line">
            <a:avLst/>
          </a:prstGeom>
          <a:ln w="22225">
            <a:solidFill>
              <a:srgbClr val="76923C"/>
            </a:solidFill>
          </a:ln>
        </p:spPr>
      </p:cxnSp>
      <p:cxnSp>
        <p:nvCxnSpPr>
          <p:cNvPr id="23" name="Connector 22"/>
          <p:cNvCxnSpPr/>
          <p:nvPr/>
        </p:nvCxnSpPr>
        <p:spPr>
          <a:xfrm flipH="1">
            <a:off x="1325880" y="5623560"/>
            <a:ext cx="2651759" cy="0"/>
          </a:xfrm>
          <a:prstGeom prst="line">
            <a:avLst/>
          </a:prstGeom>
          <a:ln w="22225">
            <a:solidFill>
              <a:srgbClr val="76923C"/>
            </a:solidFill>
          </a:ln>
        </p:spPr>
      </p:cxnSp>
      <p:cxnSp>
        <p:nvCxnSpPr>
          <p:cNvPr id="24" name="Connector 23"/>
          <p:cNvCxnSpPr/>
          <p:nvPr/>
        </p:nvCxnSpPr>
        <p:spPr>
          <a:xfrm flipV="1">
            <a:off x="1325880" y="5303520"/>
            <a:ext cx="0" cy="320040"/>
          </a:xfrm>
          <a:prstGeom prst="line">
            <a:avLst/>
          </a:prstGeom>
          <a:ln w="22225">
            <a:solidFill>
              <a:srgbClr val="76923C"/>
            </a:solidFill>
            <a:tailEnd type="triangle" w="med" len="med"/>
          </a:ln>
        </p:spPr>
      </p:cxnSp>
      <p:sp>
        <p:nvSpPr>
          <p:cNvPr id="25" name="TextBox 24"/>
          <p:cNvSpPr txBox="1"/>
          <p:nvPr/>
        </p:nvSpPr>
        <p:spPr>
          <a:xfrm>
            <a:off x="1188720" y="5669280"/>
            <a:ext cx="2926080" cy="502920"/>
          </a:xfrm>
          <a:prstGeom prst="rect">
            <a:avLst/>
          </a:prstGeom>
          <a:noFill/>
        </p:spPr>
        <p:txBody>
          <a:bodyPr wrap="square" anchor="t" lIns="36576" rIns="36576" tIns="36576" bIns="36576"/>
          <a:lstStyle/>
          <a:p>
            <a:pPr algn="ctr">
              <a:spcAft>
                <a:spcPts val="0"/>
              </a:spcAft>
            </a:pPr>
            <a:r>
              <a:rPr sz="1200" b="1" i="0">
                <a:solidFill>
                  <a:srgbClr val="76923C"/>
                </a:solidFill>
                <a:latin typeface="Calibri"/>
              </a:rPr>
              <a:t>state: </a:t>
            </a:r>
            <a:r>
              <a:rPr sz="1200" b="0" i="0">
                <a:solidFill>
                  <a:srgbClr val="76923C"/>
                </a:solidFill>
                <a:latin typeface="Calibri"/>
              </a:rPr>
              <a:t>location, congestion, hazard</a:t>
            </a:r>
          </a:p>
          <a:p>
            <a:pPr algn="ctr">
              <a:spcAft>
                <a:spcPts val="0"/>
              </a:spcAft>
            </a:pPr>
            <a:r>
              <a:rPr sz="1200" b="1" i="0">
                <a:solidFill>
                  <a:srgbClr val="76923C"/>
                </a:solidFill>
                <a:latin typeface="Calibri"/>
              </a:rPr>
              <a:t>reward: </a:t>
            </a:r>
            <a:r>
              <a:rPr sz="1200" b="0" i="0">
                <a:solidFill>
                  <a:srgbClr val="76923C"/>
                </a:solidFill>
                <a:latin typeface="Calibri"/>
              </a:rPr>
              <a:t>+ safety, − travel time</a:t>
            </a:r>
          </a:p>
        </p:txBody>
      </p:sp>
      <p:sp>
        <p:nvSpPr>
          <p:cNvPr id="26" name="Rounded Rectangle 25"/>
          <p:cNvSpPr/>
          <p:nvPr/>
        </p:nvSpPr>
        <p:spPr>
          <a:xfrm>
            <a:off x="5120640" y="3794760"/>
            <a:ext cx="3657600" cy="2377440"/>
          </a:xfrm>
          <a:prstGeom prst="roundRect">
            <a:avLst>
              <a:gd name="adj" fmla="val 2307"/>
            </a:avLst>
          </a:prstGeom>
          <a:solidFill>
            <a:srgbClr val="F2F2F2"/>
          </a:solidFill>
          <a:ln w="9525">
            <a:solidFill>
              <a:srgbClr val="BFBFBF"/>
            </a:solidFill>
          </a:ln>
        </p:spPr>
        <p:txBody>
          <a:bodyPr rtlCol="0" anchor="ctr" wrap="square" lIns="54864" rIns="54864" tIns="54864" bIns="54864"/>
          <a:lstStyle/>
          <a:p>
            <a:pPr algn="ctr"/>
          </a:p>
        </p:txBody>
      </p:sp>
      <p:sp>
        <p:nvSpPr>
          <p:cNvPr id="27" name="TextBox 26"/>
          <p:cNvSpPr txBox="1"/>
          <p:nvPr/>
        </p:nvSpPr>
        <p:spPr>
          <a:xfrm>
            <a:off x="5230368" y="3867912"/>
            <a:ext cx="3438144" cy="292608"/>
          </a:xfrm>
          <a:prstGeom prst="rect">
            <a:avLst/>
          </a:prstGeom>
          <a:noFill/>
        </p:spPr>
        <p:txBody>
          <a:bodyPr wrap="square" anchor="t" lIns="36576" rIns="36576" tIns="36576" bIns="36576"/>
          <a:lstStyle/>
          <a:p>
            <a:pPr algn="l">
              <a:spcAft>
                <a:spcPts val="400"/>
              </a:spcAft>
            </a:pPr>
            <a:r>
              <a:rPr sz="1300" b="1" i="0">
                <a:solidFill>
                  <a:srgbClr val="1F497D"/>
                </a:solidFill>
                <a:latin typeface="Calibri"/>
              </a:rPr>
              <a:t>Pseudocode</a:t>
            </a:r>
          </a:p>
        </p:txBody>
      </p:sp>
      <p:sp>
        <p:nvSpPr>
          <p:cNvPr id="28" name="TextBox 27"/>
          <p:cNvSpPr txBox="1"/>
          <p:nvPr/>
        </p:nvSpPr>
        <p:spPr>
          <a:xfrm>
            <a:off x="5212079" y="4197096"/>
            <a:ext cx="3474720" cy="1929384"/>
          </a:xfrm>
          <a:prstGeom prst="rect">
            <a:avLst/>
          </a:prstGeom>
          <a:noFill/>
        </p:spPr>
        <p:txBody>
          <a:bodyPr wrap="square" anchor="t" lIns="36576" rIns="36576" tIns="36576" bIns="36576"/>
          <a:lstStyle/>
          <a:p>
            <a:pPr algn="l">
              <a:spcAft>
                <a:spcPts val="100"/>
              </a:spcAft>
            </a:pPr>
            <a:r>
              <a:rPr sz="1200" b="0" i="0">
                <a:solidFill>
                  <a:srgbClr val="7F7F7F"/>
                </a:solidFill>
                <a:latin typeface="Courier New"/>
              </a:rPr>
              <a:t> 1  </a:t>
            </a:r>
            <a:r>
              <a:rPr sz="1200" b="0" i="0">
                <a:solidFill>
                  <a:srgbClr val="262626"/>
                </a:solidFill>
                <a:latin typeface="Courier New"/>
              </a:rPr>
              <a:t>Input: road graph G, hazard map H</a:t>
            </a:r>
          </a:p>
          <a:p>
            <a:pPr algn="l">
              <a:spcAft>
                <a:spcPts val="100"/>
              </a:spcAft>
            </a:pPr>
            <a:r>
              <a:rPr sz="1200" b="0" i="0">
                <a:solidFill>
                  <a:srgbClr val="7F7F7F"/>
                </a:solidFill>
                <a:latin typeface="Courier New"/>
              </a:rPr>
              <a:t> 2  </a:t>
            </a:r>
            <a:r>
              <a:rPr sz="1200" b="0" i="0">
                <a:solidFill>
                  <a:srgbClr val="262626"/>
                </a:solidFill>
                <a:latin typeface="Courier New"/>
              </a:rPr>
              <a:t>s ← (loc, congestion, hazard)</a:t>
            </a:r>
          </a:p>
          <a:p>
            <a:pPr algn="l">
              <a:spcAft>
                <a:spcPts val="100"/>
              </a:spcAft>
            </a:pPr>
            <a:r>
              <a:rPr sz="1200" b="0" i="0">
                <a:solidFill>
                  <a:srgbClr val="7F7F7F"/>
                </a:solidFill>
                <a:latin typeface="Courier New"/>
              </a:rPr>
              <a:t> 3  </a:t>
            </a:r>
            <a:r>
              <a:rPr sz="1200" b="0" i="0">
                <a:solidFill>
                  <a:srgbClr val="262626"/>
                </a:solidFill>
                <a:latin typeface="Courier New"/>
              </a:rPr>
              <a:t>a ← π(s)        # next road</a:t>
            </a:r>
          </a:p>
          <a:p>
            <a:pPr algn="l">
              <a:spcAft>
                <a:spcPts val="100"/>
              </a:spcAft>
            </a:pPr>
            <a:r>
              <a:rPr sz="1200" b="0" i="0">
                <a:solidFill>
                  <a:srgbClr val="7F7F7F"/>
                </a:solidFill>
                <a:latin typeface="Courier New"/>
              </a:rPr>
              <a:t> 4  </a:t>
            </a:r>
            <a:r>
              <a:rPr sz="1200" b="0" i="0">
                <a:solidFill>
                  <a:srgbClr val="262626"/>
                </a:solidFill>
                <a:latin typeface="Courier New"/>
              </a:rPr>
              <a:t>r ← R(safety, time)</a:t>
            </a:r>
          </a:p>
          <a:p>
            <a:pPr algn="l">
              <a:spcAft>
                <a:spcPts val="100"/>
              </a:spcAft>
            </a:pPr>
            <a:r>
              <a:rPr sz="1200" b="0" i="0">
                <a:solidFill>
                  <a:srgbClr val="7F7F7F"/>
                </a:solidFill>
                <a:latin typeface="Courier New"/>
              </a:rPr>
              <a:t> 5  </a:t>
            </a:r>
            <a:r>
              <a:rPr sz="1200" b="0" i="0">
                <a:solidFill>
                  <a:srgbClr val="262626"/>
                </a:solidFill>
                <a:latin typeface="Courier New"/>
              </a:rPr>
              <a:t>update π with PPO / DQN</a:t>
            </a:r>
          </a:p>
          <a:p>
            <a:pPr algn="l">
              <a:spcAft>
                <a:spcPts val="100"/>
              </a:spcAft>
            </a:pPr>
            <a:r>
              <a:rPr sz="1200" b="0" i="0">
                <a:solidFill>
                  <a:srgbClr val="7F7F7F"/>
                </a:solidFill>
                <a:latin typeface="Courier New"/>
              </a:rPr>
              <a:t> 6  </a:t>
            </a:r>
            <a:r>
              <a:rPr sz="1200" b="0" i="0">
                <a:solidFill>
                  <a:srgbClr val="262626"/>
                </a:solidFill>
                <a:latin typeface="Courier New"/>
              </a:rPr>
              <a:t>return optimal evacuation route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2600">
                <a:solidFill>
                  <a:srgbClr val="000000"/>
                </a:solidFill>
                <a:latin typeface="Times New Roman"/>
              </a:rPr>
              <a:t>Features / Advantages / Disadvantages</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Rounded Rectangle 5"/>
          <p:cNvSpPr/>
          <p:nvPr/>
        </p:nvSpPr>
        <p:spPr>
          <a:xfrm>
            <a:off x="457200" y="1234440"/>
            <a:ext cx="2606040" cy="493776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7" name="Rounded Rectangle 6"/>
          <p:cNvSpPr/>
          <p:nvPr/>
        </p:nvSpPr>
        <p:spPr>
          <a:xfrm>
            <a:off x="457200" y="1234440"/>
            <a:ext cx="2606040" cy="566928"/>
          </a:xfrm>
          <a:prstGeom prst="roundRect">
            <a:avLst>
              <a:gd name="adj" fmla="val 12903"/>
            </a:avLst>
          </a:prstGeom>
          <a:solidFill>
            <a:srgbClr val="1F497D"/>
          </a:solidFill>
          <a:ln>
            <a:noFill/>
          </a:ln>
        </p:spPr>
        <p:txBody>
          <a:bodyPr rtlCol="0" anchor="ctr" wrap="square" lIns="109728" rIns="109728" tIns="109728" bIns="109728"/>
          <a:lstStyle/>
          <a:p>
            <a:pPr algn="l">
              <a:spcAft>
                <a:spcPts val="0"/>
              </a:spcAft>
            </a:pPr>
            <a:r>
              <a:rPr sz="1700" b="1" i="0">
                <a:solidFill>
                  <a:srgbClr val="FFFFFF"/>
                </a:solidFill>
                <a:latin typeface="Calibri"/>
              </a:rPr>
              <a:t>Features</a:t>
            </a:r>
          </a:p>
        </p:txBody>
      </p:sp>
      <p:pic>
        <p:nvPicPr>
          <p:cNvPr id="8" name="Picture 7" descr="star_w.png"/>
          <p:cNvPicPr>
            <a:picLocks noChangeAspect="1"/>
          </p:cNvPicPr>
          <p:nvPr/>
        </p:nvPicPr>
        <p:blipFill>
          <a:blip r:embed="rId3"/>
          <a:stretch>
            <a:fillRect/>
          </a:stretch>
        </p:blipFill>
        <p:spPr>
          <a:xfrm>
            <a:off x="2587752" y="1335024"/>
            <a:ext cx="365760" cy="365760"/>
          </a:xfrm>
          <a:prstGeom prst="rect">
            <a:avLst/>
          </a:prstGeom>
        </p:spPr>
      </p:pic>
      <p:sp>
        <p:nvSpPr>
          <p:cNvPr id="9" name="Rounded Rectangle 8"/>
          <p:cNvSpPr/>
          <p:nvPr/>
        </p:nvSpPr>
        <p:spPr>
          <a:xfrm>
            <a:off x="566928" y="1965960"/>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10" name="TextBox 9"/>
          <p:cNvSpPr txBox="1"/>
          <p:nvPr/>
        </p:nvSpPr>
        <p:spPr>
          <a:xfrm>
            <a:off x="658368" y="1993392"/>
            <a:ext cx="2203704" cy="731520"/>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Data fusion</a:t>
            </a:r>
          </a:p>
          <a:p>
            <a:pPr algn="l">
              <a:spcAft>
                <a:spcPts val="0"/>
              </a:spcAft>
            </a:pPr>
            <a:r>
              <a:rPr sz="1200" b="0" i="0">
                <a:solidFill>
                  <a:srgbClr val="262626"/>
                </a:solidFill>
                <a:latin typeface="Calibri"/>
              </a:rPr>
              <a:t>satellite, sensor and text data</a:t>
            </a:r>
          </a:p>
        </p:txBody>
      </p:sp>
      <p:sp>
        <p:nvSpPr>
          <p:cNvPr id="11" name="Rounded Rectangle 10"/>
          <p:cNvSpPr/>
          <p:nvPr/>
        </p:nvSpPr>
        <p:spPr>
          <a:xfrm>
            <a:off x="566928" y="2825496"/>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12" name="TextBox 11"/>
          <p:cNvSpPr txBox="1"/>
          <p:nvPr/>
        </p:nvSpPr>
        <p:spPr>
          <a:xfrm>
            <a:off x="658368" y="2852928"/>
            <a:ext cx="2203704" cy="731520"/>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Real-time</a:t>
            </a:r>
          </a:p>
          <a:p>
            <a:pPr algn="l">
              <a:spcAft>
                <a:spcPts val="0"/>
              </a:spcAft>
            </a:pPr>
            <a:r>
              <a:rPr sz="1200" b="0" i="0">
                <a:solidFill>
                  <a:srgbClr val="262626"/>
                </a:solidFill>
                <a:latin typeface="Calibri"/>
              </a:rPr>
              <a:t>continuous monitoring</a:t>
            </a:r>
          </a:p>
        </p:txBody>
      </p:sp>
      <p:sp>
        <p:nvSpPr>
          <p:cNvPr id="13" name="Rounded Rectangle 12"/>
          <p:cNvSpPr/>
          <p:nvPr/>
        </p:nvSpPr>
        <p:spPr>
          <a:xfrm>
            <a:off x="566928" y="3685032"/>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14" name="TextBox 13"/>
          <p:cNvSpPr txBox="1"/>
          <p:nvPr/>
        </p:nvSpPr>
        <p:spPr>
          <a:xfrm>
            <a:off x="658368" y="3712464"/>
            <a:ext cx="2203704" cy="731520"/>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Prediction</a:t>
            </a:r>
          </a:p>
          <a:p>
            <a:pPr algn="l">
              <a:spcAft>
                <a:spcPts val="0"/>
              </a:spcAft>
            </a:pPr>
            <a:r>
              <a:rPr sz="1200" b="0" i="0">
                <a:solidFill>
                  <a:srgbClr val="262626"/>
                </a:solidFill>
                <a:latin typeface="Calibri"/>
              </a:rPr>
              <a:t>forecasts risk in advance</a:t>
            </a:r>
          </a:p>
        </p:txBody>
      </p:sp>
      <p:sp>
        <p:nvSpPr>
          <p:cNvPr id="15" name="Rounded Rectangle 14"/>
          <p:cNvSpPr/>
          <p:nvPr/>
        </p:nvSpPr>
        <p:spPr>
          <a:xfrm>
            <a:off x="566928" y="4544568"/>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16" name="TextBox 15"/>
          <p:cNvSpPr txBox="1"/>
          <p:nvPr/>
        </p:nvSpPr>
        <p:spPr>
          <a:xfrm>
            <a:off x="658368" y="4572000"/>
            <a:ext cx="2203704" cy="731520"/>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Auto mapping</a:t>
            </a:r>
          </a:p>
          <a:p>
            <a:pPr algn="l">
              <a:spcAft>
                <a:spcPts val="0"/>
              </a:spcAft>
            </a:pPr>
            <a:r>
              <a:rPr sz="1200" b="0" i="0">
                <a:solidFill>
                  <a:srgbClr val="262626"/>
                </a:solidFill>
                <a:latin typeface="Calibri"/>
              </a:rPr>
              <a:t>damage maps from imagery</a:t>
            </a:r>
          </a:p>
        </p:txBody>
      </p:sp>
      <p:sp>
        <p:nvSpPr>
          <p:cNvPr id="17" name="Rounded Rectangle 16"/>
          <p:cNvSpPr/>
          <p:nvPr/>
        </p:nvSpPr>
        <p:spPr>
          <a:xfrm>
            <a:off x="566928" y="5404104"/>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18" name="TextBox 17"/>
          <p:cNvSpPr txBox="1"/>
          <p:nvPr/>
        </p:nvSpPr>
        <p:spPr>
          <a:xfrm>
            <a:off x="658368" y="5431536"/>
            <a:ext cx="2203704" cy="731520"/>
          </a:xfrm>
          <a:prstGeom prst="rect">
            <a:avLst/>
          </a:prstGeom>
          <a:noFill/>
        </p:spPr>
        <p:txBody>
          <a:bodyPr wrap="square" anchor="ctr" lIns="36576" rIns="36576" tIns="36576" bIns="36576"/>
          <a:lstStyle/>
          <a:p>
            <a:pPr algn="l">
              <a:spcAft>
                <a:spcPts val="0"/>
              </a:spcAft>
            </a:pPr>
            <a:r>
              <a:rPr sz="1400" b="1" i="0">
                <a:solidFill>
                  <a:srgbClr val="1F497D"/>
                </a:solidFill>
                <a:latin typeface="Calibri"/>
              </a:rPr>
              <a:t>Decision support</a:t>
            </a:r>
          </a:p>
          <a:p>
            <a:pPr algn="l">
              <a:spcAft>
                <a:spcPts val="0"/>
              </a:spcAft>
            </a:pPr>
            <a:r>
              <a:rPr sz="1200" b="0" i="0">
                <a:solidFill>
                  <a:srgbClr val="262626"/>
                </a:solidFill>
                <a:latin typeface="Calibri"/>
              </a:rPr>
              <a:t>routes, resources, reports</a:t>
            </a:r>
          </a:p>
        </p:txBody>
      </p:sp>
      <p:sp>
        <p:nvSpPr>
          <p:cNvPr id="19" name="Rounded Rectangle 18"/>
          <p:cNvSpPr/>
          <p:nvPr/>
        </p:nvSpPr>
        <p:spPr>
          <a:xfrm>
            <a:off x="3268980" y="1234440"/>
            <a:ext cx="2606040" cy="493776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20" name="Rounded Rectangle 19"/>
          <p:cNvSpPr/>
          <p:nvPr/>
        </p:nvSpPr>
        <p:spPr>
          <a:xfrm>
            <a:off x="3268980" y="1234440"/>
            <a:ext cx="2606040" cy="566928"/>
          </a:xfrm>
          <a:prstGeom prst="roundRect">
            <a:avLst>
              <a:gd name="adj" fmla="val 12903"/>
            </a:avLst>
          </a:prstGeom>
          <a:solidFill>
            <a:srgbClr val="76923C"/>
          </a:solidFill>
          <a:ln>
            <a:noFill/>
          </a:ln>
        </p:spPr>
        <p:txBody>
          <a:bodyPr rtlCol="0" anchor="ctr" wrap="square" lIns="109728" rIns="109728" tIns="109728" bIns="109728"/>
          <a:lstStyle/>
          <a:p>
            <a:pPr algn="l">
              <a:spcAft>
                <a:spcPts val="0"/>
              </a:spcAft>
            </a:pPr>
            <a:r>
              <a:rPr sz="1700" b="1" i="0">
                <a:solidFill>
                  <a:srgbClr val="FFFFFF"/>
                </a:solidFill>
                <a:latin typeface="Calibri"/>
              </a:rPr>
              <a:t>Advantages</a:t>
            </a:r>
          </a:p>
        </p:txBody>
      </p:sp>
      <p:pic>
        <p:nvPicPr>
          <p:cNvPr id="21" name="Picture 20" descr="check_w.png"/>
          <p:cNvPicPr>
            <a:picLocks noChangeAspect="1"/>
          </p:cNvPicPr>
          <p:nvPr/>
        </p:nvPicPr>
        <p:blipFill>
          <a:blip r:embed="rId4"/>
          <a:stretch>
            <a:fillRect/>
          </a:stretch>
        </p:blipFill>
        <p:spPr>
          <a:xfrm>
            <a:off x="5399532" y="1335024"/>
            <a:ext cx="365760" cy="365760"/>
          </a:xfrm>
          <a:prstGeom prst="rect">
            <a:avLst/>
          </a:prstGeom>
        </p:spPr>
      </p:pic>
      <p:sp>
        <p:nvSpPr>
          <p:cNvPr id="22" name="Rounded Rectangle 21"/>
          <p:cNvSpPr/>
          <p:nvPr/>
        </p:nvSpPr>
        <p:spPr>
          <a:xfrm>
            <a:off x="3378708" y="1965960"/>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23" name="TextBox 22"/>
          <p:cNvSpPr txBox="1"/>
          <p:nvPr/>
        </p:nvSpPr>
        <p:spPr>
          <a:xfrm>
            <a:off x="3470148" y="1993392"/>
            <a:ext cx="2203704" cy="731520"/>
          </a:xfrm>
          <a:prstGeom prst="rect">
            <a:avLst/>
          </a:prstGeom>
          <a:noFill/>
        </p:spPr>
        <p:txBody>
          <a:bodyPr wrap="square" anchor="ctr" lIns="36576" rIns="36576" tIns="36576" bIns="36576"/>
          <a:lstStyle/>
          <a:p>
            <a:pPr algn="l">
              <a:spcAft>
                <a:spcPts val="0"/>
              </a:spcAft>
            </a:pPr>
            <a:r>
              <a:rPr sz="1400" b="1" i="0">
                <a:solidFill>
                  <a:srgbClr val="76923C"/>
                </a:solidFill>
                <a:latin typeface="Calibri"/>
              </a:rPr>
              <a:t>Earlier warnings</a:t>
            </a:r>
          </a:p>
          <a:p>
            <a:pPr algn="l">
              <a:spcAft>
                <a:spcPts val="0"/>
              </a:spcAft>
            </a:pPr>
            <a:r>
              <a:rPr sz="1200" b="0" i="0">
                <a:solidFill>
                  <a:srgbClr val="262626"/>
                </a:solidFill>
                <a:latin typeface="Calibri"/>
              </a:rPr>
              <a:t>more lead time to evacuate</a:t>
            </a:r>
          </a:p>
        </p:txBody>
      </p:sp>
      <p:sp>
        <p:nvSpPr>
          <p:cNvPr id="24" name="Rounded Rectangle 23"/>
          <p:cNvSpPr/>
          <p:nvPr/>
        </p:nvSpPr>
        <p:spPr>
          <a:xfrm>
            <a:off x="3378708" y="2825496"/>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25" name="TextBox 24"/>
          <p:cNvSpPr txBox="1"/>
          <p:nvPr/>
        </p:nvSpPr>
        <p:spPr>
          <a:xfrm>
            <a:off x="3470148" y="2852928"/>
            <a:ext cx="2203704" cy="731520"/>
          </a:xfrm>
          <a:prstGeom prst="rect">
            <a:avLst/>
          </a:prstGeom>
          <a:noFill/>
        </p:spPr>
        <p:txBody>
          <a:bodyPr wrap="square" anchor="ctr" lIns="36576" rIns="36576" tIns="36576" bIns="36576"/>
          <a:lstStyle/>
          <a:p>
            <a:pPr algn="l">
              <a:spcAft>
                <a:spcPts val="0"/>
              </a:spcAft>
            </a:pPr>
            <a:r>
              <a:rPr sz="1400" b="1" i="0">
                <a:solidFill>
                  <a:srgbClr val="76923C"/>
                </a:solidFill>
                <a:latin typeface="Calibri"/>
              </a:rPr>
              <a:t>Faster assessment</a:t>
            </a:r>
          </a:p>
          <a:p>
            <a:pPr algn="l">
              <a:spcAft>
                <a:spcPts val="0"/>
              </a:spcAft>
            </a:pPr>
            <a:r>
              <a:rPr sz="1200" b="0" i="0">
                <a:solidFill>
                  <a:srgbClr val="262626"/>
                </a:solidFill>
                <a:latin typeface="Calibri"/>
              </a:rPr>
              <a:t>quicker than ground surveys</a:t>
            </a:r>
          </a:p>
        </p:txBody>
      </p:sp>
      <p:sp>
        <p:nvSpPr>
          <p:cNvPr id="26" name="Rounded Rectangle 25"/>
          <p:cNvSpPr/>
          <p:nvPr/>
        </p:nvSpPr>
        <p:spPr>
          <a:xfrm>
            <a:off x="3378708" y="3685032"/>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27" name="TextBox 26"/>
          <p:cNvSpPr txBox="1"/>
          <p:nvPr/>
        </p:nvSpPr>
        <p:spPr>
          <a:xfrm>
            <a:off x="3470148" y="3712464"/>
            <a:ext cx="2203704" cy="731520"/>
          </a:xfrm>
          <a:prstGeom prst="rect">
            <a:avLst/>
          </a:prstGeom>
          <a:noFill/>
        </p:spPr>
        <p:txBody>
          <a:bodyPr wrap="square" anchor="ctr" lIns="36576" rIns="36576" tIns="36576" bIns="36576"/>
          <a:lstStyle/>
          <a:p>
            <a:pPr algn="l">
              <a:spcAft>
                <a:spcPts val="0"/>
              </a:spcAft>
            </a:pPr>
            <a:r>
              <a:rPr sz="1400" b="1" i="0">
                <a:solidFill>
                  <a:srgbClr val="76923C"/>
                </a:solidFill>
                <a:latin typeface="Calibri"/>
              </a:rPr>
              <a:t>Better allocation</a:t>
            </a:r>
          </a:p>
          <a:p>
            <a:pPr algn="l">
              <a:spcAft>
                <a:spcPts val="0"/>
              </a:spcAft>
            </a:pPr>
            <a:r>
              <a:rPr sz="1200" b="0" i="0">
                <a:solidFill>
                  <a:srgbClr val="262626"/>
                </a:solidFill>
                <a:latin typeface="Calibri"/>
              </a:rPr>
              <a:t>relief reaches need first</a:t>
            </a:r>
          </a:p>
        </p:txBody>
      </p:sp>
      <p:sp>
        <p:nvSpPr>
          <p:cNvPr id="28" name="Rounded Rectangle 27"/>
          <p:cNvSpPr/>
          <p:nvPr/>
        </p:nvSpPr>
        <p:spPr>
          <a:xfrm>
            <a:off x="3378708" y="4544568"/>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29" name="TextBox 28"/>
          <p:cNvSpPr txBox="1"/>
          <p:nvPr/>
        </p:nvSpPr>
        <p:spPr>
          <a:xfrm>
            <a:off x="3470148" y="4572000"/>
            <a:ext cx="2203704" cy="731520"/>
          </a:xfrm>
          <a:prstGeom prst="rect">
            <a:avLst/>
          </a:prstGeom>
          <a:noFill/>
        </p:spPr>
        <p:txBody>
          <a:bodyPr wrap="square" anchor="ctr" lIns="36576" rIns="36576" tIns="36576" bIns="36576"/>
          <a:lstStyle/>
          <a:p>
            <a:pPr algn="l">
              <a:spcAft>
                <a:spcPts val="0"/>
              </a:spcAft>
            </a:pPr>
            <a:r>
              <a:rPr sz="1400" b="1" i="0">
                <a:solidFill>
                  <a:srgbClr val="76923C"/>
                </a:solidFill>
                <a:latin typeface="Calibri"/>
              </a:rPr>
              <a:t>Wide coverage</a:t>
            </a:r>
          </a:p>
          <a:p>
            <a:pPr algn="l">
              <a:spcAft>
                <a:spcPts val="0"/>
              </a:spcAft>
            </a:pPr>
            <a:r>
              <a:rPr sz="1200" b="0" i="0">
                <a:solidFill>
                  <a:srgbClr val="262626"/>
                </a:solidFill>
                <a:latin typeface="Calibri"/>
              </a:rPr>
              <a:t>large or unreachable areas</a:t>
            </a:r>
          </a:p>
        </p:txBody>
      </p:sp>
      <p:sp>
        <p:nvSpPr>
          <p:cNvPr id="30" name="Rounded Rectangle 29"/>
          <p:cNvSpPr/>
          <p:nvPr/>
        </p:nvSpPr>
        <p:spPr>
          <a:xfrm>
            <a:off x="3378708" y="5404104"/>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31" name="TextBox 30"/>
          <p:cNvSpPr txBox="1"/>
          <p:nvPr/>
        </p:nvSpPr>
        <p:spPr>
          <a:xfrm>
            <a:off x="3470148" y="5431536"/>
            <a:ext cx="2203704" cy="731520"/>
          </a:xfrm>
          <a:prstGeom prst="rect">
            <a:avLst/>
          </a:prstGeom>
          <a:noFill/>
        </p:spPr>
        <p:txBody>
          <a:bodyPr wrap="square" anchor="ctr" lIns="36576" rIns="36576" tIns="36576" bIns="36576"/>
          <a:lstStyle/>
          <a:p>
            <a:pPr algn="l">
              <a:spcAft>
                <a:spcPts val="0"/>
              </a:spcAft>
            </a:pPr>
            <a:r>
              <a:rPr sz="1400" b="1" i="0">
                <a:solidFill>
                  <a:srgbClr val="76923C"/>
                </a:solidFill>
                <a:latin typeface="Calibri"/>
              </a:rPr>
              <a:t>Scalable</a:t>
            </a:r>
          </a:p>
          <a:p>
            <a:pPr algn="l">
              <a:spcAft>
                <a:spcPts val="0"/>
              </a:spcAft>
            </a:pPr>
            <a:r>
              <a:rPr sz="1200" b="0" i="0">
                <a:solidFill>
                  <a:srgbClr val="262626"/>
                </a:solidFill>
                <a:latin typeface="Calibri"/>
              </a:rPr>
              <a:t>works 24×7 at scale</a:t>
            </a:r>
          </a:p>
        </p:txBody>
      </p:sp>
      <p:sp>
        <p:nvSpPr>
          <p:cNvPr id="32" name="Rounded Rectangle 31"/>
          <p:cNvSpPr/>
          <p:nvPr/>
        </p:nvSpPr>
        <p:spPr>
          <a:xfrm>
            <a:off x="6080760" y="1234440"/>
            <a:ext cx="2606040" cy="4937760"/>
          </a:xfrm>
          <a:prstGeom prst="roundRect">
            <a:avLst>
              <a:gd name="adj" fmla="val 2807"/>
            </a:avLst>
          </a:prstGeom>
          <a:solidFill>
            <a:srgbClr val="F2F6FB"/>
          </a:solidFill>
          <a:ln>
            <a:noFill/>
          </a:ln>
        </p:spPr>
        <p:txBody>
          <a:bodyPr rtlCol="0" anchor="ctr" wrap="square" lIns="54864" rIns="54864" tIns="54864" bIns="54864"/>
          <a:lstStyle/>
          <a:p>
            <a:pPr algn="ctr"/>
          </a:p>
        </p:txBody>
      </p:sp>
      <p:sp>
        <p:nvSpPr>
          <p:cNvPr id="33" name="Rounded Rectangle 32"/>
          <p:cNvSpPr/>
          <p:nvPr/>
        </p:nvSpPr>
        <p:spPr>
          <a:xfrm>
            <a:off x="6080760" y="1234440"/>
            <a:ext cx="2606040" cy="566928"/>
          </a:xfrm>
          <a:prstGeom prst="roundRect">
            <a:avLst>
              <a:gd name="adj" fmla="val 12903"/>
            </a:avLst>
          </a:prstGeom>
          <a:solidFill>
            <a:srgbClr val="C0504D"/>
          </a:solidFill>
          <a:ln>
            <a:noFill/>
          </a:ln>
        </p:spPr>
        <p:txBody>
          <a:bodyPr rtlCol="0" anchor="ctr" wrap="square" lIns="109728" rIns="109728" tIns="109728" bIns="109728"/>
          <a:lstStyle/>
          <a:p>
            <a:pPr algn="l">
              <a:spcAft>
                <a:spcPts val="0"/>
              </a:spcAft>
            </a:pPr>
            <a:r>
              <a:rPr sz="1700" b="1" i="0">
                <a:solidFill>
                  <a:srgbClr val="FFFFFF"/>
                </a:solidFill>
                <a:latin typeface="Calibri"/>
              </a:rPr>
              <a:t>Disadvantages</a:t>
            </a:r>
          </a:p>
        </p:txBody>
      </p:sp>
      <p:pic>
        <p:nvPicPr>
          <p:cNvPr id="34" name="Picture 33" descr="warn_w.png"/>
          <p:cNvPicPr>
            <a:picLocks noChangeAspect="1"/>
          </p:cNvPicPr>
          <p:nvPr/>
        </p:nvPicPr>
        <p:blipFill>
          <a:blip r:embed="rId5"/>
          <a:stretch>
            <a:fillRect/>
          </a:stretch>
        </p:blipFill>
        <p:spPr>
          <a:xfrm>
            <a:off x="8211312" y="1335024"/>
            <a:ext cx="365760" cy="365760"/>
          </a:xfrm>
          <a:prstGeom prst="rect">
            <a:avLst/>
          </a:prstGeom>
        </p:spPr>
      </p:pic>
      <p:sp>
        <p:nvSpPr>
          <p:cNvPr id="35" name="Rounded Rectangle 34"/>
          <p:cNvSpPr/>
          <p:nvPr/>
        </p:nvSpPr>
        <p:spPr>
          <a:xfrm>
            <a:off x="6190488" y="1965960"/>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36" name="TextBox 35"/>
          <p:cNvSpPr txBox="1"/>
          <p:nvPr/>
        </p:nvSpPr>
        <p:spPr>
          <a:xfrm>
            <a:off x="6281928" y="1993392"/>
            <a:ext cx="2203704" cy="731520"/>
          </a:xfrm>
          <a:prstGeom prst="rect">
            <a:avLst/>
          </a:prstGeom>
          <a:noFill/>
        </p:spPr>
        <p:txBody>
          <a:bodyPr wrap="square" anchor="ctr" lIns="36576" rIns="36576" tIns="36576" bIns="36576"/>
          <a:lstStyle/>
          <a:p>
            <a:pPr algn="l">
              <a:spcAft>
                <a:spcPts val="0"/>
              </a:spcAft>
            </a:pPr>
            <a:r>
              <a:rPr sz="1400" b="1" i="0">
                <a:solidFill>
                  <a:srgbClr val="C0504D"/>
                </a:solidFill>
                <a:latin typeface="Calibri"/>
              </a:rPr>
              <a:t>Data scarcity</a:t>
            </a:r>
          </a:p>
          <a:p>
            <a:pPr algn="l">
              <a:spcAft>
                <a:spcPts val="0"/>
              </a:spcAft>
            </a:pPr>
            <a:r>
              <a:rPr sz="1200" b="0" i="0">
                <a:solidFill>
                  <a:srgbClr val="262626"/>
                </a:solidFill>
                <a:latin typeface="Calibri"/>
              </a:rPr>
              <a:t>rare events, imbalanced data</a:t>
            </a:r>
          </a:p>
        </p:txBody>
      </p:sp>
      <p:sp>
        <p:nvSpPr>
          <p:cNvPr id="37" name="Rounded Rectangle 36"/>
          <p:cNvSpPr/>
          <p:nvPr/>
        </p:nvSpPr>
        <p:spPr>
          <a:xfrm>
            <a:off x="6190488" y="2825496"/>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38" name="TextBox 37"/>
          <p:cNvSpPr txBox="1"/>
          <p:nvPr/>
        </p:nvSpPr>
        <p:spPr>
          <a:xfrm>
            <a:off x="6281928" y="2852928"/>
            <a:ext cx="2203704" cy="731520"/>
          </a:xfrm>
          <a:prstGeom prst="rect">
            <a:avLst/>
          </a:prstGeom>
          <a:noFill/>
        </p:spPr>
        <p:txBody>
          <a:bodyPr wrap="square" anchor="ctr" lIns="36576" rIns="36576" tIns="36576" bIns="36576"/>
          <a:lstStyle/>
          <a:p>
            <a:pPr algn="l">
              <a:spcAft>
                <a:spcPts val="0"/>
              </a:spcAft>
            </a:pPr>
            <a:r>
              <a:rPr sz="1400" b="1" i="0">
                <a:solidFill>
                  <a:srgbClr val="C0504D"/>
                </a:solidFill>
                <a:latin typeface="Calibri"/>
              </a:rPr>
              <a:t>Generalization</a:t>
            </a:r>
          </a:p>
          <a:p>
            <a:pPr algn="l">
              <a:spcAft>
                <a:spcPts val="0"/>
              </a:spcAft>
            </a:pPr>
            <a:r>
              <a:rPr sz="1200" b="0" i="0">
                <a:solidFill>
                  <a:srgbClr val="262626"/>
                </a:solidFill>
                <a:latin typeface="Calibri"/>
              </a:rPr>
              <a:t>may fail in new regions</a:t>
            </a:r>
          </a:p>
        </p:txBody>
      </p:sp>
      <p:sp>
        <p:nvSpPr>
          <p:cNvPr id="39" name="Rounded Rectangle 38"/>
          <p:cNvSpPr/>
          <p:nvPr/>
        </p:nvSpPr>
        <p:spPr>
          <a:xfrm>
            <a:off x="6190488" y="3685032"/>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40" name="TextBox 39"/>
          <p:cNvSpPr txBox="1"/>
          <p:nvPr/>
        </p:nvSpPr>
        <p:spPr>
          <a:xfrm>
            <a:off x="6281928" y="3712464"/>
            <a:ext cx="2203704" cy="731520"/>
          </a:xfrm>
          <a:prstGeom prst="rect">
            <a:avLst/>
          </a:prstGeom>
          <a:noFill/>
        </p:spPr>
        <p:txBody>
          <a:bodyPr wrap="square" anchor="ctr" lIns="36576" rIns="36576" tIns="36576" bIns="36576"/>
          <a:lstStyle/>
          <a:p>
            <a:pPr algn="l">
              <a:spcAft>
                <a:spcPts val="0"/>
              </a:spcAft>
            </a:pPr>
            <a:r>
              <a:rPr sz="1400" b="1" i="0">
                <a:solidFill>
                  <a:srgbClr val="C0504D"/>
                </a:solidFill>
                <a:latin typeface="Calibri"/>
              </a:rPr>
              <a:t>Black box</a:t>
            </a:r>
          </a:p>
          <a:p>
            <a:pPr algn="l">
              <a:spcAft>
                <a:spcPts val="0"/>
              </a:spcAft>
            </a:pPr>
            <a:r>
              <a:rPr sz="1200" b="0" i="0">
                <a:solidFill>
                  <a:srgbClr val="262626"/>
                </a:solidFill>
                <a:latin typeface="Calibri"/>
              </a:rPr>
              <a:t>low trust without explanation [2]</a:t>
            </a:r>
          </a:p>
        </p:txBody>
      </p:sp>
      <p:sp>
        <p:nvSpPr>
          <p:cNvPr id="41" name="Rounded Rectangle 40"/>
          <p:cNvSpPr/>
          <p:nvPr/>
        </p:nvSpPr>
        <p:spPr>
          <a:xfrm>
            <a:off x="6190488" y="4544568"/>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42" name="TextBox 41"/>
          <p:cNvSpPr txBox="1"/>
          <p:nvPr/>
        </p:nvSpPr>
        <p:spPr>
          <a:xfrm>
            <a:off x="6281928" y="4572000"/>
            <a:ext cx="2203704" cy="731520"/>
          </a:xfrm>
          <a:prstGeom prst="rect">
            <a:avLst/>
          </a:prstGeom>
          <a:noFill/>
        </p:spPr>
        <p:txBody>
          <a:bodyPr wrap="square" anchor="ctr" lIns="36576" rIns="36576" tIns="36576" bIns="36576"/>
          <a:lstStyle/>
          <a:p>
            <a:pPr algn="l">
              <a:spcAft>
                <a:spcPts val="0"/>
              </a:spcAft>
            </a:pPr>
            <a:r>
              <a:rPr sz="1400" b="1" i="0">
                <a:solidFill>
                  <a:srgbClr val="C0504D"/>
                </a:solidFill>
                <a:latin typeface="Calibri"/>
              </a:rPr>
              <a:t>Infrastructure</a:t>
            </a:r>
          </a:p>
          <a:p>
            <a:pPr algn="l">
              <a:spcAft>
                <a:spcPts val="0"/>
              </a:spcAft>
            </a:pPr>
            <a:r>
              <a:rPr sz="1200" b="0" i="0">
                <a:solidFill>
                  <a:srgbClr val="262626"/>
                </a:solidFill>
                <a:latin typeface="Calibri"/>
              </a:rPr>
              <a:t>power/network may fail</a:t>
            </a:r>
          </a:p>
        </p:txBody>
      </p:sp>
      <p:sp>
        <p:nvSpPr>
          <p:cNvPr id="43" name="Rounded Rectangle 42"/>
          <p:cNvSpPr/>
          <p:nvPr/>
        </p:nvSpPr>
        <p:spPr>
          <a:xfrm>
            <a:off x="6190488" y="5404104"/>
            <a:ext cx="2386584" cy="786384"/>
          </a:xfrm>
          <a:prstGeom prst="roundRect">
            <a:avLst>
              <a:gd name="adj" fmla="val 9302"/>
            </a:avLst>
          </a:prstGeom>
          <a:solidFill>
            <a:srgbClr val="FFFFFF"/>
          </a:solidFill>
          <a:ln w="9525">
            <a:solidFill>
              <a:srgbClr val="DCE6F2"/>
            </a:solidFill>
          </a:ln>
        </p:spPr>
        <p:txBody>
          <a:bodyPr rtlCol="0" anchor="ctr" wrap="square" lIns="54864" rIns="54864" tIns="54864" bIns="54864"/>
          <a:lstStyle/>
          <a:p>
            <a:pPr algn="ctr"/>
          </a:p>
        </p:txBody>
      </p:sp>
      <p:sp>
        <p:nvSpPr>
          <p:cNvPr id="44" name="TextBox 43"/>
          <p:cNvSpPr txBox="1"/>
          <p:nvPr/>
        </p:nvSpPr>
        <p:spPr>
          <a:xfrm>
            <a:off x="6281928" y="5431536"/>
            <a:ext cx="2203704" cy="731520"/>
          </a:xfrm>
          <a:prstGeom prst="rect">
            <a:avLst/>
          </a:prstGeom>
          <a:noFill/>
        </p:spPr>
        <p:txBody>
          <a:bodyPr wrap="square" anchor="ctr" lIns="36576" rIns="36576" tIns="36576" bIns="36576"/>
          <a:lstStyle/>
          <a:p>
            <a:pPr algn="l">
              <a:spcAft>
                <a:spcPts val="0"/>
              </a:spcAft>
            </a:pPr>
            <a:r>
              <a:rPr sz="1400" b="1" i="0">
                <a:solidFill>
                  <a:srgbClr val="C0504D"/>
                </a:solidFill>
                <a:latin typeface="Calibri"/>
              </a:rPr>
              <a:t>Misinformation</a:t>
            </a:r>
          </a:p>
          <a:p>
            <a:pPr algn="l">
              <a:spcAft>
                <a:spcPts val="0"/>
              </a:spcAft>
            </a:pPr>
            <a:r>
              <a:rPr sz="1200" b="0" i="0">
                <a:solidFill>
                  <a:srgbClr val="262626"/>
                </a:solidFill>
                <a:latin typeface="Calibri"/>
              </a:rPr>
              <a:t>false posts; privacy risks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Applications</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Rounded Rectangle 5"/>
          <p:cNvSpPr/>
          <p:nvPr/>
        </p:nvSpPr>
        <p:spPr>
          <a:xfrm>
            <a:off x="457200" y="13258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7" name="Oval 6"/>
          <p:cNvSpPr/>
          <p:nvPr/>
        </p:nvSpPr>
        <p:spPr>
          <a:xfrm>
            <a:off x="1394460" y="15087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8" name="Picture 7" descr="water_w.png"/>
          <p:cNvPicPr>
            <a:picLocks noChangeAspect="1"/>
          </p:cNvPicPr>
          <p:nvPr/>
        </p:nvPicPr>
        <p:blipFill>
          <a:blip r:embed="rId3"/>
          <a:stretch>
            <a:fillRect/>
          </a:stretch>
        </p:blipFill>
        <p:spPr>
          <a:xfrm>
            <a:off x="1570024" y="1684324"/>
            <a:ext cx="380390" cy="380390"/>
          </a:xfrm>
          <a:prstGeom prst="rect">
            <a:avLst/>
          </a:prstGeom>
        </p:spPr>
      </p:pic>
      <p:sp>
        <p:nvSpPr>
          <p:cNvPr id="9" name="TextBox 8"/>
          <p:cNvSpPr txBox="1"/>
          <p:nvPr/>
        </p:nvSpPr>
        <p:spPr>
          <a:xfrm>
            <a:off x="566928" y="23317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Flood Forecasting</a:t>
            </a:r>
          </a:p>
        </p:txBody>
      </p:sp>
      <p:sp>
        <p:nvSpPr>
          <p:cNvPr id="10" name="TextBox 9"/>
          <p:cNvSpPr txBox="1"/>
          <p:nvPr/>
        </p:nvSpPr>
        <p:spPr>
          <a:xfrm>
            <a:off x="594360" y="27157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River-level and rainfall prediction for early warnings [4].</a:t>
            </a:r>
          </a:p>
        </p:txBody>
      </p:sp>
      <p:sp>
        <p:nvSpPr>
          <p:cNvPr id="11" name="Rounded Rectangle 10"/>
          <p:cNvSpPr/>
          <p:nvPr/>
        </p:nvSpPr>
        <p:spPr>
          <a:xfrm>
            <a:off x="3268980" y="13258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12" name="Oval 11"/>
          <p:cNvSpPr/>
          <p:nvPr/>
        </p:nvSpPr>
        <p:spPr>
          <a:xfrm>
            <a:off x="4206240" y="15087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13" name="Picture 12" descr="fire_w.png"/>
          <p:cNvPicPr>
            <a:picLocks noChangeAspect="1"/>
          </p:cNvPicPr>
          <p:nvPr/>
        </p:nvPicPr>
        <p:blipFill>
          <a:blip r:embed="rId4"/>
          <a:stretch>
            <a:fillRect/>
          </a:stretch>
        </p:blipFill>
        <p:spPr>
          <a:xfrm>
            <a:off x="4381804" y="1684324"/>
            <a:ext cx="380390" cy="380390"/>
          </a:xfrm>
          <a:prstGeom prst="rect">
            <a:avLst/>
          </a:prstGeom>
        </p:spPr>
      </p:pic>
      <p:sp>
        <p:nvSpPr>
          <p:cNvPr id="14" name="TextBox 13"/>
          <p:cNvSpPr txBox="1"/>
          <p:nvPr/>
        </p:nvSpPr>
        <p:spPr>
          <a:xfrm>
            <a:off x="3378708" y="23317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Wildfire Detection</a:t>
            </a:r>
          </a:p>
        </p:txBody>
      </p:sp>
      <p:sp>
        <p:nvSpPr>
          <p:cNvPr id="15" name="TextBox 14"/>
          <p:cNvSpPr txBox="1"/>
          <p:nvPr/>
        </p:nvSpPr>
        <p:spPr>
          <a:xfrm>
            <a:off x="3406140" y="27157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AIoT sensors and cameras detect fires early [5].</a:t>
            </a:r>
          </a:p>
        </p:txBody>
      </p:sp>
      <p:sp>
        <p:nvSpPr>
          <p:cNvPr id="16" name="Rounded Rectangle 15"/>
          <p:cNvSpPr/>
          <p:nvPr/>
        </p:nvSpPr>
        <p:spPr>
          <a:xfrm>
            <a:off x="6080760" y="13258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17" name="Oval 16"/>
          <p:cNvSpPr/>
          <p:nvPr/>
        </p:nvSpPr>
        <p:spPr>
          <a:xfrm>
            <a:off x="7018020" y="15087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18" name="Picture 17" descr="quake_w.png"/>
          <p:cNvPicPr>
            <a:picLocks noChangeAspect="1"/>
          </p:cNvPicPr>
          <p:nvPr/>
        </p:nvPicPr>
        <p:blipFill>
          <a:blip r:embed="rId5"/>
          <a:stretch>
            <a:fillRect/>
          </a:stretch>
        </p:blipFill>
        <p:spPr>
          <a:xfrm>
            <a:off x="7193584" y="1684324"/>
            <a:ext cx="380390" cy="380390"/>
          </a:xfrm>
          <a:prstGeom prst="rect">
            <a:avLst/>
          </a:prstGeom>
        </p:spPr>
      </p:pic>
      <p:sp>
        <p:nvSpPr>
          <p:cNvPr id="19" name="TextBox 18"/>
          <p:cNvSpPr txBox="1"/>
          <p:nvPr/>
        </p:nvSpPr>
        <p:spPr>
          <a:xfrm>
            <a:off x="6190488" y="23317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Earthquake Damage</a:t>
            </a:r>
          </a:p>
        </p:txBody>
      </p:sp>
      <p:sp>
        <p:nvSpPr>
          <p:cNvPr id="20" name="TextBox 19"/>
          <p:cNvSpPr txBox="1"/>
          <p:nvPr/>
        </p:nvSpPr>
        <p:spPr>
          <a:xfrm>
            <a:off x="6217920" y="27157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Satellite/UAV imagery maps collapsed buildings [3].</a:t>
            </a:r>
          </a:p>
        </p:txBody>
      </p:sp>
      <p:sp>
        <p:nvSpPr>
          <p:cNvPr id="21" name="Rounded Rectangle 20"/>
          <p:cNvSpPr/>
          <p:nvPr/>
        </p:nvSpPr>
        <p:spPr>
          <a:xfrm>
            <a:off x="457200" y="38404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22" name="Oval 21"/>
          <p:cNvSpPr/>
          <p:nvPr/>
        </p:nvSpPr>
        <p:spPr>
          <a:xfrm>
            <a:off x="1394460" y="40233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23" name="Picture 22" descr="cyclone_w.png"/>
          <p:cNvPicPr>
            <a:picLocks noChangeAspect="1"/>
          </p:cNvPicPr>
          <p:nvPr/>
        </p:nvPicPr>
        <p:blipFill>
          <a:blip r:embed="rId6"/>
          <a:stretch>
            <a:fillRect/>
          </a:stretch>
        </p:blipFill>
        <p:spPr>
          <a:xfrm>
            <a:off x="1570024" y="4198924"/>
            <a:ext cx="380390" cy="380390"/>
          </a:xfrm>
          <a:prstGeom prst="rect">
            <a:avLst/>
          </a:prstGeom>
        </p:spPr>
      </p:pic>
      <p:sp>
        <p:nvSpPr>
          <p:cNvPr id="24" name="TextBox 23"/>
          <p:cNvSpPr txBox="1"/>
          <p:nvPr/>
        </p:nvSpPr>
        <p:spPr>
          <a:xfrm>
            <a:off x="566928" y="48463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Cyclone Tracking</a:t>
            </a:r>
          </a:p>
        </p:txBody>
      </p:sp>
      <p:sp>
        <p:nvSpPr>
          <p:cNvPr id="25" name="TextBox 24"/>
          <p:cNvSpPr txBox="1"/>
          <p:nvPr/>
        </p:nvSpPr>
        <p:spPr>
          <a:xfrm>
            <a:off x="594360" y="52303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Forecasting track and intensity to plan evacuations.</a:t>
            </a:r>
          </a:p>
        </p:txBody>
      </p:sp>
      <p:sp>
        <p:nvSpPr>
          <p:cNvPr id="26" name="Rounded Rectangle 25"/>
          <p:cNvSpPr/>
          <p:nvPr/>
        </p:nvSpPr>
        <p:spPr>
          <a:xfrm>
            <a:off x="3268980" y="38404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27" name="Oval 26"/>
          <p:cNvSpPr/>
          <p:nvPr/>
        </p:nvSpPr>
        <p:spPr>
          <a:xfrm>
            <a:off x="4206240" y="40233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28" name="Picture 27" descr="comment_w.png"/>
          <p:cNvPicPr>
            <a:picLocks noChangeAspect="1"/>
          </p:cNvPicPr>
          <p:nvPr/>
        </p:nvPicPr>
        <p:blipFill>
          <a:blip r:embed="rId7"/>
          <a:stretch>
            <a:fillRect/>
          </a:stretch>
        </p:blipFill>
        <p:spPr>
          <a:xfrm>
            <a:off x="4381804" y="4198924"/>
            <a:ext cx="380390" cy="380390"/>
          </a:xfrm>
          <a:prstGeom prst="rect">
            <a:avLst/>
          </a:prstGeom>
        </p:spPr>
      </p:pic>
      <p:sp>
        <p:nvSpPr>
          <p:cNvPr id="29" name="TextBox 28"/>
          <p:cNvSpPr txBox="1"/>
          <p:nvPr/>
        </p:nvSpPr>
        <p:spPr>
          <a:xfrm>
            <a:off x="3378708" y="48463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Crisis Informatics</a:t>
            </a:r>
          </a:p>
        </p:txBody>
      </p:sp>
      <p:sp>
        <p:nvSpPr>
          <p:cNvPr id="30" name="TextBox 29"/>
          <p:cNvSpPr txBox="1"/>
          <p:nvPr/>
        </p:nvSpPr>
        <p:spPr>
          <a:xfrm>
            <a:off x="3406140" y="52303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LLMs classify social-media posts and help requests [6].</a:t>
            </a:r>
          </a:p>
        </p:txBody>
      </p:sp>
      <p:sp>
        <p:nvSpPr>
          <p:cNvPr id="31" name="Rounded Rectangle 30"/>
          <p:cNvSpPr/>
          <p:nvPr/>
        </p:nvSpPr>
        <p:spPr>
          <a:xfrm>
            <a:off x="6080760" y="3840480"/>
            <a:ext cx="2606040" cy="2240280"/>
          </a:xfrm>
          <a:prstGeom prst="roundRect">
            <a:avLst>
              <a:gd name="adj" fmla="val 3265"/>
            </a:avLst>
          </a:prstGeom>
          <a:solidFill>
            <a:srgbClr val="F2F6FB"/>
          </a:solidFill>
          <a:ln>
            <a:noFill/>
          </a:ln>
        </p:spPr>
        <p:txBody>
          <a:bodyPr rtlCol="0" anchor="ctr" wrap="square" lIns="54864" rIns="54864" tIns="54864" bIns="54864"/>
          <a:lstStyle/>
          <a:p>
            <a:pPr algn="ctr"/>
          </a:p>
        </p:txBody>
      </p:sp>
      <p:sp>
        <p:nvSpPr>
          <p:cNvPr id="32" name="Oval 31"/>
          <p:cNvSpPr/>
          <p:nvPr/>
        </p:nvSpPr>
        <p:spPr>
          <a:xfrm>
            <a:off x="7018020" y="4023360"/>
            <a:ext cx="731520" cy="731520"/>
          </a:xfrm>
          <a:prstGeom prst="ellipse">
            <a:avLst/>
          </a:prstGeom>
          <a:solidFill>
            <a:srgbClr val="E46C0A"/>
          </a:solidFill>
          <a:ln>
            <a:noFill/>
          </a:ln>
        </p:spPr>
        <p:txBody>
          <a:bodyPr rtlCol="0" anchor="ctr" wrap="square" lIns="54864" rIns="54864" tIns="54864" bIns="54864"/>
          <a:lstStyle/>
          <a:p>
            <a:pPr algn="ctr"/>
          </a:p>
        </p:txBody>
      </p:sp>
      <p:pic>
        <p:nvPicPr>
          <p:cNvPr id="33" name="Picture 32" descr="truck_w.png"/>
          <p:cNvPicPr>
            <a:picLocks noChangeAspect="1"/>
          </p:cNvPicPr>
          <p:nvPr/>
        </p:nvPicPr>
        <p:blipFill>
          <a:blip r:embed="rId8"/>
          <a:stretch>
            <a:fillRect/>
          </a:stretch>
        </p:blipFill>
        <p:spPr>
          <a:xfrm>
            <a:off x="7193584" y="4198924"/>
            <a:ext cx="380390" cy="380390"/>
          </a:xfrm>
          <a:prstGeom prst="rect">
            <a:avLst/>
          </a:prstGeom>
        </p:spPr>
      </p:pic>
      <p:sp>
        <p:nvSpPr>
          <p:cNvPr id="34" name="TextBox 33"/>
          <p:cNvSpPr txBox="1"/>
          <p:nvPr/>
        </p:nvSpPr>
        <p:spPr>
          <a:xfrm>
            <a:off x="6190488" y="4846320"/>
            <a:ext cx="2386584" cy="384048"/>
          </a:xfrm>
          <a:prstGeom prst="rect">
            <a:avLst/>
          </a:prstGeom>
          <a:noFill/>
        </p:spPr>
        <p:txBody>
          <a:bodyPr wrap="square" anchor="ctr" lIns="36576" rIns="36576" tIns="36576" bIns="36576"/>
          <a:lstStyle/>
          <a:p>
            <a:pPr algn="ctr">
              <a:spcAft>
                <a:spcPts val="400"/>
              </a:spcAft>
            </a:pPr>
            <a:r>
              <a:rPr sz="1600" b="1" i="0">
                <a:solidFill>
                  <a:srgbClr val="1F497D"/>
                </a:solidFill>
                <a:latin typeface="Calibri"/>
              </a:rPr>
              <a:t>Relief Logistics</a:t>
            </a:r>
          </a:p>
        </p:txBody>
      </p:sp>
      <p:sp>
        <p:nvSpPr>
          <p:cNvPr id="35" name="TextBox 34"/>
          <p:cNvSpPr txBox="1"/>
          <p:nvPr/>
        </p:nvSpPr>
        <p:spPr>
          <a:xfrm>
            <a:off x="6217920" y="5230368"/>
            <a:ext cx="2331720" cy="777240"/>
          </a:xfrm>
          <a:prstGeom prst="rect">
            <a:avLst/>
          </a:prstGeom>
          <a:noFill/>
        </p:spPr>
        <p:txBody>
          <a:bodyPr wrap="square" anchor="t" lIns="36576" rIns="36576" tIns="36576" bIns="36576"/>
          <a:lstStyle/>
          <a:p>
            <a:pPr algn="ctr">
              <a:spcAft>
                <a:spcPts val="400"/>
              </a:spcAft>
            </a:pPr>
            <a:r>
              <a:rPr sz="1400" b="0" i="0">
                <a:solidFill>
                  <a:srgbClr val="262626"/>
                </a:solidFill>
                <a:latin typeface="Calibri"/>
              </a:rPr>
              <a:t>Optimised routing of supplies, shelters and rescue teams.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Analysis / Comparison</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6</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graphicFrame>
        <p:nvGraphicFramePr>
          <p:cNvPr id="6" name="Table 5"/>
          <p:cNvGraphicFramePr>
            <a:graphicFrameLocks noGrp="1"/>
          </p:cNvGraphicFramePr>
          <p:nvPr/>
        </p:nvGraphicFramePr>
        <p:xfrm>
          <a:off x="411480" y="1188720"/>
          <a:ext cx="8321040" cy="3749040"/>
        </p:xfrm>
        <a:graphic>
          <a:graphicData uri="http://schemas.openxmlformats.org/drawingml/2006/table">
            <a:tbl>
              <a:tblPr firstRow="1" bandRow="1">
                <a:tableStyleId>{5C22544A-7EE6-4342-B048-85BDC9FD1C3A}</a:tableStyleId>
              </a:tblPr>
              <a:tblGrid>
                <a:gridCol w="1691640"/>
                <a:gridCol w="2194560"/>
                <a:gridCol w="2514600"/>
                <a:gridCol w="1920240"/>
              </a:tblGrid>
              <a:tr h="457200">
                <a:tc>
                  <a:txBody>
                    <a:bodyPr wrap="square"/>
                    <a:lstStyle/>
                    <a:p>
                      <a:pPr algn="l">
                        <a:spcAft>
                          <a:spcPts val="0"/>
                        </a:spcAft>
                      </a:pPr>
                      <a:r>
                        <a:rPr sz="1300" b="1" i="0">
                          <a:solidFill>
                            <a:srgbClr val="FFFFFF"/>
                          </a:solidFill>
                          <a:latin typeface="Calibri"/>
                        </a:rPr>
                        <a:t>Aspect</a:t>
                      </a:r>
                    </a:p>
                  </a:txBody>
                  <a:tcPr marL="64008" marR="64008" marT="36576" marB="36576" anchor="ctr"/>
                </a:tc>
                <a:tc>
                  <a:txBody>
                    <a:bodyPr wrap="square"/>
                    <a:lstStyle/>
                    <a:p>
                      <a:pPr algn="l">
                        <a:spcAft>
                          <a:spcPts val="0"/>
                        </a:spcAft>
                      </a:pPr>
                      <a:r>
                        <a:rPr sz="1300" b="1" i="0">
                          <a:solidFill>
                            <a:srgbClr val="FFFFFF"/>
                          </a:solidFill>
                          <a:latin typeface="Calibri"/>
                        </a:rPr>
                        <a:t>Traditional approach</a:t>
                      </a:r>
                    </a:p>
                  </a:txBody>
                  <a:tcPr marL="64008" marR="64008" marT="36576" marB="36576" anchor="ctr"/>
                </a:tc>
                <a:tc>
                  <a:txBody>
                    <a:bodyPr wrap="square"/>
                    <a:lstStyle/>
                    <a:p>
                      <a:pPr algn="l">
                        <a:spcAft>
                          <a:spcPts val="0"/>
                        </a:spcAft>
                      </a:pPr>
                      <a:r>
                        <a:rPr sz="1300" b="1" i="0">
                          <a:solidFill>
                            <a:srgbClr val="FFFFFF"/>
                          </a:solidFill>
                          <a:latin typeface="Calibri"/>
                        </a:rPr>
                        <a:t>AI-based approach</a:t>
                      </a:r>
                    </a:p>
                  </a:txBody>
                  <a:tcPr marL="64008" marR="64008" marT="36576" marB="36576" anchor="ctr"/>
                </a:tc>
                <a:tc>
                  <a:txBody>
                    <a:bodyPr wrap="square"/>
                    <a:lstStyle/>
                    <a:p>
                      <a:pPr algn="l">
                        <a:spcAft>
                          <a:spcPts val="0"/>
                        </a:spcAft>
                      </a:pPr>
                      <a:r>
                        <a:rPr sz="1300" b="1" i="0">
                          <a:solidFill>
                            <a:srgbClr val="FFFFFF"/>
                          </a:solidFill>
                          <a:latin typeface="Calibri"/>
                        </a:rPr>
                        <a:t>Benefit</a:t>
                      </a:r>
                    </a:p>
                  </a:txBody>
                  <a:tcPr marL="64008" marR="64008" marT="36576" marB="36576" anchor="ctr"/>
                </a:tc>
              </a:tr>
              <a:tr h="658368">
                <a:tc>
                  <a:txBody>
                    <a:bodyPr wrap="square"/>
                    <a:lstStyle/>
                    <a:p>
                      <a:pPr algn="l">
                        <a:spcAft>
                          <a:spcPts val="0"/>
                        </a:spcAft>
                      </a:pPr>
                      <a:r>
                        <a:rPr sz="1300" b="1" i="0">
                          <a:solidFill>
                            <a:srgbClr val="262626"/>
                          </a:solidFill>
                          <a:latin typeface="Calibri"/>
                        </a:rPr>
                        <a:t>Early warning</a:t>
                      </a:r>
                    </a:p>
                  </a:txBody>
                  <a:tcPr marL="64008" marR="64008" marT="36576" marB="36576" anchor="ctr"/>
                </a:tc>
                <a:tc>
                  <a:txBody>
                    <a:bodyPr wrap="square"/>
                    <a:lstStyle/>
                    <a:p>
                      <a:pPr algn="l">
                        <a:spcAft>
                          <a:spcPts val="0"/>
                        </a:spcAft>
                      </a:pPr>
                      <a:r>
                        <a:rPr sz="1300" b="0" i="0">
                          <a:solidFill>
                            <a:srgbClr val="262626"/>
                          </a:solidFill>
                          <a:latin typeface="Calibri"/>
                        </a:rPr>
                        <a:t>Manual monitoring, fixed thresholds</a:t>
                      </a:r>
                    </a:p>
                  </a:txBody>
                  <a:tcPr marL="64008" marR="64008" marT="36576" marB="36576" anchor="ctr"/>
                </a:tc>
                <a:tc>
                  <a:txBody>
                    <a:bodyPr wrap="square"/>
                    <a:lstStyle/>
                    <a:p>
                      <a:pPr algn="l">
                        <a:spcAft>
                          <a:spcPts val="0"/>
                        </a:spcAft>
                      </a:pPr>
                      <a:r>
                        <a:rPr sz="1300" b="0" i="0">
                          <a:solidFill>
                            <a:srgbClr val="262626"/>
                          </a:solidFill>
                          <a:latin typeface="Calibri"/>
                        </a:rPr>
                        <a:t>ML/DL forecasts on live sensor data</a:t>
                      </a:r>
                    </a:p>
                  </a:txBody>
                  <a:tcPr marL="64008" marR="64008" marT="36576" marB="36576" anchor="ctr"/>
                </a:tc>
                <a:tc>
                  <a:txBody>
                    <a:bodyPr wrap="square"/>
                    <a:lstStyle/>
                    <a:p>
                      <a:pPr algn="l">
                        <a:spcAft>
                          <a:spcPts val="0"/>
                        </a:spcAft>
                      </a:pPr>
                      <a:r>
                        <a:rPr sz="1300" b="0" i="0">
                          <a:solidFill>
                            <a:srgbClr val="262626"/>
                          </a:solidFill>
                          <a:latin typeface="Calibri"/>
                        </a:rPr>
                        <a:t>More lead time</a:t>
                      </a:r>
                    </a:p>
                  </a:txBody>
                  <a:tcPr marL="64008" marR="64008" marT="36576" marB="36576" anchor="ctr"/>
                </a:tc>
              </a:tr>
              <a:tr h="658368">
                <a:tc>
                  <a:txBody>
                    <a:bodyPr wrap="square"/>
                    <a:lstStyle/>
                    <a:p>
                      <a:pPr algn="l">
                        <a:spcAft>
                          <a:spcPts val="0"/>
                        </a:spcAft>
                      </a:pPr>
                      <a:r>
                        <a:rPr sz="1300" b="1" i="0">
                          <a:solidFill>
                            <a:srgbClr val="262626"/>
                          </a:solidFill>
                          <a:latin typeface="Calibri"/>
                        </a:rPr>
                        <a:t>Damage assessment</a:t>
                      </a:r>
                    </a:p>
                  </a:txBody>
                  <a:tcPr marL="64008" marR="64008" marT="36576" marB="36576" anchor="ctr"/>
                </a:tc>
                <a:tc>
                  <a:txBody>
                    <a:bodyPr wrap="square"/>
                    <a:lstStyle/>
                    <a:p>
                      <a:pPr algn="l">
                        <a:spcAft>
                          <a:spcPts val="0"/>
                        </a:spcAft>
                      </a:pPr>
                      <a:r>
                        <a:rPr sz="1300" b="0" i="0">
                          <a:solidFill>
                            <a:srgbClr val="262626"/>
                          </a:solidFill>
                          <a:latin typeface="Calibri"/>
                        </a:rPr>
                        <a:t>Ground surveys (days)</a:t>
                      </a:r>
                    </a:p>
                  </a:txBody>
                  <a:tcPr marL="64008" marR="64008" marT="36576" marB="36576" anchor="ctr"/>
                </a:tc>
                <a:tc>
                  <a:txBody>
                    <a:bodyPr wrap="square"/>
                    <a:lstStyle/>
                    <a:p>
                      <a:pPr algn="l">
                        <a:spcAft>
                          <a:spcPts val="0"/>
                        </a:spcAft>
                      </a:pPr>
                      <a:r>
                        <a:rPr sz="1300" b="0" i="0">
                          <a:solidFill>
                            <a:srgbClr val="262626"/>
                          </a:solidFill>
                          <a:latin typeface="Calibri"/>
                        </a:rPr>
                        <a:t>Satellite/UAV + CNN/ViT maps (hours)</a:t>
                      </a:r>
                    </a:p>
                  </a:txBody>
                  <a:tcPr marL="64008" marR="64008" marT="36576" marB="36576" anchor="ctr"/>
                </a:tc>
                <a:tc>
                  <a:txBody>
                    <a:bodyPr wrap="square"/>
                    <a:lstStyle/>
                    <a:p>
                      <a:pPr algn="l">
                        <a:spcAft>
                          <a:spcPts val="0"/>
                        </a:spcAft>
                      </a:pPr>
                      <a:r>
                        <a:rPr sz="1300" b="0" i="0">
                          <a:solidFill>
                            <a:srgbClr val="262626"/>
                          </a:solidFill>
                          <a:latin typeface="Calibri"/>
                        </a:rPr>
                        <a:t>Faster response</a:t>
                      </a:r>
                    </a:p>
                  </a:txBody>
                  <a:tcPr marL="64008" marR="64008" marT="36576" marB="36576" anchor="ctr"/>
                </a:tc>
              </a:tr>
              <a:tr h="658368">
                <a:tc>
                  <a:txBody>
                    <a:bodyPr wrap="square"/>
                    <a:lstStyle/>
                    <a:p>
                      <a:pPr algn="l">
                        <a:spcAft>
                          <a:spcPts val="0"/>
                        </a:spcAft>
                      </a:pPr>
                      <a:r>
                        <a:rPr sz="1300" b="1" i="0">
                          <a:solidFill>
                            <a:srgbClr val="262626"/>
                          </a:solidFill>
                          <a:latin typeface="Calibri"/>
                        </a:rPr>
                        <a:t>Information</a:t>
                      </a:r>
                    </a:p>
                  </a:txBody>
                  <a:tcPr marL="64008" marR="64008" marT="36576" marB="36576" anchor="ctr"/>
                </a:tc>
                <a:tc>
                  <a:txBody>
                    <a:bodyPr wrap="square"/>
                    <a:lstStyle/>
                    <a:p>
                      <a:pPr algn="l">
                        <a:spcAft>
                          <a:spcPts val="0"/>
                        </a:spcAft>
                      </a:pPr>
                      <a:r>
                        <a:rPr sz="1300" b="0" i="0">
                          <a:solidFill>
                            <a:srgbClr val="262626"/>
                          </a:solidFill>
                          <a:latin typeface="Calibri"/>
                        </a:rPr>
                        <a:t>Phone calls, manual reports</a:t>
                      </a:r>
                    </a:p>
                  </a:txBody>
                  <a:tcPr marL="64008" marR="64008" marT="36576" marB="36576" anchor="ctr"/>
                </a:tc>
                <a:tc>
                  <a:txBody>
                    <a:bodyPr wrap="square"/>
                    <a:lstStyle/>
                    <a:p>
                      <a:pPr algn="l">
                        <a:spcAft>
                          <a:spcPts val="0"/>
                        </a:spcAft>
                      </a:pPr>
                      <a:r>
                        <a:rPr sz="1300" b="0" i="0">
                          <a:solidFill>
                            <a:srgbClr val="262626"/>
                          </a:solidFill>
                          <a:latin typeface="Calibri"/>
                        </a:rPr>
                        <a:t>NLP/LLM triage of social media</a:t>
                      </a:r>
                    </a:p>
                  </a:txBody>
                  <a:tcPr marL="64008" marR="64008" marT="36576" marB="36576" anchor="ctr"/>
                </a:tc>
                <a:tc>
                  <a:txBody>
                    <a:bodyPr wrap="square"/>
                    <a:lstStyle/>
                    <a:p>
                      <a:pPr algn="l">
                        <a:spcAft>
                          <a:spcPts val="0"/>
                        </a:spcAft>
                      </a:pPr>
                      <a:r>
                        <a:rPr sz="1300" b="0" i="0">
                          <a:solidFill>
                            <a:srgbClr val="262626"/>
                          </a:solidFill>
                          <a:latin typeface="Calibri"/>
                        </a:rPr>
                        <a:t>Situational awareness</a:t>
                      </a:r>
                    </a:p>
                  </a:txBody>
                  <a:tcPr marL="64008" marR="64008" marT="36576" marB="36576" anchor="ctr"/>
                </a:tc>
              </a:tr>
              <a:tr h="658368">
                <a:tc>
                  <a:txBody>
                    <a:bodyPr wrap="square"/>
                    <a:lstStyle/>
                    <a:p>
                      <a:pPr algn="l">
                        <a:spcAft>
                          <a:spcPts val="0"/>
                        </a:spcAft>
                      </a:pPr>
                      <a:r>
                        <a:rPr sz="1300" b="1" i="0">
                          <a:solidFill>
                            <a:srgbClr val="262626"/>
                          </a:solidFill>
                          <a:latin typeface="Calibri"/>
                        </a:rPr>
                        <a:t>Resource allocation</a:t>
                      </a:r>
                    </a:p>
                  </a:txBody>
                  <a:tcPr marL="64008" marR="64008" marT="36576" marB="36576" anchor="ctr"/>
                </a:tc>
                <a:tc>
                  <a:txBody>
                    <a:bodyPr wrap="square"/>
                    <a:lstStyle/>
                    <a:p>
                      <a:pPr algn="l">
                        <a:spcAft>
                          <a:spcPts val="0"/>
                        </a:spcAft>
                      </a:pPr>
                      <a:r>
                        <a:rPr sz="1300" b="0" i="0">
                          <a:solidFill>
                            <a:srgbClr val="262626"/>
                          </a:solidFill>
                          <a:latin typeface="Calibri"/>
                        </a:rPr>
                        <a:t>Static, pre-planned routes</a:t>
                      </a:r>
                    </a:p>
                  </a:txBody>
                  <a:tcPr marL="64008" marR="64008" marT="36576" marB="36576" anchor="ctr"/>
                </a:tc>
                <a:tc>
                  <a:txBody>
                    <a:bodyPr wrap="square"/>
                    <a:lstStyle/>
                    <a:p>
                      <a:pPr algn="l">
                        <a:spcAft>
                          <a:spcPts val="0"/>
                        </a:spcAft>
                      </a:pPr>
                      <a:r>
                        <a:rPr sz="1300" b="0" i="0">
                          <a:solidFill>
                            <a:srgbClr val="262626"/>
                          </a:solidFill>
                          <a:latin typeface="Calibri"/>
                        </a:rPr>
                        <a:t>Optimization / RL adapts live</a:t>
                      </a:r>
                    </a:p>
                  </a:txBody>
                  <a:tcPr marL="64008" marR="64008" marT="36576" marB="36576" anchor="ctr"/>
                </a:tc>
                <a:tc>
                  <a:txBody>
                    <a:bodyPr wrap="square"/>
                    <a:lstStyle/>
                    <a:p>
                      <a:pPr algn="l">
                        <a:spcAft>
                          <a:spcPts val="0"/>
                        </a:spcAft>
                      </a:pPr>
                      <a:r>
                        <a:rPr sz="1300" b="0" i="0">
                          <a:solidFill>
                            <a:srgbClr val="262626"/>
                          </a:solidFill>
                          <a:latin typeface="Calibri"/>
                        </a:rPr>
                        <a:t>Efficient use</a:t>
                      </a:r>
                    </a:p>
                  </a:txBody>
                  <a:tcPr marL="64008" marR="64008" marT="36576" marB="36576" anchor="ctr"/>
                </a:tc>
              </a:tr>
              <a:tr h="658368">
                <a:tc>
                  <a:txBody>
                    <a:bodyPr wrap="square"/>
                    <a:lstStyle/>
                    <a:p>
                      <a:pPr algn="l">
                        <a:spcAft>
                          <a:spcPts val="0"/>
                        </a:spcAft>
                      </a:pPr>
                      <a:r>
                        <a:rPr sz="1300" b="1" i="0">
                          <a:solidFill>
                            <a:srgbClr val="262626"/>
                          </a:solidFill>
                          <a:latin typeface="Calibri"/>
                        </a:rPr>
                        <a:t>Reporting</a:t>
                      </a:r>
                    </a:p>
                  </a:txBody>
                  <a:tcPr marL="64008" marR="64008" marT="36576" marB="36576" anchor="ctr"/>
                </a:tc>
                <a:tc>
                  <a:txBody>
                    <a:bodyPr wrap="square"/>
                    <a:lstStyle/>
                    <a:p>
                      <a:pPr algn="l">
                        <a:spcAft>
                          <a:spcPts val="0"/>
                        </a:spcAft>
                      </a:pPr>
                      <a:r>
                        <a:rPr sz="1300" b="0" i="0">
                          <a:solidFill>
                            <a:srgbClr val="262626"/>
                          </a:solidFill>
                          <a:latin typeface="Calibri"/>
                        </a:rPr>
                        <a:t>Manual situation reports</a:t>
                      </a:r>
                    </a:p>
                  </a:txBody>
                  <a:tcPr marL="64008" marR="64008" marT="36576" marB="36576" anchor="ctr"/>
                </a:tc>
                <a:tc>
                  <a:txBody>
                    <a:bodyPr wrap="square"/>
                    <a:lstStyle/>
                    <a:p>
                      <a:pPr algn="l">
                        <a:spcAft>
                          <a:spcPts val="0"/>
                        </a:spcAft>
                      </a:pPr>
                      <a:r>
                        <a:rPr sz="1300" b="0" i="0">
                          <a:solidFill>
                            <a:srgbClr val="262626"/>
                          </a:solidFill>
                          <a:latin typeface="Calibri"/>
                        </a:rPr>
                        <a:t>Automated reports, e.g. [7]</a:t>
                      </a:r>
                    </a:p>
                  </a:txBody>
                  <a:tcPr marL="64008" marR="64008" marT="36576" marB="36576" anchor="ctr"/>
                </a:tc>
                <a:tc>
                  <a:txBody>
                    <a:bodyPr wrap="square"/>
                    <a:lstStyle/>
                    <a:p>
                      <a:pPr algn="l">
                        <a:spcAft>
                          <a:spcPts val="0"/>
                        </a:spcAft>
                      </a:pPr>
                      <a:r>
                        <a:rPr sz="1300" b="0" i="0">
                          <a:solidFill>
                            <a:srgbClr val="262626"/>
                          </a:solidFill>
                          <a:latin typeface="Calibri"/>
                        </a:rPr>
                        <a:t>Quick, consistent</a:t>
                      </a:r>
                    </a:p>
                  </a:txBody>
                  <a:tcPr marL="64008" marR="64008" marT="36576" marB="36576" anchor="ctr"/>
                </a:tc>
              </a:tr>
            </a:tbl>
          </a:graphicData>
        </a:graphic>
      </p:graphicFrame>
      <p:sp>
        <p:nvSpPr>
          <p:cNvPr id="7" name="Rounded Rectangle 6"/>
          <p:cNvSpPr/>
          <p:nvPr/>
        </p:nvSpPr>
        <p:spPr>
          <a:xfrm>
            <a:off x="411480" y="5257800"/>
            <a:ext cx="8321040" cy="914400"/>
          </a:xfrm>
          <a:prstGeom prst="roundRect">
            <a:avLst>
              <a:gd name="adj" fmla="val 8000"/>
            </a:avLst>
          </a:prstGeom>
          <a:solidFill>
            <a:srgbClr val="F2F6FB"/>
          </a:solidFill>
          <a:ln>
            <a:noFill/>
          </a:ln>
        </p:spPr>
        <p:txBody>
          <a:bodyPr rtlCol="0" anchor="ctr" wrap="square" lIns="128016" rIns="128016" tIns="128016" bIns="128016"/>
          <a:lstStyle/>
          <a:p>
            <a:pPr algn="l">
              <a:spcAft>
                <a:spcPts val="0"/>
              </a:spcAft>
            </a:pPr>
            <a:r>
              <a:rPr sz="1400" b="1" i="0">
                <a:solidFill>
                  <a:srgbClr val="1F497D"/>
                </a:solidFill>
                <a:latin typeface="Calibri"/>
              </a:rPr>
              <a:t>Key insight: </a:t>
            </a:r>
            <a:r>
              <a:rPr sz="1400" b="0" i="0">
                <a:solidFill>
                  <a:srgbClr val="262626"/>
                </a:solidFill>
                <a:latin typeface="Calibri"/>
              </a:rPr>
              <a:t>AI supports — it does not replace — human decision-makers. Trustworthy, explainable outputs are essential before authorities act on them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188720" y="182880"/>
            <a:ext cx="6766560" cy="822960"/>
          </a:xfrm>
        </p:spPr>
        <p:txBody>
          <a:bodyPr wrap="square" anchor="ctr"/>
          <a:lstStyle/>
          <a:p>
            <a:pPr algn="ctr"/>
            <a:r>
              <a:rPr sz="3000">
                <a:solidFill>
                  <a:srgbClr val="000000"/>
                </a:solidFill>
                <a:latin typeface="Times New Roman"/>
              </a:rPr>
              <a:t>Conclusion</a:t>
            </a:r>
            <a:endParaRPr lang="en-IN" dirty="0"/>
          </a:p>
        </p:txBody>
      </p:sp>
      <p:sp>
        <p:nvSpPr>
          <p:cNvPr id="4" name="Slide Number Placeholder 3"/>
          <p:cNvSpPr>
            <a:spLocks noGrp="1"/>
          </p:cNvSpPr>
          <p:nvPr>
            <p:ph type="sldNum" sz="quarter" idx="12"/>
          </p:nvPr>
        </p:nvSpPr>
        <p:spPr/>
        <p:txBody>
          <a:bodyPr/>
          <a:lstStyle/>
          <a:p>
            <a:fld id="{1EC248AB-E565-412B-9D95-9B07D6A4F3F3}" type="slidenum">
              <a:rPr lang="en-GB" smtClean="0"/>
              <a:pPr/>
              <a:t>14</a:t>
            </a:fld>
            <a:endParaRPr lang="en-GB"/>
          </a:p>
        </p:txBody>
      </p:sp>
      <p:pic>
        <p:nvPicPr>
          <p:cNvPr id="5" name="Picture 4" descr="image.jpeg"/>
          <p:cNvPicPr>
            <a:picLocks noChangeAspect="1"/>
          </p:cNvPicPr>
          <p:nvPr/>
        </p:nvPicPr>
        <p:blipFill>
          <a:blip r:embed="rId2"/>
          <a:stretch>
            <a:fillRect/>
          </a:stretch>
        </p:blipFill>
        <p:spPr>
          <a:xfrm>
            <a:off x="164592" y="128016"/>
            <a:ext cx="987552" cy="743789"/>
          </a:xfrm>
          <a:prstGeom prst="rect">
            <a:avLst/>
          </a:prstGeom>
        </p:spPr>
      </p:pic>
      <p:sp>
        <p:nvSpPr>
          <p:cNvPr id="6" name="Oval 5"/>
          <p:cNvSpPr/>
          <p:nvPr/>
        </p:nvSpPr>
        <p:spPr>
          <a:xfrm>
            <a:off x="457200" y="1234440"/>
            <a:ext cx="457200" cy="457200"/>
          </a:xfrm>
          <a:prstGeom prst="ellipse">
            <a:avLst/>
          </a:prstGeom>
          <a:solidFill>
            <a:srgbClr val="1F497D"/>
          </a:solidFill>
          <a:ln>
            <a:noFill/>
          </a:ln>
        </p:spPr>
        <p:txBody>
          <a:bodyPr rtlCol="0" anchor="ctr" wrap="square" lIns="54864" rIns="54864" tIns="54864" bIns="54864"/>
          <a:lstStyle/>
          <a:p>
            <a:pPr algn="ctr"/>
          </a:p>
        </p:txBody>
      </p:sp>
      <p:pic>
        <p:nvPicPr>
          <p:cNvPr id="7" name="Picture 6" descr="check_w.png"/>
          <p:cNvPicPr>
            <a:picLocks noChangeAspect="1"/>
          </p:cNvPicPr>
          <p:nvPr/>
        </p:nvPicPr>
        <p:blipFill>
          <a:blip r:embed="rId3"/>
          <a:stretch>
            <a:fillRect/>
          </a:stretch>
        </p:blipFill>
        <p:spPr>
          <a:xfrm>
            <a:off x="566928" y="1344168"/>
            <a:ext cx="237744" cy="237744"/>
          </a:xfrm>
          <a:prstGeom prst="rect">
            <a:avLst/>
          </a:prstGeom>
        </p:spPr>
      </p:pic>
      <p:sp>
        <p:nvSpPr>
          <p:cNvPr id="8" name="TextBox 7"/>
          <p:cNvSpPr txBox="1"/>
          <p:nvPr/>
        </p:nvSpPr>
        <p:spPr>
          <a:xfrm>
            <a:off x="1005840" y="1234440"/>
            <a:ext cx="3291840" cy="457200"/>
          </a:xfrm>
          <a:prstGeom prst="rect">
            <a:avLst/>
          </a:prstGeom>
          <a:noFill/>
        </p:spPr>
        <p:txBody>
          <a:bodyPr wrap="square" anchor="ctr" lIns="36576" rIns="36576" tIns="36576" bIns="36576"/>
          <a:lstStyle/>
          <a:p>
            <a:pPr algn="l">
              <a:spcAft>
                <a:spcPts val="400"/>
              </a:spcAft>
            </a:pPr>
            <a:r>
              <a:rPr sz="2000" b="1" i="0">
                <a:solidFill>
                  <a:srgbClr val="1F497D"/>
                </a:solidFill>
                <a:latin typeface="Calibri"/>
              </a:rPr>
              <a:t>Key Takeaways</a:t>
            </a:r>
          </a:p>
        </p:txBody>
      </p:sp>
      <p:sp>
        <p:nvSpPr>
          <p:cNvPr id="9" name="Rounded Rectangle 8"/>
          <p:cNvSpPr/>
          <p:nvPr/>
        </p:nvSpPr>
        <p:spPr>
          <a:xfrm>
            <a:off x="457200" y="187451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10" name="TextBox 9"/>
          <p:cNvSpPr txBox="1"/>
          <p:nvPr/>
        </p:nvSpPr>
        <p:spPr>
          <a:xfrm>
            <a:off x="594360" y="1892807"/>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AI strengthens every phase of the disaster-management cycle.</a:t>
            </a:r>
          </a:p>
        </p:txBody>
      </p:sp>
      <p:sp>
        <p:nvSpPr>
          <p:cNvPr id="11" name="Rounded Rectangle 10"/>
          <p:cNvSpPr/>
          <p:nvPr/>
        </p:nvSpPr>
        <p:spPr>
          <a:xfrm>
            <a:off x="457200" y="2743200"/>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12" name="TextBox 11"/>
          <p:cNvSpPr txBox="1"/>
          <p:nvPr/>
        </p:nvSpPr>
        <p:spPr>
          <a:xfrm>
            <a:off x="594360" y="2761488"/>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Time-series models give early warnings; CNN/ViT models map damage quickly.</a:t>
            </a:r>
          </a:p>
        </p:txBody>
      </p:sp>
      <p:sp>
        <p:nvSpPr>
          <p:cNvPr id="13" name="Rounded Rectangle 12"/>
          <p:cNvSpPr/>
          <p:nvPr/>
        </p:nvSpPr>
        <p:spPr>
          <a:xfrm>
            <a:off x="457200" y="361187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14" name="TextBox 13"/>
          <p:cNvSpPr txBox="1"/>
          <p:nvPr/>
        </p:nvSpPr>
        <p:spPr>
          <a:xfrm>
            <a:off x="594360" y="3630168"/>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NLP/LLMs turn crisis messages into structured, actionable data.</a:t>
            </a:r>
          </a:p>
        </p:txBody>
      </p:sp>
      <p:sp>
        <p:nvSpPr>
          <p:cNvPr id="15" name="Rounded Rectangle 14"/>
          <p:cNvSpPr/>
          <p:nvPr/>
        </p:nvSpPr>
        <p:spPr>
          <a:xfrm>
            <a:off x="457200" y="448055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16" name="TextBox 15"/>
          <p:cNvSpPr txBox="1"/>
          <p:nvPr/>
        </p:nvSpPr>
        <p:spPr>
          <a:xfrm>
            <a:off x="594360" y="4498847"/>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Optimization and RL improve evacuation and relief logistics.</a:t>
            </a:r>
          </a:p>
        </p:txBody>
      </p:sp>
      <p:sp>
        <p:nvSpPr>
          <p:cNvPr id="17" name="Oval 16"/>
          <p:cNvSpPr/>
          <p:nvPr/>
        </p:nvSpPr>
        <p:spPr>
          <a:xfrm>
            <a:off x="4663440" y="1234440"/>
            <a:ext cx="457200" cy="457200"/>
          </a:xfrm>
          <a:prstGeom prst="ellipse">
            <a:avLst/>
          </a:prstGeom>
          <a:solidFill>
            <a:srgbClr val="E46C0A"/>
          </a:solidFill>
          <a:ln>
            <a:noFill/>
          </a:ln>
        </p:spPr>
        <p:txBody>
          <a:bodyPr rtlCol="0" anchor="ctr" wrap="square" lIns="54864" rIns="54864" tIns="54864" bIns="54864"/>
          <a:lstStyle/>
          <a:p>
            <a:pPr algn="ctr"/>
          </a:p>
        </p:txBody>
      </p:sp>
      <p:pic>
        <p:nvPicPr>
          <p:cNvPr id="18" name="Picture 17" descr="lightbulb_w.png"/>
          <p:cNvPicPr>
            <a:picLocks noChangeAspect="1"/>
          </p:cNvPicPr>
          <p:nvPr/>
        </p:nvPicPr>
        <p:blipFill>
          <a:blip r:embed="rId4"/>
          <a:stretch>
            <a:fillRect/>
          </a:stretch>
        </p:blipFill>
        <p:spPr>
          <a:xfrm>
            <a:off x="4773168" y="1344168"/>
            <a:ext cx="237744" cy="237744"/>
          </a:xfrm>
          <a:prstGeom prst="rect">
            <a:avLst/>
          </a:prstGeom>
        </p:spPr>
      </p:pic>
      <p:sp>
        <p:nvSpPr>
          <p:cNvPr id="19" name="TextBox 18"/>
          <p:cNvSpPr txBox="1"/>
          <p:nvPr/>
        </p:nvSpPr>
        <p:spPr>
          <a:xfrm>
            <a:off x="5212079" y="1234440"/>
            <a:ext cx="3291840" cy="457200"/>
          </a:xfrm>
          <a:prstGeom prst="rect">
            <a:avLst/>
          </a:prstGeom>
          <a:noFill/>
        </p:spPr>
        <p:txBody>
          <a:bodyPr wrap="square" anchor="ctr" lIns="36576" rIns="36576" tIns="36576" bIns="36576"/>
          <a:lstStyle/>
          <a:p>
            <a:pPr algn="l">
              <a:spcAft>
                <a:spcPts val="400"/>
              </a:spcAft>
            </a:pPr>
            <a:r>
              <a:rPr sz="2000" b="1" i="0">
                <a:solidFill>
                  <a:srgbClr val="E46C0A"/>
                </a:solidFill>
                <a:latin typeface="Calibri"/>
              </a:rPr>
              <a:t>Future Scope</a:t>
            </a:r>
          </a:p>
        </p:txBody>
      </p:sp>
      <p:sp>
        <p:nvSpPr>
          <p:cNvPr id="20" name="Rounded Rectangle 19"/>
          <p:cNvSpPr/>
          <p:nvPr/>
        </p:nvSpPr>
        <p:spPr>
          <a:xfrm>
            <a:off x="4663440" y="187451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21" name="TextBox 20"/>
          <p:cNvSpPr txBox="1"/>
          <p:nvPr/>
        </p:nvSpPr>
        <p:spPr>
          <a:xfrm>
            <a:off x="4800600" y="1892807"/>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Multimodal models fusing satellite, sensor and text data</a:t>
            </a:r>
          </a:p>
        </p:txBody>
      </p:sp>
      <p:sp>
        <p:nvSpPr>
          <p:cNvPr id="22" name="Rounded Rectangle 21"/>
          <p:cNvSpPr/>
          <p:nvPr/>
        </p:nvSpPr>
        <p:spPr>
          <a:xfrm>
            <a:off x="4663440" y="2743200"/>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23" name="TextBox 22"/>
          <p:cNvSpPr txBox="1"/>
          <p:nvPr/>
        </p:nvSpPr>
        <p:spPr>
          <a:xfrm>
            <a:off x="4800600" y="2761488"/>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Explainable, trustworthy AI for critical decisions [2]</a:t>
            </a:r>
          </a:p>
        </p:txBody>
      </p:sp>
      <p:sp>
        <p:nvSpPr>
          <p:cNvPr id="24" name="Rounded Rectangle 23"/>
          <p:cNvSpPr/>
          <p:nvPr/>
        </p:nvSpPr>
        <p:spPr>
          <a:xfrm>
            <a:off x="4663440" y="361187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25" name="TextBox 24"/>
          <p:cNvSpPr txBox="1"/>
          <p:nvPr/>
        </p:nvSpPr>
        <p:spPr>
          <a:xfrm>
            <a:off x="4800600" y="3630168"/>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Edge AI that keeps working when networks fail</a:t>
            </a:r>
          </a:p>
        </p:txBody>
      </p:sp>
      <p:sp>
        <p:nvSpPr>
          <p:cNvPr id="26" name="Rounded Rectangle 25"/>
          <p:cNvSpPr/>
          <p:nvPr/>
        </p:nvSpPr>
        <p:spPr>
          <a:xfrm>
            <a:off x="4663440" y="4480559"/>
            <a:ext cx="4023360" cy="749808"/>
          </a:xfrm>
          <a:prstGeom prst="roundRect">
            <a:avLst>
              <a:gd name="adj" fmla="val 9756"/>
            </a:avLst>
          </a:prstGeom>
          <a:solidFill>
            <a:srgbClr val="F2F6FB"/>
          </a:solidFill>
          <a:ln>
            <a:noFill/>
          </a:ln>
        </p:spPr>
        <p:txBody>
          <a:bodyPr rtlCol="0" anchor="ctr" wrap="square" lIns="54864" rIns="54864" tIns="54864" bIns="54864"/>
          <a:lstStyle/>
          <a:p>
            <a:pPr algn="ctr"/>
          </a:p>
        </p:txBody>
      </p:sp>
      <p:sp>
        <p:nvSpPr>
          <p:cNvPr id="27" name="TextBox 26"/>
          <p:cNvSpPr txBox="1"/>
          <p:nvPr/>
        </p:nvSpPr>
        <p:spPr>
          <a:xfrm>
            <a:off x="4800600" y="4498847"/>
            <a:ext cx="3749039" cy="713232"/>
          </a:xfrm>
          <a:prstGeom prst="rect">
            <a:avLst/>
          </a:prstGeom>
          <a:noFill/>
        </p:spPr>
        <p:txBody>
          <a:bodyPr wrap="square" anchor="ctr" lIns="36576" rIns="36576" tIns="36576" bIns="36576"/>
          <a:lstStyle/>
          <a:p>
            <a:pPr algn="l">
              <a:spcAft>
                <a:spcPts val="400"/>
              </a:spcAft>
            </a:pPr>
            <a:r>
              <a:rPr sz="1400" b="0" i="0">
                <a:solidFill>
                  <a:srgbClr val="262626"/>
                </a:solidFill>
                <a:latin typeface="Calibri"/>
              </a:rPr>
              <a:t>Collaboration of government, research and industry</a:t>
            </a:r>
          </a:p>
        </p:txBody>
      </p:sp>
      <p:sp>
        <p:nvSpPr>
          <p:cNvPr id="28" name="Rounded Rectangle 27"/>
          <p:cNvSpPr/>
          <p:nvPr/>
        </p:nvSpPr>
        <p:spPr>
          <a:xfrm>
            <a:off x="457200" y="5440680"/>
            <a:ext cx="8229600" cy="749808"/>
          </a:xfrm>
          <a:prstGeom prst="roundRect">
            <a:avLst>
              <a:gd name="adj" fmla="val 9756"/>
            </a:avLst>
          </a:prstGeom>
          <a:solidFill>
            <a:srgbClr val="1F497D"/>
          </a:solidFill>
          <a:ln>
            <a:noFill/>
          </a:ln>
        </p:spPr>
        <p:txBody>
          <a:bodyPr rtlCol="0" anchor="ctr" wrap="square" lIns="109728" rIns="109728" tIns="109728" bIns="109728"/>
          <a:lstStyle/>
          <a:p>
            <a:pPr algn="ctr">
              <a:spcAft>
                <a:spcPts val="0"/>
              </a:spcAft>
            </a:pPr>
            <a:r>
              <a:rPr sz="1500" b="1" i="0">
                <a:solidFill>
                  <a:srgbClr val="FFFFFF"/>
                </a:solidFill>
                <a:latin typeface="Calibri"/>
              </a:rPr>
              <a:t>AI enables earlier detection, faster assessment and smarter response — with humans in the loop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24"/>
            <a:ext cx="9144000" cy="1143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a:t>References </a:t>
            </a:r>
          </a:p>
        </p:txBody>
      </p:sp>
      <p:sp>
        <p:nvSpPr>
          <p:cNvPr id="5" name="Title 7"/>
          <p:cNvSpPr>
            <a:spLocks noGrp="1"/>
          </p:cNvSpPr>
          <p:nvPr>
            <p:ph idx="1"/>
          </p:nvPr>
        </p:nvSpPr>
        <p:spPr>
          <a:xfrm>
            <a:off x="320040" y="1280160"/>
            <a:ext cx="8503920" cy="4983480"/>
          </a:xfrm>
        </p:spPr>
        <p:txBody>
          <a:bodyPr vert="horz" lIns="91440" tIns="45720" rIns="91440" bIns="45720" rtlCol="0">
            <a:noAutofit/>
          </a:bodyPr>
          <a:lstStyle/>
          <a:p>
            <a:pPr algn="l" marL="411480" indent="-411480">
              <a:spcAft>
                <a:spcPts val="1000"/>
              </a:spcAft>
              <a:buNone/>
            </a:pPr>
            <a:r>
              <a:rPr sz="1300" b="1" i="0">
                <a:solidFill>
                  <a:srgbClr val="1F497D"/>
                </a:solidFill>
                <a:latin typeface="Times New Roman"/>
              </a:rPr>
              <a:t>[1]  </a:t>
            </a:r>
            <a:r>
              <a:rPr sz="1300" b="0" i="0">
                <a:solidFill>
                  <a:srgbClr val="262626"/>
                </a:solidFill>
                <a:latin typeface="Times New Roman"/>
              </a:rPr>
              <a:t>S. Muthukumar et al., “A systematic review of artificial intelligence frameworks for holistic disaster management,” Discover Artificial Intelligence, vol. 6, Art. no. 308, 2026, doi: 10.1007/s44163-026-01020-w.</a:t>
            </a:r>
          </a:p>
          <a:p>
            <a:pPr algn="l" marL="411480" indent="-411480">
              <a:spcAft>
                <a:spcPts val="1000"/>
              </a:spcAft>
              <a:buNone/>
            </a:pPr>
            <a:r>
              <a:rPr sz="1300" b="1" i="0">
                <a:solidFill>
                  <a:srgbClr val="1F497D"/>
                </a:solidFill>
                <a:latin typeface="Times New Roman"/>
              </a:rPr>
              <a:t>[2]  </a:t>
            </a:r>
            <a:r>
              <a:rPr sz="1300" b="0" i="0">
                <a:solidFill>
                  <a:srgbClr val="262626"/>
                </a:solidFill>
                <a:latin typeface="Times New Roman"/>
              </a:rPr>
              <a:t>“A systematic review of trustworthy artificial intelligence applications in natural disasters,” Computers &amp; Electrical Engineering, vol. 118, pt. B, Art. no. 109409, 2024, doi: 10.1016/j.compeleceng.2024.109409.</a:t>
            </a:r>
          </a:p>
          <a:p>
            <a:pPr algn="l" marL="411480" indent="-411480">
              <a:spcAft>
                <a:spcPts val="1000"/>
              </a:spcAft>
              <a:buNone/>
            </a:pPr>
            <a:r>
              <a:rPr sz="1300" b="1" i="0">
                <a:solidFill>
                  <a:srgbClr val="1F497D"/>
                </a:solidFill>
                <a:latin typeface="Times New Roman"/>
              </a:rPr>
              <a:t>[3]  </a:t>
            </a:r>
            <a:r>
              <a:rPr sz="1300" b="0" i="0">
                <a:solidFill>
                  <a:srgbClr val="262626"/>
                </a:solidFill>
                <a:latin typeface="Times New Roman"/>
              </a:rPr>
              <a:t>Akhyar et al., “Deep artificial intelligence applications for natural disaster management systems: A methodological review,” Ecological Indicators, vol. 163, Art. no. 112067, 2024, doi: 10.1016/j.ecolind.2024.112067.</a:t>
            </a:r>
          </a:p>
          <a:p>
            <a:pPr algn="l" marL="411480" indent="-411480">
              <a:spcAft>
                <a:spcPts val="1000"/>
              </a:spcAft>
              <a:buNone/>
            </a:pPr>
            <a:r>
              <a:rPr sz="1300" b="1" i="0">
                <a:solidFill>
                  <a:srgbClr val="1F497D"/>
                </a:solidFill>
                <a:latin typeface="Times New Roman"/>
              </a:rPr>
              <a:t>[4]  </a:t>
            </a:r>
            <a:r>
              <a:rPr sz="1300" b="0" i="0">
                <a:solidFill>
                  <a:srgbClr val="262626"/>
                </a:solidFill>
                <a:latin typeface="Times New Roman"/>
              </a:rPr>
              <a:t>“Artificial intelligence for flood risk management: A comprehensive state-of-the-art review and future directions,” Int. J. Disaster Risk Reduction, vol. 117, Art. no. 105110, 2025, doi: 10.1016/j.ijdrr.2024.105110.</a:t>
            </a:r>
          </a:p>
          <a:p>
            <a:pPr algn="l" marL="411480" indent="-411480">
              <a:spcAft>
                <a:spcPts val="1000"/>
              </a:spcAft>
              <a:buNone/>
            </a:pPr>
            <a:r>
              <a:rPr sz="1300" b="1" i="0">
                <a:solidFill>
                  <a:srgbClr val="1F497D"/>
                </a:solidFill>
                <a:latin typeface="Times New Roman"/>
              </a:rPr>
              <a:t>[5]  </a:t>
            </a:r>
            <a:r>
              <a:rPr sz="1300" b="0" i="0">
                <a:solidFill>
                  <a:srgbClr val="262626"/>
                </a:solidFill>
                <a:latin typeface="Times New Roman"/>
              </a:rPr>
              <a:t>“Survey of AI-Enabled IoT for Wildfire Prediction, Detection, and Post-Operations,” IEEE Access, vol. 14, pp. 9819–9837, 2026, doi: 10.1109/ACCESS.2026.3654863.</a:t>
            </a:r>
          </a:p>
          <a:p>
            <a:pPr algn="l" marL="411480" indent="-411480">
              <a:spcAft>
                <a:spcPts val="1000"/>
              </a:spcAft>
              <a:buNone/>
            </a:pPr>
            <a:r>
              <a:rPr sz="1300" b="1" i="0">
                <a:solidFill>
                  <a:srgbClr val="1F497D"/>
                </a:solidFill>
                <a:latin typeface="Times New Roman"/>
              </a:rPr>
              <a:t>[6]  </a:t>
            </a:r>
            <a:r>
              <a:rPr sz="1300" b="0" i="0">
                <a:solidFill>
                  <a:srgbClr val="262626"/>
                </a:solidFill>
                <a:latin typeface="Times New Roman"/>
              </a:rPr>
              <a:t>Z. Lei et al., “Harnessing Large Language Models for Disaster Management: A Survey,” in Findings of the Association for Computational Linguistics: ACL 2025, 2025, pp. 14528–14551.</a:t>
            </a:r>
          </a:p>
          <a:p>
            <a:pPr algn="l" marL="411480" indent="-411480">
              <a:spcAft>
                <a:spcPts val="1000"/>
              </a:spcAft>
              <a:buNone/>
            </a:pPr>
            <a:r>
              <a:rPr sz="1300" b="1" i="0">
                <a:solidFill>
                  <a:srgbClr val="1F497D"/>
                </a:solidFill>
                <a:latin typeface="Times New Roman"/>
              </a:rPr>
              <a:t>[7]  </a:t>
            </a:r>
            <a:r>
              <a:rPr sz="1300" b="0" i="0">
                <a:solidFill>
                  <a:srgbClr val="262626"/>
                </a:solidFill>
                <a:latin typeface="Times New Roman"/>
              </a:rPr>
              <a:t>Z. Chen et al., “Integration of large vision language models for efficient post-disaster damage assessment and reporting,” Nature Communications, 2026. [Online]. Available: https://www.nature.com/articles/s41467-025-68216-z</a:t>
            </a:r>
          </a:p>
          <a:p>
            <a:pPr algn="l" marL="411480" indent="-411480">
              <a:spcAft>
                <a:spcPts val="1000"/>
              </a:spcAft>
              <a:buNone/>
            </a:pPr>
            <a:r>
              <a:rPr sz="1300" b="1" i="0">
                <a:solidFill>
                  <a:srgbClr val="1F497D"/>
                </a:solidFill>
                <a:latin typeface="Times New Roman"/>
              </a:rPr>
              <a:t>[8]  </a:t>
            </a:r>
            <a:r>
              <a:rPr sz="1300" b="0" i="0">
                <a:solidFill>
                  <a:srgbClr val="262626"/>
                </a:solidFill>
                <a:latin typeface="Times New Roman"/>
              </a:rPr>
              <a:t>S. Hochreiter and J. Schmidhuber, “Long Short-Term Memory,” Neural Computation, vol. 9, no. 8, pp. 1735–1780, 1997.</a:t>
            </a:r>
          </a:p>
        </p:txBody>
      </p:sp>
      <p:sp>
        <p:nvSpPr>
          <p:cNvPr id="6" name="Slide Number Placeholder 5"/>
          <p:cNvSpPr>
            <a:spLocks noGrp="1"/>
          </p:cNvSpPr>
          <p:nvPr>
            <p:ph type="sldNum" sz="quarter" idx="12"/>
          </p:nvPr>
        </p:nvSpPr>
        <p:spPr/>
        <p:txBody>
          <a:bodyPr/>
          <a:lstStyle/>
          <a:p>
            <a:fld id="{1EC248AB-E565-412B-9D95-9B07D6A4F3F3}" type="slidenum">
              <a:rPr lang="en-GB" smtClean="0"/>
              <a:pPr/>
              <a:t>15</a:t>
            </a:fld>
            <a:endParaRPr lang="en-GB"/>
          </a:p>
        </p:txBody>
      </p:sp>
      <p:pic>
        <p:nvPicPr>
          <p:cNvPr id="8" name="Picture 7"/>
          <p:cNvPicPr>
            <a:picLocks noChangeAspect="1"/>
          </p:cNvPicPr>
          <p:nvPr/>
        </p:nvPicPr>
        <p:blipFill>
          <a:blip r:embed="rId2" cstate="print">
            <a:clrChange>
              <a:clrFrom>
                <a:srgbClr val="FDFCFA"/>
              </a:clrFrom>
              <a:clrTo>
                <a:srgbClr val="FDFCFA">
                  <a:alpha val="0"/>
                </a:srgbClr>
              </a:clrTo>
            </a:clrChange>
            <a:extLst>
              <a:ext uri="{28A0092B-C50C-407E-A947-70E740481C1C}">
                <a14:useLocalDpi xmlns:a14="http://schemas.microsoft.com/office/drawing/2010/main" val="0"/>
              </a:ext>
            </a:extLst>
          </a:blip>
          <a:stretch>
            <a:fillRect/>
          </a:stretch>
        </p:blipFill>
        <p:spPr>
          <a:xfrm>
            <a:off x="-1" y="19188"/>
            <a:ext cx="1312443" cy="10863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1745" r="3185"/>
          <a:stretch/>
        </p:blipFill>
        <p:spPr>
          <a:xfrm>
            <a:off x="1167826" y="54591"/>
            <a:ext cx="6984776" cy="1196752"/>
          </a:xfrm>
          <a:prstGeom prst="rect">
            <a:avLst/>
          </a:prstGeom>
        </p:spPr>
      </p:pic>
      <p:pic>
        <p:nvPicPr>
          <p:cNvPr id="8" name="Picture 7"/>
          <p:cNvPicPr>
            <a:picLocks noChangeAspect="1"/>
          </p:cNvPicPr>
          <p:nvPr/>
        </p:nvPicPr>
        <p:blipFill>
          <a:blip r:embed="rId3" cstate="print">
            <a:clrChange>
              <a:clrFrom>
                <a:srgbClr val="FDFCFA"/>
              </a:clrFrom>
              <a:clrTo>
                <a:srgbClr val="FDFCFA">
                  <a:alpha val="0"/>
                </a:srgbClr>
              </a:clrTo>
            </a:clrChange>
            <a:extLst>
              <a:ext uri="{28A0092B-C50C-407E-A947-70E740481C1C}">
                <a14:useLocalDpi xmlns:a14="http://schemas.microsoft.com/office/drawing/2010/main" val="0"/>
              </a:ext>
            </a:extLst>
          </a:blip>
          <a:stretch>
            <a:fillRect/>
          </a:stretch>
        </p:blipFill>
        <p:spPr>
          <a:xfrm>
            <a:off x="226388" y="218109"/>
            <a:ext cx="918823" cy="760533"/>
          </a:xfrm>
          <a:prstGeom prst="rect">
            <a:avLst/>
          </a:prstGeom>
        </p:spPr>
      </p:pic>
      <p:sp>
        <p:nvSpPr>
          <p:cNvPr id="9" name="TextBox 8"/>
          <p:cNvSpPr txBox="1"/>
          <p:nvPr/>
        </p:nvSpPr>
        <p:spPr>
          <a:xfrm>
            <a:off x="685800" y="2286000"/>
            <a:ext cx="7772400" cy="1005840"/>
          </a:xfrm>
          <a:prstGeom prst="rect">
            <a:avLst/>
          </a:prstGeom>
          <a:noFill/>
        </p:spPr>
        <p:txBody>
          <a:bodyPr wrap="square" anchor="ctr" lIns="36576" rIns="36576" tIns="36576" bIns="36576"/>
          <a:lstStyle/>
          <a:p>
            <a:pPr algn="ctr">
              <a:spcAft>
                <a:spcPts val="400"/>
              </a:spcAft>
            </a:pPr>
            <a:r>
              <a:rPr sz="4800" b="1" i="0">
                <a:solidFill>
                  <a:srgbClr val="1F497D"/>
                </a:solidFill>
                <a:latin typeface="Times New Roman"/>
              </a:rPr>
              <a:t>Thank You</a:t>
            </a:r>
          </a:p>
        </p:txBody>
      </p:sp>
      <p:sp>
        <p:nvSpPr>
          <p:cNvPr id="10" name="TextBox 9"/>
          <p:cNvSpPr txBox="1"/>
          <p:nvPr/>
        </p:nvSpPr>
        <p:spPr>
          <a:xfrm>
            <a:off x="685800" y="3291840"/>
            <a:ext cx="7772400" cy="548640"/>
          </a:xfrm>
          <a:prstGeom prst="rect">
            <a:avLst/>
          </a:prstGeom>
          <a:noFill/>
        </p:spPr>
        <p:txBody>
          <a:bodyPr wrap="square" anchor="ctr" lIns="36576" rIns="36576" tIns="36576" bIns="36576"/>
          <a:lstStyle/>
          <a:p>
            <a:pPr algn="ctr">
              <a:spcAft>
                <a:spcPts val="400"/>
              </a:spcAft>
            </a:pPr>
            <a:r>
              <a:rPr sz="2400" b="0" i="0">
                <a:solidFill>
                  <a:srgbClr val="262626"/>
                </a:solidFill>
                <a:latin typeface="Times New Roman"/>
              </a:rPr>
              <a:t>Questions &amp; Discussion</a:t>
            </a:r>
          </a:p>
        </p:txBody>
      </p:sp>
      <p:sp>
        <p:nvSpPr>
          <p:cNvPr id="11" name="TextBox 10"/>
          <p:cNvSpPr txBox="1"/>
          <p:nvPr/>
        </p:nvSpPr>
        <p:spPr>
          <a:xfrm>
            <a:off x="685800" y="4572000"/>
            <a:ext cx="7772400" cy="1005840"/>
          </a:xfrm>
          <a:prstGeom prst="rect">
            <a:avLst/>
          </a:prstGeom>
          <a:noFill/>
        </p:spPr>
        <p:txBody>
          <a:bodyPr wrap="square" anchor="t" lIns="36576" rIns="36576" tIns="36576" bIns="36576"/>
          <a:lstStyle/>
          <a:p>
            <a:pPr algn="ctr">
              <a:spcAft>
                <a:spcPts val="200"/>
              </a:spcAft>
            </a:pPr>
            <a:r>
              <a:rPr sz="1600" b="0" i="0">
                <a:solidFill>
                  <a:srgbClr val="595959"/>
                </a:solidFill>
                <a:latin typeface="Times New Roman"/>
              </a:rPr>
              <a:t>Vedika Dandade  |  Roll No.: B344</a:t>
            </a:r>
          </a:p>
          <a:p>
            <a:pPr algn="ctr">
              <a:spcAft>
                <a:spcPts val="200"/>
              </a:spcAft>
            </a:pPr>
            <a:r>
              <a:rPr sz="1600" b="0" i="0">
                <a:solidFill>
                  <a:srgbClr val="595959"/>
                </a:solidFill>
                <a:latin typeface="Times New Roman"/>
              </a:rPr>
              <a:t>Department of Computer Engineering, BIT, Wardha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17307</TotalTime>
  <Words>822</Words>
  <Application>Microsoft Office PowerPoint</Application>
  <PresentationFormat>On-screen Show (4:3)</PresentationFormat>
  <Paragraphs>87</Paragraphs>
  <Slides>16</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Times New Roman</vt:lpstr>
      <vt:lpstr>Office Theme</vt:lpstr>
      <vt:lpstr>2_Office Theme</vt:lpstr>
      <vt:lpstr>Points to Note</vt:lpstr>
      <vt:lpstr>PowerPoint Presentation</vt:lpstr>
      <vt:lpstr>Title   Delivered By:  Name of Student  Department of Computer Engineering Bajaj Institute of Technology, Wardha.  Under Supervision of:    Name of Faculty Designation of faculty  Computer Engineering Department, BIT, Wardha     </vt:lpstr>
      <vt:lpstr>Index</vt:lpstr>
      <vt:lpstr>PowerPoint Presentation</vt:lpstr>
      <vt:lpstr>Objective </vt:lpstr>
      <vt:lpstr> Literature Review </vt:lpstr>
      <vt:lpstr>PowerPoint Presentation</vt:lpstr>
      <vt:lpstr> Baseline Papers Selected for Seminar Work </vt:lpstr>
      <vt:lpstr>System architecture/Algorithms Studied</vt:lpstr>
      <vt:lpstr>Features/Advantages/Disadvantages </vt:lpstr>
      <vt:lpstr>Applications </vt:lpstr>
      <vt:lpstr>Analysis/Comparison </vt:lpstr>
      <vt:lpstr>Conclusion </vt:lpstr>
      <vt:lpstr>References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Gajanan Tikhe</cp:lastModifiedBy>
  <cp:revision>764</cp:revision>
  <dcterms:created xsi:type="dcterms:W3CDTF">2010-06-24T14:41:07Z</dcterms:created>
  <dcterms:modified xsi:type="dcterms:W3CDTF">2026-09-05T04:49:03Z</dcterms:modified>
</cp:coreProperties>
</file>