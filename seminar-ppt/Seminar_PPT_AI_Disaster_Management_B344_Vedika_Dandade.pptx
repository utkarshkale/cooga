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4" r:id="rId1"/>
    <p:sldMasterId id="2147483804" r:id="rId2"/>
  </p:sldMasterIdLst>
  <p:notesMasterIdLst>
    <p:notesMasterId r:id="rId19"/>
  </p:notesMasterIdLst>
  <p:handoutMasterIdLst>
    <p:handoutMasterId r:id="rId20"/>
  </p:handout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5"/>
    <p:sldId id="273" r:id="rId2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CFEA"/>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7" autoAdjust="0"/>
    <p:restoredTop sz="94624" autoAdjust="0"/>
  </p:normalViewPr>
  <p:slideViewPr>
    <p:cSldViewPr>
      <p:cViewPr varScale="1">
        <p:scale>
          <a:sx n="65" d="100"/>
          <a:sy n="65" d="100"/>
        </p:scale>
        <p:origin x="1554" y="78"/>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51B6C61-D26D-4CEA-A1F0-27D95809EFC3}" type="datetimeFigureOut">
              <a:rPr lang="en-US" smtClean="0"/>
              <a:pPr/>
              <a:t>9/5/2026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0F6C1F1A-88C9-4BF9-8699-F22C6D8974EF}" type="slidenum">
              <a:rPr lang="en-US" smtClean="0"/>
              <a:pPr/>
              <a:t>‹#›</a:t>
            </a:fld>
            <a:endParaRPr lang="en-US"/>
          </a:p>
        </p:txBody>
      </p:sp>
    </p:spTree>
    <p:extLst>
      <p:ext uri="{BB962C8B-B14F-4D97-AF65-F5344CB8AC3E}">
        <p14:creationId xmlns:p14="http://schemas.microsoft.com/office/powerpoint/2010/main" val="22679753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A13ADEF-1232-40E6-AA0C-2DC4E3D89003}" type="datetimeFigureOut">
              <a:rPr lang="en-GB" smtClean="0"/>
              <a:pPr/>
              <a:t>05/09/2026</a:t>
            </a:fld>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E5E719B-CAD1-4CDF-AC07-FD62E51C143C}" type="slidenum">
              <a:rPr lang="en-GB" smtClean="0"/>
              <a:pPr/>
              <a:t>‹#›</a:t>
            </a:fld>
            <a:endParaRPr lang="en-GB"/>
          </a:p>
        </p:txBody>
      </p:sp>
    </p:spTree>
    <p:extLst>
      <p:ext uri="{BB962C8B-B14F-4D97-AF65-F5344CB8AC3E}">
        <p14:creationId xmlns:p14="http://schemas.microsoft.com/office/powerpoint/2010/main" val="1751717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seminar topic is AI in Disaster Management: how artificial intelligence helps predict disasters, assess damage, extract critical information and plan the response.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flow of the presentation, following the seminar 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Disasters such as floods, cyclones and earthquakes cause huge losses every year. Traditional management depends on manual surveys and delayed information. Today we have satellite and drone imagery, IoT sensors and social media giving data in real time, and AI can process it quickly. The diagram shows the disaster management cycle - mitigation, preparedness, response and recovery - and AI supports every phase.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objectives are to understand where AI fits in each phase of disaster management, study the main AI techniques, explore real applications, analyse a complete system pipeline, and discuss challenges and future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grouped the literature into four themes. Systematic reviews give the overall map - the Muthukumar review alone synthesises 96 studies. Hazard-specific papers cover floods, earthquakes and wildfires. The ACL survey covers large language models, and the Nature Communications paper presents DisasTeller, a multi-agent vision-language system for damage assessment and reporting.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each paper and what it reports. The first four are broad reviews and hazard-specific reviews for floods, fires and earthquakes.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each paper and what it reports. These cover AIoT for wildfires, large language models, and the DisasTeller vision-language system.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baseline is the systematic review by Muthukumar et al., because it covers all phases and AI approaches. The ACL survey supports the language-model part, and the DisasTeller paper shows how vision-language agents can automate damage assessment and reporting. Reviews 2 to 5 were then used for early-warning, flood and wildfire details.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overall system. Data comes from satellites and drones, IoT sensors, social media and government databases. The AI layer cleans and fuses it, then applies deep learning, NLP and optimization models. The decision-support layer predicts risk, assesses damage, extracts information and allocates resources. Outputs are warnings, damage maps, evacuation routes and reports. A feedback loop with human validation keeps improving the models.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early warning, the model takes historical and real-time readings such as rainfall and river level. After normalisation the data is split into time windows and fed to an LSTM or Transformer. The LSTM's gates let it remember long-term patterns like several days of rain. It predicts the flood risk for the next hours; if the prediction crosses a threshold tau, an alert is issued for that region.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damage assessment, the system takes satellite or drone images from before and after the event. After aligning them, a CNN or Vision Transformer performs semantic segmentation and labels each building or region: no damage, minor, major or destroyed. The result is a damage map overlaid on GIS for responders. DisasTeller extends this with four vision-language agents that also produce alerts, emergency reports and resource and recovery plans.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a disaster people post messages like these. An NLP model such as BERT or an LLM with named entity recognition extracts structured fields - location, event, need and severity - so responders can prioritise. For evacuation, reinforcement learning treats routing as a sequential decision problem: the agent observes the state - location, congestion and hazard - chooses the next road, and gets a reward for safety and speed. Algorithms like PPO or DQN learn the best evacuation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features are data fusion, real-time monitoring, prediction, automatic mapping and decision support. Advantages include more lead time, faster assessment and better use of resources. But there are real limitations: data on rare disasters is scarce, models may not transfer to new regions, black-box outputs reduce trust, infrastructure can fail during the disaster itself, and social media contains misinformation.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Applications include flood forecasting, wildfire detection with AI-enabled IoT, earthquake damage mapping, cyclone tracking, crisis informatics using language models, and relief logistics.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traditional and AI-based approaches: AI gives earlier warnings, maps damage in hours instead of days, triages social media automatically, adapts routes as conditions change and generates reports quickly. But AI should support human decision-makers, and its outputs must be explainable and trusted.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AI can strengthen early detection, damage assessment, information extraction and resource allocation. Future work should focus on multimodal models, explainability, edge deployment and close collaboration with disaster-management authorities.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IEEE format; numbers in square brackets on the slides point to this list.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C3A9361A-5752-4A3F-B317-24EB821E62FC}"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484ABE7-6F46-483A-A318-EB7CEB294141}"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5677C19-3876-44A2-A0CE-E292A435F0D3}"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B47744B-983E-408C-A292-CA00D1954083}"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83B162A-B07D-4289-86AD-0FFE81BAD1C7}" type="datetime1">
              <a:rPr lang="en-GB" smtClean="0"/>
              <a:t>05/09/2026</a:t>
            </a:fld>
            <a:endParaRPr lang="en-GB"/>
          </a:p>
        </p:txBody>
      </p:sp>
      <p:sp>
        <p:nvSpPr>
          <p:cNvPr id="8" name="Footer Placeholder 7"/>
          <p:cNvSpPr>
            <a:spLocks noGrp="1"/>
          </p:cNvSpPr>
          <p:nvPr>
            <p:ph type="ftr" sz="quarter" idx="11"/>
          </p:nvPr>
        </p:nvSpPr>
        <p:spPr/>
        <p:txBody>
          <a:bodyPr/>
          <a:lstStyle/>
          <a:p>
            <a:r>
              <a:rPr lang="en-GB"/>
              <a:t>1</a:t>
            </a:r>
          </a:p>
        </p:txBody>
      </p:sp>
      <p:sp>
        <p:nvSpPr>
          <p:cNvPr id="9" name="Slide Number Placeholder 8"/>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0661FC8-3BD0-4B3E-92B0-041560FB0C80}" type="datetime1">
              <a:rPr lang="en-GB" smtClean="0"/>
              <a:t>05/09/2026</a:t>
            </a:fld>
            <a:endParaRPr lang="en-GB"/>
          </a:p>
        </p:txBody>
      </p:sp>
      <p:sp>
        <p:nvSpPr>
          <p:cNvPr id="4" name="Footer Placeholder 3"/>
          <p:cNvSpPr>
            <a:spLocks noGrp="1"/>
          </p:cNvSpPr>
          <p:nvPr>
            <p:ph type="ftr" sz="quarter" idx="11"/>
          </p:nvPr>
        </p:nvSpPr>
        <p:spPr/>
        <p:txBody>
          <a:bodyPr/>
          <a:lstStyle/>
          <a:p>
            <a:r>
              <a:rPr lang="en-GB"/>
              <a:t>1</a:t>
            </a:r>
          </a:p>
        </p:txBody>
      </p:sp>
      <p:sp>
        <p:nvSpPr>
          <p:cNvPr id="5" name="Slide Number Placeholder 4"/>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402F35F-FAE8-42C5-8897-AB27EC360220}" type="datetime1">
              <a:rPr lang="en-GB" smtClean="0"/>
              <a:t>05/09/2026</a:t>
            </a:fld>
            <a:endParaRPr lang="en-GB"/>
          </a:p>
        </p:txBody>
      </p:sp>
      <p:sp>
        <p:nvSpPr>
          <p:cNvPr id="3" name="Footer Placeholder 2"/>
          <p:cNvSpPr>
            <a:spLocks noGrp="1"/>
          </p:cNvSpPr>
          <p:nvPr>
            <p:ph type="ftr" sz="quarter" idx="11"/>
          </p:nvPr>
        </p:nvSpPr>
        <p:spPr/>
        <p:txBody>
          <a:bodyPr/>
          <a:lstStyle/>
          <a:p>
            <a:r>
              <a:rPr lang="en-GB"/>
              <a:t>1</a:t>
            </a:r>
          </a:p>
        </p:txBody>
      </p:sp>
      <p:sp>
        <p:nvSpPr>
          <p:cNvPr id="4" name="Slide Number Placeholder 3"/>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047C1F6-3D22-4CB7-8FE7-C5A85987562C}"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7DA32B8-8311-4207-ADB6-15A12511FDD5}"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3FA4A5E-0E72-4911-9A6C-0A673FF39788}"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FDF5CE2-47B1-41AD-9B44-AEAA57961DF6}"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E6448341-C165-4832-A930-9C14941FE0C1}"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45333B3-7E08-4232-BF01-CEA4A255EC85}"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83250C1-0B22-40BA-8D3C-820F66690A62}"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66D7607-6B78-432E-ACEE-70CC6F79C167}"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CB2FA96-2CB9-4FF3-985F-7F96F41E8B43}" type="datetime1">
              <a:rPr lang="en-GB" smtClean="0"/>
              <a:t>05/09/2026</a:t>
            </a:fld>
            <a:endParaRPr lang="en-GB"/>
          </a:p>
        </p:txBody>
      </p:sp>
      <p:sp>
        <p:nvSpPr>
          <p:cNvPr id="8" name="Footer Placeholder 7"/>
          <p:cNvSpPr>
            <a:spLocks noGrp="1"/>
          </p:cNvSpPr>
          <p:nvPr>
            <p:ph type="ftr" sz="quarter" idx="11"/>
          </p:nvPr>
        </p:nvSpPr>
        <p:spPr/>
        <p:txBody>
          <a:bodyPr/>
          <a:lstStyle/>
          <a:p>
            <a:r>
              <a:rPr lang="en-GB"/>
              <a:t>1</a:t>
            </a:r>
          </a:p>
        </p:txBody>
      </p:sp>
      <p:sp>
        <p:nvSpPr>
          <p:cNvPr id="9" name="Slide Number Placeholder 8"/>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D8717EC-8CF9-4F7A-A293-4675CA811524}" type="datetime1">
              <a:rPr lang="en-GB" smtClean="0"/>
              <a:t>05/09/2026</a:t>
            </a:fld>
            <a:endParaRPr lang="en-GB"/>
          </a:p>
        </p:txBody>
      </p:sp>
      <p:sp>
        <p:nvSpPr>
          <p:cNvPr id="4" name="Footer Placeholder 3"/>
          <p:cNvSpPr>
            <a:spLocks noGrp="1"/>
          </p:cNvSpPr>
          <p:nvPr>
            <p:ph type="ftr" sz="quarter" idx="11"/>
          </p:nvPr>
        </p:nvSpPr>
        <p:spPr/>
        <p:txBody>
          <a:bodyPr/>
          <a:lstStyle/>
          <a:p>
            <a:r>
              <a:rPr lang="en-GB"/>
              <a:t>1</a:t>
            </a:r>
          </a:p>
        </p:txBody>
      </p:sp>
      <p:sp>
        <p:nvSpPr>
          <p:cNvPr id="5" name="Slide Number Placeholder 4"/>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A5CBD2-66C1-423B-A11A-13158259126E}" type="datetime1">
              <a:rPr lang="en-GB" smtClean="0"/>
              <a:t>05/09/2026</a:t>
            </a:fld>
            <a:endParaRPr lang="en-GB"/>
          </a:p>
        </p:txBody>
      </p:sp>
      <p:sp>
        <p:nvSpPr>
          <p:cNvPr id="3" name="Footer Placeholder 2"/>
          <p:cNvSpPr>
            <a:spLocks noGrp="1"/>
          </p:cNvSpPr>
          <p:nvPr>
            <p:ph type="ftr" sz="quarter" idx="11"/>
          </p:nvPr>
        </p:nvSpPr>
        <p:spPr/>
        <p:txBody>
          <a:bodyPr/>
          <a:lstStyle/>
          <a:p>
            <a:r>
              <a:rPr lang="en-GB"/>
              <a:t>1</a:t>
            </a:r>
          </a:p>
        </p:txBody>
      </p:sp>
      <p:sp>
        <p:nvSpPr>
          <p:cNvPr id="4" name="Slide Number Placeholder 3"/>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565167D-FA03-46DF-85C9-4E3D5ADDD51D}"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B327E4E-DF66-43CE-8D2C-97EC90D9C7A6}"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DF1A745-BAE3-4F75-B15E-70CC5EF55A39}"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73DBEF5-61E2-41D4-ADC0-52B6DDA9D0E3}"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860F32-3C46-499F-A5B1-466BADF91087}" type="datetime1">
              <a:rPr lang="en-GB" smtClean="0"/>
              <a:t>05/09/2026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C248AB-E565-412B-9D95-9B07D6A4F3F3}"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transition advClick="0" advTm="20000"/>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24274D-0DB2-4E56-B769-729881BF81BB}" type="datetime1">
              <a:rPr lang="en-GB" smtClean="0"/>
              <a:t>05/09/2026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C248AB-E565-412B-9D95-9B07D6A4F3F3}"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Lst>
  <p:transition advClick="0" advTm="20000"/>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7.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13.png"/><Relationship Id="rId8" Type="http://schemas.openxmlformats.org/officeDocument/2006/relationships/image" Target="../media/image41.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5.png"/><Relationship Id="rId4" Type="http://schemas.openxmlformats.org/officeDocument/2006/relationships/image" Target="../media/image4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B31"/>
        </a:solidFill>
        <a:effectLst/>
      </p:bgPr>
    </p:bg>
    <p:spTree>
      <p:nvGrpSpPr>
        <p:cNvPr id="1" name=""/>
        <p:cNvGrpSpPr/>
        <p:nvPr/>
      </p:nvGrpSpPr>
      <p:grpSpPr/>
      <p:sp>
        <p:nvSpPr>
          <p:cNvPr id="2" name="Rectangle 1"/>
          <p:cNvSpPr/>
          <p:nvPr/>
        </p:nvSpPr>
        <p:spPr>
          <a:xfrm>
            <a:off x="0" y="0"/>
            <a:ext cx="9144000" cy="1371600"/>
          </a:xfrm>
          <a:prstGeom prst="rect">
            <a:avLst/>
          </a:prstGeom>
          <a:solidFill>
            <a:srgbClr val="FFFFFF"/>
          </a:solidFill>
          <a:ln>
            <a:noFill/>
          </a:ln>
        </p:spPr>
        <p:txBody>
          <a:bodyPr rtlCol="0" anchor="ctr" wrap="square" lIns="54864" rIns="54864" tIns="54864" bIns="54864"/>
          <a:lstStyle/>
          <a:p>
            <a:pPr algn="ctr"/>
          </a:p>
        </p:txBody>
      </p:sp>
      <p:pic>
        <p:nvPicPr>
          <p:cNvPr id="3" name="Picture 2" descr="image.jpg"/>
          <p:cNvPicPr>
            <a:picLocks noChangeAspect="1"/>
          </p:cNvPicPr>
          <p:nvPr/>
        </p:nvPicPr>
        <p:blipFill>
          <a:blip r:embed="rId2"/>
          <a:stretch>
            <a:fillRect/>
          </a:stretch>
        </p:blipFill>
        <p:spPr>
          <a:xfrm>
            <a:off x="320040" y="182880"/>
            <a:ext cx="1280160" cy="964171"/>
          </a:xfrm>
          <a:prstGeom prst="rect">
            <a:avLst/>
          </a:prstGeom>
        </p:spPr>
      </p:pic>
      <p:pic>
        <p:nvPicPr>
          <p:cNvPr id="4" name="Picture 3" descr="image.png"/>
          <p:cNvPicPr>
            <a:picLocks noChangeAspect="1"/>
          </p:cNvPicPr>
          <p:nvPr/>
        </p:nvPicPr>
        <p:blipFill>
          <a:blip r:embed="rId3"/>
          <a:srcRect l="11745" r="3185"/>
          <a:stretch>
            <a:fillRect/>
          </a:stretch>
        </p:blipFill>
        <p:spPr>
          <a:xfrm>
            <a:off x="1691640" y="155448"/>
            <a:ext cx="7178040" cy="1069848"/>
          </a:xfrm>
          <a:prstGeom prst="rect">
            <a:avLst/>
          </a:prstGeom>
        </p:spPr>
      </p:pic>
      <p:sp>
        <p:nvSpPr>
          <p:cNvPr id="5" name="Oval 4"/>
          <p:cNvSpPr/>
          <p:nvPr/>
        </p:nvSpPr>
        <p:spPr>
          <a:xfrm>
            <a:off x="6949440" y="2880360"/>
            <a:ext cx="822960" cy="822960"/>
          </a:xfrm>
          <a:prstGeom prst="ellipse">
            <a:avLst/>
          </a:prstGeom>
          <a:noFill/>
          <a:ln w="15875">
            <a:solidFill>
              <a:srgbClr val="9CCBC7">
                <a:alpha val="70000"/>
              </a:srgbClr>
            </a:solidFill>
          </a:ln>
        </p:spPr>
        <p:txBody>
          <a:bodyPr rtlCol="0" anchor="ctr" wrap="square" lIns="54864" rIns="54864" tIns="54864" bIns="54864"/>
          <a:lstStyle/>
          <a:p>
            <a:pPr algn="ctr"/>
          </a:p>
        </p:txBody>
      </p:sp>
      <p:sp>
        <p:nvSpPr>
          <p:cNvPr id="6" name="Oval 5"/>
          <p:cNvSpPr/>
          <p:nvPr/>
        </p:nvSpPr>
        <p:spPr>
          <a:xfrm>
            <a:off x="6537960" y="2468880"/>
            <a:ext cx="1645920" cy="1645920"/>
          </a:xfrm>
          <a:prstGeom prst="ellipse">
            <a:avLst/>
          </a:prstGeom>
          <a:noFill/>
          <a:ln w="15875">
            <a:solidFill>
              <a:srgbClr val="9CCBC7">
                <a:alpha val="55000"/>
              </a:srgbClr>
            </a:solidFill>
          </a:ln>
        </p:spPr>
        <p:txBody>
          <a:bodyPr rtlCol="0" anchor="ctr" wrap="square" lIns="54864" rIns="54864" tIns="54864" bIns="54864"/>
          <a:lstStyle/>
          <a:p>
            <a:pPr algn="ctr"/>
          </a:p>
        </p:txBody>
      </p:sp>
      <p:sp>
        <p:nvSpPr>
          <p:cNvPr id="7" name="Oval 6"/>
          <p:cNvSpPr/>
          <p:nvPr/>
        </p:nvSpPr>
        <p:spPr>
          <a:xfrm>
            <a:off x="6126480" y="2057400"/>
            <a:ext cx="2468880" cy="2468880"/>
          </a:xfrm>
          <a:prstGeom prst="ellipse">
            <a:avLst/>
          </a:prstGeom>
          <a:noFill/>
          <a:ln w="15875">
            <a:solidFill>
              <a:srgbClr val="9CCBC7">
                <a:alpha val="40000"/>
              </a:srgbClr>
            </a:solidFill>
          </a:ln>
        </p:spPr>
        <p:txBody>
          <a:bodyPr rtlCol="0" anchor="ctr" wrap="square" lIns="54864" rIns="54864" tIns="54864" bIns="54864"/>
          <a:lstStyle/>
          <a:p>
            <a:pPr algn="ctr"/>
          </a:p>
        </p:txBody>
      </p:sp>
      <p:sp>
        <p:nvSpPr>
          <p:cNvPr id="8" name="Oval 7"/>
          <p:cNvSpPr/>
          <p:nvPr/>
        </p:nvSpPr>
        <p:spPr>
          <a:xfrm>
            <a:off x="5715000" y="1645920"/>
            <a:ext cx="3291840" cy="3291840"/>
          </a:xfrm>
          <a:prstGeom prst="ellipse">
            <a:avLst/>
          </a:prstGeom>
          <a:noFill/>
          <a:ln w="15875">
            <a:solidFill>
              <a:srgbClr val="9CCBC7">
                <a:alpha val="25000"/>
              </a:srgbClr>
            </a:solidFill>
          </a:ln>
        </p:spPr>
        <p:txBody>
          <a:bodyPr rtlCol="0" anchor="ctr" wrap="square" lIns="54864" rIns="54864" tIns="54864" bIns="54864"/>
          <a:lstStyle/>
          <a:p>
            <a:pPr algn="ctr"/>
          </a:p>
        </p:txBody>
      </p:sp>
      <p:sp>
        <p:nvSpPr>
          <p:cNvPr id="9" name="Oval 8"/>
          <p:cNvSpPr/>
          <p:nvPr/>
        </p:nvSpPr>
        <p:spPr>
          <a:xfrm>
            <a:off x="7086600" y="3017520"/>
            <a:ext cx="548640" cy="548640"/>
          </a:xfrm>
          <a:prstGeom prst="ellipse">
            <a:avLst/>
          </a:prstGeom>
          <a:solidFill>
            <a:srgbClr val="EA6A1E">
              <a:alpha val="30000"/>
            </a:srgbClr>
          </a:solidFill>
          <a:ln>
            <a:noFill/>
          </a:ln>
        </p:spPr>
        <p:txBody>
          <a:bodyPr rtlCol="0" anchor="ctr" wrap="square" lIns="54864" rIns="54864" tIns="54864" bIns="54864"/>
          <a:lstStyle/>
          <a:p>
            <a:pPr algn="ctr"/>
          </a:p>
        </p:txBody>
      </p:sp>
      <p:sp>
        <p:nvSpPr>
          <p:cNvPr id="10" name="Oval 9"/>
          <p:cNvSpPr/>
          <p:nvPr/>
        </p:nvSpPr>
        <p:spPr>
          <a:xfrm>
            <a:off x="7214616" y="3145536"/>
            <a:ext cx="292608" cy="292608"/>
          </a:xfrm>
          <a:prstGeom prst="ellipse">
            <a:avLst/>
          </a:prstGeom>
          <a:solidFill>
            <a:srgbClr val="EA6A1E"/>
          </a:solidFill>
          <a:ln>
            <a:noFill/>
          </a:ln>
        </p:spPr>
        <p:txBody>
          <a:bodyPr rtlCol="0" anchor="ctr" wrap="square" lIns="54864" rIns="54864" tIns="54864" bIns="54864"/>
          <a:lstStyle/>
          <a:p>
            <a:pPr algn="ctr"/>
          </a:p>
        </p:txBody>
      </p:sp>
      <p:sp>
        <p:nvSpPr>
          <p:cNvPr id="11" name="Oval 10"/>
          <p:cNvSpPr/>
          <p:nvPr/>
        </p:nvSpPr>
        <p:spPr>
          <a:xfrm>
            <a:off x="8110728" y="3218688"/>
            <a:ext cx="146304" cy="146304"/>
          </a:xfrm>
          <a:prstGeom prst="ellipse">
            <a:avLst/>
          </a:prstGeom>
          <a:solidFill>
            <a:srgbClr val="12807F"/>
          </a:solidFill>
          <a:ln>
            <a:noFill/>
          </a:ln>
        </p:spPr>
        <p:txBody>
          <a:bodyPr rtlCol="0" anchor="ctr" wrap="square" lIns="54864" rIns="54864" tIns="54864" bIns="54864"/>
          <a:lstStyle/>
          <a:p>
            <a:pPr algn="ctr"/>
          </a:p>
        </p:txBody>
      </p:sp>
      <p:sp>
        <p:nvSpPr>
          <p:cNvPr id="12" name="Oval 11"/>
          <p:cNvSpPr/>
          <p:nvPr/>
        </p:nvSpPr>
        <p:spPr>
          <a:xfrm>
            <a:off x="6400800" y="2331720"/>
            <a:ext cx="182880" cy="182880"/>
          </a:xfrm>
          <a:prstGeom prst="ellipse">
            <a:avLst/>
          </a:prstGeom>
          <a:solidFill>
            <a:srgbClr val="12807F"/>
          </a:solidFill>
          <a:ln>
            <a:noFill/>
          </a:ln>
        </p:spPr>
        <p:txBody>
          <a:bodyPr rtlCol="0" anchor="ctr" wrap="square" lIns="54864" rIns="54864" tIns="54864" bIns="54864"/>
          <a:lstStyle/>
          <a:p>
            <a:pPr algn="ctr"/>
          </a:p>
        </p:txBody>
      </p:sp>
      <p:sp>
        <p:nvSpPr>
          <p:cNvPr id="13" name="Oval 12"/>
          <p:cNvSpPr/>
          <p:nvPr/>
        </p:nvSpPr>
        <p:spPr>
          <a:xfrm>
            <a:off x="7845552" y="4370831"/>
            <a:ext cx="128016" cy="128016"/>
          </a:xfrm>
          <a:prstGeom prst="ellipse">
            <a:avLst/>
          </a:prstGeom>
          <a:solidFill>
            <a:srgbClr val="12807F"/>
          </a:solidFill>
          <a:ln>
            <a:noFill/>
          </a:ln>
        </p:spPr>
        <p:txBody>
          <a:bodyPr rtlCol="0" anchor="ctr" wrap="square" lIns="54864" rIns="54864" tIns="54864" bIns="54864"/>
          <a:lstStyle/>
          <a:p>
            <a:pPr algn="ctr"/>
          </a:p>
        </p:txBody>
      </p:sp>
      <p:sp>
        <p:nvSpPr>
          <p:cNvPr id="14" name="Oval 13"/>
          <p:cNvSpPr/>
          <p:nvPr/>
        </p:nvSpPr>
        <p:spPr>
          <a:xfrm>
            <a:off x="5934456" y="4151376"/>
            <a:ext cx="109728" cy="109728"/>
          </a:xfrm>
          <a:prstGeom prst="ellipse">
            <a:avLst/>
          </a:prstGeom>
          <a:solidFill>
            <a:srgbClr val="12807F"/>
          </a:solidFill>
          <a:ln>
            <a:noFill/>
          </a:ln>
        </p:spPr>
        <p:txBody>
          <a:bodyPr rtlCol="0" anchor="ctr" wrap="square" lIns="54864" rIns="54864" tIns="54864" bIns="54864"/>
          <a:lstStyle/>
          <a:p>
            <a:pPr algn="ctr"/>
          </a:p>
        </p:txBody>
      </p:sp>
      <p:sp>
        <p:nvSpPr>
          <p:cNvPr id="15" name="TextBox 14"/>
          <p:cNvSpPr txBox="1"/>
          <p:nvPr/>
        </p:nvSpPr>
        <p:spPr>
          <a:xfrm>
            <a:off x="548640" y="1828800"/>
            <a:ext cx="5943600" cy="274320"/>
          </a:xfrm>
          <a:prstGeom prst="rect">
            <a:avLst/>
          </a:prstGeom>
          <a:noFill/>
        </p:spPr>
        <p:txBody>
          <a:bodyPr wrap="square" anchor="t" lIns="0" rIns="0" tIns="0" bIns="0"/>
          <a:lstStyle/>
          <a:p>
            <a:pPr algn="l">
              <a:spcAft>
                <a:spcPts val="400"/>
              </a:spcAft>
            </a:pPr>
            <a:r>
              <a:rPr sz="1100" b="1" i="0" spc="200">
                <a:solidFill>
                  <a:srgbClr val="EA6A1E"/>
                </a:solidFill>
                <a:latin typeface="Calibri"/>
              </a:rPr>
              <a:t>SEMINAR-I  ·  2025–26</a:t>
            </a:r>
          </a:p>
        </p:txBody>
      </p:sp>
      <p:sp>
        <p:nvSpPr>
          <p:cNvPr id="16" name="TextBox 15"/>
          <p:cNvSpPr txBox="1"/>
          <p:nvPr/>
        </p:nvSpPr>
        <p:spPr>
          <a:xfrm>
            <a:off x="548640" y="2148840"/>
            <a:ext cx="5760720" cy="1645920"/>
          </a:xfrm>
          <a:prstGeom prst="rect">
            <a:avLst/>
          </a:prstGeom>
          <a:noFill/>
        </p:spPr>
        <p:txBody>
          <a:bodyPr wrap="square" anchor="t" lIns="0" rIns="0" tIns="0" bIns="0"/>
          <a:lstStyle/>
          <a:p>
            <a:pPr algn="l">
              <a:spcAft>
                <a:spcPts val="0"/>
              </a:spcAft>
            </a:pPr>
            <a:r>
              <a:rPr sz="4000" b="1" i="0">
                <a:solidFill>
                  <a:srgbClr val="FFFFFF"/>
                </a:solidFill>
                <a:latin typeface="Cambria"/>
              </a:rPr>
              <a:t>AI in Disaster Management</a:t>
            </a:r>
          </a:p>
        </p:txBody>
      </p:sp>
      <p:sp>
        <p:nvSpPr>
          <p:cNvPr id="17" name="TextBox 16"/>
          <p:cNvSpPr txBox="1"/>
          <p:nvPr/>
        </p:nvSpPr>
        <p:spPr>
          <a:xfrm>
            <a:off x="548640" y="4983480"/>
            <a:ext cx="3840480" cy="256032"/>
          </a:xfrm>
          <a:prstGeom prst="rect">
            <a:avLst/>
          </a:prstGeom>
          <a:noFill/>
        </p:spPr>
        <p:txBody>
          <a:bodyPr wrap="square" anchor="t" lIns="0" rIns="0" tIns="0" bIns="0"/>
          <a:lstStyle/>
          <a:p>
            <a:pPr algn="l">
              <a:spcAft>
                <a:spcPts val="400"/>
              </a:spcAft>
            </a:pPr>
            <a:r>
              <a:rPr sz="1000" b="1" i="0" spc="180">
                <a:solidFill>
                  <a:srgbClr val="EA6A1E"/>
                </a:solidFill>
                <a:latin typeface="Calibri"/>
              </a:rPr>
              <a:t>PRESENTED BY</a:t>
            </a:r>
          </a:p>
        </p:txBody>
      </p:sp>
      <p:sp>
        <p:nvSpPr>
          <p:cNvPr id="18" name="TextBox 17"/>
          <p:cNvSpPr txBox="1"/>
          <p:nvPr/>
        </p:nvSpPr>
        <p:spPr>
          <a:xfrm>
            <a:off x="548640" y="5257800"/>
            <a:ext cx="3840480" cy="411480"/>
          </a:xfrm>
          <a:prstGeom prst="rect">
            <a:avLst/>
          </a:prstGeom>
          <a:noFill/>
        </p:spPr>
        <p:txBody>
          <a:bodyPr wrap="square" anchor="t" lIns="0" rIns="0" tIns="0" bIns="0"/>
          <a:lstStyle/>
          <a:p>
            <a:pPr algn="l">
              <a:spcAft>
                <a:spcPts val="400"/>
              </a:spcAft>
            </a:pPr>
            <a:r>
              <a:rPr sz="1900" b="1" i="0">
                <a:solidFill>
                  <a:srgbClr val="FFFFFF"/>
                </a:solidFill>
                <a:latin typeface="Cambria"/>
              </a:rPr>
              <a:t>Vedika Dandade</a:t>
            </a:r>
          </a:p>
        </p:txBody>
      </p:sp>
      <p:sp>
        <p:nvSpPr>
          <p:cNvPr id="19" name="TextBox 18"/>
          <p:cNvSpPr txBox="1"/>
          <p:nvPr/>
        </p:nvSpPr>
        <p:spPr>
          <a:xfrm>
            <a:off x="548640" y="5669280"/>
            <a:ext cx="3840480" cy="320040"/>
          </a:xfrm>
          <a:prstGeom prst="rect">
            <a:avLst/>
          </a:prstGeom>
          <a:noFill/>
        </p:spPr>
        <p:txBody>
          <a:bodyPr wrap="square" anchor="t" lIns="0" rIns="0" tIns="0" bIns="0"/>
          <a:lstStyle/>
          <a:p>
            <a:pPr algn="l">
              <a:spcAft>
                <a:spcPts val="400"/>
              </a:spcAft>
            </a:pPr>
            <a:r>
              <a:rPr sz="1200" b="0" i="0">
                <a:solidFill>
                  <a:srgbClr val="9CCBC7"/>
                </a:solidFill>
                <a:latin typeface="Calibri"/>
              </a:rPr>
              <a:t>Roll No. B344  ·  Third Year, Semester V</a:t>
            </a:r>
          </a:p>
        </p:txBody>
      </p:sp>
      <p:sp>
        <p:nvSpPr>
          <p:cNvPr id="20" name="TextBox 19"/>
          <p:cNvSpPr txBox="1"/>
          <p:nvPr/>
        </p:nvSpPr>
        <p:spPr>
          <a:xfrm>
            <a:off x="4572000" y="4983480"/>
            <a:ext cx="3840480" cy="256032"/>
          </a:xfrm>
          <a:prstGeom prst="rect">
            <a:avLst/>
          </a:prstGeom>
          <a:noFill/>
        </p:spPr>
        <p:txBody>
          <a:bodyPr wrap="square" anchor="t" lIns="0" rIns="0" tIns="0" bIns="0"/>
          <a:lstStyle/>
          <a:p>
            <a:pPr algn="l">
              <a:spcAft>
                <a:spcPts val="400"/>
              </a:spcAft>
            </a:pPr>
            <a:r>
              <a:rPr sz="1000" b="1" i="0" spc="180">
                <a:solidFill>
                  <a:srgbClr val="EA6A1E"/>
                </a:solidFill>
                <a:latin typeface="Calibri"/>
              </a:rPr>
              <a:t>UNDER THE GUIDANCE OF</a:t>
            </a:r>
          </a:p>
        </p:txBody>
      </p:sp>
      <p:sp>
        <p:nvSpPr>
          <p:cNvPr id="21" name="TextBox 20"/>
          <p:cNvSpPr txBox="1"/>
          <p:nvPr/>
        </p:nvSpPr>
        <p:spPr>
          <a:xfrm>
            <a:off x="4572000" y="5257800"/>
            <a:ext cx="3840480" cy="411480"/>
          </a:xfrm>
          <a:prstGeom prst="rect">
            <a:avLst/>
          </a:prstGeom>
          <a:noFill/>
        </p:spPr>
        <p:txBody>
          <a:bodyPr wrap="square" anchor="t" lIns="0" rIns="0" tIns="0" bIns="0"/>
          <a:lstStyle/>
          <a:p>
            <a:pPr algn="l">
              <a:spcAft>
                <a:spcPts val="400"/>
              </a:spcAft>
            </a:pPr>
            <a:r>
              <a:rPr sz="1900" b="1" i="0">
                <a:solidFill>
                  <a:srgbClr val="FFFFFF"/>
                </a:solidFill>
                <a:latin typeface="Cambria"/>
              </a:rPr>
              <a:t>Name of Faculty</a:t>
            </a:r>
          </a:p>
        </p:txBody>
      </p:sp>
      <p:sp>
        <p:nvSpPr>
          <p:cNvPr id="22" name="TextBox 21"/>
          <p:cNvSpPr txBox="1"/>
          <p:nvPr/>
        </p:nvSpPr>
        <p:spPr>
          <a:xfrm>
            <a:off x="4572000" y="5669280"/>
            <a:ext cx="3840480" cy="320040"/>
          </a:xfrm>
          <a:prstGeom prst="rect">
            <a:avLst/>
          </a:prstGeom>
          <a:noFill/>
        </p:spPr>
        <p:txBody>
          <a:bodyPr wrap="square" anchor="t" lIns="0" rIns="0" tIns="0" bIns="0"/>
          <a:lstStyle/>
          <a:p>
            <a:pPr algn="l">
              <a:spcAft>
                <a:spcPts val="400"/>
              </a:spcAft>
            </a:pPr>
            <a:r>
              <a:rPr sz="1200" b="0" i="0">
                <a:solidFill>
                  <a:srgbClr val="9CCBC7"/>
                </a:solidFill>
                <a:latin typeface="Calibri"/>
              </a:rPr>
              <a:t>Designation of faculty</a:t>
            </a:r>
          </a:p>
        </p:txBody>
      </p:sp>
      <p:sp>
        <p:nvSpPr>
          <p:cNvPr id="23" name="TextBox 22"/>
          <p:cNvSpPr txBox="1"/>
          <p:nvPr/>
        </p:nvSpPr>
        <p:spPr>
          <a:xfrm>
            <a:off x="548640" y="6355080"/>
            <a:ext cx="8046720" cy="274320"/>
          </a:xfrm>
          <a:prstGeom prst="rect">
            <a:avLst/>
          </a:prstGeom>
          <a:noFill/>
        </p:spPr>
        <p:txBody>
          <a:bodyPr wrap="square" anchor="t" lIns="0" rIns="0" tIns="0" bIns="0"/>
          <a:lstStyle/>
          <a:p>
            <a:pPr algn="l">
              <a:spcAft>
                <a:spcPts val="400"/>
              </a:spcAft>
            </a:pPr>
            <a:r>
              <a:rPr sz="1000" b="0" i="0">
                <a:solidFill>
                  <a:srgbClr val="9CCBC7"/>
                </a:solidFill>
                <a:latin typeface="Calibri"/>
              </a:rPr>
              <a:t>Department of Computer Engineering  ·  Bajaj Institute of Technology, Wardha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AGENDA</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0E2B31"/>
                </a:solidFill>
                <a:latin typeface="Cambria"/>
              </a:rPr>
              <a:t>What we will cover</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2</a:t>
            </a:fld>
          </a:p>
        </p:txBody>
      </p:sp>
      <p:sp>
        <p:nvSpPr>
          <p:cNvPr id="7" name="TextBox 6"/>
          <p:cNvSpPr txBox="1"/>
          <p:nvPr/>
        </p:nvSpPr>
        <p:spPr>
          <a:xfrm>
            <a:off x="548640" y="1600200"/>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01</a:t>
            </a:r>
          </a:p>
        </p:txBody>
      </p:sp>
      <p:sp>
        <p:nvSpPr>
          <p:cNvPr id="8" name="TextBox 7"/>
          <p:cNvSpPr txBox="1"/>
          <p:nvPr/>
        </p:nvSpPr>
        <p:spPr>
          <a:xfrm>
            <a:off x="1280160" y="1600200"/>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Introduction</a:t>
            </a:r>
          </a:p>
        </p:txBody>
      </p:sp>
      <p:cxnSp>
        <p:nvCxnSpPr>
          <p:cNvPr id="9" name="Connector 8"/>
          <p:cNvCxnSpPr/>
          <p:nvPr/>
        </p:nvCxnSpPr>
        <p:spPr>
          <a:xfrm>
            <a:off x="548640" y="2249424"/>
            <a:ext cx="3840480" cy="0"/>
          </a:xfrm>
          <a:prstGeom prst="line">
            <a:avLst/>
          </a:prstGeom>
          <a:ln w="9525">
            <a:solidFill>
              <a:srgbClr val="CBE0DE"/>
            </a:solidFill>
          </a:ln>
        </p:spPr>
      </p:cxnSp>
      <p:sp>
        <p:nvSpPr>
          <p:cNvPr id="10" name="TextBox 9"/>
          <p:cNvSpPr txBox="1"/>
          <p:nvPr/>
        </p:nvSpPr>
        <p:spPr>
          <a:xfrm>
            <a:off x="548640" y="2350008"/>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02</a:t>
            </a:r>
          </a:p>
        </p:txBody>
      </p:sp>
      <p:sp>
        <p:nvSpPr>
          <p:cNvPr id="11" name="TextBox 10"/>
          <p:cNvSpPr txBox="1"/>
          <p:nvPr/>
        </p:nvSpPr>
        <p:spPr>
          <a:xfrm>
            <a:off x="1280160" y="2350008"/>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Objectives</a:t>
            </a:r>
          </a:p>
        </p:txBody>
      </p:sp>
      <p:cxnSp>
        <p:nvCxnSpPr>
          <p:cNvPr id="12" name="Connector 11"/>
          <p:cNvCxnSpPr/>
          <p:nvPr/>
        </p:nvCxnSpPr>
        <p:spPr>
          <a:xfrm>
            <a:off x="548640" y="2999232"/>
            <a:ext cx="3840480" cy="0"/>
          </a:xfrm>
          <a:prstGeom prst="line">
            <a:avLst/>
          </a:prstGeom>
          <a:ln w="9525">
            <a:solidFill>
              <a:srgbClr val="CBE0DE"/>
            </a:solidFill>
          </a:ln>
        </p:spPr>
      </p:cxnSp>
      <p:sp>
        <p:nvSpPr>
          <p:cNvPr id="13" name="TextBox 12"/>
          <p:cNvSpPr txBox="1"/>
          <p:nvPr/>
        </p:nvSpPr>
        <p:spPr>
          <a:xfrm>
            <a:off x="548640" y="3099815"/>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03</a:t>
            </a:r>
          </a:p>
        </p:txBody>
      </p:sp>
      <p:sp>
        <p:nvSpPr>
          <p:cNvPr id="14" name="TextBox 13"/>
          <p:cNvSpPr txBox="1"/>
          <p:nvPr/>
        </p:nvSpPr>
        <p:spPr>
          <a:xfrm>
            <a:off x="1280160" y="3099815"/>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Literature review</a:t>
            </a:r>
          </a:p>
        </p:txBody>
      </p:sp>
      <p:cxnSp>
        <p:nvCxnSpPr>
          <p:cNvPr id="15" name="Connector 14"/>
          <p:cNvCxnSpPr/>
          <p:nvPr/>
        </p:nvCxnSpPr>
        <p:spPr>
          <a:xfrm>
            <a:off x="548640" y="3749039"/>
            <a:ext cx="3840480" cy="0"/>
          </a:xfrm>
          <a:prstGeom prst="line">
            <a:avLst/>
          </a:prstGeom>
          <a:ln w="9525">
            <a:solidFill>
              <a:srgbClr val="CBE0DE"/>
            </a:solidFill>
          </a:ln>
        </p:spPr>
      </p:cxnSp>
      <p:sp>
        <p:nvSpPr>
          <p:cNvPr id="16" name="TextBox 15"/>
          <p:cNvSpPr txBox="1"/>
          <p:nvPr/>
        </p:nvSpPr>
        <p:spPr>
          <a:xfrm>
            <a:off x="548640" y="3849624"/>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04</a:t>
            </a:r>
          </a:p>
        </p:txBody>
      </p:sp>
      <p:sp>
        <p:nvSpPr>
          <p:cNvPr id="17" name="TextBox 16"/>
          <p:cNvSpPr txBox="1"/>
          <p:nvPr/>
        </p:nvSpPr>
        <p:spPr>
          <a:xfrm>
            <a:off x="1280160" y="3849624"/>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Literature survey</a:t>
            </a:r>
          </a:p>
        </p:txBody>
      </p:sp>
      <p:cxnSp>
        <p:nvCxnSpPr>
          <p:cNvPr id="18" name="Connector 17"/>
          <p:cNvCxnSpPr/>
          <p:nvPr/>
        </p:nvCxnSpPr>
        <p:spPr>
          <a:xfrm>
            <a:off x="548640" y="4498848"/>
            <a:ext cx="3840480" cy="0"/>
          </a:xfrm>
          <a:prstGeom prst="line">
            <a:avLst/>
          </a:prstGeom>
          <a:ln w="9525">
            <a:solidFill>
              <a:srgbClr val="CBE0DE"/>
            </a:solidFill>
          </a:ln>
        </p:spPr>
      </p:cxnSp>
      <p:sp>
        <p:nvSpPr>
          <p:cNvPr id="19" name="TextBox 18"/>
          <p:cNvSpPr txBox="1"/>
          <p:nvPr/>
        </p:nvSpPr>
        <p:spPr>
          <a:xfrm>
            <a:off x="548640" y="4599431"/>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05</a:t>
            </a:r>
          </a:p>
        </p:txBody>
      </p:sp>
      <p:sp>
        <p:nvSpPr>
          <p:cNvPr id="20" name="TextBox 19"/>
          <p:cNvSpPr txBox="1"/>
          <p:nvPr/>
        </p:nvSpPr>
        <p:spPr>
          <a:xfrm>
            <a:off x="1280160" y="4599431"/>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Baseline papers</a:t>
            </a:r>
          </a:p>
        </p:txBody>
      </p:sp>
      <p:cxnSp>
        <p:nvCxnSpPr>
          <p:cNvPr id="21" name="Connector 20"/>
          <p:cNvCxnSpPr/>
          <p:nvPr/>
        </p:nvCxnSpPr>
        <p:spPr>
          <a:xfrm>
            <a:off x="548640" y="5248655"/>
            <a:ext cx="3840480" cy="0"/>
          </a:xfrm>
          <a:prstGeom prst="line">
            <a:avLst/>
          </a:prstGeom>
          <a:ln w="9525">
            <a:solidFill>
              <a:srgbClr val="CBE0DE"/>
            </a:solidFill>
          </a:ln>
        </p:spPr>
      </p:cxnSp>
      <p:sp>
        <p:nvSpPr>
          <p:cNvPr id="22" name="TextBox 21"/>
          <p:cNvSpPr txBox="1"/>
          <p:nvPr/>
        </p:nvSpPr>
        <p:spPr>
          <a:xfrm>
            <a:off x="548640" y="5349240"/>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06</a:t>
            </a:r>
          </a:p>
        </p:txBody>
      </p:sp>
      <p:sp>
        <p:nvSpPr>
          <p:cNvPr id="23" name="TextBox 22"/>
          <p:cNvSpPr txBox="1"/>
          <p:nvPr/>
        </p:nvSpPr>
        <p:spPr>
          <a:xfrm>
            <a:off x="1280160" y="5349240"/>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System architecture</a:t>
            </a:r>
          </a:p>
        </p:txBody>
      </p:sp>
      <p:sp>
        <p:nvSpPr>
          <p:cNvPr id="24" name="TextBox 23"/>
          <p:cNvSpPr txBox="1"/>
          <p:nvPr/>
        </p:nvSpPr>
        <p:spPr>
          <a:xfrm>
            <a:off x="4709159" y="1600200"/>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07</a:t>
            </a:r>
          </a:p>
        </p:txBody>
      </p:sp>
      <p:sp>
        <p:nvSpPr>
          <p:cNvPr id="25" name="TextBox 24"/>
          <p:cNvSpPr txBox="1"/>
          <p:nvPr/>
        </p:nvSpPr>
        <p:spPr>
          <a:xfrm>
            <a:off x="5440679" y="1600200"/>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Algorithms studied</a:t>
            </a:r>
          </a:p>
        </p:txBody>
      </p:sp>
      <p:cxnSp>
        <p:nvCxnSpPr>
          <p:cNvPr id="26" name="Connector 25"/>
          <p:cNvCxnSpPr/>
          <p:nvPr/>
        </p:nvCxnSpPr>
        <p:spPr>
          <a:xfrm>
            <a:off x="4709159" y="2249424"/>
            <a:ext cx="3840481" cy="0"/>
          </a:xfrm>
          <a:prstGeom prst="line">
            <a:avLst/>
          </a:prstGeom>
          <a:ln w="9525">
            <a:solidFill>
              <a:srgbClr val="CBE0DE"/>
            </a:solidFill>
          </a:ln>
        </p:spPr>
      </p:cxnSp>
      <p:sp>
        <p:nvSpPr>
          <p:cNvPr id="27" name="TextBox 26"/>
          <p:cNvSpPr txBox="1"/>
          <p:nvPr/>
        </p:nvSpPr>
        <p:spPr>
          <a:xfrm>
            <a:off x="4709159" y="2350008"/>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08</a:t>
            </a:r>
          </a:p>
        </p:txBody>
      </p:sp>
      <p:sp>
        <p:nvSpPr>
          <p:cNvPr id="28" name="TextBox 27"/>
          <p:cNvSpPr txBox="1"/>
          <p:nvPr/>
        </p:nvSpPr>
        <p:spPr>
          <a:xfrm>
            <a:off x="5440679" y="2350008"/>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Features &amp; trade-offs</a:t>
            </a:r>
          </a:p>
        </p:txBody>
      </p:sp>
      <p:cxnSp>
        <p:nvCxnSpPr>
          <p:cNvPr id="29" name="Connector 28"/>
          <p:cNvCxnSpPr/>
          <p:nvPr/>
        </p:nvCxnSpPr>
        <p:spPr>
          <a:xfrm>
            <a:off x="4709159" y="2999232"/>
            <a:ext cx="3840481" cy="0"/>
          </a:xfrm>
          <a:prstGeom prst="line">
            <a:avLst/>
          </a:prstGeom>
          <a:ln w="9525">
            <a:solidFill>
              <a:srgbClr val="CBE0DE"/>
            </a:solidFill>
          </a:ln>
        </p:spPr>
      </p:cxnSp>
      <p:sp>
        <p:nvSpPr>
          <p:cNvPr id="30" name="TextBox 29"/>
          <p:cNvSpPr txBox="1"/>
          <p:nvPr/>
        </p:nvSpPr>
        <p:spPr>
          <a:xfrm>
            <a:off x="4709159" y="3099815"/>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09</a:t>
            </a:r>
          </a:p>
        </p:txBody>
      </p:sp>
      <p:sp>
        <p:nvSpPr>
          <p:cNvPr id="31" name="TextBox 30"/>
          <p:cNvSpPr txBox="1"/>
          <p:nvPr/>
        </p:nvSpPr>
        <p:spPr>
          <a:xfrm>
            <a:off x="5440679" y="3099815"/>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Applications</a:t>
            </a:r>
          </a:p>
        </p:txBody>
      </p:sp>
      <p:cxnSp>
        <p:nvCxnSpPr>
          <p:cNvPr id="32" name="Connector 31"/>
          <p:cNvCxnSpPr/>
          <p:nvPr/>
        </p:nvCxnSpPr>
        <p:spPr>
          <a:xfrm>
            <a:off x="4709159" y="3749039"/>
            <a:ext cx="3840481" cy="0"/>
          </a:xfrm>
          <a:prstGeom prst="line">
            <a:avLst/>
          </a:prstGeom>
          <a:ln w="9525">
            <a:solidFill>
              <a:srgbClr val="CBE0DE"/>
            </a:solidFill>
          </a:ln>
        </p:spPr>
      </p:cxnSp>
      <p:sp>
        <p:nvSpPr>
          <p:cNvPr id="33" name="TextBox 32"/>
          <p:cNvSpPr txBox="1"/>
          <p:nvPr/>
        </p:nvSpPr>
        <p:spPr>
          <a:xfrm>
            <a:off x="4709159" y="3849624"/>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10</a:t>
            </a:r>
          </a:p>
        </p:txBody>
      </p:sp>
      <p:sp>
        <p:nvSpPr>
          <p:cNvPr id="34" name="TextBox 33"/>
          <p:cNvSpPr txBox="1"/>
          <p:nvPr/>
        </p:nvSpPr>
        <p:spPr>
          <a:xfrm>
            <a:off x="5440679" y="3849624"/>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Analysis &amp; comparison</a:t>
            </a:r>
          </a:p>
        </p:txBody>
      </p:sp>
      <p:cxnSp>
        <p:nvCxnSpPr>
          <p:cNvPr id="35" name="Connector 34"/>
          <p:cNvCxnSpPr/>
          <p:nvPr/>
        </p:nvCxnSpPr>
        <p:spPr>
          <a:xfrm>
            <a:off x="4709159" y="4498848"/>
            <a:ext cx="3840481" cy="0"/>
          </a:xfrm>
          <a:prstGeom prst="line">
            <a:avLst/>
          </a:prstGeom>
          <a:ln w="9525">
            <a:solidFill>
              <a:srgbClr val="CBE0DE"/>
            </a:solidFill>
          </a:ln>
        </p:spPr>
      </p:cxnSp>
      <p:sp>
        <p:nvSpPr>
          <p:cNvPr id="36" name="TextBox 35"/>
          <p:cNvSpPr txBox="1"/>
          <p:nvPr/>
        </p:nvSpPr>
        <p:spPr>
          <a:xfrm>
            <a:off x="4709159" y="4599431"/>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11</a:t>
            </a:r>
          </a:p>
        </p:txBody>
      </p:sp>
      <p:sp>
        <p:nvSpPr>
          <p:cNvPr id="37" name="TextBox 36"/>
          <p:cNvSpPr txBox="1"/>
          <p:nvPr/>
        </p:nvSpPr>
        <p:spPr>
          <a:xfrm>
            <a:off x="5440679" y="4599431"/>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Conclusion &amp; future scope</a:t>
            </a:r>
          </a:p>
        </p:txBody>
      </p:sp>
      <p:cxnSp>
        <p:nvCxnSpPr>
          <p:cNvPr id="38" name="Connector 37"/>
          <p:cNvCxnSpPr/>
          <p:nvPr/>
        </p:nvCxnSpPr>
        <p:spPr>
          <a:xfrm>
            <a:off x="4709159" y="5248655"/>
            <a:ext cx="3840481" cy="0"/>
          </a:xfrm>
          <a:prstGeom prst="line">
            <a:avLst/>
          </a:prstGeom>
          <a:ln w="9525">
            <a:solidFill>
              <a:srgbClr val="CBE0DE"/>
            </a:solidFill>
          </a:ln>
        </p:spPr>
      </p:cxnSp>
      <p:sp>
        <p:nvSpPr>
          <p:cNvPr id="39" name="TextBox 38"/>
          <p:cNvSpPr txBox="1"/>
          <p:nvPr/>
        </p:nvSpPr>
        <p:spPr>
          <a:xfrm>
            <a:off x="4709159" y="5349240"/>
            <a:ext cx="685800" cy="548640"/>
          </a:xfrm>
          <a:prstGeom prst="rect">
            <a:avLst/>
          </a:prstGeom>
          <a:noFill/>
        </p:spPr>
        <p:txBody>
          <a:bodyPr wrap="square" anchor="ctr" lIns="0" rIns="0" tIns="0" bIns="0"/>
          <a:lstStyle/>
          <a:p>
            <a:pPr algn="l">
              <a:spcAft>
                <a:spcPts val="400"/>
              </a:spcAft>
            </a:pPr>
            <a:r>
              <a:rPr sz="2200" b="1" i="0">
                <a:solidFill>
                  <a:srgbClr val="12807F"/>
                </a:solidFill>
                <a:latin typeface="Cambria"/>
              </a:rPr>
              <a:t>12</a:t>
            </a:r>
          </a:p>
        </p:txBody>
      </p:sp>
      <p:sp>
        <p:nvSpPr>
          <p:cNvPr id="40" name="TextBox 39"/>
          <p:cNvSpPr txBox="1"/>
          <p:nvPr/>
        </p:nvSpPr>
        <p:spPr>
          <a:xfrm>
            <a:off x="5440679" y="5349240"/>
            <a:ext cx="3200400" cy="548640"/>
          </a:xfrm>
          <a:prstGeom prst="rect">
            <a:avLst/>
          </a:prstGeom>
          <a:noFill/>
        </p:spPr>
        <p:txBody>
          <a:bodyPr wrap="square" anchor="ctr" lIns="0" rIns="0" tIns="0" bIns="0"/>
          <a:lstStyle/>
          <a:p>
            <a:pPr algn="l">
              <a:spcAft>
                <a:spcPts val="400"/>
              </a:spcAft>
            </a:pPr>
            <a:r>
              <a:rPr sz="1600" b="0" i="0">
                <a:solidFill>
                  <a:srgbClr val="17282C"/>
                </a:solidFill>
                <a:latin typeface="Calibri"/>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01  ·  INTRODUCTION</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0E2B31"/>
                </a:solidFill>
                <a:latin typeface="Cambria"/>
              </a:rPr>
              <a:t>Disasters move fast; data now moves faster</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3</a:t>
            </a:fld>
          </a:p>
        </p:txBody>
      </p:sp>
      <p:sp>
        <p:nvSpPr>
          <p:cNvPr id="7" name="Oval 6"/>
          <p:cNvSpPr/>
          <p:nvPr/>
        </p:nvSpPr>
        <p:spPr>
          <a:xfrm>
            <a:off x="548640" y="1600200"/>
            <a:ext cx="502920" cy="502920"/>
          </a:xfrm>
          <a:prstGeom prst="ellipse">
            <a:avLst/>
          </a:prstGeom>
          <a:solidFill>
            <a:srgbClr val="0E2B31"/>
          </a:solidFill>
          <a:ln>
            <a:noFill/>
          </a:ln>
        </p:spPr>
        <p:txBody>
          <a:bodyPr rtlCol="0" anchor="ctr" wrap="square" lIns="54864" rIns="54864" tIns="54864" bIns="54864"/>
          <a:lstStyle/>
          <a:p>
            <a:pPr algn="ctr"/>
          </a:p>
        </p:txBody>
      </p:sp>
      <p:pic>
        <p:nvPicPr>
          <p:cNvPr id="8" name="Picture 7" descr="house_w.png"/>
          <p:cNvPicPr>
            <a:picLocks noChangeAspect="1"/>
          </p:cNvPicPr>
          <p:nvPr/>
        </p:nvPicPr>
        <p:blipFill>
          <a:blip r:embed="rId3"/>
          <a:stretch>
            <a:fillRect/>
          </a:stretch>
        </p:blipFill>
        <p:spPr>
          <a:xfrm>
            <a:off x="674370" y="1725930"/>
            <a:ext cx="251460" cy="251460"/>
          </a:xfrm>
          <a:prstGeom prst="rect">
            <a:avLst/>
          </a:prstGeom>
        </p:spPr>
      </p:pic>
      <p:sp>
        <p:nvSpPr>
          <p:cNvPr id="9" name="TextBox 8"/>
          <p:cNvSpPr txBox="1"/>
          <p:nvPr/>
        </p:nvSpPr>
        <p:spPr>
          <a:xfrm>
            <a:off x="1234440" y="1554480"/>
            <a:ext cx="3108960" cy="365760"/>
          </a:xfrm>
          <a:prstGeom prst="rect">
            <a:avLst/>
          </a:prstGeom>
          <a:noFill/>
        </p:spPr>
        <p:txBody>
          <a:bodyPr wrap="square" anchor="t" lIns="0" rIns="0" tIns="0" bIns="0"/>
          <a:lstStyle/>
          <a:p>
            <a:pPr algn="l">
              <a:spcAft>
                <a:spcPts val="400"/>
              </a:spcAft>
            </a:pPr>
            <a:r>
              <a:rPr sz="1700" b="1" i="0">
                <a:solidFill>
                  <a:srgbClr val="0E2B31"/>
                </a:solidFill>
                <a:latin typeface="Cambria"/>
              </a:rPr>
              <a:t>Background</a:t>
            </a:r>
          </a:p>
        </p:txBody>
      </p:sp>
      <p:sp>
        <p:nvSpPr>
          <p:cNvPr id="10" name="TextBox 9"/>
          <p:cNvSpPr txBox="1"/>
          <p:nvPr/>
        </p:nvSpPr>
        <p:spPr>
          <a:xfrm>
            <a:off x="1234440" y="1938528"/>
            <a:ext cx="3108960" cy="1005840"/>
          </a:xfrm>
          <a:prstGeom prst="rect">
            <a:avLst/>
          </a:prstGeom>
          <a:noFill/>
        </p:spPr>
        <p:txBody>
          <a:bodyPr wrap="square" anchor="t" lIns="0" rIns="0" tIns="0" bIns="0"/>
          <a:lstStyle/>
          <a:p>
            <a:pPr algn="l">
              <a:spcAft>
                <a:spcPts val="400"/>
              </a:spcAft>
            </a:pPr>
            <a:r>
              <a:rPr sz="1350" b="0" i="0">
                <a:solidFill>
                  <a:srgbClr val="17282C"/>
                </a:solidFill>
                <a:latin typeface="Calibri"/>
              </a:rPr>
              <a:t>Floods, cyclones, earthquakes, wildfires and landslides cause loss of life, infrastructure damage and economic setbacks.</a:t>
            </a:r>
          </a:p>
        </p:txBody>
      </p:sp>
      <p:cxnSp>
        <p:nvCxnSpPr>
          <p:cNvPr id="11" name="Connector 10"/>
          <p:cNvCxnSpPr/>
          <p:nvPr/>
        </p:nvCxnSpPr>
        <p:spPr>
          <a:xfrm>
            <a:off x="548640" y="2999232"/>
            <a:ext cx="3794760" cy="0"/>
          </a:xfrm>
          <a:prstGeom prst="line">
            <a:avLst/>
          </a:prstGeom>
          <a:ln w="9525">
            <a:solidFill>
              <a:srgbClr val="CBE0DE"/>
            </a:solidFill>
          </a:ln>
        </p:spPr>
      </p:cxnSp>
      <p:sp>
        <p:nvSpPr>
          <p:cNvPr id="12" name="Oval 11"/>
          <p:cNvSpPr/>
          <p:nvPr/>
        </p:nvSpPr>
        <p:spPr>
          <a:xfrm>
            <a:off x="548640" y="3154679"/>
            <a:ext cx="502920" cy="502920"/>
          </a:xfrm>
          <a:prstGeom prst="ellipse">
            <a:avLst/>
          </a:prstGeom>
          <a:solidFill>
            <a:srgbClr val="D64545"/>
          </a:solidFill>
          <a:ln>
            <a:noFill/>
          </a:ln>
        </p:spPr>
        <p:txBody>
          <a:bodyPr rtlCol="0" anchor="ctr" wrap="square" lIns="54864" rIns="54864" tIns="54864" bIns="54864"/>
          <a:lstStyle/>
          <a:p>
            <a:pPr algn="ctr"/>
          </a:p>
        </p:txBody>
      </p:sp>
      <p:pic>
        <p:nvPicPr>
          <p:cNvPr id="13" name="Picture 12" descr="clock_w.png"/>
          <p:cNvPicPr>
            <a:picLocks noChangeAspect="1"/>
          </p:cNvPicPr>
          <p:nvPr/>
        </p:nvPicPr>
        <p:blipFill>
          <a:blip r:embed="rId4"/>
          <a:stretch>
            <a:fillRect/>
          </a:stretch>
        </p:blipFill>
        <p:spPr>
          <a:xfrm>
            <a:off x="674370" y="3280410"/>
            <a:ext cx="251460" cy="251460"/>
          </a:xfrm>
          <a:prstGeom prst="rect">
            <a:avLst/>
          </a:prstGeom>
        </p:spPr>
      </p:pic>
      <p:sp>
        <p:nvSpPr>
          <p:cNvPr id="14" name="TextBox 13"/>
          <p:cNvSpPr txBox="1"/>
          <p:nvPr/>
        </p:nvSpPr>
        <p:spPr>
          <a:xfrm>
            <a:off x="1234440" y="3108960"/>
            <a:ext cx="3108960" cy="365760"/>
          </a:xfrm>
          <a:prstGeom prst="rect">
            <a:avLst/>
          </a:prstGeom>
          <a:noFill/>
        </p:spPr>
        <p:txBody>
          <a:bodyPr wrap="square" anchor="t" lIns="0" rIns="0" tIns="0" bIns="0"/>
          <a:lstStyle/>
          <a:p>
            <a:pPr algn="l">
              <a:spcAft>
                <a:spcPts val="400"/>
              </a:spcAft>
            </a:pPr>
            <a:r>
              <a:rPr sz="1700" b="1" i="0">
                <a:solidFill>
                  <a:srgbClr val="D64545"/>
                </a:solidFill>
                <a:latin typeface="Cambria"/>
              </a:rPr>
              <a:t>Problem</a:t>
            </a:r>
          </a:p>
        </p:txBody>
      </p:sp>
      <p:sp>
        <p:nvSpPr>
          <p:cNvPr id="15" name="TextBox 14"/>
          <p:cNvSpPr txBox="1"/>
          <p:nvPr/>
        </p:nvSpPr>
        <p:spPr>
          <a:xfrm>
            <a:off x="1234440" y="3493008"/>
            <a:ext cx="3108960" cy="1005840"/>
          </a:xfrm>
          <a:prstGeom prst="rect">
            <a:avLst/>
          </a:prstGeom>
          <a:noFill/>
        </p:spPr>
        <p:txBody>
          <a:bodyPr wrap="square" anchor="t" lIns="0" rIns="0" tIns="0" bIns="0"/>
          <a:lstStyle/>
          <a:p>
            <a:pPr algn="l">
              <a:spcAft>
                <a:spcPts val="400"/>
              </a:spcAft>
            </a:pPr>
            <a:r>
              <a:rPr sz="1350" b="0" i="0">
                <a:solidFill>
                  <a:srgbClr val="17282C"/>
                </a:solidFill>
                <a:latin typeface="Calibri"/>
              </a:rPr>
              <a:t>Traditional management relies on manual surveys and delayed reports, which slows decisions.</a:t>
            </a:r>
          </a:p>
        </p:txBody>
      </p:sp>
      <p:cxnSp>
        <p:nvCxnSpPr>
          <p:cNvPr id="16" name="Connector 15"/>
          <p:cNvCxnSpPr/>
          <p:nvPr/>
        </p:nvCxnSpPr>
        <p:spPr>
          <a:xfrm>
            <a:off x="548640" y="4553712"/>
            <a:ext cx="3794760" cy="0"/>
          </a:xfrm>
          <a:prstGeom prst="line">
            <a:avLst/>
          </a:prstGeom>
          <a:ln w="9525">
            <a:solidFill>
              <a:srgbClr val="CBE0DE"/>
            </a:solidFill>
          </a:ln>
        </p:spPr>
      </p:cxnSp>
      <p:sp>
        <p:nvSpPr>
          <p:cNvPr id="17" name="Oval 16"/>
          <p:cNvSpPr/>
          <p:nvPr/>
        </p:nvSpPr>
        <p:spPr>
          <a:xfrm>
            <a:off x="548640" y="4709159"/>
            <a:ext cx="502920" cy="502920"/>
          </a:xfrm>
          <a:prstGeom prst="ellipse">
            <a:avLst/>
          </a:prstGeom>
          <a:solidFill>
            <a:srgbClr val="EA6A1E"/>
          </a:solidFill>
          <a:ln>
            <a:noFill/>
          </a:ln>
        </p:spPr>
        <p:txBody>
          <a:bodyPr rtlCol="0" anchor="ctr" wrap="square" lIns="54864" rIns="54864" tIns="54864" bIns="54864"/>
          <a:lstStyle/>
          <a:p>
            <a:pPr algn="ctr"/>
          </a:p>
        </p:txBody>
      </p:sp>
      <p:pic>
        <p:nvPicPr>
          <p:cNvPr id="18" name="Picture 17" descr="lightbulb_w.png"/>
          <p:cNvPicPr>
            <a:picLocks noChangeAspect="1"/>
          </p:cNvPicPr>
          <p:nvPr/>
        </p:nvPicPr>
        <p:blipFill>
          <a:blip r:embed="rId5"/>
          <a:stretch>
            <a:fillRect/>
          </a:stretch>
        </p:blipFill>
        <p:spPr>
          <a:xfrm>
            <a:off x="674370" y="4834890"/>
            <a:ext cx="251460" cy="251460"/>
          </a:xfrm>
          <a:prstGeom prst="rect">
            <a:avLst/>
          </a:prstGeom>
        </p:spPr>
      </p:pic>
      <p:sp>
        <p:nvSpPr>
          <p:cNvPr id="19" name="TextBox 18"/>
          <p:cNvSpPr txBox="1"/>
          <p:nvPr/>
        </p:nvSpPr>
        <p:spPr>
          <a:xfrm>
            <a:off x="1234440" y="4663440"/>
            <a:ext cx="3108960" cy="365760"/>
          </a:xfrm>
          <a:prstGeom prst="rect">
            <a:avLst/>
          </a:prstGeom>
          <a:noFill/>
        </p:spPr>
        <p:txBody>
          <a:bodyPr wrap="square" anchor="t" lIns="0" rIns="0" tIns="0" bIns="0"/>
          <a:lstStyle/>
          <a:p>
            <a:pPr algn="l">
              <a:spcAft>
                <a:spcPts val="400"/>
              </a:spcAft>
            </a:pPr>
            <a:r>
              <a:rPr sz="1700" b="1" i="0">
                <a:solidFill>
                  <a:srgbClr val="EA6A1E"/>
                </a:solidFill>
                <a:latin typeface="Cambria"/>
              </a:rPr>
              <a:t>Inspiration</a:t>
            </a:r>
          </a:p>
        </p:txBody>
      </p:sp>
      <p:sp>
        <p:nvSpPr>
          <p:cNvPr id="20" name="TextBox 19"/>
          <p:cNvSpPr txBox="1"/>
          <p:nvPr/>
        </p:nvSpPr>
        <p:spPr>
          <a:xfrm>
            <a:off x="1234440" y="5047488"/>
            <a:ext cx="3108960" cy="1005840"/>
          </a:xfrm>
          <a:prstGeom prst="rect">
            <a:avLst/>
          </a:prstGeom>
          <a:noFill/>
        </p:spPr>
        <p:txBody>
          <a:bodyPr wrap="square" anchor="t" lIns="0" rIns="0" tIns="0" bIns="0"/>
          <a:lstStyle/>
          <a:p>
            <a:pPr algn="l">
              <a:spcAft>
                <a:spcPts val="400"/>
              </a:spcAft>
            </a:pPr>
            <a:r>
              <a:rPr sz="1350" b="0" i="0">
                <a:solidFill>
                  <a:srgbClr val="17282C"/>
                </a:solidFill>
                <a:latin typeface="Calibri"/>
              </a:rPr>
              <a:t>Satellites, IoT sensors and social media give real-time data; AI turns it into early, actionable insight [1].</a:t>
            </a:r>
          </a:p>
        </p:txBody>
      </p:sp>
      <p:sp>
        <p:nvSpPr>
          <p:cNvPr id="21" name="Rounded Rectangle 20"/>
          <p:cNvSpPr/>
          <p:nvPr/>
        </p:nvSpPr>
        <p:spPr>
          <a:xfrm>
            <a:off x="4617720" y="1463040"/>
            <a:ext cx="3977639" cy="4754880"/>
          </a:xfrm>
          <a:prstGeom prst="roundRect">
            <a:avLst>
              <a:gd name="adj" fmla="val 3218"/>
            </a:avLst>
          </a:prstGeom>
          <a:solidFill>
            <a:srgbClr val="F3F7F7"/>
          </a:solidFill>
          <a:ln>
            <a:noFill/>
          </a:ln>
        </p:spPr>
        <p:txBody>
          <a:bodyPr rtlCol="0" anchor="ctr" wrap="square" lIns="54864" rIns="54864" tIns="54864" bIns="54864"/>
          <a:lstStyle/>
          <a:p>
            <a:pPr algn="ctr"/>
          </a:p>
        </p:txBody>
      </p:sp>
      <p:sp>
        <p:nvSpPr>
          <p:cNvPr id="22" name="TextBox 21"/>
          <p:cNvSpPr txBox="1"/>
          <p:nvPr/>
        </p:nvSpPr>
        <p:spPr>
          <a:xfrm>
            <a:off x="4617720" y="1600200"/>
            <a:ext cx="3977639" cy="274320"/>
          </a:xfrm>
          <a:prstGeom prst="rect">
            <a:avLst/>
          </a:prstGeom>
          <a:noFill/>
        </p:spPr>
        <p:txBody>
          <a:bodyPr wrap="square" anchor="t" lIns="0" rIns="0" tIns="0" bIns="0"/>
          <a:lstStyle/>
          <a:p>
            <a:pPr algn="ctr">
              <a:spcAft>
                <a:spcPts val="400"/>
              </a:spcAft>
            </a:pPr>
            <a:r>
              <a:rPr sz="1000" b="1" i="0" spc="160">
                <a:solidFill>
                  <a:srgbClr val="12807F"/>
                </a:solidFill>
                <a:latin typeface="Calibri"/>
              </a:rPr>
              <a:t>DISASTER MANAGEMENT CYCLE</a:t>
            </a:r>
          </a:p>
        </p:txBody>
      </p:sp>
      <p:sp>
        <p:nvSpPr>
          <p:cNvPr id="23" name="Oval 22"/>
          <p:cNvSpPr/>
          <p:nvPr/>
        </p:nvSpPr>
        <p:spPr>
          <a:xfrm>
            <a:off x="6057900" y="3383279"/>
            <a:ext cx="1097280" cy="1097280"/>
          </a:xfrm>
          <a:prstGeom prst="ellipse">
            <a:avLst/>
          </a:prstGeom>
          <a:solidFill>
            <a:srgbClr val="E3F1F0"/>
          </a:solidFill>
          <a:ln>
            <a:noFill/>
          </a:ln>
        </p:spPr>
        <p:txBody>
          <a:bodyPr rtlCol="0" anchor="ctr" wrap="square" lIns="54864" rIns="54864" tIns="54864" bIns="54864"/>
          <a:lstStyle/>
          <a:p>
            <a:pPr algn="ctr">
              <a:spcAft>
                <a:spcPts val="0"/>
              </a:spcAft>
            </a:pPr>
            <a:r>
              <a:rPr sz="2400" b="1" i="0">
                <a:solidFill>
                  <a:srgbClr val="12807F"/>
                </a:solidFill>
                <a:latin typeface="Cambria"/>
              </a:rPr>
              <a:t>AI</a:t>
            </a:r>
          </a:p>
          <a:p>
            <a:pPr algn="ctr">
              <a:spcAft>
                <a:spcPts val="0"/>
              </a:spcAft>
            </a:pPr>
            <a:r>
              <a:rPr sz="1100" b="0" i="0">
                <a:solidFill>
                  <a:srgbClr val="12807F"/>
                </a:solidFill>
                <a:latin typeface="Calibri"/>
              </a:rPr>
              <a:t>support</a:t>
            </a:r>
          </a:p>
        </p:txBody>
      </p:sp>
      <p:sp>
        <p:nvSpPr>
          <p:cNvPr id="24" name="Rounded Rectangle 23"/>
          <p:cNvSpPr/>
          <p:nvPr/>
        </p:nvSpPr>
        <p:spPr>
          <a:xfrm>
            <a:off x="5893307" y="1947672"/>
            <a:ext cx="1426464" cy="768096"/>
          </a:xfrm>
          <a:prstGeom prst="roundRect">
            <a:avLst>
              <a:gd name="adj" fmla="val 11904"/>
            </a:avLst>
          </a:prstGeom>
          <a:solidFill>
            <a:srgbClr val="0E2B31"/>
          </a:solidFill>
          <a:ln>
            <a:noFill/>
          </a:ln>
        </p:spPr>
        <p:txBody>
          <a:bodyPr rtlCol="0" anchor="ctr" wrap="square" lIns="54864" rIns="54864" tIns="54864" bIns="54864"/>
          <a:lstStyle/>
          <a:p>
            <a:pPr algn="ctr">
              <a:spcAft>
                <a:spcPts val="0"/>
              </a:spcAft>
            </a:pPr>
            <a:r>
              <a:rPr sz="1350" b="1" i="0">
                <a:solidFill>
                  <a:srgbClr val="FFFFFF"/>
                </a:solidFill>
                <a:latin typeface="Calibri"/>
              </a:rPr>
              <a:t>Mitigation</a:t>
            </a:r>
          </a:p>
          <a:p>
            <a:pPr algn="ctr">
              <a:spcAft>
                <a:spcPts val="0"/>
              </a:spcAft>
            </a:pPr>
            <a:r>
              <a:rPr sz="1050" b="0" i="0">
                <a:solidFill>
                  <a:srgbClr val="FFFFFF"/>
                </a:solidFill>
                <a:latin typeface="Calibri"/>
              </a:rPr>
              <a:t>risk mapping</a:t>
            </a:r>
          </a:p>
        </p:txBody>
      </p:sp>
      <p:sp>
        <p:nvSpPr>
          <p:cNvPr id="25" name="Rounded Rectangle 24"/>
          <p:cNvSpPr/>
          <p:nvPr/>
        </p:nvSpPr>
        <p:spPr>
          <a:xfrm>
            <a:off x="7127747" y="3547872"/>
            <a:ext cx="1426464" cy="768096"/>
          </a:xfrm>
          <a:prstGeom prst="roundRect">
            <a:avLst>
              <a:gd name="adj" fmla="val 11904"/>
            </a:avLst>
          </a:prstGeom>
          <a:solidFill>
            <a:srgbClr val="12807F"/>
          </a:solidFill>
          <a:ln>
            <a:noFill/>
          </a:ln>
        </p:spPr>
        <p:txBody>
          <a:bodyPr rtlCol="0" anchor="ctr" wrap="square" lIns="54864" rIns="54864" tIns="54864" bIns="54864"/>
          <a:lstStyle/>
          <a:p>
            <a:pPr algn="ctr">
              <a:spcAft>
                <a:spcPts val="0"/>
              </a:spcAft>
            </a:pPr>
            <a:r>
              <a:rPr sz="1350" b="1" i="0">
                <a:solidFill>
                  <a:srgbClr val="FFFFFF"/>
                </a:solidFill>
                <a:latin typeface="Calibri"/>
              </a:rPr>
              <a:t>Preparedness</a:t>
            </a:r>
          </a:p>
          <a:p>
            <a:pPr algn="ctr">
              <a:spcAft>
                <a:spcPts val="0"/>
              </a:spcAft>
            </a:pPr>
            <a:r>
              <a:rPr sz="1050" b="0" i="0">
                <a:solidFill>
                  <a:srgbClr val="FFFFFF"/>
                </a:solidFill>
                <a:latin typeface="Calibri"/>
              </a:rPr>
              <a:t>early warning</a:t>
            </a:r>
          </a:p>
        </p:txBody>
      </p:sp>
      <p:sp>
        <p:nvSpPr>
          <p:cNvPr id="26" name="Rounded Rectangle 25"/>
          <p:cNvSpPr/>
          <p:nvPr/>
        </p:nvSpPr>
        <p:spPr>
          <a:xfrm>
            <a:off x="5893307" y="5148072"/>
            <a:ext cx="1426464" cy="768096"/>
          </a:xfrm>
          <a:prstGeom prst="roundRect">
            <a:avLst>
              <a:gd name="adj" fmla="val 11904"/>
            </a:avLst>
          </a:prstGeom>
          <a:solidFill>
            <a:srgbClr val="EA6A1E"/>
          </a:solidFill>
          <a:ln>
            <a:noFill/>
          </a:ln>
        </p:spPr>
        <p:txBody>
          <a:bodyPr rtlCol="0" anchor="ctr" wrap="square" lIns="54864" rIns="54864" tIns="54864" bIns="54864"/>
          <a:lstStyle/>
          <a:p>
            <a:pPr algn="ctr">
              <a:spcAft>
                <a:spcPts val="0"/>
              </a:spcAft>
            </a:pPr>
            <a:r>
              <a:rPr sz="1350" b="1" i="0">
                <a:solidFill>
                  <a:srgbClr val="FFFFFF"/>
                </a:solidFill>
                <a:latin typeface="Calibri"/>
              </a:rPr>
              <a:t>Response</a:t>
            </a:r>
          </a:p>
          <a:p>
            <a:pPr algn="ctr">
              <a:spcAft>
                <a:spcPts val="0"/>
              </a:spcAft>
            </a:pPr>
            <a:r>
              <a:rPr sz="1050" b="0" i="0">
                <a:solidFill>
                  <a:srgbClr val="FFFFFF"/>
                </a:solidFill>
                <a:latin typeface="Calibri"/>
              </a:rPr>
              <a:t>damage &amp; info extraction</a:t>
            </a:r>
          </a:p>
        </p:txBody>
      </p:sp>
      <p:sp>
        <p:nvSpPr>
          <p:cNvPr id="27" name="Rounded Rectangle 26"/>
          <p:cNvSpPr/>
          <p:nvPr/>
        </p:nvSpPr>
        <p:spPr>
          <a:xfrm>
            <a:off x="4658868" y="3547872"/>
            <a:ext cx="1426464" cy="768096"/>
          </a:xfrm>
          <a:prstGeom prst="roundRect">
            <a:avLst>
              <a:gd name="adj" fmla="val 11904"/>
            </a:avLst>
          </a:prstGeom>
          <a:solidFill>
            <a:srgbClr val="2E9E6A"/>
          </a:solidFill>
          <a:ln>
            <a:noFill/>
          </a:ln>
        </p:spPr>
        <p:txBody>
          <a:bodyPr rtlCol="0" anchor="ctr" wrap="square" lIns="54864" rIns="54864" tIns="54864" bIns="54864"/>
          <a:lstStyle/>
          <a:p>
            <a:pPr algn="ctr">
              <a:spcAft>
                <a:spcPts val="0"/>
              </a:spcAft>
            </a:pPr>
            <a:r>
              <a:rPr sz="1350" b="1" i="0">
                <a:solidFill>
                  <a:srgbClr val="FFFFFF"/>
                </a:solidFill>
                <a:latin typeface="Calibri"/>
              </a:rPr>
              <a:t>Recovery</a:t>
            </a:r>
          </a:p>
          <a:p>
            <a:pPr algn="ctr">
              <a:spcAft>
                <a:spcPts val="0"/>
              </a:spcAft>
            </a:pPr>
            <a:r>
              <a:rPr sz="1050" b="0" i="0">
                <a:solidFill>
                  <a:srgbClr val="FFFFFF"/>
                </a:solidFill>
                <a:latin typeface="Calibri"/>
              </a:rPr>
              <a:t>planning &amp; reports</a:t>
            </a:r>
          </a:p>
        </p:txBody>
      </p:sp>
      <p:cxnSp>
        <p:nvCxnSpPr>
          <p:cNvPr id="28" name="Connector 27"/>
          <p:cNvCxnSpPr/>
          <p:nvPr/>
        </p:nvCxnSpPr>
        <p:spPr>
          <a:xfrm>
            <a:off x="7319771" y="2468879"/>
            <a:ext cx="384048" cy="1078993"/>
          </a:xfrm>
          <a:prstGeom prst="line">
            <a:avLst/>
          </a:prstGeom>
          <a:ln w="22225">
            <a:solidFill>
              <a:srgbClr val="5B6E72"/>
            </a:solidFill>
            <a:tailEnd type="triangle" w="med" len="med"/>
          </a:ln>
        </p:spPr>
      </p:cxnSp>
      <p:cxnSp>
        <p:nvCxnSpPr>
          <p:cNvPr id="29" name="Connector 28"/>
          <p:cNvCxnSpPr/>
          <p:nvPr/>
        </p:nvCxnSpPr>
        <p:spPr>
          <a:xfrm flipH="1">
            <a:off x="7319771" y="4315968"/>
            <a:ext cx="384048" cy="1078992"/>
          </a:xfrm>
          <a:prstGeom prst="line">
            <a:avLst/>
          </a:prstGeom>
          <a:ln w="22225">
            <a:solidFill>
              <a:srgbClr val="5B6E72"/>
            </a:solidFill>
            <a:tailEnd type="triangle" w="med" len="med"/>
          </a:ln>
        </p:spPr>
      </p:cxnSp>
      <p:cxnSp>
        <p:nvCxnSpPr>
          <p:cNvPr id="30" name="Connector 29"/>
          <p:cNvCxnSpPr/>
          <p:nvPr/>
        </p:nvCxnSpPr>
        <p:spPr>
          <a:xfrm flipH="1" flipV="1">
            <a:off x="5509259" y="4315968"/>
            <a:ext cx="384048" cy="1078992"/>
          </a:xfrm>
          <a:prstGeom prst="line">
            <a:avLst/>
          </a:prstGeom>
          <a:ln w="22225">
            <a:solidFill>
              <a:srgbClr val="5B6E72"/>
            </a:solidFill>
            <a:tailEnd type="triangle" w="med" len="med"/>
          </a:ln>
        </p:spPr>
      </p:cxnSp>
      <p:cxnSp>
        <p:nvCxnSpPr>
          <p:cNvPr id="31" name="Connector 30"/>
          <p:cNvCxnSpPr/>
          <p:nvPr/>
        </p:nvCxnSpPr>
        <p:spPr>
          <a:xfrm flipV="1">
            <a:off x="5509259" y="2468879"/>
            <a:ext cx="384048" cy="1078993"/>
          </a:xfrm>
          <a:prstGeom prst="line">
            <a:avLst/>
          </a:prstGeom>
          <a:ln w="22225">
            <a:solidFill>
              <a:srgbClr val="5B6E72"/>
            </a:solidFill>
            <a:tailEnd type="triangle" w="med" len="med"/>
          </a:ln>
        </p:spPr>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02  ·  OBJECTIVES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0E2B31"/>
                </a:solidFill>
                <a:latin typeface="Cambria"/>
              </a:rPr>
              <a:t>What this seminar sets out to do</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4</a:t>
            </a:fld>
          </a:p>
        </p:txBody>
      </p:sp>
      <p:sp>
        <p:nvSpPr>
          <p:cNvPr id="7" name="TextBox 6"/>
          <p:cNvSpPr txBox="1"/>
          <p:nvPr/>
        </p:nvSpPr>
        <p:spPr>
          <a:xfrm>
            <a:off x="548640" y="1572768"/>
            <a:ext cx="822960" cy="749808"/>
          </a:xfrm>
          <a:prstGeom prst="rect">
            <a:avLst/>
          </a:prstGeom>
          <a:noFill/>
        </p:spPr>
        <p:txBody>
          <a:bodyPr wrap="square" anchor="ctr" lIns="0" rIns="0" tIns="0" bIns="0"/>
          <a:lstStyle/>
          <a:p>
            <a:pPr algn="l">
              <a:spcAft>
                <a:spcPts val="400"/>
              </a:spcAft>
            </a:pPr>
            <a:r>
              <a:rPr sz="3000" b="1" i="0">
                <a:solidFill>
                  <a:srgbClr val="12807F"/>
                </a:solidFill>
                <a:latin typeface="Cambria"/>
              </a:rPr>
              <a:t>01</a:t>
            </a:r>
          </a:p>
        </p:txBody>
      </p:sp>
      <p:sp>
        <p:nvSpPr>
          <p:cNvPr id="8" name="TextBox 7"/>
          <p:cNvSpPr txBox="1"/>
          <p:nvPr/>
        </p:nvSpPr>
        <p:spPr>
          <a:xfrm>
            <a:off x="1463040" y="1627632"/>
            <a:ext cx="6492240" cy="329184"/>
          </a:xfrm>
          <a:prstGeom prst="rect">
            <a:avLst/>
          </a:prstGeom>
          <a:noFill/>
        </p:spPr>
        <p:txBody>
          <a:bodyPr wrap="square" anchor="t" lIns="0" rIns="0" tIns="0" bIns="0"/>
          <a:lstStyle/>
          <a:p>
            <a:pPr algn="l">
              <a:spcAft>
                <a:spcPts val="400"/>
              </a:spcAft>
            </a:pPr>
            <a:r>
              <a:rPr sz="1600" b="1" i="0">
                <a:solidFill>
                  <a:srgbClr val="0E2B31"/>
                </a:solidFill>
                <a:latin typeface="Calibri"/>
              </a:rPr>
              <a:t>Disaster lifecycle</a:t>
            </a:r>
          </a:p>
        </p:txBody>
      </p:sp>
      <p:sp>
        <p:nvSpPr>
          <p:cNvPr id="9" name="TextBox 8"/>
          <p:cNvSpPr txBox="1"/>
          <p:nvPr/>
        </p:nvSpPr>
        <p:spPr>
          <a:xfrm>
            <a:off x="1463040" y="1956816"/>
            <a:ext cx="6492240" cy="411480"/>
          </a:xfrm>
          <a:prstGeom prst="rect">
            <a:avLst/>
          </a:prstGeom>
          <a:noFill/>
        </p:spPr>
        <p:txBody>
          <a:bodyPr wrap="square" anchor="t" lIns="0" rIns="0" tIns="0" bIns="0"/>
          <a:lstStyle/>
          <a:p>
            <a:pPr algn="l">
              <a:spcAft>
                <a:spcPts val="400"/>
              </a:spcAft>
            </a:pPr>
            <a:r>
              <a:rPr sz="1400" b="0" i="0">
                <a:solidFill>
                  <a:srgbClr val="5B6E72"/>
                </a:solidFill>
                <a:latin typeface="Calibri"/>
              </a:rPr>
              <a:t>Understand the role of AI in mitigation, preparedness, response and recovery.</a:t>
            </a:r>
          </a:p>
        </p:txBody>
      </p:sp>
      <p:pic>
        <p:nvPicPr>
          <p:cNvPr id="10" name="Picture 9" descr="sync_dp.png"/>
          <p:cNvPicPr>
            <a:picLocks noChangeAspect="1"/>
          </p:cNvPicPr>
          <p:nvPr/>
        </p:nvPicPr>
        <p:blipFill>
          <a:blip r:embed="rId3"/>
          <a:stretch>
            <a:fillRect/>
          </a:stretch>
        </p:blipFill>
        <p:spPr>
          <a:xfrm>
            <a:off x="8183879" y="1755648"/>
            <a:ext cx="384048" cy="384048"/>
          </a:xfrm>
          <a:prstGeom prst="rect">
            <a:avLst/>
          </a:prstGeom>
        </p:spPr>
      </p:pic>
      <p:cxnSp>
        <p:nvCxnSpPr>
          <p:cNvPr id="11" name="Connector 10"/>
          <p:cNvCxnSpPr/>
          <p:nvPr/>
        </p:nvCxnSpPr>
        <p:spPr>
          <a:xfrm>
            <a:off x="548640" y="2432304"/>
            <a:ext cx="8046720" cy="0"/>
          </a:xfrm>
          <a:prstGeom prst="line">
            <a:avLst/>
          </a:prstGeom>
          <a:ln w="9525">
            <a:solidFill>
              <a:srgbClr val="CBE0DE"/>
            </a:solidFill>
          </a:ln>
        </p:spPr>
      </p:cxnSp>
      <p:sp>
        <p:nvSpPr>
          <p:cNvPr id="12" name="TextBox 11"/>
          <p:cNvSpPr txBox="1"/>
          <p:nvPr/>
        </p:nvSpPr>
        <p:spPr>
          <a:xfrm>
            <a:off x="548640" y="2505456"/>
            <a:ext cx="822960" cy="749808"/>
          </a:xfrm>
          <a:prstGeom prst="rect">
            <a:avLst/>
          </a:prstGeom>
          <a:noFill/>
        </p:spPr>
        <p:txBody>
          <a:bodyPr wrap="square" anchor="ctr" lIns="0" rIns="0" tIns="0" bIns="0"/>
          <a:lstStyle/>
          <a:p>
            <a:pPr algn="l">
              <a:spcAft>
                <a:spcPts val="400"/>
              </a:spcAft>
            </a:pPr>
            <a:r>
              <a:rPr sz="3000" b="1" i="0">
                <a:solidFill>
                  <a:srgbClr val="12807F"/>
                </a:solidFill>
                <a:latin typeface="Cambria"/>
              </a:rPr>
              <a:t>02</a:t>
            </a:r>
          </a:p>
        </p:txBody>
      </p:sp>
      <p:sp>
        <p:nvSpPr>
          <p:cNvPr id="13" name="TextBox 12"/>
          <p:cNvSpPr txBox="1"/>
          <p:nvPr/>
        </p:nvSpPr>
        <p:spPr>
          <a:xfrm>
            <a:off x="1463040" y="2560320"/>
            <a:ext cx="6492240" cy="329184"/>
          </a:xfrm>
          <a:prstGeom prst="rect">
            <a:avLst/>
          </a:prstGeom>
          <a:noFill/>
        </p:spPr>
        <p:txBody>
          <a:bodyPr wrap="square" anchor="t" lIns="0" rIns="0" tIns="0" bIns="0"/>
          <a:lstStyle/>
          <a:p>
            <a:pPr algn="l">
              <a:spcAft>
                <a:spcPts val="400"/>
              </a:spcAft>
            </a:pPr>
            <a:r>
              <a:rPr sz="1600" b="1" i="0">
                <a:solidFill>
                  <a:srgbClr val="0E2B31"/>
                </a:solidFill>
                <a:latin typeface="Calibri"/>
              </a:rPr>
              <a:t>AI techniques</a:t>
            </a:r>
          </a:p>
        </p:txBody>
      </p:sp>
      <p:sp>
        <p:nvSpPr>
          <p:cNvPr id="14" name="TextBox 13"/>
          <p:cNvSpPr txBox="1"/>
          <p:nvPr/>
        </p:nvSpPr>
        <p:spPr>
          <a:xfrm>
            <a:off x="1463040" y="2889504"/>
            <a:ext cx="6492240" cy="411480"/>
          </a:xfrm>
          <a:prstGeom prst="rect">
            <a:avLst/>
          </a:prstGeom>
          <a:noFill/>
        </p:spPr>
        <p:txBody>
          <a:bodyPr wrap="square" anchor="t" lIns="0" rIns="0" tIns="0" bIns="0"/>
          <a:lstStyle/>
          <a:p>
            <a:pPr algn="l">
              <a:spcAft>
                <a:spcPts val="400"/>
              </a:spcAft>
            </a:pPr>
            <a:r>
              <a:rPr sz="1400" b="0" i="0">
                <a:solidFill>
                  <a:srgbClr val="5B6E72"/>
                </a:solidFill>
                <a:latin typeface="Calibri"/>
              </a:rPr>
              <a:t>Study ML, deep learning, computer vision, NLP and spatio-temporal analysis.</a:t>
            </a:r>
          </a:p>
        </p:txBody>
      </p:sp>
      <p:pic>
        <p:nvPicPr>
          <p:cNvPr id="15" name="Picture 14" descr="brain_dp.png"/>
          <p:cNvPicPr>
            <a:picLocks noChangeAspect="1"/>
          </p:cNvPicPr>
          <p:nvPr/>
        </p:nvPicPr>
        <p:blipFill>
          <a:blip r:embed="rId4"/>
          <a:stretch>
            <a:fillRect/>
          </a:stretch>
        </p:blipFill>
        <p:spPr>
          <a:xfrm>
            <a:off x="8183879" y="2688336"/>
            <a:ext cx="384048" cy="384048"/>
          </a:xfrm>
          <a:prstGeom prst="rect">
            <a:avLst/>
          </a:prstGeom>
        </p:spPr>
      </p:pic>
      <p:cxnSp>
        <p:nvCxnSpPr>
          <p:cNvPr id="16" name="Connector 15"/>
          <p:cNvCxnSpPr/>
          <p:nvPr/>
        </p:nvCxnSpPr>
        <p:spPr>
          <a:xfrm>
            <a:off x="548640" y="3364992"/>
            <a:ext cx="8046720" cy="0"/>
          </a:xfrm>
          <a:prstGeom prst="line">
            <a:avLst/>
          </a:prstGeom>
          <a:ln w="9525">
            <a:solidFill>
              <a:srgbClr val="CBE0DE"/>
            </a:solidFill>
          </a:ln>
        </p:spPr>
      </p:cxnSp>
      <p:sp>
        <p:nvSpPr>
          <p:cNvPr id="17" name="TextBox 16"/>
          <p:cNvSpPr txBox="1"/>
          <p:nvPr/>
        </p:nvSpPr>
        <p:spPr>
          <a:xfrm>
            <a:off x="548640" y="3438144"/>
            <a:ext cx="822960" cy="749808"/>
          </a:xfrm>
          <a:prstGeom prst="rect">
            <a:avLst/>
          </a:prstGeom>
          <a:noFill/>
        </p:spPr>
        <p:txBody>
          <a:bodyPr wrap="square" anchor="ctr" lIns="0" rIns="0" tIns="0" bIns="0"/>
          <a:lstStyle/>
          <a:p>
            <a:pPr algn="l">
              <a:spcAft>
                <a:spcPts val="400"/>
              </a:spcAft>
            </a:pPr>
            <a:r>
              <a:rPr sz="3000" b="1" i="0">
                <a:solidFill>
                  <a:srgbClr val="12807F"/>
                </a:solidFill>
                <a:latin typeface="Cambria"/>
              </a:rPr>
              <a:t>03</a:t>
            </a:r>
          </a:p>
        </p:txBody>
      </p:sp>
      <p:sp>
        <p:nvSpPr>
          <p:cNvPr id="18" name="TextBox 17"/>
          <p:cNvSpPr txBox="1"/>
          <p:nvPr/>
        </p:nvSpPr>
        <p:spPr>
          <a:xfrm>
            <a:off x="1463040" y="3493008"/>
            <a:ext cx="6492240" cy="329184"/>
          </a:xfrm>
          <a:prstGeom prst="rect">
            <a:avLst/>
          </a:prstGeom>
          <a:noFill/>
        </p:spPr>
        <p:txBody>
          <a:bodyPr wrap="square" anchor="t" lIns="0" rIns="0" tIns="0" bIns="0"/>
          <a:lstStyle/>
          <a:p>
            <a:pPr algn="l">
              <a:spcAft>
                <a:spcPts val="400"/>
              </a:spcAft>
            </a:pPr>
            <a:r>
              <a:rPr sz="1600" b="1" i="0">
                <a:solidFill>
                  <a:srgbClr val="0E2B31"/>
                </a:solidFill>
                <a:latin typeface="Calibri"/>
              </a:rPr>
              <a:t>Applications</a:t>
            </a:r>
          </a:p>
        </p:txBody>
      </p:sp>
      <p:sp>
        <p:nvSpPr>
          <p:cNvPr id="19" name="TextBox 18"/>
          <p:cNvSpPr txBox="1"/>
          <p:nvPr/>
        </p:nvSpPr>
        <p:spPr>
          <a:xfrm>
            <a:off x="1463040" y="3822191"/>
            <a:ext cx="6492240" cy="411480"/>
          </a:xfrm>
          <a:prstGeom prst="rect">
            <a:avLst/>
          </a:prstGeom>
          <a:noFill/>
        </p:spPr>
        <p:txBody>
          <a:bodyPr wrap="square" anchor="t" lIns="0" rIns="0" tIns="0" bIns="0"/>
          <a:lstStyle/>
          <a:p>
            <a:pPr algn="l">
              <a:spcAft>
                <a:spcPts val="400"/>
              </a:spcAft>
            </a:pPr>
            <a:r>
              <a:rPr sz="1400" b="0" i="0">
                <a:solidFill>
                  <a:srgbClr val="5B6E72"/>
                </a:solidFill>
                <a:latin typeface="Calibri"/>
              </a:rPr>
              <a:t>Explore flood prediction, wildfire detection, damage assessment and crisis information.</a:t>
            </a:r>
          </a:p>
        </p:txBody>
      </p:sp>
      <p:pic>
        <p:nvPicPr>
          <p:cNvPr id="20" name="Picture 19" descr="water_dp.png"/>
          <p:cNvPicPr>
            <a:picLocks noChangeAspect="1"/>
          </p:cNvPicPr>
          <p:nvPr/>
        </p:nvPicPr>
        <p:blipFill>
          <a:blip r:embed="rId5"/>
          <a:stretch>
            <a:fillRect/>
          </a:stretch>
        </p:blipFill>
        <p:spPr>
          <a:xfrm>
            <a:off x="8183879" y="3621024"/>
            <a:ext cx="384048" cy="384048"/>
          </a:xfrm>
          <a:prstGeom prst="rect">
            <a:avLst/>
          </a:prstGeom>
        </p:spPr>
      </p:pic>
      <p:cxnSp>
        <p:nvCxnSpPr>
          <p:cNvPr id="21" name="Connector 20"/>
          <p:cNvCxnSpPr/>
          <p:nvPr/>
        </p:nvCxnSpPr>
        <p:spPr>
          <a:xfrm>
            <a:off x="548640" y="4297679"/>
            <a:ext cx="8046720" cy="0"/>
          </a:xfrm>
          <a:prstGeom prst="line">
            <a:avLst/>
          </a:prstGeom>
          <a:ln w="9525">
            <a:solidFill>
              <a:srgbClr val="CBE0DE"/>
            </a:solidFill>
          </a:ln>
        </p:spPr>
      </p:cxnSp>
      <p:sp>
        <p:nvSpPr>
          <p:cNvPr id="22" name="TextBox 21"/>
          <p:cNvSpPr txBox="1"/>
          <p:nvPr/>
        </p:nvSpPr>
        <p:spPr>
          <a:xfrm>
            <a:off x="548640" y="4370832"/>
            <a:ext cx="822960" cy="749808"/>
          </a:xfrm>
          <a:prstGeom prst="rect">
            <a:avLst/>
          </a:prstGeom>
          <a:noFill/>
        </p:spPr>
        <p:txBody>
          <a:bodyPr wrap="square" anchor="ctr" lIns="0" rIns="0" tIns="0" bIns="0"/>
          <a:lstStyle/>
          <a:p>
            <a:pPr algn="l">
              <a:spcAft>
                <a:spcPts val="400"/>
              </a:spcAft>
            </a:pPr>
            <a:r>
              <a:rPr sz="3000" b="1" i="0">
                <a:solidFill>
                  <a:srgbClr val="12807F"/>
                </a:solidFill>
                <a:latin typeface="Cambria"/>
              </a:rPr>
              <a:t>04</a:t>
            </a:r>
          </a:p>
        </p:txBody>
      </p:sp>
      <p:sp>
        <p:nvSpPr>
          <p:cNvPr id="23" name="TextBox 22"/>
          <p:cNvSpPr txBox="1"/>
          <p:nvPr/>
        </p:nvSpPr>
        <p:spPr>
          <a:xfrm>
            <a:off x="1463040" y="4425696"/>
            <a:ext cx="6492240" cy="329184"/>
          </a:xfrm>
          <a:prstGeom prst="rect">
            <a:avLst/>
          </a:prstGeom>
          <a:noFill/>
        </p:spPr>
        <p:txBody>
          <a:bodyPr wrap="square" anchor="t" lIns="0" rIns="0" tIns="0" bIns="0"/>
          <a:lstStyle/>
          <a:p>
            <a:pPr algn="l">
              <a:spcAft>
                <a:spcPts val="400"/>
              </a:spcAft>
            </a:pPr>
            <a:r>
              <a:rPr sz="1600" b="1" i="0">
                <a:solidFill>
                  <a:srgbClr val="0E2B31"/>
                </a:solidFill>
                <a:latin typeface="Calibri"/>
              </a:rPr>
              <a:t>System design</a:t>
            </a:r>
          </a:p>
        </p:txBody>
      </p:sp>
      <p:sp>
        <p:nvSpPr>
          <p:cNvPr id="24" name="TextBox 23"/>
          <p:cNvSpPr txBox="1"/>
          <p:nvPr/>
        </p:nvSpPr>
        <p:spPr>
          <a:xfrm>
            <a:off x="1463040" y="4754880"/>
            <a:ext cx="6492240" cy="411480"/>
          </a:xfrm>
          <a:prstGeom prst="rect">
            <a:avLst/>
          </a:prstGeom>
          <a:noFill/>
        </p:spPr>
        <p:txBody>
          <a:bodyPr wrap="square" anchor="t" lIns="0" rIns="0" tIns="0" bIns="0"/>
          <a:lstStyle/>
          <a:p>
            <a:pPr algn="l">
              <a:spcAft>
                <a:spcPts val="400"/>
              </a:spcAft>
            </a:pPr>
            <a:r>
              <a:rPr sz="1400" b="0" i="0">
                <a:solidFill>
                  <a:srgbClr val="5B6E72"/>
                </a:solidFill>
                <a:latin typeface="Calibri"/>
              </a:rPr>
              <a:t>Analyse an end-to-end AI-based disaster management pipeline.</a:t>
            </a:r>
          </a:p>
        </p:txBody>
      </p:sp>
      <p:pic>
        <p:nvPicPr>
          <p:cNvPr id="25" name="Picture 24" descr="sitemap_dp.png"/>
          <p:cNvPicPr>
            <a:picLocks noChangeAspect="1"/>
          </p:cNvPicPr>
          <p:nvPr/>
        </p:nvPicPr>
        <p:blipFill>
          <a:blip r:embed="rId6"/>
          <a:stretch>
            <a:fillRect/>
          </a:stretch>
        </p:blipFill>
        <p:spPr>
          <a:xfrm>
            <a:off x="8183879" y="4553712"/>
            <a:ext cx="384048" cy="384048"/>
          </a:xfrm>
          <a:prstGeom prst="rect">
            <a:avLst/>
          </a:prstGeom>
        </p:spPr>
      </p:pic>
      <p:cxnSp>
        <p:nvCxnSpPr>
          <p:cNvPr id="26" name="Connector 25"/>
          <p:cNvCxnSpPr/>
          <p:nvPr/>
        </p:nvCxnSpPr>
        <p:spPr>
          <a:xfrm>
            <a:off x="548640" y="5230368"/>
            <a:ext cx="8046720" cy="0"/>
          </a:xfrm>
          <a:prstGeom prst="line">
            <a:avLst/>
          </a:prstGeom>
          <a:ln w="9525">
            <a:solidFill>
              <a:srgbClr val="CBE0DE"/>
            </a:solidFill>
          </a:ln>
        </p:spPr>
      </p:cxnSp>
      <p:sp>
        <p:nvSpPr>
          <p:cNvPr id="27" name="TextBox 26"/>
          <p:cNvSpPr txBox="1"/>
          <p:nvPr/>
        </p:nvSpPr>
        <p:spPr>
          <a:xfrm>
            <a:off x="548640" y="5303520"/>
            <a:ext cx="822960" cy="749808"/>
          </a:xfrm>
          <a:prstGeom prst="rect">
            <a:avLst/>
          </a:prstGeom>
          <a:noFill/>
        </p:spPr>
        <p:txBody>
          <a:bodyPr wrap="square" anchor="ctr" lIns="0" rIns="0" tIns="0" bIns="0"/>
          <a:lstStyle/>
          <a:p>
            <a:pPr algn="l">
              <a:spcAft>
                <a:spcPts val="400"/>
              </a:spcAft>
            </a:pPr>
            <a:r>
              <a:rPr sz="3000" b="1" i="0">
                <a:solidFill>
                  <a:srgbClr val="12807F"/>
                </a:solidFill>
                <a:latin typeface="Cambria"/>
              </a:rPr>
              <a:t>05</a:t>
            </a:r>
          </a:p>
        </p:txBody>
      </p:sp>
      <p:sp>
        <p:nvSpPr>
          <p:cNvPr id="28" name="TextBox 27"/>
          <p:cNvSpPr txBox="1"/>
          <p:nvPr/>
        </p:nvSpPr>
        <p:spPr>
          <a:xfrm>
            <a:off x="1463040" y="5358383"/>
            <a:ext cx="6492240" cy="329184"/>
          </a:xfrm>
          <a:prstGeom prst="rect">
            <a:avLst/>
          </a:prstGeom>
          <a:noFill/>
        </p:spPr>
        <p:txBody>
          <a:bodyPr wrap="square" anchor="t" lIns="0" rIns="0" tIns="0" bIns="0"/>
          <a:lstStyle/>
          <a:p>
            <a:pPr algn="l">
              <a:spcAft>
                <a:spcPts val="400"/>
              </a:spcAft>
            </a:pPr>
            <a:r>
              <a:rPr sz="1600" b="1" i="0">
                <a:solidFill>
                  <a:srgbClr val="0E2B31"/>
                </a:solidFill>
                <a:latin typeface="Calibri"/>
              </a:rPr>
              <a:t>Challenges</a:t>
            </a:r>
          </a:p>
        </p:txBody>
      </p:sp>
      <p:sp>
        <p:nvSpPr>
          <p:cNvPr id="29" name="TextBox 28"/>
          <p:cNvSpPr txBox="1"/>
          <p:nvPr/>
        </p:nvSpPr>
        <p:spPr>
          <a:xfrm>
            <a:off x="1463040" y="5687568"/>
            <a:ext cx="6492240" cy="411480"/>
          </a:xfrm>
          <a:prstGeom prst="rect">
            <a:avLst/>
          </a:prstGeom>
          <a:noFill/>
        </p:spPr>
        <p:txBody>
          <a:bodyPr wrap="square" anchor="t" lIns="0" rIns="0" tIns="0" bIns="0"/>
          <a:lstStyle/>
          <a:p>
            <a:pPr algn="l">
              <a:spcAft>
                <a:spcPts val="400"/>
              </a:spcAft>
            </a:pPr>
            <a:r>
              <a:rPr sz="1400" b="0" i="0">
                <a:solidFill>
                  <a:srgbClr val="5B6E72"/>
                </a:solidFill>
                <a:latin typeface="Calibri"/>
              </a:rPr>
              <a:t>Identify issues in data, generalization, interpretability and fairness.</a:t>
            </a:r>
          </a:p>
        </p:txBody>
      </p:sp>
      <p:pic>
        <p:nvPicPr>
          <p:cNvPr id="30" name="Picture 29" descr="balance_dp.png"/>
          <p:cNvPicPr>
            <a:picLocks noChangeAspect="1"/>
          </p:cNvPicPr>
          <p:nvPr/>
        </p:nvPicPr>
        <p:blipFill>
          <a:blip r:embed="rId7"/>
          <a:stretch>
            <a:fillRect/>
          </a:stretch>
        </p:blipFill>
        <p:spPr>
          <a:xfrm>
            <a:off x="8183879" y="5486400"/>
            <a:ext cx="384048" cy="38404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03  ·  LITERATURE REVIEW</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0E2B31"/>
                </a:solidFill>
                <a:latin typeface="Cambria"/>
              </a:rPr>
              <a:t>Four research threads link AI to disasters</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5</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5B6E72"/>
                </a:solidFill>
                <a:latin typeface="Calibri"/>
              </a:rPr>
              <a:t>Peer-reviewed reviews and surveys from 2024–2026, grouped by theme.</a:t>
            </a:r>
          </a:p>
        </p:txBody>
      </p:sp>
      <p:sp>
        <p:nvSpPr>
          <p:cNvPr id="8" name="Rounded Rectangle 7"/>
          <p:cNvSpPr/>
          <p:nvPr/>
        </p:nvSpPr>
        <p:spPr>
          <a:xfrm>
            <a:off x="548640" y="1691640"/>
            <a:ext cx="3931920" cy="1737360"/>
          </a:xfrm>
          <a:prstGeom prst="roundRect">
            <a:avLst>
              <a:gd name="adj" fmla="val 6315"/>
            </a:avLst>
          </a:prstGeom>
          <a:solidFill>
            <a:srgbClr val="F3F7F7"/>
          </a:solidFill>
          <a:ln>
            <a:noFill/>
          </a:ln>
        </p:spPr>
        <p:txBody>
          <a:bodyPr rtlCol="0" anchor="ctr" wrap="square" lIns="54864" rIns="54864" tIns="54864" bIns="54864"/>
          <a:lstStyle/>
          <a:p>
            <a:pPr algn="ctr"/>
          </a:p>
        </p:txBody>
      </p:sp>
      <p:sp>
        <p:nvSpPr>
          <p:cNvPr id="9" name="Oval 8"/>
          <p:cNvSpPr/>
          <p:nvPr/>
        </p:nvSpPr>
        <p:spPr>
          <a:xfrm>
            <a:off x="731520" y="1874520"/>
            <a:ext cx="457200" cy="457200"/>
          </a:xfrm>
          <a:prstGeom prst="ellipse">
            <a:avLst/>
          </a:prstGeom>
          <a:solidFill>
            <a:srgbClr val="12807F"/>
          </a:solidFill>
          <a:ln>
            <a:noFill/>
          </a:ln>
        </p:spPr>
        <p:txBody>
          <a:bodyPr rtlCol="0" anchor="ctr" wrap="square" lIns="54864" rIns="54864" tIns="54864" bIns="54864"/>
          <a:lstStyle/>
          <a:p>
            <a:pPr algn="ctr"/>
          </a:p>
        </p:txBody>
      </p:sp>
      <p:pic>
        <p:nvPicPr>
          <p:cNvPr id="10" name="Picture 9" descr="book_w.png"/>
          <p:cNvPicPr>
            <a:picLocks noChangeAspect="1"/>
          </p:cNvPicPr>
          <p:nvPr/>
        </p:nvPicPr>
        <p:blipFill>
          <a:blip r:embed="rId3"/>
          <a:stretch>
            <a:fillRect/>
          </a:stretch>
        </p:blipFill>
        <p:spPr>
          <a:xfrm>
            <a:off x="845820" y="1988820"/>
            <a:ext cx="228600" cy="228600"/>
          </a:xfrm>
          <a:prstGeom prst="rect">
            <a:avLst/>
          </a:prstGeom>
        </p:spPr>
      </p:pic>
      <p:sp>
        <p:nvSpPr>
          <p:cNvPr id="11" name="TextBox 10"/>
          <p:cNvSpPr txBox="1"/>
          <p:nvPr/>
        </p:nvSpPr>
        <p:spPr>
          <a:xfrm>
            <a:off x="1325880" y="1847088"/>
            <a:ext cx="3017520" cy="512064"/>
          </a:xfrm>
          <a:prstGeom prst="rect">
            <a:avLst/>
          </a:prstGeom>
          <a:noFill/>
        </p:spPr>
        <p:txBody>
          <a:bodyPr wrap="square" anchor="ctr" lIns="0" rIns="0" tIns="0" bIns="0"/>
          <a:lstStyle/>
          <a:p>
            <a:pPr algn="l">
              <a:spcAft>
                <a:spcPts val="0"/>
              </a:spcAft>
            </a:pPr>
            <a:r>
              <a:rPr sz="1450" b="1" i="0">
                <a:solidFill>
                  <a:srgbClr val="0E2B31"/>
                </a:solidFill>
                <a:latin typeface="Calibri"/>
              </a:rPr>
              <a:t>Reviews &amp; frameworks</a:t>
            </a:r>
          </a:p>
          <a:p>
            <a:pPr algn="l">
              <a:spcAft>
                <a:spcPts val="0"/>
              </a:spcAft>
            </a:pPr>
            <a:r>
              <a:rPr sz="1100" b="1" i="0">
                <a:solidFill>
                  <a:srgbClr val="12807F"/>
                </a:solidFill>
                <a:latin typeface="Calibri"/>
              </a:rPr>
              <a:t>[1] [2]</a:t>
            </a:r>
          </a:p>
        </p:txBody>
      </p:sp>
      <p:sp>
        <p:nvSpPr>
          <p:cNvPr id="12" name="TextBox 11"/>
          <p:cNvSpPr txBox="1"/>
          <p:nvPr/>
        </p:nvSpPr>
        <p:spPr>
          <a:xfrm>
            <a:off x="731520" y="2468880"/>
            <a:ext cx="3566160" cy="896111"/>
          </a:xfrm>
          <a:prstGeom prst="rect">
            <a:avLst/>
          </a:prstGeom>
          <a:noFill/>
        </p:spPr>
        <p:txBody>
          <a:bodyPr wrap="square" anchor="t" lIns="0" rIns="0" tIns="0" bIns="0"/>
          <a:lstStyle/>
          <a:p>
            <a:pPr algn="l">
              <a:spcAft>
                <a:spcPts val="400"/>
              </a:spcAft>
            </a:pPr>
            <a:r>
              <a:rPr sz="1400" b="0" i="0">
                <a:solidFill>
                  <a:srgbClr val="17282C"/>
                </a:solidFill>
                <a:latin typeface="Calibri"/>
              </a:rPr>
              <a:t>Map AI methods to every disaster phase (96 studies in [1]); stress trustworthy, explainable deployment [2].</a:t>
            </a:r>
          </a:p>
        </p:txBody>
      </p:sp>
      <p:sp>
        <p:nvSpPr>
          <p:cNvPr id="13" name="Rounded Rectangle 12"/>
          <p:cNvSpPr/>
          <p:nvPr/>
        </p:nvSpPr>
        <p:spPr>
          <a:xfrm>
            <a:off x="4663440" y="1691640"/>
            <a:ext cx="3931920" cy="1737360"/>
          </a:xfrm>
          <a:prstGeom prst="roundRect">
            <a:avLst>
              <a:gd name="adj" fmla="val 6315"/>
            </a:avLst>
          </a:prstGeom>
          <a:solidFill>
            <a:srgbClr val="F3F7F7"/>
          </a:solidFill>
          <a:ln>
            <a:noFill/>
          </a:ln>
        </p:spPr>
        <p:txBody>
          <a:bodyPr rtlCol="0" anchor="ctr" wrap="square" lIns="54864" rIns="54864" tIns="54864" bIns="54864"/>
          <a:lstStyle/>
          <a:p>
            <a:pPr algn="ctr"/>
          </a:p>
        </p:txBody>
      </p:sp>
      <p:sp>
        <p:nvSpPr>
          <p:cNvPr id="14" name="Oval 13"/>
          <p:cNvSpPr/>
          <p:nvPr/>
        </p:nvSpPr>
        <p:spPr>
          <a:xfrm>
            <a:off x="4846320" y="1874520"/>
            <a:ext cx="457200" cy="457200"/>
          </a:xfrm>
          <a:prstGeom prst="ellipse">
            <a:avLst/>
          </a:prstGeom>
          <a:solidFill>
            <a:srgbClr val="EA6A1E"/>
          </a:solidFill>
          <a:ln>
            <a:noFill/>
          </a:ln>
        </p:spPr>
        <p:txBody>
          <a:bodyPr rtlCol="0" anchor="ctr" wrap="square" lIns="54864" rIns="54864" tIns="54864" bIns="54864"/>
          <a:lstStyle/>
          <a:p>
            <a:pPr algn="ctr"/>
          </a:p>
        </p:txBody>
      </p:sp>
      <p:pic>
        <p:nvPicPr>
          <p:cNvPr id="15" name="Picture 14" descr="layers_w.png"/>
          <p:cNvPicPr>
            <a:picLocks noChangeAspect="1"/>
          </p:cNvPicPr>
          <p:nvPr/>
        </p:nvPicPr>
        <p:blipFill>
          <a:blip r:embed="rId4"/>
          <a:stretch>
            <a:fillRect/>
          </a:stretch>
        </p:blipFill>
        <p:spPr>
          <a:xfrm>
            <a:off x="4960620" y="1988820"/>
            <a:ext cx="228600" cy="228600"/>
          </a:xfrm>
          <a:prstGeom prst="rect">
            <a:avLst/>
          </a:prstGeom>
        </p:spPr>
      </p:pic>
      <p:sp>
        <p:nvSpPr>
          <p:cNvPr id="16" name="TextBox 15"/>
          <p:cNvSpPr txBox="1"/>
          <p:nvPr/>
        </p:nvSpPr>
        <p:spPr>
          <a:xfrm>
            <a:off x="5440679" y="1847088"/>
            <a:ext cx="3017520" cy="512064"/>
          </a:xfrm>
          <a:prstGeom prst="rect">
            <a:avLst/>
          </a:prstGeom>
          <a:noFill/>
        </p:spPr>
        <p:txBody>
          <a:bodyPr wrap="square" anchor="ctr" lIns="0" rIns="0" tIns="0" bIns="0"/>
          <a:lstStyle/>
          <a:p>
            <a:pPr algn="l">
              <a:spcAft>
                <a:spcPts val="0"/>
              </a:spcAft>
            </a:pPr>
            <a:r>
              <a:rPr sz="1450" b="1" i="0">
                <a:solidFill>
                  <a:srgbClr val="0E2B31"/>
                </a:solidFill>
                <a:latin typeface="Calibri"/>
              </a:rPr>
              <a:t>Hazard-specific deep learning</a:t>
            </a:r>
          </a:p>
          <a:p>
            <a:pPr algn="l">
              <a:spcAft>
                <a:spcPts val="0"/>
              </a:spcAft>
            </a:pPr>
            <a:r>
              <a:rPr sz="1100" b="1" i="0">
                <a:solidFill>
                  <a:srgbClr val="EA6A1E"/>
                </a:solidFill>
                <a:latin typeface="Calibri"/>
              </a:rPr>
              <a:t>[3] [4] [5]</a:t>
            </a:r>
          </a:p>
        </p:txBody>
      </p:sp>
      <p:sp>
        <p:nvSpPr>
          <p:cNvPr id="17" name="TextBox 16"/>
          <p:cNvSpPr txBox="1"/>
          <p:nvPr/>
        </p:nvSpPr>
        <p:spPr>
          <a:xfrm>
            <a:off x="4846320" y="2468880"/>
            <a:ext cx="3566160" cy="896111"/>
          </a:xfrm>
          <a:prstGeom prst="rect">
            <a:avLst/>
          </a:prstGeom>
          <a:noFill/>
        </p:spPr>
        <p:txBody>
          <a:bodyPr wrap="square" anchor="t" lIns="0" rIns="0" tIns="0" bIns="0"/>
          <a:lstStyle/>
          <a:p>
            <a:pPr algn="l">
              <a:spcAft>
                <a:spcPts val="400"/>
              </a:spcAft>
            </a:pPr>
            <a:r>
              <a:rPr sz="1400" b="0" i="0">
                <a:solidFill>
                  <a:srgbClr val="17282C"/>
                </a:solidFill>
                <a:latin typeface="Calibri"/>
              </a:rPr>
              <a:t>CNNs, LSTMs and AIoT for floods, earthquakes and wildfires: prediction, detection, damage assessment.</a:t>
            </a:r>
          </a:p>
        </p:txBody>
      </p:sp>
      <p:sp>
        <p:nvSpPr>
          <p:cNvPr id="18" name="Rounded Rectangle 17"/>
          <p:cNvSpPr/>
          <p:nvPr/>
        </p:nvSpPr>
        <p:spPr>
          <a:xfrm>
            <a:off x="548640" y="3566160"/>
            <a:ext cx="3931920" cy="1737360"/>
          </a:xfrm>
          <a:prstGeom prst="roundRect">
            <a:avLst>
              <a:gd name="adj" fmla="val 6315"/>
            </a:avLst>
          </a:prstGeom>
          <a:solidFill>
            <a:srgbClr val="F3F7F7"/>
          </a:solidFill>
          <a:ln>
            <a:noFill/>
          </a:ln>
        </p:spPr>
        <p:txBody>
          <a:bodyPr rtlCol="0" anchor="ctr" wrap="square" lIns="54864" rIns="54864" tIns="54864" bIns="54864"/>
          <a:lstStyle/>
          <a:p>
            <a:pPr algn="ctr"/>
          </a:p>
        </p:txBody>
      </p:sp>
      <p:sp>
        <p:nvSpPr>
          <p:cNvPr id="19" name="Oval 18"/>
          <p:cNvSpPr/>
          <p:nvPr/>
        </p:nvSpPr>
        <p:spPr>
          <a:xfrm>
            <a:off x="731520" y="3749039"/>
            <a:ext cx="457200" cy="457200"/>
          </a:xfrm>
          <a:prstGeom prst="ellipse">
            <a:avLst/>
          </a:prstGeom>
          <a:solidFill>
            <a:srgbClr val="EA6A1E"/>
          </a:solidFill>
          <a:ln>
            <a:noFill/>
          </a:ln>
        </p:spPr>
        <p:txBody>
          <a:bodyPr rtlCol="0" anchor="ctr" wrap="square" lIns="54864" rIns="54864" tIns="54864" bIns="54864"/>
          <a:lstStyle/>
          <a:p>
            <a:pPr algn="ctr"/>
          </a:p>
        </p:txBody>
      </p:sp>
      <p:pic>
        <p:nvPicPr>
          <p:cNvPr id="20" name="Picture 19" descr="comment_w.png"/>
          <p:cNvPicPr>
            <a:picLocks noChangeAspect="1"/>
          </p:cNvPicPr>
          <p:nvPr/>
        </p:nvPicPr>
        <p:blipFill>
          <a:blip r:embed="rId5"/>
          <a:stretch>
            <a:fillRect/>
          </a:stretch>
        </p:blipFill>
        <p:spPr>
          <a:xfrm>
            <a:off x="845820" y="3863339"/>
            <a:ext cx="228600" cy="228600"/>
          </a:xfrm>
          <a:prstGeom prst="rect">
            <a:avLst/>
          </a:prstGeom>
        </p:spPr>
      </p:pic>
      <p:sp>
        <p:nvSpPr>
          <p:cNvPr id="21" name="TextBox 20"/>
          <p:cNvSpPr txBox="1"/>
          <p:nvPr/>
        </p:nvSpPr>
        <p:spPr>
          <a:xfrm>
            <a:off x="1325880" y="3721608"/>
            <a:ext cx="3017520" cy="512064"/>
          </a:xfrm>
          <a:prstGeom prst="rect">
            <a:avLst/>
          </a:prstGeom>
          <a:noFill/>
        </p:spPr>
        <p:txBody>
          <a:bodyPr wrap="square" anchor="ctr" lIns="0" rIns="0" tIns="0" bIns="0"/>
          <a:lstStyle/>
          <a:p>
            <a:pPr algn="l">
              <a:spcAft>
                <a:spcPts val="0"/>
              </a:spcAft>
            </a:pPr>
            <a:r>
              <a:rPr sz="1450" b="1" i="0">
                <a:solidFill>
                  <a:srgbClr val="0E2B31"/>
                </a:solidFill>
                <a:latin typeface="Calibri"/>
              </a:rPr>
              <a:t>Large language models</a:t>
            </a:r>
          </a:p>
          <a:p>
            <a:pPr algn="l">
              <a:spcAft>
                <a:spcPts val="0"/>
              </a:spcAft>
            </a:pPr>
            <a:r>
              <a:rPr sz="1100" b="1" i="0">
                <a:solidFill>
                  <a:srgbClr val="EA6A1E"/>
                </a:solidFill>
                <a:latin typeface="Calibri"/>
              </a:rPr>
              <a:t>[6]</a:t>
            </a:r>
          </a:p>
        </p:txBody>
      </p:sp>
      <p:sp>
        <p:nvSpPr>
          <p:cNvPr id="22" name="TextBox 21"/>
          <p:cNvSpPr txBox="1"/>
          <p:nvPr/>
        </p:nvSpPr>
        <p:spPr>
          <a:xfrm>
            <a:off x="731520" y="4343400"/>
            <a:ext cx="3566160" cy="896111"/>
          </a:xfrm>
          <a:prstGeom prst="rect">
            <a:avLst/>
          </a:prstGeom>
          <a:noFill/>
        </p:spPr>
        <p:txBody>
          <a:bodyPr wrap="square" anchor="t" lIns="0" rIns="0" tIns="0" bIns="0"/>
          <a:lstStyle/>
          <a:p>
            <a:pPr algn="l">
              <a:spcAft>
                <a:spcPts val="400"/>
              </a:spcAft>
            </a:pPr>
            <a:r>
              <a:rPr sz="1400" b="0" i="0">
                <a:solidFill>
                  <a:srgbClr val="17282C"/>
                </a:solidFill>
                <a:latin typeface="Calibri"/>
              </a:rPr>
              <a:t>LLMs across disaster phases: classifying crisis messages, extracting information, generating reports.</a:t>
            </a:r>
          </a:p>
        </p:txBody>
      </p:sp>
      <p:sp>
        <p:nvSpPr>
          <p:cNvPr id="23" name="Rounded Rectangle 22"/>
          <p:cNvSpPr/>
          <p:nvPr/>
        </p:nvSpPr>
        <p:spPr>
          <a:xfrm>
            <a:off x="4663440" y="3566160"/>
            <a:ext cx="3931920" cy="1737360"/>
          </a:xfrm>
          <a:prstGeom prst="roundRect">
            <a:avLst>
              <a:gd name="adj" fmla="val 6315"/>
            </a:avLst>
          </a:prstGeom>
          <a:solidFill>
            <a:srgbClr val="F3F7F7"/>
          </a:solidFill>
          <a:ln>
            <a:noFill/>
          </a:ln>
        </p:spPr>
        <p:txBody>
          <a:bodyPr rtlCol="0" anchor="ctr" wrap="square" lIns="54864" rIns="54864" tIns="54864" bIns="54864"/>
          <a:lstStyle/>
          <a:p>
            <a:pPr algn="ctr"/>
          </a:p>
        </p:txBody>
      </p:sp>
      <p:sp>
        <p:nvSpPr>
          <p:cNvPr id="24" name="Oval 23"/>
          <p:cNvSpPr/>
          <p:nvPr/>
        </p:nvSpPr>
        <p:spPr>
          <a:xfrm>
            <a:off x="4846320" y="3749039"/>
            <a:ext cx="457200" cy="457200"/>
          </a:xfrm>
          <a:prstGeom prst="ellipse">
            <a:avLst/>
          </a:prstGeom>
          <a:solidFill>
            <a:srgbClr val="12807F"/>
          </a:solidFill>
          <a:ln>
            <a:noFill/>
          </a:ln>
        </p:spPr>
        <p:txBody>
          <a:bodyPr rtlCol="0" anchor="ctr" wrap="square" lIns="54864" rIns="54864" tIns="54864" bIns="54864"/>
          <a:lstStyle/>
          <a:p>
            <a:pPr algn="ctr"/>
          </a:p>
        </p:txBody>
      </p:sp>
      <p:pic>
        <p:nvPicPr>
          <p:cNvPr id="25" name="Picture 24" descr="eye_w.png"/>
          <p:cNvPicPr>
            <a:picLocks noChangeAspect="1"/>
          </p:cNvPicPr>
          <p:nvPr/>
        </p:nvPicPr>
        <p:blipFill>
          <a:blip r:embed="rId6"/>
          <a:stretch>
            <a:fillRect/>
          </a:stretch>
        </p:blipFill>
        <p:spPr>
          <a:xfrm>
            <a:off x="4960620" y="3863339"/>
            <a:ext cx="228600" cy="228600"/>
          </a:xfrm>
          <a:prstGeom prst="rect">
            <a:avLst/>
          </a:prstGeom>
        </p:spPr>
      </p:pic>
      <p:sp>
        <p:nvSpPr>
          <p:cNvPr id="26" name="TextBox 25"/>
          <p:cNvSpPr txBox="1"/>
          <p:nvPr/>
        </p:nvSpPr>
        <p:spPr>
          <a:xfrm>
            <a:off x="5440679" y="3721608"/>
            <a:ext cx="3017520" cy="512064"/>
          </a:xfrm>
          <a:prstGeom prst="rect">
            <a:avLst/>
          </a:prstGeom>
          <a:noFill/>
        </p:spPr>
        <p:txBody>
          <a:bodyPr wrap="square" anchor="ctr" lIns="0" rIns="0" tIns="0" bIns="0"/>
          <a:lstStyle/>
          <a:p>
            <a:pPr algn="l">
              <a:spcAft>
                <a:spcPts val="0"/>
              </a:spcAft>
            </a:pPr>
            <a:r>
              <a:rPr sz="1450" b="1" i="0">
                <a:solidFill>
                  <a:srgbClr val="0E2B31"/>
                </a:solidFill>
                <a:latin typeface="Calibri"/>
              </a:rPr>
              <a:t>Vision-language agents</a:t>
            </a:r>
          </a:p>
          <a:p>
            <a:pPr algn="l">
              <a:spcAft>
                <a:spcPts val="0"/>
              </a:spcAft>
            </a:pPr>
            <a:r>
              <a:rPr sz="1100" b="1" i="0">
                <a:solidFill>
                  <a:srgbClr val="12807F"/>
                </a:solidFill>
                <a:latin typeface="Calibri"/>
              </a:rPr>
              <a:t>[7]</a:t>
            </a:r>
          </a:p>
        </p:txBody>
      </p:sp>
      <p:sp>
        <p:nvSpPr>
          <p:cNvPr id="27" name="TextBox 26"/>
          <p:cNvSpPr txBox="1"/>
          <p:nvPr/>
        </p:nvSpPr>
        <p:spPr>
          <a:xfrm>
            <a:off x="4846320" y="4343400"/>
            <a:ext cx="3566160" cy="896111"/>
          </a:xfrm>
          <a:prstGeom prst="rect">
            <a:avLst/>
          </a:prstGeom>
          <a:noFill/>
        </p:spPr>
        <p:txBody>
          <a:bodyPr wrap="square" anchor="t" lIns="0" rIns="0" tIns="0" bIns="0"/>
          <a:lstStyle/>
          <a:p>
            <a:pPr algn="l">
              <a:spcAft>
                <a:spcPts val="400"/>
              </a:spcAft>
            </a:pPr>
            <a:r>
              <a:rPr sz="1400" b="0" i="0">
                <a:solidFill>
                  <a:srgbClr val="17282C"/>
                </a:solidFill>
                <a:latin typeface="Calibri"/>
              </a:rPr>
              <a:t>DisasTeller: four specialised agents turn post-disaster imagery into assessments, alerts and plans.</a:t>
            </a:r>
          </a:p>
        </p:txBody>
      </p:sp>
      <p:sp>
        <p:nvSpPr>
          <p:cNvPr id="28" name="Rounded Rectangle 27"/>
          <p:cNvSpPr/>
          <p:nvPr/>
        </p:nvSpPr>
        <p:spPr>
          <a:xfrm>
            <a:off x="548640" y="5532120"/>
            <a:ext cx="8046720" cy="658368"/>
          </a:xfrm>
          <a:prstGeom prst="roundRect">
            <a:avLst>
              <a:gd name="adj" fmla="val 13888"/>
            </a:avLst>
          </a:prstGeom>
          <a:solidFill>
            <a:srgbClr val="0E2B31"/>
          </a:solidFill>
          <a:ln>
            <a:noFill/>
          </a:ln>
        </p:spPr>
        <p:txBody>
          <a:bodyPr rtlCol="0" anchor="ctr" wrap="square" lIns="54864" rIns="54864" tIns="54864" bIns="54864"/>
          <a:lstStyle/>
          <a:p>
            <a:pPr algn="ctr"/>
          </a:p>
        </p:txBody>
      </p:sp>
      <p:pic>
        <p:nvPicPr>
          <p:cNvPr id="29" name="Picture 28" descr="lightbulb_da.png"/>
          <p:cNvPicPr>
            <a:picLocks noChangeAspect="1"/>
          </p:cNvPicPr>
          <p:nvPr/>
        </p:nvPicPr>
        <p:blipFill>
          <a:blip r:embed="rId7"/>
          <a:stretch>
            <a:fillRect/>
          </a:stretch>
        </p:blipFill>
        <p:spPr>
          <a:xfrm>
            <a:off x="749808" y="5696712"/>
            <a:ext cx="329184" cy="329184"/>
          </a:xfrm>
          <a:prstGeom prst="rect">
            <a:avLst/>
          </a:prstGeom>
        </p:spPr>
      </p:pic>
      <p:sp>
        <p:nvSpPr>
          <p:cNvPr id="30" name="TextBox 29"/>
          <p:cNvSpPr txBox="1"/>
          <p:nvPr/>
        </p:nvSpPr>
        <p:spPr>
          <a:xfrm>
            <a:off x="1234440" y="5532120"/>
            <a:ext cx="7223760" cy="658368"/>
          </a:xfrm>
          <a:prstGeom prst="rect">
            <a:avLst/>
          </a:prstGeom>
          <a:noFill/>
        </p:spPr>
        <p:txBody>
          <a:bodyPr wrap="square" anchor="ctr" lIns="0" rIns="0" tIns="0" bIns="0"/>
          <a:lstStyle/>
          <a:p>
            <a:pPr algn="l">
              <a:spcAft>
                <a:spcPts val="400"/>
              </a:spcAft>
            </a:pPr>
            <a:r>
              <a:rPr sz="1350" b="1" i="0">
                <a:solidFill>
                  <a:srgbClr val="EA6A1E"/>
                </a:solidFill>
                <a:latin typeface="Calibri"/>
              </a:rPr>
              <a:t>Common finding  </a:t>
            </a:r>
            <a:r>
              <a:rPr sz="1350" b="0" i="0">
                <a:solidFill>
                  <a:srgbClr val="FFFFFF"/>
                </a:solidFill>
                <a:latin typeface="Calibri"/>
              </a:rPr>
              <a:t>AI helps most when several data sources are fused and its outputs are trustworthy enough for responders to act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04  ·  LITERATURE SURVEY</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0E2B31"/>
                </a:solidFill>
                <a:latin typeface="Cambria"/>
              </a:rPr>
              <a:t>Literature survey in tabular form (1/2)</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6</a:t>
            </a:fld>
          </a:p>
        </p:txBody>
      </p:sp>
      <p:graphicFrame>
        <p:nvGraphicFramePr>
          <p:cNvPr id="7" name="Table 6"/>
          <p:cNvGraphicFramePr>
            <a:graphicFrameLocks noGrp="1"/>
          </p:cNvGraphicFramePr>
          <p:nvPr/>
        </p:nvGraphicFramePr>
        <p:xfrm>
          <a:off x="548640" y="1463040"/>
          <a:ext cx="8046720" cy="4507992"/>
        </p:xfrm>
        <a:graphic>
          <a:graphicData uri="http://schemas.openxmlformats.org/drawingml/2006/table">
            <a:tbl>
              <a:tblPr firstRow="0" bandRow="0">
                <a:tableStyleId>{5C22544A-7EE6-4342-B048-85BDC9FD1C3A}</a:tableStyleId>
              </a:tblPr>
              <a:tblGrid>
                <a:gridCol w="548640"/>
                <a:gridCol w="3383280"/>
                <a:gridCol w="4114800"/>
              </a:tblGrid>
              <a:tr h="411480">
                <a:tc>
                  <a:txBody>
                    <a:bodyPr wrap="square"/>
                    <a:lstStyle/>
                    <a:p>
                      <a:pPr algn="l">
                        <a:spcAft>
                          <a:spcPts val="400"/>
                        </a:spcAft>
                      </a:pPr>
                      <a:r>
                        <a:rPr sz="1100" b="1" i="0" spc="100">
                          <a:solidFill>
                            <a:srgbClr val="FFFFFF"/>
                          </a:solidFill>
                          <a:latin typeface="Calibri"/>
                        </a:rPr>
                        <a:t>#</a:t>
                      </a:r>
                    </a:p>
                  </a:txBody>
                  <a:tcPr marL="91440" marR="91440" marT="45720" marB="45720" anchor="ctr">
                    <a:solidFill>
                      <a:srgbClr val="0E2B31"/>
                    </a:solidFill>
                  </a:tcPr>
                </a:tc>
                <a:tc>
                  <a:txBody>
                    <a:bodyPr wrap="square"/>
                    <a:lstStyle/>
                    <a:p>
                      <a:pPr algn="l">
                        <a:spcAft>
                          <a:spcPts val="400"/>
                        </a:spcAft>
                      </a:pPr>
                      <a:r>
                        <a:rPr sz="1100" b="1" i="0" spc="100">
                          <a:solidFill>
                            <a:srgbClr val="FFFFFF"/>
                          </a:solidFill>
                          <a:latin typeface="Calibri"/>
                        </a:rPr>
                        <a:t>Paper</a:t>
                      </a:r>
                    </a:p>
                  </a:txBody>
                  <a:tcPr marL="91440" marR="91440" marT="45720" marB="45720" anchor="ctr">
                    <a:solidFill>
                      <a:srgbClr val="0E2B31"/>
                    </a:solidFill>
                  </a:tcPr>
                </a:tc>
                <a:tc>
                  <a:txBody>
                    <a:bodyPr wrap="square"/>
                    <a:lstStyle/>
                    <a:p>
                      <a:pPr algn="l">
                        <a:spcAft>
                          <a:spcPts val="400"/>
                        </a:spcAft>
                      </a:pPr>
                      <a:r>
                        <a:rPr sz="1100" b="1" i="0" spc="100">
                          <a:solidFill>
                            <a:srgbClr val="FFFFFF"/>
                          </a:solidFill>
                          <a:latin typeface="Calibri"/>
                        </a:rPr>
                        <a:t>Work reported</a:t>
                      </a:r>
                    </a:p>
                  </a:txBody>
                  <a:tcPr marL="91440" marR="91440" marT="45720" marB="45720" anchor="ctr">
                    <a:solidFill>
                      <a:srgbClr val="0E2B31"/>
                    </a:solidFill>
                  </a:tcPr>
                </a:tc>
              </a:tr>
              <a:tr h="1024128">
                <a:tc>
                  <a:txBody>
                    <a:bodyPr wrap="square"/>
                    <a:lstStyle/>
                    <a:p>
                      <a:pPr algn="l">
                        <a:spcAft>
                          <a:spcPts val="400"/>
                        </a:spcAft>
                      </a:pPr>
                      <a:r>
                        <a:rPr sz="1500" b="1" i="0">
                          <a:solidFill>
                            <a:srgbClr val="12807F"/>
                          </a:solidFill>
                          <a:latin typeface="Cambria"/>
                        </a:rPr>
                        <a:t>01</a:t>
                      </a:r>
                    </a:p>
                  </a:txBody>
                  <a:tcPr marL="91440" marR="91440" marT="45720" marB="45720" anchor="ctr">
                    <a:solidFill>
                      <a:srgbClr val="FFFFFF"/>
                    </a:solidFill>
                  </a:tcPr>
                </a:tc>
                <a:tc>
                  <a:txBody>
                    <a:bodyPr wrap="square"/>
                    <a:lstStyle/>
                    <a:p>
                      <a:pPr algn="l">
                        <a:spcAft>
                          <a:spcPts val="200"/>
                        </a:spcAft>
                      </a:pPr>
                      <a:r>
                        <a:rPr sz="1250" b="1" i="0">
                          <a:solidFill>
                            <a:srgbClr val="0E2B31"/>
                          </a:solidFill>
                          <a:latin typeface="Calibri"/>
                        </a:rPr>
                        <a:t>A systematic review of AI frameworks for holistic disaster management</a:t>
                      </a:r>
                    </a:p>
                    <a:p>
                      <a:pPr algn="l">
                        <a:spcAft>
                          <a:spcPts val="200"/>
                        </a:spcAft>
                      </a:pPr>
                      <a:r>
                        <a:rPr sz="1100" b="0" i="0">
                          <a:solidFill>
                            <a:srgbClr val="5B6E72"/>
                          </a:solidFill>
                          <a:latin typeface="Calibri"/>
                        </a:rPr>
                        <a:t>S. Muthukumar et al. · Discover Artificial Intelligence, 2026</a:t>
                      </a:r>
                    </a:p>
                  </a:txBody>
                  <a:tcPr marL="91440" marR="91440" marT="45720" marB="45720" anchor="ctr">
                    <a:solidFill>
                      <a:srgbClr val="FFFFFF"/>
                    </a:solidFill>
                  </a:tcPr>
                </a:tc>
                <a:tc>
                  <a:txBody>
                    <a:bodyPr wrap="square"/>
                    <a:lstStyle/>
                    <a:p>
                      <a:pPr algn="l">
                        <a:spcAft>
                          <a:spcPts val="400"/>
                        </a:spcAft>
                      </a:pPr>
                      <a:r>
                        <a:rPr sz="1250" b="0" i="0">
                          <a:solidFill>
                            <a:srgbClr val="17282C"/>
                          </a:solidFill>
                          <a:latin typeface="Calibri"/>
                        </a:rPr>
                        <a:t>Synthesises 96 peer-reviewed studies; maps AI approaches to each disaster-management phase.</a:t>
                      </a:r>
                    </a:p>
                  </a:txBody>
                  <a:tcPr marL="91440" marR="91440" marT="45720" marB="45720" anchor="ctr">
                    <a:solidFill>
                      <a:srgbClr val="FFFFFF"/>
                    </a:solidFill>
                  </a:tcPr>
                </a:tc>
              </a:tr>
              <a:tr h="1024128">
                <a:tc>
                  <a:txBody>
                    <a:bodyPr wrap="square"/>
                    <a:lstStyle/>
                    <a:p>
                      <a:pPr algn="l">
                        <a:spcAft>
                          <a:spcPts val="400"/>
                        </a:spcAft>
                      </a:pPr>
                      <a:r>
                        <a:rPr sz="1500" b="1" i="0">
                          <a:solidFill>
                            <a:srgbClr val="12807F"/>
                          </a:solidFill>
                          <a:latin typeface="Cambria"/>
                        </a:rPr>
                        <a:t>02</a:t>
                      </a:r>
                    </a:p>
                  </a:txBody>
                  <a:tcPr marL="91440" marR="91440" marT="45720" marB="45720" anchor="ctr">
                    <a:solidFill>
                      <a:srgbClr val="F3F7F7"/>
                    </a:solidFill>
                  </a:tcPr>
                </a:tc>
                <a:tc>
                  <a:txBody>
                    <a:bodyPr wrap="square"/>
                    <a:lstStyle/>
                    <a:p>
                      <a:pPr algn="l">
                        <a:spcAft>
                          <a:spcPts val="200"/>
                        </a:spcAft>
                      </a:pPr>
                      <a:r>
                        <a:rPr sz="1250" b="1" i="0">
                          <a:solidFill>
                            <a:srgbClr val="0E2B31"/>
                          </a:solidFill>
                          <a:latin typeface="Calibri"/>
                        </a:rPr>
                        <a:t>A systematic review of trustworthy AI applications in natural disasters</a:t>
                      </a:r>
                    </a:p>
                    <a:p>
                      <a:pPr algn="l">
                        <a:spcAft>
                          <a:spcPts val="200"/>
                        </a:spcAft>
                      </a:pPr>
                      <a:r>
                        <a:rPr sz="1100" b="0" i="0">
                          <a:solidFill>
                            <a:srgbClr val="5B6E72"/>
                          </a:solidFill>
                          <a:latin typeface="Calibri"/>
                        </a:rPr>
                        <a:t>Computers &amp; Electrical Engineering, 2024</a:t>
                      </a:r>
                    </a:p>
                  </a:txBody>
                  <a:tcPr marL="91440" marR="91440" marT="45720" marB="45720" anchor="ctr">
                    <a:solidFill>
                      <a:srgbClr val="F3F7F7"/>
                    </a:solidFill>
                  </a:tcPr>
                </a:tc>
                <a:tc>
                  <a:txBody>
                    <a:bodyPr wrap="square"/>
                    <a:lstStyle/>
                    <a:p>
                      <a:pPr algn="l">
                        <a:spcAft>
                          <a:spcPts val="400"/>
                        </a:spcAft>
                      </a:pPr>
                      <a:r>
                        <a:rPr sz="1250" b="0" i="0">
                          <a:solidFill>
                            <a:srgbClr val="17282C"/>
                          </a:solidFill>
                          <a:latin typeface="Calibri"/>
                        </a:rPr>
                        <a:t>Reviews AI for prediction, risk assessment, early warning and evacuation, focusing on trustworthy deployment.</a:t>
                      </a:r>
                    </a:p>
                  </a:txBody>
                  <a:tcPr marL="91440" marR="91440" marT="45720" marB="45720" anchor="ctr">
                    <a:solidFill>
                      <a:srgbClr val="F3F7F7"/>
                    </a:solidFill>
                  </a:tcPr>
                </a:tc>
              </a:tr>
              <a:tr h="1024128">
                <a:tc>
                  <a:txBody>
                    <a:bodyPr wrap="square"/>
                    <a:lstStyle/>
                    <a:p>
                      <a:pPr algn="l">
                        <a:spcAft>
                          <a:spcPts val="400"/>
                        </a:spcAft>
                      </a:pPr>
                      <a:r>
                        <a:rPr sz="1500" b="1" i="0">
                          <a:solidFill>
                            <a:srgbClr val="12807F"/>
                          </a:solidFill>
                          <a:latin typeface="Cambria"/>
                        </a:rPr>
                        <a:t>03</a:t>
                      </a:r>
                    </a:p>
                  </a:txBody>
                  <a:tcPr marL="91440" marR="91440" marT="45720" marB="45720" anchor="ctr">
                    <a:solidFill>
                      <a:srgbClr val="FFFFFF"/>
                    </a:solidFill>
                  </a:tcPr>
                </a:tc>
                <a:tc>
                  <a:txBody>
                    <a:bodyPr wrap="square"/>
                    <a:lstStyle/>
                    <a:p>
                      <a:pPr algn="l">
                        <a:spcAft>
                          <a:spcPts val="200"/>
                        </a:spcAft>
                      </a:pPr>
                      <a:r>
                        <a:rPr sz="1250" b="1" i="0">
                          <a:solidFill>
                            <a:srgbClr val="0E2B31"/>
                          </a:solidFill>
                          <a:latin typeface="Calibri"/>
                        </a:rPr>
                        <a:t>Deep AI applications for natural disaster management systems: a methodological review</a:t>
                      </a:r>
                    </a:p>
                    <a:p>
                      <a:pPr algn="l">
                        <a:spcAft>
                          <a:spcPts val="200"/>
                        </a:spcAft>
                      </a:pPr>
                      <a:r>
                        <a:rPr sz="1100" b="0" i="0">
                          <a:solidFill>
                            <a:srgbClr val="5B6E72"/>
                          </a:solidFill>
                          <a:latin typeface="Calibri"/>
                        </a:rPr>
                        <a:t>Akhyar et al. · Ecological Indicators, 2024</a:t>
                      </a:r>
                    </a:p>
                  </a:txBody>
                  <a:tcPr marL="91440" marR="91440" marT="45720" marB="45720" anchor="ctr">
                    <a:solidFill>
                      <a:srgbClr val="FFFFFF"/>
                    </a:solidFill>
                  </a:tcPr>
                </a:tc>
                <a:tc>
                  <a:txBody>
                    <a:bodyPr wrap="square"/>
                    <a:lstStyle/>
                    <a:p>
                      <a:pPr algn="l">
                        <a:spcAft>
                          <a:spcPts val="400"/>
                        </a:spcAft>
                      </a:pPr>
                      <a:r>
                        <a:rPr sz="1250" b="0" i="0">
                          <a:solidFill>
                            <a:srgbClr val="17282C"/>
                          </a:solidFill>
                          <a:latin typeface="Calibri"/>
                        </a:rPr>
                        <a:t>Reviews deep-learning applications for forest fires, earthquakes and floods.</a:t>
                      </a:r>
                    </a:p>
                  </a:txBody>
                  <a:tcPr marL="91440" marR="91440" marT="45720" marB="45720" anchor="ctr">
                    <a:solidFill>
                      <a:srgbClr val="FFFFFF"/>
                    </a:solidFill>
                  </a:tcPr>
                </a:tc>
              </a:tr>
              <a:tr h="1024128">
                <a:tc>
                  <a:txBody>
                    <a:bodyPr wrap="square"/>
                    <a:lstStyle/>
                    <a:p>
                      <a:pPr algn="l">
                        <a:spcAft>
                          <a:spcPts val="400"/>
                        </a:spcAft>
                      </a:pPr>
                      <a:r>
                        <a:rPr sz="1500" b="1" i="0">
                          <a:solidFill>
                            <a:srgbClr val="12807F"/>
                          </a:solidFill>
                          <a:latin typeface="Cambria"/>
                        </a:rPr>
                        <a:t>04</a:t>
                      </a:r>
                    </a:p>
                  </a:txBody>
                  <a:tcPr marL="91440" marR="91440" marT="45720" marB="45720" anchor="ctr">
                    <a:solidFill>
                      <a:srgbClr val="F3F7F7"/>
                    </a:solidFill>
                  </a:tcPr>
                </a:tc>
                <a:tc>
                  <a:txBody>
                    <a:bodyPr wrap="square"/>
                    <a:lstStyle/>
                    <a:p>
                      <a:pPr algn="l">
                        <a:spcAft>
                          <a:spcPts val="200"/>
                        </a:spcAft>
                      </a:pPr>
                      <a:r>
                        <a:rPr sz="1250" b="1" i="0">
                          <a:solidFill>
                            <a:srgbClr val="0E2B31"/>
                          </a:solidFill>
                          <a:latin typeface="Calibri"/>
                        </a:rPr>
                        <a:t>AI for flood risk management: a comprehensive state-of-the-art review</a:t>
                      </a:r>
                    </a:p>
                    <a:p>
                      <a:pPr algn="l">
                        <a:spcAft>
                          <a:spcPts val="200"/>
                        </a:spcAft>
                      </a:pPr>
                      <a:r>
                        <a:rPr sz="1100" b="0" i="0">
                          <a:solidFill>
                            <a:srgbClr val="5B6E72"/>
                          </a:solidFill>
                          <a:latin typeface="Calibri"/>
                        </a:rPr>
                        <a:t>Int. J. Disaster Risk Reduction, 2025</a:t>
                      </a:r>
                    </a:p>
                  </a:txBody>
                  <a:tcPr marL="91440" marR="91440" marT="45720" marB="45720" anchor="ctr">
                    <a:solidFill>
                      <a:srgbClr val="F3F7F7"/>
                    </a:solidFill>
                  </a:tcPr>
                </a:tc>
                <a:tc>
                  <a:txBody>
                    <a:bodyPr wrap="square"/>
                    <a:lstStyle/>
                    <a:p>
                      <a:pPr algn="l">
                        <a:spcAft>
                          <a:spcPts val="400"/>
                        </a:spcAft>
                      </a:pPr>
                      <a:r>
                        <a:rPr sz="1250" b="0" i="0">
                          <a:solidFill>
                            <a:srgbClr val="17282C"/>
                          </a:solidFill>
                          <a:latin typeface="Calibri"/>
                        </a:rPr>
                        <a:t>Reviews ML/DL models, input data and applications in flood-risk management.</a:t>
                      </a:r>
                    </a:p>
                  </a:txBody>
                  <a:tcPr marL="91440" marR="91440" marT="45720" marB="45720" anchor="ctr">
                    <a:solidFill>
                      <a:srgbClr val="F3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04  ·  LITERATURE SURVEY</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0E2B31"/>
                </a:solidFill>
                <a:latin typeface="Cambria"/>
              </a:rPr>
              <a:t>Literature survey in tabular form (2/2)</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7</a:t>
            </a:fld>
          </a:p>
        </p:txBody>
      </p:sp>
      <p:graphicFrame>
        <p:nvGraphicFramePr>
          <p:cNvPr id="7" name="Table 6"/>
          <p:cNvGraphicFramePr>
            <a:graphicFrameLocks noGrp="1"/>
          </p:cNvGraphicFramePr>
          <p:nvPr/>
        </p:nvGraphicFramePr>
        <p:xfrm>
          <a:off x="548640" y="1463040"/>
          <a:ext cx="8046720" cy="3483864"/>
        </p:xfrm>
        <a:graphic>
          <a:graphicData uri="http://schemas.openxmlformats.org/drawingml/2006/table">
            <a:tbl>
              <a:tblPr firstRow="0" bandRow="0">
                <a:tableStyleId>{5C22544A-7EE6-4342-B048-85BDC9FD1C3A}</a:tableStyleId>
              </a:tblPr>
              <a:tblGrid>
                <a:gridCol w="548640"/>
                <a:gridCol w="3383280"/>
                <a:gridCol w="4114800"/>
              </a:tblGrid>
              <a:tr h="411480">
                <a:tc>
                  <a:txBody>
                    <a:bodyPr wrap="square"/>
                    <a:lstStyle/>
                    <a:p>
                      <a:pPr algn="l">
                        <a:spcAft>
                          <a:spcPts val="400"/>
                        </a:spcAft>
                      </a:pPr>
                      <a:r>
                        <a:rPr sz="1100" b="1" i="0" spc="100">
                          <a:solidFill>
                            <a:srgbClr val="FFFFFF"/>
                          </a:solidFill>
                          <a:latin typeface="Calibri"/>
                        </a:rPr>
                        <a:t>#</a:t>
                      </a:r>
                    </a:p>
                  </a:txBody>
                  <a:tcPr marL="91440" marR="91440" marT="45720" marB="45720" anchor="ctr">
                    <a:solidFill>
                      <a:srgbClr val="0E2B31"/>
                    </a:solidFill>
                  </a:tcPr>
                </a:tc>
                <a:tc>
                  <a:txBody>
                    <a:bodyPr wrap="square"/>
                    <a:lstStyle/>
                    <a:p>
                      <a:pPr algn="l">
                        <a:spcAft>
                          <a:spcPts val="400"/>
                        </a:spcAft>
                      </a:pPr>
                      <a:r>
                        <a:rPr sz="1100" b="1" i="0" spc="100">
                          <a:solidFill>
                            <a:srgbClr val="FFFFFF"/>
                          </a:solidFill>
                          <a:latin typeface="Calibri"/>
                        </a:rPr>
                        <a:t>Paper</a:t>
                      </a:r>
                    </a:p>
                  </a:txBody>
                  <a:tcPr marL="91440" marR="91440" marT="45720" marB="45720" anchor="ctr">
                    <a:solidFill>
                      <a:srgbClr val="0E2B31"/>
                    </a:solidFill>
                  </a:tcPr>
                </a:tc>
                <a:tc>
                  <a:txBody>
                    <a:bodyPr wrap="square"/>
                    <a:lstStyle/>
                    <a:p>
                      <a:pPr algn="l">
                        <a:spcAft>
                          <a:spcPts val="400"/>
                        </a:spcAft>
                      </a:pPr>
                      <a:r>
                        <a:rPr sz="1100" b="1" i="0" spc="100">
                          <a:solidFill>
                            <a:srgbClr val="FFFFFF"/>
                          </a:solidFill>
                          <a:latin typeface="Calibri"/>
                        </a:rPr>
                        <a:t>Work reported</a:t>
                      </a:r>
                    </a:p>
                  </a:txBody>
                  <a:tcPr marL="91440" marR="91440" marT="45720" marB="45720" anchor="ctr">
                    <a:solidFill>
                      <a:srgbClr val="0E2B31"/>
                    </a:solidFill>
                  </a:tcPr>
                </a:tc>
              </a:tr>
              <a:tr h="1024128">
                <a:tc>
                  <a:txBody>
                    <a:bodyPr wrap="square"/>
                    <a:lstStyle/>
                    <a:p>
                      <a:pPr algn="l">
                        <a:spcAft>
                          <a:spcPts val="400"/>
                        </a:spcAft>
                      </a:pPr>
                      <a:r>
                        <a:rPr sz="1500" b="1" i="0">
                          <a:solidFill>
                            <a:srgbClr val="12807F"/>
                          </a:solidFill>
                          <a:latin typeface="Cambria"/>
                        </a:rPr>
                        <a:t>05</a:t>
                      </a:r>
                    </a:p>
                  </a:txBody>
                  <a:tcPr marL="91440" marR="91440" marT="45720" marB="45720" anchor="ctr">
                    <a:solidFill>
                      <a:srgbClr val="FFFFFF"/>
                    </a:solidFill>
                  </a:tcPr>
                </a:tc>
                <a:tc>
                  <a:txBody>
                    <a:bodyPr wrap="square"/>
                    <a:lstStyle/>
                    <a:p>
                      <a:pPr algn="l">
                        <a:spcAft>
                          <a:spcPts val="200"/>
                        </a:spcAft>
                      </a:pPr>
                      <a:r>
                        <a:rPr sz="1250" b="1" i="0">
                          <a:solidFill>
                            <a:srgbClr val="0E2B31"/>
                          </a:solidFill>
                          <a:latin typeface="Calibri"/>
                        </a:rPr>
                        <a:t>Survey of AI-Enabled IoT for Wildfire Prediction, Detection, and Post-Operations</a:t>
                      </a:r>
                    </a:p>
                    <a:p>
                      <a:pPr algn="l">
                        <a:spcAft>
                          <a:spcPts val="200"/>
                        </a:spcAft>
                      </a:pPr>
                      <a:r>
                        <a:rPr sz="1100" b="0" i="0">
                          <a:solidFill>
                            <a:srgbClr val="5B6E72"/>
                          </a:solidFill>
                          <a:latin typeface="Calibri"/>
                        </a:rPr>
                        <a:t>IEEE Access, 2026</a:t>
                      </a:r>
                    </a:p>
                  </a:txBody>
                  <a:tcPr marL="91440" marR="91440" marT="45720" marB="45720" anchor="ctr">
                    <a:solidFill>
                      <a:srgbClr val="FFFFFF"/>
                    </a:solidFill>
                  </a:tcPr>
                </a:tc>
                <a:tc>
                  <a:txBody>
                    <a:bodyPr wrap="square"/>
                    <a:lstStyle/>
                    <a:p>
                      <a:pPr algn="l">
                        <a:spcAft>
                          <a:spcPts val="400"/>
                        </a:spcAft>
                      </a:pPr>
                      <a:r>
                        <a:rPr sz="1250" b="0" i="0">
                          <a:solidFill>
                            <a:srgbClr val="17282C"/>
                          </a:solidFill>
                          <a:latin typeface="Calibri"/>
                        </a:rPr>
                        <a:t>AIoT for wildfire prediction, real-time detection, damage assessment and recovery.</a:t>
                      </a:r>
                    </a:p>
                  </a:txBody>
                  <a:tcPr marL="91440" marR="91440" marT="45720" marB="45720" anchor="ctr">
                    <a:solidFill>
                      <a:srgbClr val="FFFFFF"/>
                    </a:solidFill>
                  </a:tcPr>
                </a:tc>
              </a:tr>
              <a:tr h="1024128">
                <a:tc>
                  <a:txBody>
                    <a:bodyPr wrap="square"/>
                    <a:lstStyle/>
                    <a:p>
                      <a:pPr algn="l">
                        <a:spcAft>
                          <a:spcPts val="400"/>
                        </a:spcAft>
                      </a:pPr>
                      <a:r>
                        <a:rPr sz="1500" b="1" i="0">
                          <a:solidFill>
                            <a:srgbClr val="12807F"/>
                          </a:solidFill>
                          <a:latin typeface="Cambria"/>
                        </a:rPr>
                        <a:t>06</a:t>
                      </a:r>
                    </a:p>
                  </a:txBody>
                  <a:tcPr marL="91440" marR="91440" marT="45720" marB="45720" anchor="ctr">
                    <a:solidFill>
                      <a:srgbClr val="F3F7F7"/>
                    </a:solidFill>
                  </a:tcPr>
                </a:tc>
                <a:tc>
                  <a:txBody>
                    <a:bodyPr wrap="square"/>
                    <a:lstStyle/>
                    <a:p>
                      <a:pPr algn="l">
                        <a:spcAft>
                          <a:spcPts val="200"/>
                        </a:spcAft>
                      </a:pPr>
                      <a:r>
                        <a:rPr sz="1250" b="1" i="0">
                          <a:solidFill>
                            <a:srgbClr val="0E2B31"/>
                          </a:solidFill>
                          <a:latin typeface="Calibri"/>
                        </a:rPr>
                        <a:t>Harnessing Large Language Models for Disaster Management: A Survey</a:t>
                      </a:r>
                    </a:p>
                    <a:p>
                      <a:pPr algn="l">
                        <a:spcAft>
                          <a:spcPts val="200"/>
                        </a:spcAft>
                      </a:pPr>
                      <a:r>
                        <a:rPr sz="1100" b="0" i="0">
                          <a:solidFill>
                            <a:srgbClr val="5B6E72"/>
                          </a:solidFill>
                          <a:latin typeface="Calibri"/>
                        </a:rPr>
                        <a:t>Z. Lei et al. · Findings of ACL, 2025</a:t>
                      </a:r>
                    </a:p>
                  </a:txBody>
                  <a:tcPr marL="91440" marR="91440" marT="45720" marB="45720" anchor="ctr">
                    <a:solidFill>
                      <a:srgbClr val="F3F7F7"/>
                    </a:solidFill>
                  </a:tcPr>
                </a:tc>
                <a:tc>
                  <a:txBody>
                    <a:bodyPr wrap="square"/>
                    <a:lstStyle/>
                    <a:p>
                      <a:pPr algn="l">
                        <a:spcAft>
                          <a:spcPts val="400"/>
                        </a:spcAft>
                      </a:pPr>
                      <a:r>
                        <a:rPr sz="1250" b="0" i="0">
                          <a:solidFill>
                            <a:srgbClr val="17282C"/>
                          </a:solidFill>
                          <a:latin typeface="Calibri"/>
                        </a:rPr>
                        <a:t>Taxonomy of LLM uses across disaster phases; datasets, use cases and open challenges.</a:t>
                      </a:r>
                    </a:p>
                  </a:txBody>
                  <a:tcPr marL="91440" marR="91440" marT="45720" marB="45720" anchor="ctr">
                    <a:solidFill>
                      <a:srgbClr val="F3F7F7"/>
                    </a:solidFill>
                  </a:tcPr>
                </a:tc>
              </a:tr>
              <a:tr h="1024128">
                <a:tc>
                  <a:txBody>
                    <a:bodyPr wrap="square"/>
                    <a:lstStyle/>
                    <a:p>
                      <a:pPr algn="l">
                        <a:spcAft>
                          <a:spcPts val="400"/>
                        </a:spcAft>
                      </a:pPr>
                      <a:r>
                        <a:rPr sz="1500" b="1" i="0">
                          <a:solidFill>
                            <a:srgbClr val="12807F"/>
                          </a:solidFill>
                          <a:latin typeface="Cambria"/>
                        </a:rPr>
                        <a:t>07</a:t>
                      </a:r>
                    </a:p>
                  </a:txBody>
                  <a:tcPr marL="91440" marR="91440" marT="45720" marB="45720" anchor="ctr">
                    <a:solidFill>
                      <a:srgbClr val="FFFFFF"/>
                    </a:solidFill>
                  </a:tcPr>
                </a:tc>
                <a:tc>
                  <a:txBody>
                    <a:bodyPr wrap="square"/>
                    <a:lstStyle/>
                    <a:p>
                      <a:pPr algn="l">
                        <a:spcAft>
                          <a:spcPts val="200"/>
                        </a:spcAft>
                      </a:pPr>
                      <a:r>
                        <a:rPr sz="1250" b="1" i="0">
                          <a:solidFill>
                            <a:srgbClr val="0E2B31"/>
                          </a:solidFill>
                          <a:latin typeface="Calibri"/>
                        </a:rPr>
                        <a:t>Integration of large vision language models for post-disaster damage assessment and reporting</a:t>
                      </a:r>
                    </a:p>
                    <a:p>
                      <a:pPr algn="l">
                        <a:spcAft>
                          <a:spcPts val="200"/>
                        </a:spcAft>
                      </a:pPr>
                      <a:r>
                        <a:rPr sz="1100" b="0" i="0">
                          <a:solidFill>
                            <a:srgbClr val="5B6E72"/>
                          </a:solidFill>
                          <a:latin typeface="Calibri"/>
                        </a:rPr>
                        <a:t>Z. Chen et al. · Nature Communications, 2026</a:t>
                      </a:r>
                    </a:p>
                  </a:txBody>
                  <a:tcPr marL="91440" marR="91440" marT="45720" marB="45720" anchor="ctr">
                    <a:solidFill>
                      <a:srgbClr val="FFFFFF"/>
                    </a:solidFill>
                  </a:tcPr>
                </a:tc>
                <a:tc>
                  <a:txBody>
                    <a:bodyPr wrap="square"/>
                    <a:lstStyle/>
                    <a:p>
                      <a:pPr algn="l">
                        <a:spcAft>
                          <a:spcPts val="400"/>
                        </a:spcAft>
                      </a:pPr>
                      <a:r>
                        <a:rPr sz="1250" b="0" i="0">
                          <a:solidFill>
                            <a:srgbClr val="17282C"/>
                          </a:solidFill>
                          <a:latin typeface="Calibri"/>
                        </a:rPr>
                        <a:t>DisasTeller: four vision-language agents for assessment, alerts, emergency reports, resource allocation and recovery planning.</a:t>
                      </a:r>
                    </a:p>
                  </a:txBody>
                  <a:tcPr marL="91440" marR="91440"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05  ·  BASELINE PAPERS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0E2B31"/>
                </a:solidFill>
                <a:latin typeface="Cambria"/>
              </a:rPr>
              <a:t>Three papers anchor this seminar</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8</a:t>
            </a:fld>
          </a:p>
        </p:txBody>
      </p:sp>
      <p:sp>
        <p:nvSpPr>
          <p:cNvPr id="7" name="Rounded Rectangle 6"/>
          <p:cNvSpPr/>
          <p:nvPr/>
        </p:nvSpPr>
        <p:spPr>
          <a:xfrm>
            <a:off x="548640" y="1508760"/>
            <a:ext cx="3931920" cy="4663440"/>
          </a:xfrm>
          <a:prstGeom prst="roundRect">
            <a:avLst>
              <a:gd name="adj" fmla="val 3255"/>
            </a:avLst>
          </a:prstGeom>
          <a:solidFill>
            <a:srgbClr val="0E2B31"/>
          </a:solidFill>
          <a:ln>
            <a:noFill/>
          </a:ln>
        </p:spPr>
        <p:txBody>
          <a:bodyPr rtlCol="0" anchor="ctr" wrap="square" lIns="54864" rIns="54864" tIns="54864" bIns="54864"/>
          <a:lstStyle/>
          <a:p>
            <a:pPr algn="ctr"/>
          </a:p>
        </p:txBody>
      </p:sp>
      <p:sp>
        <p:nvSpPr>
          <p:cNvPr id="8" name="TextBox 7"/>
          <p:cNvSpPr txBox="1"/>
          <p:nvPr/>
        </p:nvSpPr>
        <p:spPr>
          <a:xfrm>
            <a:off x="822960" y="1783080"/>
            <a:ext cx="3474720" cy="274320"/>
          </a:xfrm>
          <a:prstGeom prst="rect">
            <a:avLst/>
          </a:prstGeom>
          <a:noFill/>
        </p:spPr>
        <p:txBody>
          <a:bodyPr wrap="square" anchor="t" lIns="0" rIns="0" tIns="0" bIns="0"/>
          <a:lstStyle/>
          <a:p>
            <a:pPr algn="l">
              <a:spcAft>
                <a:spcPts val="400"/>
              </a:spcAft>
            </a:pPr>
            <a:r>
              <a:rPr sz="1050" b="1" i="0" spc="180">
                <a:solidFill>
                  <a:srgbClr val="EA6A1E"/>
                </a:solidFill>
                <a:latin typeface="Calibri"/>
              </a:rPr>
              <a:t>PRIMARY BASELINE</a:t>
            </a:r>
          </a:p>
        </p:txBody>
      </p:sp>
      <p:sp>
        <p:nvSpPr>
          <p:cNvPr id="9" name="TextBox 8"/>
          <p:cNvSpPr txBox="1"/>
          <p:nvPr/>
        </p:nvSpPr>
        <p:spPr>
          <a:xfrm>
            <a:off x="822960" y="2103120"/>
            <a:ext cx="3474720" cy="640080"/>
          </a:xfrm>
          <a:prstGeom prst="rect">
            <a:avLst/>
          </a:prstGeom>
          <a:noFill/>
        </p:spPr>
        <p:txBody>
          <a:bodyPr wrap="square" anchor="t" lIns="0" rIns="0" tIns="0" bIns="0"/>
          <a:lstStyle/>
          <a:p>
            <a:pPr algn="l">
              <a:spcAft>
                <a:spcPts val="400"/>
              </a:spcAft>
            </a:pPr>
            <a:r>
              <a:rPr sz="3400" b="1" i="0">
                <a:solidFill>
                  <a:srgbClr val="EA6A1E"/>
                </a:solidFill>
                <a:latin typeface="Cambria"/>
              </a:rPr>
              <a:t>[1]</a:t>
            </a:r>
          </a:p>
        </p:txBody>
      </p:sp>
      <p:sp>
        <p:nvSpPr>
          <p:cNvPr id="10" name="TextBox 9"/>
          <p:cNvSpPr txBox="1"/>
          <p:nvPr/>
        </p:nvSpPr>
        <p:spPr>
          <a:xfrm>
            <a:off x="822960" y="2743200"/>
            <a:ext cx="3429000" cy="1097280"/>
          </a:xfrm>
          <a:prstGeom prst="rect">
            <a:avLst/>
          </a:prstGeom>
          <a:noFill/>
        </p:spPr>
        <p:txBody>
          <a:bodyPr wrap="square" anchor="t" lIns="0" rIns="0" tIns="0" bIns="0"/>
          <a:lstStyle/>
          <a:p>
            <a:pPr algn="l">
              <a:spcAft>
                <a:spcPts val="400"/>
              </a:spcAft>
            </a:pPr>
            <a:r>
              <a:rPr sz="1700" b="1" i="0">
                <a:solidFill>
                  <a:srgbClr val="FFFFFF"/>
                </a:solidFill>
                <a:latin typeface="Cambria"/>
              </a:rPr>
              <a:t>A systematic review of AI frameworks for holistic disaster management</a:t>
            </a:r>
          </a:p>
        </p:txBody>
      </p:sp>
      <p:sp>
        <p:nvSpPr>
          <p:cNvPr id="11" name="TextBox 10"/>
          <p:cNvSpPr txBox="1"/>
          <p:nvPr/>
        </p:nvSpPr>
        <p:spPr>
          <a:xfrm>
            <a:off x="822960" y="3794760"/>
            <a:ext cx="3429000" cy="274320"/>
          </a:xfrm>
          <a:prstGeom prst="rect">
            <a:avLst/>
          </a:prstGeom>
          <a:noFill/>
        </p:spPr>
        <p:txBody>
          <a:bodyPr wrap="square" anchor="t" lIns="0" rIns="0" tIns="0" bIns="0"/>
          <a:lstStyle/>
          <a:p>
            <a:pPr algn="l">
              <a:spcAft>
                <a:spcPts val="400"/>
              </a:spcAft>
            </a:pPr>
            <a:r>
              <a:rPr sz="1200" b="0" i="1">
                <a:solidFill>
                  <a:srgbClr val="9CCBC7"/>
                </a:solidFill>
                <a:latin typeface="Calibri"/>
              </a:rPr>
              <a:t>Discover Artificial Intelligence, 2026</a:t>
            </a:r>
          </a:p>
        </p:txBody>
      </p:sp>
      <p:sp>
        <p:nvSpPr>
          <p:cNvPr id="12" name="TextBox 11"/>
          <p:cNvSpPr txBox="1"/>
          <p:nvPr/>
        </p:nvSpPr>
        <p:spPr>
          <a:xfrm>
            <a:off x="822960" y="4251960"/>
            <a:ext cx="3429000" cy="228600"/>
          </a:xfrm>
          <a:prstGeom prst="rect">
            <a:avLst/>
          </a:prstGeom>
          <a:noFill/>
        </p:spPr>
        <p:txBody>
          <a:bodyPr wrap="square" anchor="t" lIns="0" rIns="0" tIns="0" bIns="0"/>
          <a:lstStyle/>
          <a:p>
            <a:pPr algn="l">
              <a:spcAft>
                <a:spcPts val="400"/>
              </a:spcAft>
            </a:pPr>
            <a:r>
              <a:rPr sz="950" b="1" i="0" spc="160">
                <a:solidFill>
                  <a:srgbClr val="EA6A1E"/>
                </a:solidFill>
                <a:latin typeface="Calibri"/>
              </a:rPr>
              <a:t>WHY SELECTED</a:t>
            </a:r>
          </a:p>
        </p:txBody>
      </p:sp>
      <p:sp>
        <p:nvSpPr>
          <p:cNvPr id="13" name="TextBox 12"/>
          <p:cNvSpPr txBox="1"/>
          <p:nvPr/>
        </p:nvSpPr>
        <p:spPr>
          <a:xfrm>
            <a:off x="822960" y="4498848"/>
            <a:ext cx="3429000" cy="640080"/>
          </a:xfrm>
          <a:prstGeom prst="rect">
            <a:avLst/>
          </a:prstGeom>
          <a:noFill/>
        </p:spPr>
        <p:txBody>
          <a:bodyPr wrap="square" anchor="t" lIns="0" rIns="0" tIns="0" bIns="0"/>
          <a:lstStyle/>
          <a:p>
            <a:pPr algn="l">
              <a:spcAft>
                <a:spcPts val="400"/>
              </a:spcAft>
            </a:pPr>
            <a:r>
              <a:rPr sz="1300" b="0" i="0">
                <a:solidFill>
                  <a:srgbClr val="FFFFFF"/>
                </a:solidFill>
                <a:latin typeface="Calibri"/>
              </a:rPr>
              <a:t>Most comprehensive recent review — 96 studies across all disaster phases.</a:t>
            </a:r>
          </a:p>
        </p:txBody>
      </p:sp>
      <p:sp>
        <p:nvSpPr>
          <p:cNvPr id="14" name="TextBox 13"/>
          <p:cNvSpPr txBox="1"/>
          <p:nvPr/>
        </p:nvSpPr>
        <p:spPr>
          <a:xfrm>
            <a:off x="822960" y="5166360"/>
            <a:ext cx="3429000" cy="228600"/>
          </a:xfrm>
          <a:prstGeom prst="rect">
            <a:avLst/>
          </a:prstGeom>
          <a:noFill/>
        </p:spPr>
        <p:txBody>
          <a:bodyPr wrap="square" anchor="t" lIns="0" rIns="0" tIns="0" bIns="0"/>
          <a:lstStyle/>
          <a:p>
            <a:pPr algn="l">
              <a:spcAft>
                <a:spcPts val="400"/>
              </a:spcAft>
            </a:pPr>
            <a:r>
              <a:rPr sz="950" b="1" i="0" spc="160">
                <a:solidFill>
                  <a:srgbClr val="EA6A1E"/>
                </a:solidFill>
                <a:latin typeface="Calibri"/>
              </a:rPr>
              <a:t>USED FOR</a:t>
            </a:r>
          </a:p>
        </p:txBody>
      </p:sp>
      <p:sp>
        <p:nvSpPr>
          <p:cNvPr id="15" name="TextBox 14"/>
          <p:cNvSpPr txBox="1"/>
          <p:nvPr/>
        </p:nvSpPr>
        <p:spPr>
          <a:xfrm>
            <a:off x="822960" y="5413248"/>
            <a:ext cx="3429000" cy="640080"/>
          </a:xfrm>
          <a:prstGeom prst="rect">
            <a:avLst/>
          </a:prstGeom>
          <a:noFill/>
        </p:spPr>
        <p:txBody>
          <a:bodyPr wrap="square" anchor="t" lIns="0" rIns="0" tIns="0" bIns="0"/>
          <a:lstStyle/>
          <a:p>
            <a:pPr algn="l">
              <a:spcAft>
                <a:spcPts val="400"/>
              </a:spcAft>
            </a:pPr>
            <a:r>
              <a:rPr sz="1300" b="0" i="0">
                <a:solidFill>
                  <a:srgbClr val="FFFFFF"/>
                </a:solidFill>
                <a:latin typeface="Calibri"/>
              </a:rPr>
              <a:t>Overall structure (phases × AI techniques) and the system pipeline.</a:t>
            </a:r>
          </a:p>
        </p:txBody>
      </p:sp>
      <p:sp>
        <p:nvSpPr>
          <p:cNvPr id="16" name="Rounded Rectangle 15"/>
          <p:cNvSpPr/>
          <p:nvPr/>
        </p:nvSpPr>
        <p:spPr>
          <a:xfrm>
            <a:off x="4663440" y="1508760"/>
            <a:ext cx="3931920" cy="2240280"/>
          </a:xfrm>
          <a:prstGeom prst="roundRect">
            <a:avLst>
              <a:gd name="adj" fmla="val 5714"/>
            </a:avLst>
          </a:prstGeom>
          <a:solidFill>
            <a:srgbClr val="F3F7F7"/>
          </a:solidFill>
          <a:ln>
            <a:noFill/>
          </a:ln>
        </p:spPr>
        <p:txBody>
          <a:bodyPr rtlCol="0" anchor="ctr" wrap="square" lIns="54864" rIns="54864" tIns="54864" bIns="54864"/>
          <a:lstStyle/>
          <a:p>
            <a:pPr algn="ctr"/>
          </a:p>
        </p:txBody>
      </p:sp>
      <p:sp>
        <p:nvSpPr>
          <p:cNvPr id="17" name="TextBox 16"/>
          <p:cNvSpPr txBox="1"/>
          <p:nvPr/>
        </p:nvSpPr>
        <p:spPr>
          <a:xfrm>
            <a:off x="4892040" y="1673351"/>
            <a:ext cx="2286000" cy="228600"/>
          </a:xfrm>
          <a:prstGeom prst="rect">
            <a:avLst/>
          </a:prstGeom>
          <a:noFill/>
        </p:spPr>
        <p:txBody>
          <a:bodyPr wrap="square" anchor="t" lIns="0" rIns="0" tIns="0" bIns="0"/>
          <a:lstStyle/>
          <a:p>
            <a:pPr algn="l">
              <a:spcAft>
                <a:spcPts val="400"/>
              </a:spcAft>
            </a:pPr>
            <a:r>
              <a:rPr sz="950" b="1" i="0" spc="160">
                <a:solidFill>
                  <a:srgbClr val="12807F"/>
                </a:solidFill>
                <a:latin typeface="Calibri"/>
              </a:rPr>
              <a:t>SUPPORTING</a:t>
            </a:r>
          </a:p>
        </p:txBody>
      </p:sp>
      <p:sp>
        <p:nvSpPr>
          <p:cNvPr id="18" name="TextBox 17"/>
          <p:cNvSpPr txBox="1"/>
          <p:nvPr/>
        </p:nvSpPr>
        <p:spPr>
          <a:xfrm>
            <a:off x="7680960" y="1581912"/>
            <a:ext cx="731520" cy="457200"/>
          </a:xfrm>
          <a:prstGeom prst="rect">
            <a:avLst/>
          </a:prstGeom>
          <a:noFill/>
        </p:spPr>
        <p:txBody>
          <a:bodyPr wrap="square" anchor="t" lIns="0" rIns="0" tIns="0" bIns="0"/>
          <a:lstStyle/>
          <a:p>
            <a:pPr algn="r">
              <a:spcAft>
                <a:spcPts val="400"/>
              </a:spcAft>
            </a:pPr>
            <a:r>
              <a:rPr sz="2000" b="1" i="0">
                <a:solidFill>
                  <a:srgbClr val="12807F"/>
                </a:solidFill>
                <a:latin typeface="Cambria"/>
              </a:rPr>
              <a:t>[6]</a:t>
            </a:r>
          </a:p>
        </p:txBody>
      </p:sp>
      <p:sp>
        <p:nvSpPr>
          <p:cNvPr id="19" name="TextBox 18"/>
          <p:cNvSpPr txBox="1"/>
          <p:nvPr/>
        </p:nvSpPr>
        <p:spPr>
          <a:xfrm>
            <a:off x="4892040" y="1947672"/>
            <a:ext cx="3474720" cy="566928"/>
          </a:xfrm>
          <a:prstGeom prst="rect">
            <a:avLst/>
          </a:prstGeom>
          <a:noFill/>
        </p:spPr>
        <p:txBody>
          <a:bodyPr wrap="square" anchor="t" lIns="0" rIns="0" tIns="0" bIns="0"/>
          <a:lstStyle/>
          <a:p>
            <a:pPr algn="l">
              <a:spcAft>
                <a:spcPts val="400"/>
              </a:spcAft>
            </a:pPr>
            <a:r>
              <a:rPr sz="1350" b="1" i="0">
                <a:solidFill>
                  <a:srgbClr val="0E2B31"/>
                </a:solidFill>
                <a:latin typeface="Calibri"/>
              </a:rPr>
              <a:t>Harnessing Large Language Models for Disaster Management: A Survey</a:t>
            </a:r>
          </a:p>
        </p:txBody>
      </p:sp>
      <p:sp>
        <p:nvSpPr>
          <p:cNvPr id="20" name="TextBox 19"/>
          <p:cNvSpPr txBox="1"/>
          <p:nvPr/>
        </p:nvSpPr>
        <p:spPr>
          <a:xfrm>
            <a:off x="4892040" y="2514600"/>
            <a:ext cx="3474720" cy="237744"/>
          </a:xfrm>
          <a:prstGeom prst="rect">
            <a:avLst/>
          </a:prstGeom>
          <a:noFill/>
        </p:spPr>
        <p:txBody>
          <a:bodyPr wrap="square" anchor="t" lIns="0" rIns="0" tIns="0" bIns="0"/>
          <a:lstStyle/>
          <a:p>
            <a:pPr algn="l">
              <a:spcAft>
                <a:spcPts val="400"/>
              </a:spcAft>
            </a:pPr>
            <a:r>
              <a:rPr sz="1100" b="0" i="1">
                <a:solidFill>
                  <a:srgbClr val="5B6E72"/>
                </a:solidFill>
                <a:latin typeface="Calibri"/>
              </a:rPr>
              <a:t>Findings of ACL, 2025</a:t>
            </a:r>
          </a:p>
        </p:txBody>
      </p:sp>
      <p:sp>
        <p:nvSpPr>
          <p:cNvPr id="21" name="TextBox 20"/>
          <p:cNvSpPr txBox="1"/>
          <p:nvPr/>
        </p:nvSpPr>
        <p:spPr>
          <a:xfrm>
            <a:off x="4892040" y="2807208"/>
            <a:ext cx="3474720" cy="868680"/>
          </a:xfrm>
          <a:prstGeom prst="rect">
            <a:avLst/>
          </a:prstGeom>
          <a:noFill/>
        </p:spPr>
        <p:txBody>
          <a:bodyPr wrap="square" anchor="t" lIns="0" rIns="0" tIns="0" bIns="0"/>
          <a:lstStyle/>
          <a:p>
            <a:pPr algn="l">
              <a:spcAft>
                <a:spcPts val="300"/>
              </a:spcAft>
            </a:pPr>
            <a:r>
              <a:rPr sz="1200" b="1" i="0">
                <a:solidFill>
                  <a:srgbClr val="12807F"/>
                </a:solidFill>
                <a:latin typeface="Calibri"/>
              </a:rPr>
              <a:t>Why: </a:t>
            </a:r>
            <a:r>
              <a:rPr sz="1200" b="0" i="0">
                <a:solidFill>
                  <a:srgbClr val="17282C"/>
                </a:solidFill>
                <a:latin typeface="Calibri"/>
              </a:rPr>
              <a:t>broad survey of LLMs in disaster management.</a:t>
            </a:r>
          </a:p>
          <a:p>
            <a:pPr algn="l">
              <a:spcAft>
                <a:spcPts val="300"/>
              </a:spcAft>
            </a:pPr>
            <a:r>
              <a:rPr sz="1200" b="1" i="0">
                <a:solidFill>
                  <a:srgbClr val="12807F"/>
                </a:solidFill>
                <a:latin typeface="Calibri"/>
              </a:rPr>
              <a:t>Used for: </a:t>
            </a:r>
            <a:r>
              <a:rPr sz="1200" b="0" i="0">
                <a:solidFill>
                  <a:srgbClr val="17282C"/>
                </a:solidFill>
                <a:latin typeface="Calibri"/>
              </a:rPr>
              <a:t>the NLP / LLM information-extraction module.</a:t>
            </a:r>
          </a:p>
        </p:txBody>
      </p:sp>
      <p:sp>
        <p:nvSpPr>
          <p:cNvPr id="22" name="Rounded Rectangle 21"/>
          <p:cNvSpPr/>
          <p:nvPr/>
        </p:nvSpPr>
        <p:spPr>
          <a:xfrm>
            <a:off x="4663440" y="3886200"/>
            <a:ext cx="3931920" cy="2240280"/>
          </a:xfrm>
          <a:prstGeom prst="roundRect">
            <a:avLst>
              <a:gd name="adj" fmla="val 5714"/>
            </a:avLst>
          </a:prstGeom>
          <a:solidFill>
            <a:srgbClr val="F3F7F7"/>
          </a:solidFill>
          <a:ln>
            <a:noFill/>
          </a:ln>
        </p:spPr>
        <p:txBody>
          <a:bodyPr rtlCol="0" anchor="ctr" wrap="square" lIns="54864" rIns="54864" tIns="54864" bIns="54864"/>
          <a:lstStyle/>
          <a:p>
            <a:pPr algn="ctr"/>
          </a:p>
        </p:txBody>
      </p:sp>
      <p:sp>
        <p:nvSpPr>
          <p:cNvPr id="23" name="TextBox 22"/>
          <p:cNvSpPr txBox="1"/>
          <p:nvPr/>
        </p:nvSpPr>
        <p:spPr>
          <a:xfrm>
            <a:off x="4892040" y="4050791"/>
            <a:ext cx="2286000" cy="228600"/>
          </a:xfrm>
          <a:prstGeom prst="rect">
            <a:avLst/>
          </a:prstGeom>
          <a:noFill/>
        </p:spPr>
        <p:txBody>
          <a:bodyPr wrap="square" anchor="t" lIns="0" rIns="0" tIns="0" bIns="0"/>
          <a:lstStyle/>
          <a:p>
            <a:pPr algn="l">
              <a:spcAft>
                <a:spcPts val="400"/>
              </a:spcAft>
            </a:pPr>
            <a:r>
              <a:rPr sz="950" b="1" i="0" spc="160">
                <a:solidFill>
                  <a:srgbClr val="12807F"/>
                </a:solidFill>
                <a:latin typeface="Calibri"/>
              </a:rPr>
              <a:t>SUPPORTING</a:t>
            </a:r>
          </a:p>
        </p:txBody>
      </p:sp>
      <p:sp>
        <p:nvSpPr>
          <p:cNvPr id="24" name="TextBox 23"/>
          <p:cNvSpPr txBox="1"/>
          <p:nvPr/>
        </p:nvSpPr>
        <p:spPr>
          <a:xfrm>
            <a:off x="7680960" y="3959352"/>
            <a:ext cx="731520" cy="457200"/>
          </a:xfrm>
          <a:prstGeom prst="rect">
            <a:avLst/>
          </a:prstGeom>
          <a:noFill/>
        </p:spPr>
        <p:txBody>
          <a:bodyPr wrap="square" anchor="t" lIns="0" rIns="0" tIns="0" bIns="0"/>
          <a:lstStyle/>
          <a:p>
            <a:pPr algn="r">
              <a:spcAft>
                <a:spcPts val="400"/>
              </a:spcAft>
            </a:pPr>
            <a:r>
              <a:rPr sz="2000" b="1" i="0">
                <a:solidFill>
                  <a:srgbClr val="12807F"/>
                </a:solidFill>
                <a:latin typeface="Cambria"/>
              </a:rPr>
              <a:t>[7]</a:t>
            </a:r>
          </a:p>
        </p:txBody>
      </p:sp>
      <p:sp>
        <p:nvSpPr>
          <p:cNvPr id="25" name="TextBox 24"/>
          <p:cNvSpPr txBox="1"/>
          <p:nvPr/>
        </p:nvSpPr>
        <p:spPr>
          <a:xfrm>
            <a:off x="4892040" y="4325112"/>
            <a:ext cx="3474720" cy="566928"/>
          </a:xfrm>
          <a:prstGeom prst="rect">
            <a:avLst/>
          </a:prstGeom>
          <a:noFill/>
        </p:spPr>
        <p:txBody>
          <a:bodyPr wrap="square" anchor="t" lIns="0" rIns="0" tIns="0" bIns="0"/>
          <a:lstStyle/>
          <a:p>
            <a:pPr algn="l">
              <a:spcAft>
                <a:spcPts val="400"/>
              </a:spcAft>
            </a:pPr>
            <a:r>
              <a:rPr sz="1350" b="1" i="0">
                <a:solidFill>
                  <a:srgbClr val="0E2B31"/>
                </a:solidFill>
                <a:latin typeface="Calibri"/>
              </a:rPr>
              <a:t>Integration of large vision language models … (DisasTeller)</a:t>
            </a:r>
          </a:p>
        </p:txBody>
      </p:sp>
      <p:sp>
        <p:nvSpPr>
          <p:cNvPr id="26" name="TextBox 25"/>
          <p:cNvSpPr txBox="1"/>
          <p:nvPr/>
        </p:nvSpPr>
        <p:spPr>
          <a:xfrm>
            <a:off x="4892040" y="4892040"/>
            <a:ext cx="3474720" cy="237744"/>
          </a:xfrm>
          <a:prstGeom prst="rect">
            <a:avLst/>
          </a:prstGeom>
          <a:noFill/>
        </p:spPr>
        <p:txBody>
          <a:bodyPr wrap="square" anchor="t" lIns="0" rIns="0" tIns="0" bIns="0"/>
          <a:lstStyle/>
          <a:p>
            <a:pPr algn="l">
              <a:spcAft>
                <a:spcPts val="400"/>
              </a:spcAft>
            </a:pPr>
            <a:r>
              <a:rPr sz="1100" b="0" i="1">
                <a:solidFill>
                  <a:srgbClr val="5B6E72"/>
                </a:solidFill>
                <a:latin typeface="Calibri"/>
              </a:rPr>
              <a:t>Nature Communications, 2026</a:t>
            </a:r>
          </a:p>
        </p:txBody>
      </p:sp>
      <p:sp>
        <p:nvSpPr>
          <p:cNvPr id="27" name="TextBox 26"/>
          <p:cNvSpPr txBox="1"/>
          <p:nvPr/>
        </p:nvSpPr>
        <p:spPr>
          <a:xfrm>
            <a:off x="4892040" y="5184648"/>
            <a:ext cx="3474720" cy="868680"/>
          </a:xfrm>
          <a:prstGeom prst="rect">
            <a:avLst/>
          </a:prstGeom>
          <a:noFill/>
        </p:spPr>
        <p:txBody>
          <a:bodyPr wrap="square" anchor="t" lIns="0" rIns="0" tIns="0" bIns="0"/>
          <a:lstStyle/>
          <a:p>
            <a:pPr algn="l">
              <a:spcAft>
                <a:spcPts val="300"/>
              </a:spcAft>
            </a:pPr>
            <a:r>
              <a:rPr sz="1200" b="1" i="0">
                <a:solidFill>
                  <a:srgbClr val="12807F"/>
                </a:solidFill>
                <a:latin typeface="Calibri"/>
              </a:rPr>
              <a:t>Why: </a:t>
            </a:r>
            <a:r>
              <a:rPr sz="1200" b="0" i="0">
                <a:solidFill>
                  <a:srgbClr val="17282C"/>
                </a:solidFill>
                <a:latin typeface="Calibri"/>
              </a:rPr>
              <a:t>a working multi-agent vision-language system.</a:t>
            </a:r>
          </a:p>
          <a:p>
            <a:pPr algn="l">
              <a:spcAft>
                <a:spcPts val="300"/>
              </a:spcAft>
            </a:pPr>
            <a:r>
              <a:rPr sz="1200" b="1" i="0">
                <a:solidFill>
                  <a:srgbClr val="12807F"/>
                </a:solidFill>
                <a:latin typeface="Calibri"/>
              </a:rPr>
              <a:t>Used for: </a:t>
            </a:r>
            <a:r>
              <a:rPr sz="1200" b="0" i="0">
                <a:solidFill>
                  <a:srgbClr val="17282C"/>
                </a:solidFill>
                <a:latin typeface="Calibri"/>
              </a:rPr>
              <a:t>damage assessment and automated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06  ·  SYSTEM ARCHITECTURE</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0E2B31"/>
                </a:solidFill>
                <a:latin typeface="Cambria"/>
              </a:rPr>
              <a:t>From raw signals to decisions in four stages</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9</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5B6E72"/>
                </a:solidFill>
                <a:latin typeface="Calibri"/>
              </a:rPr>
              <a:t>End-to-end AI pipeline for disaster management, with a human-validated feedback loop [1]</a:t>
            </a:r>
          </a:p>
        </p:txBody>
      </p:sp>
      <p:sp>
        <p:nvSpPr>
          <p:cNvPr id="8" name="Rounded Rectangle 7"/>
          <p:cNvSpPr/>
          <p:nvPr/>
        </p:nvSpPr>
        <p:spPr>
          <a:xfrm>
            <a:off x="548640" y="1691640"/>
            <a:ext cx="1828800" cy="3657600"/>
          </a:xfrm>
          <a:prstGeom prst="roundRect">
            <a:avLst>
              <a:gd name="adj" fmla="val 6000"/>
            </a:avLst>
          </a:prstGeom>
          <a:solidFill>
            <a:srgbClr val="F3F7F7"/>
          </a:solidFill>
          <a:ln>
            <a:noFill/>
          </a:ln>
        </p:spPr>
        <p:txBody>
          <a:bodyPr rtlCol="0" anchor="ctr" wrap="square" lIns="54864" rIns="54864" tIns="54864" bIns="54864"/>
          <a:lstStyle/>
          <a:p>
            <a:pPr algn="ctr"/>
          </a:p>
        </p:txBody>
      </p:sp>
      <p:sp>
        <p:nvSpPr>
          <p:cNvPr id="9" name="Oval 8"/>
          <p:cNvSpPr/>
          <p:nvPr/>
        </p:nvSpPr>
        <p:spPr>
          <a:xfrm>
            <a:off x="685800" y="1828800"/>
            <a:ext cx="329184" cy="329184"/>
          </a:xfrm>
          <a:prstGeom prst="ellipse">
            <a:avLst/>
          </a:prstGeom>
          <a:solidFill>
            <a:srgbClr val="0E2B31"/>
          </a:solidFill>
          <a:ln>
            <a:noFill/>
          </a:ln>
        </p:spPr>
        <p:txBody>
          <a:bodyPr rtlCol="0" anchor="ctr" wrap="square" lIns="0" rIns="0" tIns="0" bIns="0"/>
          <a:lstStyle/>
          <a:p>
            <a:pPr algn="ctr">
              <a:spcAft>
                <a:spcPts val="0"/>
              </a:spcAft>
            </a:pPr>
            <a:r>
              <a:rPr sz="1200" b="1" i="0">
                <a:solidFill>
                  <a:srgbClr val="FFFFFF"/>
                </a:solidFill>
                <a:latin typeface="Calibri"/>
              </a:rPr>
              <a:t>1</a:t>
            </a:r>
          </a:p>
        </p:txBody>
      </p:sp>
      <p:sp>
        <p:nvSpPr>
          <p:cNvPr id="10" name="TextBox 9"/>
          <p:cNvSpPr txBox="1"/>
          <p:nvPr/>
        </p:nvSpPr>
        <p:spPr>
          <a:xfrm>
            <a:off x="1097280" y="1810512"/>
            <a:ext cx="1234440" cy="365760"/>
          </a:xfrm>
          <a:prstGeom prst="rect">
            <a:avLst/>
          </a:prstGeom>
          <a:noFill/>
        </p:spPr>
        <p:txBody>
          <a:bodyPr wrap="square" anchor="ctr" lIns="0" rIns="0" tIns="0" bIns="0"/>
          <a:lstStyle/>
          <a:p>
            <a:pPr algn="l">
              <a:spcAft>
                <a:spcPts val="400"/>
              </a:spcAft>
            </a:pPr>
            <a:r>
              <a:rPr sz="1350" b="1" i="0">
                <a:solidFill>
                  <a:srgbClr val="0E2B31"/>
                </a:solidFill>
                <a:latin typeface="Cambria"/>
              </a:rPr>
              <a:t>Data sources</a:t>
            </a:r>
          </a:p>
        </p:txBody>
      </p:sp>
      <p:sp>
        <p:nvSpPr>
          <p:cNvPr id="11" name="Rounded Rectangle 10"/>
          <p:cNvSpPr/>
          <p:nvPr/>
        </p:nvSpPr>
        <p:spPr>
          <a:xfrm>
            <a:off x="658368" y="233172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12" name="Picture 11" descr="satellite_di.png"/>
          <p:cNvPicPr>
            <a:picLocks noChangeAspect="1"/>
          </p:cNvPicPr>
          <p:nvPr/>
        </p:nvPicPr>
        <p:blipFill>
          <a:blip r:embed="rId3"/>
          <a:stretch>
            <a:fillRect/>
          </a:stretch>
        </p:blipFill>
        <p:spPr>
          <a:xfrm>
            <a:off x="749808" y="2496312"/>
            <a:ext cx="292608" cy="292608"/>
          </a:xfrm>
          <a:prstGeom prst="rect">
            <a:avLst/>
          </a:prstGeom>
        </p:spPr>
      </p:pic>
      <p:sp>
        <p:nvSpPr>
          <p:cNvPr id="13" name="TextBox 12"/>
          <p:cNvSpPr txBox="1"/>
          <p:nvPr/>
        </p:nvSpPr>
        <p:spPr>
          <a:xfrm>
            <a:off x="1115568" y="233172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Satellite / UAV imagery</a:t>
            </a:r>
          </a:p>
        </p:txBody>
      </p:sp>
      <p:sp>
        <p:nvSpPr>
          <p:cNvPr id="14" name="Rounded Rectangle 13"/>
          <p:cNvSpPr/>
          <p:nvPr/>
        </p:nvSpPr>
        <p:spPr>
          <a:xfrm>
            <a:off x="658368" y="3063239"/>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15" name="Picture 14" descr="sensor_di.png"/>
          <p:cNvPicPr>
            <a:picLocks noChangeAspect="1"/>
          </p:cNvPicPr>
          <p:nvPr/>
        </p:nvPicPr>
        <p:blipFill>
          <a:blip r:embed="rId4"/>
          <a:stretch>
            <a:fillRect/>
          </a:stretch>
        </p:blipFill>
        <p:spPr>
          <a:xfrm>
            <a:off x="749808" y="3227832"/>
            <a:ext cx="292608" cy="292608"/>
          </a:xfrm>
          <a:prstGeom prst="rect">
            <a:avLst/>
          </a:prstGeom>
        </p:spPr>
      </p:pic>
      <p:sp>
        <p:nvSpPr>
          <p:cNvPr id="16" name="TextBox 15"/>
          <p:cNvSpPr txBox="1"/>
          <p:nvPr/>
        </p:nvSpPr>
        <p:spPr>
          <a:xfrm>
            <a:off x="1115568" y="3063239"/>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IoT sensors: rain, river, seismic</a:t>
            </a:r>
          </a:p>
        </p:txBody>
      </p:sp>
      <p:sp>
        <p:nvSpPr>
          <p:cNvPr id="17" name="Rounded Rectangle 16"/>
          <p:cNvSpPr/>
          <p:nvPr/>
        </p:nvSpPr>
        <p:spPr>
          <a:xfrm>
            <a:off x="658368" y="379476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18" name="Picture 17" descr="comment_di.png"/>
          <p:cNvPicPr>
            <a:picLocks noChangeAspect="1"/>
          </p:cNvPicPr>
          <p:nvPr/>
        </p:nvPicPr>
        <p:blipFill>
          <a:blip r:embed="rId5"/>
          <a:stretch>
            <a:fillRect/>
          </a:stretch>
        </p:blipFill>
        <p:spPr>
          <a:xfrm>
            <a:off x="749808" y="3959352"/>
            <a:ext cx="292608" cy="292608"/>
          </a:xfrm>
          <a:prstGeom prst="rect">
            <a:avLst/>
          </a:prstGeom>
        </p:spPr>
      </p:pic>
      <p:sp>
        <p:nvSpPr>
          <p:cNvPr id="19" name="TextBox 18"/>
          <p:cNvSpPr txBox="1"/>
          <p:nvPr/>
        </p:nvSpPr>
        <p:spPr>
          <a:xfrm>
            <a:off x="1115568" y="379476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Social media &amp; news</a:t>
            </a:r>
          </a:p>
        </p:txBody>
      </p:sp>
      <p:sp>
        <p:nvSpPr>
          <p:cNvPr id="20" name="Rounded Rectangle 19"/>
          <p:cNvSpPr/>
          <p:nvPr/>
        </p:nvSpPr>
        <p:spPr>
          <a:xfrm>
            <a:off x="658368" y="452628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21" name="Picture 20" descr="db_di.png"/>
          <p:cNvPicPr>
            <a:picLocks noChangeAspect="1"/>
          </p:cNvPicPr>
          <p:nvPr/>
        </p:nvPicPr>
        <p:blipFill>
          <a:blip r:embed="rId6"/>
          <a:stretch>
            <a:fillRect/>
          </a:stretch>
        </p:blipFill>
        <p:spPr>
          <a:xfrm>
            <a:off x="749808" y="4690872"/>
            <a:ext cx="292608" cy="292608"/>
          </a:xfrm>
          <a:prstGeom prst="rect">
            <a:avLst/>
          </a:prstGeom>
        </p:spPr>
      </p:pic>
      <p:sp>
        <p:nvSpPr>
          <p:cNvPr id="22" name="TextBox 21"/>
          <p:cNvSpPr txBox="1"/>
          <p:nvPr/>
        </p:nvSpPr>
        <p:spPr>
          <a:xfrm>
            <a:off x="1115568" y="452628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Government &amp; historical data</a:t>
            </a:r>
          </a:p>
        </p:txBody>
      </p:sp>
      <p:sp>
        <p:nvSpPr>
          <p:cNvPr id="23" name="Chevron 22"/>
          <p:cNvSpPr/>
          <p:nvPr/>
        </p:nvSpPr>
        <p:spPr>
          <a:xfrm>
            <a:off x="2418588" y="3383280"/>
            <a:ext cx="164592" cy="274320"/>
          </a:xfrm>
          <a:prstGeom prst="chevron">
            <a:avLst/>
          </a:prstGeom>
          <a:solidFill>
            <a:srgbClr val="CBE0DE"/>
          </a:solidFill>
          <a:ln>
            <a:noFill/>
          </a:ln>
        </p:spPr>
        <p:txBody>
          <a:bodyPr rtlCol="0" anchor="ctr" wrap="square" lIns="54864" rIns="54864" tIns="54864" bIns="54864"/>
          <a:lstStyle/>
          <a:p>
            <a:pPr algn="ctr"/>
          </a:p>
        </p:txBody>
      </p:sp>
      <p:sp>
        <p:nvSpPr>
          <p:cNvPr id="24" name="Rounded Rectangle 23"/>
          <p:cNvSpPr/>
          <p:nvPr/>
        </p:nvSpPr>
        <p:spPr>
          <a:xfrm>
            <a:off x="2624328" y="1691640"/>
            <a:ext cx="1828800" cy="3657600"/>
          </a:xfrm>
          <a:prstGeom prst="roundRect">
            <a:avLst>
              <a:gd name="adj" fmla="val 6000"/>
            </a:avLst>
          </a:prstGeom>
          <a:solidFill>
            <a:srgbClr val="F3F7F7"/>
          </a:solidFill>
          <a:ln>
            <a:noFill/>
          </a:ln>
        </p:spPr>
        <p:txBody>
          <a:bodyPr rtlCol="0" anchor="ctr" wrap="square" lIns="54864" rIns="54864" tIns="54864" bIns="54864"/>
          <a:lstStyle/>
          <a:p>
            <a:pPr algn="ctr"/>
          </a:p>
        </p:txBody>
      </p:sp>
      <p:sp>
        <p:nvSpPr>
          <p:cNvPr id="25" name="Oval 24"/>
          <p:cNvSpPr/>
          <p:nvPr/>
        </p:nvSpPr>
        <p:spPr>
          <a:xfrm>
            <a:off x="2761488" y="1828800"/>
            <a:ext cx="329184" cy="329184"/>
          </a:xfrm>
          <a:prstGeom prst="ellipse">
            <a:avLst/>
          </a:prstGeom>
          <a:solidFill>
            <a:srgbClr val="12807F"/>
          </a:solidFill>
          <a:ln>
            <a:noFill/>
          </a:ln>
        </p:spPr>
        <p:txBody>
          <a:bodyPr rtlCol="0" anchor="ctr" wrap="square" lIns="0" rIns="0" tIns="0" bIns="0"/>
          <a:lstStyle/>
          <a:p>
            <a:pPr algn="ctr">
              <a:spcAft>
                <a:spcPts val="0"/>
              </a:spcAft>
            </a:pPr>
            <a:r>
              <a:rPr sz="1200" b="1" i="0">
                <a:solidFill>
                  <a:srgbClr val="FFFFFF"/>
                </a:solidFill>
                <a:latin typeface="Calibri"/>
              </a:rPr>
              <a:t>2</a:t>
            </a:r>
          </a:p>
        </p:txBody>
      </p:sp>
      <p:sp>
        <p:nvSpPr>
          <p:cNvPr id="26" name="TextBox 25"/>
          <p:cNvSpPr txBox="1"/>
          <p:nvPr/>
        </p:nvSpPr>
        <p:spPr>
          <a:xfrm>
            <a:off x="3172968" y="1810512"/>
            <a:ext cx="1234440" cy="365760"/>
          </a:xfrm>
          <a:prstGeom prst="rect">
            <a:avLst/>
          </a:prstGeom>
          <a:noFill/>
        </p:spPr>
        <p:txBody>
          <a:bodyPr wrap="square" anchor="ctr" lIns="0" rIns="0" tIns="0" bIns="0"/>
          <a:lstStyle/>
          <a:p>
            <a:pPr algn="l">
              <a:spcAft>
                <a:spcPts val="400"/>
              </a:spcAft>
            </a:pPr>
            <a:r>
              <a:rPr sz="1350" b="1" i="0">
                <a:solidFill>
                  <a:srgbClr val="12807F"/>
                </a:solidFill>
                <a:latin typeface="Cambria"/>
              </a:rPr>
              <a:t>AI processing</a:t>
            </a:r>
          </a:p>
        </p:txBody>
      </p:sp>
      <p:sp>
        <p:nvSpPr>
          <p:cNvPr id="27" name="Rounded Rectangle 26"/>
          <p:cNvSpPr/>
          <p:nvPr/>
        </p:nvSpPr>
        <p:spPr>
          <a:xfrm>
            <a:off x="2734056" y="233172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28" name="Picture 27" descr="cogs_dp.png"/>
          <p:cNvPicPr>
            <a:picLocks noChangeAspect="1"/>
          </p:cNvPicPr>
          <p:nvPr/>
        </p:nvPicPr>
        <p:blipFill>
          <a:blip r:embed="rId7"/>
          <a:stretch>
            <a:fillRect/>
          </a:stretch>
        </p:blipFill>
        <p:spPr>
          <a:xfrm>
            <a:off x="2825496" y="2496312"/>
            <a:ext cx="292608" cy="292608"/>
          </a:xfrm>
          <a:prstGeom prst="rect">
            <a:avLst/>
          </a:prstGeom>
        </p:spPr>
      </p:pic>
      <p:sp>
        <p:nvSpPr>
          <p:cNvPr id="29" name="TextBox 28"/>
          <p:cNvSpPr txBox="1"/>
          <p:nvPr/>
        </p:nvSpPr>
        <p:spPr>
          <a:xfrm>
            <a:off x="3191256" y="233172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Cleaning &amp; data fusion</a:t>
            </a:r>
          </a:p>
        </p:txBody>
      </p:sp>
      <p:sp>
        <p:nvSpPr>
          <p:cNvPr id="30" name="Rounded Rectangle 29"/>
          <p:cNvSpPr/>
          <p:nvPr/>
        </p:nvSpPr>
        <p:spPr>
          <a:xfrm>
            <a:off x="2734056" y="3063239"/>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31" name="Picture 30" descr="brain_dp.png"/>
          <p:cNvPicPr>
            <a:picLocks noChangeAspect="1"/>
          </p:cNvPicPr>
          <p:nvPr/>
        </p:nvPicPr>
        <p:blipFill>
          <a:blip r:embed="rId8"/>
          <a:stretch>
            <a:fillRect/>
          </a:stretch>
        </p:blipFill>
        <p:spPr>
          <a:xfrm>
            <a:off x="2825496" y="3227832"/>
            <a:ext cx="292608" cy="292608"/>
          </a:xfrm>
          <a:prstGeom prst="rect">
            <a:avLst/>
          </a:prstGeom>
        </p:spPr>
      </p:pic>
      <p:sp>
        <p:nvSpPr>
          <p:cNvPr id="32" name="TextBox 31"/>
          <p:cNvSpPr txBox="1"/>
          <p:nvPr/>
        </p:nvSpPr>
        <p:spPr>
          <a:xfrm>
            <a:off x="3191256" y="3063239"/>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ML / DL: CNN, LSTM, ViT</a:t>
            </a:r>
          </a:p>
        </p:txBody>
      </p:sp>
      <p:sp>
        <p:nvSpPr>
          <p:cNvPr id="33" name="Rounded Rectangle 32"/>
          <p:cNvSpPr/>
          <p:nvPr/>
        </p:nvSpPr>
        <p:spPr>
          <a:xfrm>
            <a:off x="2734056" y="379476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34" name="Picture 33" descr="comment_dp.png"/>
          <p:cNvPicPr>
            <a:picLocks noChangeAspect="1"/>
          </p:cNvPicPr>
          <p:nvPr/>
        </p:nvPicPr>
        <p:blipFill>
          <a:blip r:embed="rId9"/>
          <a:stretch>
            <a:fillRect/>
          </a:stretch>
        </p:blipFill>
        <p:spPr>
          <a:xfrm>
            <a:off x="2825496" y="3959352"/>
            <a:ext cx="292608" cy="292608"/>
          </a:xfrm>
          <a:prstGeom prst="rect">
            <a:avLst/>
          </a:prstGeom>
        </p:spPr>
      </p:pic>
      <p:sp>
        <p:nvSpPr>
          <p:cNvPr id="35" name="TextBox 34"/>
          <p:cNvSpPr txBox="1"/>
          <p:nvPr/>
        </p:nvSpPr>
        <p:spPr>
          <a:xfrm>
            <a:off x="3191256" y="379476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NLP / LLM: BERT, NER</a:t>
            </a:r>
          </a:p>
        </p:txBody>
      </p:sp>
      <p:sp>
        <p:nvSpPr>
          <p:cNvPr id="36" name="Rounded Rectangle 35"/>
          <p:cNvSpPr/>
          <p:nvPr/>
        </p:nvSpPr>
        <p:spPr>
          <a:xfrm>
            <a:off x="2734056" y="452628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37" name="Picture 36" descr="route_dp.png"/>
          <p:cNvPicPr>
            <a:picLocks noChangeAspect="1"/>
          </p:cNvPicPr>
          <p:nvPr/>
        </p:nvPicPr>
        <p:blipFill>
          <a:blip r:embed="rId10"/>
          <a:stretch>
            <a:fillRect/>
          </a:stretch>
        </p:blipFill>
        <p:spPr>
          <a:xfrm>
            <a:off x="2825496" y="4690872"/>
            <a:ext cx="292608" cy="292608"/>
          </a:xfrm>
          <a:prstGeom prst="rect">
            <a:avLst/>
          </a:prstGeom>
        </p:spPr>
      </p:pic>
      <p:sp>
        <p:nvSpPr>
          <p:cNvPr id="38" name="TextBox 37"/>
          <p:cNvSpPr txBox="1"/>
          <p:nvPr/>
        </p:nvSpPr>
        <p:spPr>
          <a:xfrm>
            <a:off x="3191256" y="452628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Optimization / RL</a:t>
            </a:r>
          </a:p>
        </p:txBody>
      </p:sp>
      <p:sp>
        <p:nvSpPr>
          <p:cNvPr id="39" name="Chevron 38"/>
          <p:cNvSpPr/>
          <p:nvPr/>
        </p:nvSpPr>
        <p:spPr>
          <a:xfrm>
            <a:off x="4494276" y="3383280"/>
            <a:ext cx="164592" cy="274320"/>
          </a:xfrm>
          <a:prstGeom prst="chevron">
            <a:avLst/>
          </a:prstGeom>
          <a:solidFill>
            <a:srgbClr val="CBE0DE"/>
          </a:solidFill>
          <a:ln>
            <a:noFill/>
          </a:ln>
        </p:spPr>
        <p:txBody>
          <a:bodyPr rtlCol="0" anchor="ctr" wrap="square" lIns="54864" rIns="54864" tIns="54864" bIns="54864"/>
          <a:lstStyle/>
          <a:p>
            <a:pPr algn="ctr"/>
          </a:p>
        </p:txBody>
      </p:sp>
      <p:sp>
        <p:nvSpPr>
          <p:cNvPr id="40" name="Rounded Rectangle 39"/>
          <p:cNvSpPr/>
          <p:nvPr/>
        </p:nvSpPr>
        <p:spPr>
          <a:xfrm>
            <a:off x="4700016" y="1691640"/>
            <a:ext cx="1828800" cy="3657600"/>
          </a:xfrm>
          <a:prstGeom prst="roundRect">
            <a:avLst>
              <a:gd name="adj" fmla="val 6000"/>
            </a:avLst>
          </a:prstGeom>
          <a:solidFill>
            <a:srgbClr val="F3F7F7"/>
          </a:solidFill>
          <a:ln>
            <a:noFill/>
          </a:ln>
        </p:spPr>
        <p:txBody>
          <a:bodyPr rtlCol="0" anchor="ctr" wrap="square" lIns="54864" rIns="54864" tIns="54864" bIns="54864"/>
          <a:lstStyle/>
          <a:p>
            <a:pPr algn="ctr"/>
          </a:p>
        </p:txBody>
      </p:sp>
      <p:sp>
        <p:nvSpPr>
          <p:cNvPr id="41" name="Oval 40"/>
          <p:cNvSpPr/>
          <p:nvPr/>
        </p:nvSpPr>
        <p:spPr>
          <a:xfrm>
            <a:off x="4837176" y="1828800"/>
            <a:ext cx="329184" cy="329184"/>
          </a:xfrm>
          <a:prstGeom prst="ellipse">
            <a:avLst/>
          </a:prstGeom>
          <a:solidFill>
            <a:srgbClr val="EA6A1E"/>
          </a:solidFill>
          <a:ln>
            <a:noFill/>
          </a:ln>
        </p:spPr>
        <p:txBody>
          <a:bodyPr rtlCol="0" anchor="ctr" wrap="square" lIns="0" rIns="0" tIns="0" bIns="0"/>
          <a:lstStyle/>
          <a:p>
            <a:pPr algn="ctr">
              <a:spcAft>
                <a:spcPts val="0"/>
              </a:spcAft>
            </a:pPr>
            <a:r>
              <a:rPr sz="1200" b="1" i="0">
                <a:solidFill>
                  <a:srgbClr val="FFFFFF"/>
                </a:solidFill>
                <a:latin typeface="Calibri"/>
              </a:rPr>
              <a:t>3</a:t>
            </a:r>
          </a:p>
        </p:txBody>
      </p:sp>
      <p:sp>
        <p:nvSpPr>
          <p:cNvPr id="42" name="TextBox 41"/>
          <p:cNvSpPr txBox="1"/>
          <p:nvPr/>
        </p:nvSpPr>
        <p:spPr>
          <a:xfrm>
            <a:off x="5248655" y="1810512"/>
            <a:ext cx="1234440" cy="365760"/>
          </a:xfrm>
          <a:prstGeom prst="rect">
            <a:avLst/>
          </a:prstGeom>
          <a:noFill/>
        </p:spPr>
        <p:txBody>
          <a:bodyPr wrap="square" anchor="ctr" lIns="0" rIns="0" tIns="0" bIns="0"/>
          <a:lstStyle/>
          <a:p>
            <a:pPr algn="l">
              <a:spcAft>
                <a:spcPts val="400"/>
              </a:spcAft>
            </a:pPr>
            <a:r>
              <a:rPr sz="1350" b="1" i="0">
                <a:solidFill>
                  <a:srgbClr val="EA6A1E"/>
                </a:solidFill>
                <a:latin typeface="Cambria"/>
              </a:rPr>
              <a:t>Decisions</a:t>
            </a:r>
          </a:p>
        </p:txBody>
      </p:sp>
      <p:sp>
        <p:nvSpPr>
          <p:cNvPr id="43" name="Rounded Rectangle 42"/>
          <p:cNvSpPr/>
          <p:nvPr/>
        </p:nvSpPr>
        <p:spPr>
          <a:xfrm>
            <a:off x="4809744" y="233172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44" name="Picture 43" descr="chart_da.png"/>
          <p:cNvPicPr>
            <a:picLocks noChangeAspect="1"/>
          </p:cNvPicPr>
          <p:nvPr/>
        </p:nvPicPr>
        <p:blipFill>
          <a:blip r:embed="rId11"/>
          <a:stretch>
            <a:fillRect/>
          </a:stretch>
        </p:blipFill>
        <p:spPr>
          <a:xfrm>
            <a:off x="4901183" y="2496312"/>
            <a:ext cx="292608" cy="292608"/>
          </a:xfrm>
          <a:prstGeom prst="rect">
            <a:avLst/>
          </a:prstGeom>
        </p:spPr>
      </p:pic>
      <p:sp>
        <p:nvSpPr>
          <p:cNvPr id="45" name="TextBox 44"/>
          <p:cNvSpPr txBox="1"/>
          <p:nvPr/>
        </p:nvSpPr>
        <p:spPr>
          <a:xfrm>
            <a:off x="5266944" y="233172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Risk prediction</a:t>
            </a:r>
          </a:p>
        </p:txBody>
      </p:sp>
      <p:sp>
        <p:nvSpPr>
          <p:cNvPr id="46" name="Rounded Rectangle 45"/>
          <p:cNvSpPr/>
          <p:nvPr/>
        </p:nvSpPr>
        <p:spPr>
          <a:xfrm>
            <a:off x="4809744" y="3063239"/>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47" name="Picture 46" descr="house_da.png"/>
          <p:cNvPicPr>
            <a:picLocks noChangeAspect="1"/>
          </p:cNvPicPr>
          <p:nvPr/>
        </p:nvPicPr>
        <p:blipFill>
          <a:blip r:embed="rId12"/>
          <a:stretch>
            <a:fillRect/>
          </a:stretch>
        </p:blipFill>
        <p:spPr>
          <a:xfrm>
            <a:off x="4901183" y="3227832"/>
            <a:ext cx="292608" cy="292608"/>
          </a:xfrm>
          <a:prstGeom prst="rect">
            <a:avLst/>
          </a:prstGeom>
        </p:spPr>
      </p:pic>
      <p:sp>
        <p:nvSpPr>
          <p:cNvPr id="48" name="TextBox 47"/>
          <p:cNvSpPr txBox="1"/>
          <p:nvPr/>
        </p:nvSpPr>
        <p:spPr>
          <a:xfrm>
            <a:off x="5266944" y="3063239"/>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Damage assessment</a:t>
            </a:r>
          </a:p>
        </p:txBody>
      </p:sp>
      <p:sp>
        <p:nvSpPr>
          <p:cNvPr id="49" name="Rounded Rectangle 48"/>
          <p:cNvSpPr/>
          <p:nvPr/>
        </p:nvSpPr>
        <p:spPr>
          <a:xfrm>
            <a:off x="4809744" y="379476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50" name="Picture 49" descr="search_da.png"/>
          <p:cNvPicPr>
            <a:picLocks noChangeAspect="1"/>
          </p:cNvPicPr>
          <p:nvPr/>
        </p:nvPicPr>
        <p:blipFill>
          <a:blip r:embed="rId13"/>
          <a:stretch>
            <a:fillRect/>
          </a:stretch>
        </p:blipFill>
        <p:spPr>
          <a:xfrm>
            <a:off x="4901183" y="3959352"/>
            <a:ext cx="292608" cy="292608"/>
          </a:xfrm>
          <a:prstGeom prst="rect">
            <a:avLst/>
          </a:prstGeom>
        </p:spPr>
      </p:pic>
      <p:sp>
        <p:nvSpPr>
          <p:cNvPr id="51" name="TextBox 50"/>
          <p:cNvSpPr txBox="1"/>
          <p:nvPr/>
        </p:nvSpPr>
        <p:spPr>
          <a:xfrm>
            <a:off x="5266944" y="379476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Information extraction</a:t>
            </a:r>
          </a:p>
        </p:txBody>
      </p:sp>
      <p:sp>
        <p:nvSpPr>
          <p:cNvPr id="52" name="Rounded Rectangle 51"/>
          <p:cNvSpPr/>
          <p:nvPr/>
        </p:nvSpPr>
        <p:spPr>
          <a:xfrm>
            <a:off x="4809744" y="452628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53" name="Picture 52" descr="truck_da.png"/>
          <p:cNvPicPr>
            <a:picLocks noChangeAspect="1"/>
          </p:cNvPicPr>
          <p:nvPr/>
        </p:nvPicPr>
        <p:blipFill>
          <a:blip r:embed="rId14"/>
          <a:stretch>
            <a:fillRect/>
          </a:stretch>
        </p:blipFill>
        <p:spPr>
          <a:xfrm>
            <a:off x="4901183" y="4690872"/>
            <a:ext cx="292608" cy="292608"/>
          </a:xfrm>
          <a:prstGeom prst="rect">
            <a:avLst/>
          </a:prstGeom>
        </p:spPr>
      </p:pic>
      <p:sp>
        <p:nvSpPr>
          <p:cNvPr id="54" name="TextBox 53"/>
          <p:cNvSpPr txBox="1"/>
          <p:nvPr/>
        </p:nvSpPr>
        <p:spPr>
          <a:xfrm>
            <a:off x="5266944" y="452628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Resource allocation</a:t>
            </a:r>
          </a:p>
        </p:txBody>
      </p:sp>
      <p:sp>
        <p:nvSpPr>
          <p:cNvPr id="55" name="Chevron 54"/>
          <p:cNvSpPr/>
          <p:nvPr/>
        </p:nvSpPr>
        <p:spPr>
          <a:xfrm>
            <a:off x="6569964" y="3383280"/>
            <a:ext cx="164592" cy="274320"/>
          </a:xfrm>
          <a:prstGeom prst="chevron">
            <a:avLst/>
          </a:prstGeom>
          <a:solidFill>
            <a:srgbClr val="CBE0DE"/>
          </a:solidFill>
          <a:ln>
            <a:noFill/>
          </a:ln>
        </p:spPr>
        <p:txBody>
          <a:bodyPr rtlCol="0" anchor="ctr" wrap="square" lIns="54864" rIns="54864" tIns="54864" bIns="54864"/>
          <a:lstStyle/>
          <a:p>
            <a:pPr algn="ctr"/>
          </a:p>
        </p:txBody>
      </p:sp>
      <p:sp>
        <p:nvSpPr>
          <p:cNvPr id="56" name="Rounded Rectangle 55"/>
          <p:cNvSpPr/>
          <p:nvPr/>
        </p:nvSpPr>
        <p:spPr>
          <a:xfrm>
            <a:off x="6775704" y="1691640"/>
            <a:ext cx="1828800" cy="3657600"/>
          </a:xfrm>
          <a:prstGeom prst="roundRect">
            <a:avLst>
              <a:gd name="adj" fmla="val 6000"/>
            </a:avLst>
          </a:prstGeom>
          <a:solidFill>
            <a:srgbClr val="F3F7F7"/>
          </a:solidFill>
          <a:ln>
            <a:noFill/>
          </a:ln>
        </p:spPr>
        <p:txBody>
          <a:bodyPr rtlCol="0" anchor="ctr" wrap="square" lIns="54864" rIns="54864" tIns="54864" bIns="54864"/>
          <a:lstStyle/>
          <a:p>
            <a:pPr algn="ctr"/>
          </a:p>
        </p:txBody>
      </p:sp>
      <p:sp>
        <p:nvSpPr>
          <p:cNvPr id="57" name="Oval 56"/>
          <p:cNvSpPr/>
          <p:nvPr/>
        </p:nvSpPr>
        <p:spPr>
          <a:xfrm>
            <a:off x="6912864" y="1828800"/>
            <a:ext cx="329184" cy="329184"/>
          </a:xfrm>
          <a:prstGeom prst="ellipse">
            <a:avLst/>
          </a:prstGeom>
          <a:solidFill>
            <a:srgbClr val="2E9E6A"/>
          </a:solidFill>
          <a:ln>
            <a:noFill/>
          </a:ln>
        </p:spPr>
        <p:txBody>
          <a:bodyPr rtlCol="0" anchor="ctr" wrap="square" lIns="0" rIns="0" tIns="0" bIns="0"/>
          <a:lstStyle/>
          <a:p>
            <a:pPr algn="ctr">
              <a:spcAft>
                <a:spcPts val="0"/>
              </a:spcAft>
            </a:pPr>
            <a:r>
              <a:rPr sz="1200" b="1" i="0">
                <a:solidFill>
                  <a:srgbClr val="FFFFFF"/>
                </a:solidFill>
                <a:latin typeface="Calibri"/>
              </a:rPr>
              <a:t>4</a:t>
            </a:r>
          </a:p>
        </p:txBody>
      </p:sp>
      <p:sp>
        <p:nvSpPr>
          <p:cNvPr id="58" name="TextBox 57"/>
          <p:cNvSpPr txBox="1"/>
          <p:nvPr/>
        </p:nvSpPr>
        <p:spPr>
          <a:xfrm>
            <a:off x="7324344" y="1810512"/>
            <a:ext cx="1234440" cy="365760"/>
          </a:xfrm>
          <a:prstGeom prst="rect">
            <a:avLst/>
          </a:prstGeom>
          <a:noFill/>
        </p:spPr>
        <p:txBody>
          <a:bodyPr wrap="square" anchor="ctr" lIns="0" rIns="0" tIns="0" bIns="0"/>
          <a:lstStyle/>
          <a:p>
            <a:pPr algn="l">
              <a:spcAft>
                <a:spcPts val="400"/>
              </a:spcAft>
            </a:pPr>
            <a:r>
              <a:rPr sz="1350" b="1" i="0">
                <a:solidFill>
                  <a:srgbClr val="2E9E6A"/>
                </a:solidFill>
                <a:latin typeface="Cambria"/>
              </a:rPr>
              <a:t>Outputs</a:t>
            </a:r>
          </a:p>
        </p:txBody>
      </p:sp>
      <p:sp>
        <p:nvSpPr>
          <p:cNvPr id="59" name="Rounded Rectangle 58"/>
          <p:cNvSpPr/>
          <p:nvPr/>
        </p:nvSpPr>
        <p:spPr>
          <a:xfrm>
            <a:off x="6885432" y="233172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60" name="Picture 59" descr="bell_g.png"/>
          <p:cNvPicPr>
            <a:picLocks noChangeAspect="1"/>
          </p:cNvPicPr>
          <p:nvPr/>
        </p:nvPicPr>
        <p:blipFill>
          <a:blip r:embed="rId15"/>
          <a:stretch>
            <a:fillRect/>
          </a:stretch>
        </p:blipFill>
        <p:spPr>
          <a:xfrm>
            <a:off x="6976872" y="2496312"/>
            <a:ext cx="292608" cy="292608"/>
          </a:xfrm>
          <a:prstGeom prst="rect">
            <a:avLst/>
          </a:prstGeom>
        </p:spPr>
      </p:pic>
      <p:sp>
        <p:nvSpPr>
          <p:cNvPr id="61" name="TextBox 60"/>
          <p:cNvSpPr txBox="1"/>
          <p:nvPr/>
        </p:nvSpPr>
        <p:spPr>
          <a:xfrm>
            <a:off x="7342631" y="233172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Early warnings &amp; alerts</a:t>
            </a:r>
          </a:p>
        </p:txBody>
      </p:sp>
      <p:sp>
        <p:nvSpPr>
          <p:cNvPr id="62" name="Rounded Rectangle 61"/>
          <p:cNvSpPr/>
          <p:nvPr/>
        </p:nvSpPr>
        <p:spPr>
          <a:xfrm>
            <a:off x="6885432" y="3063239"/>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63" name="Picture 62" descr="map_g.png"/>
          <p:cNvPicPr>
            <a:picLocks noChangeAspect="1"/>
          </p:cNvPicPr>
          <p:nvPr/>
        </p:nvPicPr>
        <p:blipFill>
          <a:blip r:embed="rId16"/>
          <a:stretch>
            <a:fillRect/>
          </a:stretch>
        </p:blipFill>
        <p:spPr>
          <a:xfrm>
            <a:off x="6976872" y="3227832"/>
            <a:ext cx="292608" cy="292608"/>
          </a:xfrm>
          <a:prstGeom prst="rect">
            <a:avLst/>
          </a:prstGeom>
        </p:spPr>
      </p:pic>
      <p:sp>
        <p:nvSpPr>
          <p:cNvPr id="64" name="TextBox 63"/>
          <p:cNvSpPr txBox="1"/>
          <p:nvPr/>
        </p:nvSpPr>
        <p:spPr>
          <a:xfrm>
            <a:off x="7342631" y="3063239"/>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Damage maps</a:t>
            </a:r>
          </a:p>
        </p:txBody>
      </p:sp>
      <p:sp>
        <p:nvSpPr>
          <p:cNvPr id="65" name="Rounded Rectangle 64"/>
          <p:cNvSpPr/>
          <p:nvPr/>
        </p:nvSpPr>
        <p:spPr>
          <a:xfrm>
            <a:off x="6885432" y="379476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66" name="Picture 65" descr="route_g.png"/>
          <p:cNvPicPr>
            <a:picLocks noChangeAspect="1"/>
          </p:cNvPicPr>
          <p:nvPr/>
        </p:nvPicPr>
        <p:blipFill>
          <a:blip r:embed="rId17"/>
          <a:stretch>
            <a:fillRect/>
          </a:stretch>
        </p:blipFill>
        <p:spPr>
          <a:xfrm>
            <a:off x="6976872" y="3959352"/>
            <a:ext cx="292608" cy="292608"/>
          </a:xfrm>
          <a:prstGeom prst="rect">
            <a:avLst/>
          </a:prstGeom>
        </p:spPr>
      </p:pic>
      <p:sp>
        <p:nvSpPr>
          <p:cNvPr id="67" name="TextBox 66"/>
          <p:cNvSpPr txBox="1"/>
          <p:nvPr/>
        </p:nvSpPr>
        <p:spPr>
          <a:xfrm>
            <a:off x="7342631" y="379476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Evacuation routes</a:t>
            </a:r>
          </a:p>
        </p:txBody>
      </p:sp>
      <p:sp>
        <p:nvSpPr>
          <p:cNvPr id="68" name="Rounded Rectangle 67"/>
          <p:cNvSpPr/>
          <p:nvPr/>
        </p:nvSpPr>
        <p:spPr>
          <a:xfrm>
            <a:off x="6885432" y="4526280"/>
            <a:ext cx="1609344" cy="621792"/>
          </a:xfrm>
          <a:prstGeom prst="roundRect">
            <a:avLst>
              <a:gd name="adj" fmla="val 11764"/>
            </a:avLst>
          </a:prstGeom>
          <a:solidFill>
            <a:srgbClr val="FFFFFF"/>
          </a:solidFill>
          <a:ln w="9525">
            <a:solidFill>
              <a:srgbClr val="CBE0DE"/>
            </a:solidFill>
          </a:ln>
        </p:spPr>
        <p:txBody>
          <a:bodyPr rtlCol="0" anchor="ctr" wrap="square" lIns="54864" rIns="54864" tIns="54864" bIns="54864"/>
          <a:lstStyle/>
          <a:p>
            <a:pPr algn="ctr"/>
          </a:p>
        </p:txBody>
      </p:sp>
      <p:pic>
        <p:nvPicPr>
          <p:cNvPr id="69" name="Picture 68" descr="file_g.png"/>
          <p:cNvPicPr>
            <a:picLocks noChangeAspect="1"/>
          </p:cNvPicPr>
          <p:nvPr/>
        </p:nvPicPr>
        <p:blipFill>
          <a:blip r:embed="rId18"/>
          <a:stretch>
            <a:fillRect/>
          </a:stretch>
        </p:blipFill>
        <p:spPr>
          <a:xfrm>
            <a:off x="6976872" y="4690872"/>
            <a:ext cx="292608" cy="292608"/>
          </a:xfrm>
          <a:prstGeom prst="rect">
            <a:avLst/>
          </a:prstGeom>
        </p:spPr>
      </p:pic>
      <p:sp>
        <p:nvSpPr>
          <p:cNvPr id="70" name="TextBox 69"/>
          <p:cNvSpPr txBox="1"/>
          <p:nvPr/>
        </p:nvSpPr>
        <p:spPr>
          <a:xfrm>
            <a:off x="7342631" y="4526280"/>
            <a:ext cx="1097280" cy="621792"/>
          </a:xfrm>
          <a:prstGeom prst="rect">
            <a:avLst/>
          </a:prstGeom>
          <a:noFill/>
        </p:spPr>
        <p:txBody>
          <a:bodyPr wrap="square" anchor="ctr" lIns="0" rIns="0" tIns="0" bIns="0"/>
          <a:lstStyle/>
          <a:p>
            <a:pPr algn="l">
              <a:spcAft>
                <a:spcPts val="400"/>
              </a:spcAft>
            </a:pPr>
            <a:r>
              <a:rPr sz="1150" b="0" i="0">
                <a:solidFill>
                  <a:srgbClr val="17282C"/>
                </a:solidFill>
                <a:latin typeface="Calibri"/>
              </a:rPr>
              <a:t>Situation reports</a:t>
            </a:r>
          </a:p>
        </p:txBody>
      </p:sp>
      <p:cxnSp>
        <p:nvCxnSpPr>
          <p:cNvPr id="71" name="Connector 70"/>
          <p:cNvCxnSpPr/>
          <p:nvPr/>
        </p:nvCxnSpPr>
        <p:spPr>
          <a:xfrm>
            <a:off x="7690104" y="5349240"/>
            <a:ext cx="0" cy="548640"/>
          </a:xfrm>
          <a:prstGeom prst="line">
            <a:avLst/>
          </a:prstGeom>
          <a:ln w="22225">
            <a:solidFill>
              <a:srgbClr val="EA6A1E"/>
            </a:solidFill>
            <a:prstDash val="lgDash"/>
          </a:ln>
        </p:spPr>
      </p:cxnSp>
      <p:cxnSp>
        <p:nvCxnSpPr>
          <p:cNvPr id="72" name="Connector 71"/>
          <p:cNvCxnSpPr/>
          <p:nvPr/>
        </p:nvCxnSpPr>
        <p:spPr>
          <a:xfrm flipH="1">
            <a:off x="1463040" y="5897880"/>
            <a:ext cx="6227064" cy="0"/>
          </a:xfrm>
          <a:prstGeom prst="line">
            <a:avLst/>
          </a:prstGeom>
          <a:ln w="22225">
            <a:solidFill>
              <a:srgbClr val="EA6A1E"/>
            </a:solidFill>
            <a:prstDash val="lgDash"/>
          </a:ln>
        </p:spPr>
      </p:cxnSp>
      <p:cxnSp>
        <p:nvCxnSpPr>
          <p:cNvPr id="73" name="Connector 72"/>
          <p:cNvCxnSpPr/>
          <p:nvPr/>
        </p:nvCxnSpPr>
        <p:spPr>
          <a:xfrm flipV="1">
            <a:off x="1463040" y="5349240"/>
            <a:ext cx="0" cy="548640"/>
          </a:xfrm>
          <a:prstGeom prst="line">
            <a:avLst/>
          </a:prstGeom>
          <a:ln w="22225">
            <a:solidFill>
              <a:srgbClr val="EA6A1E"/>
            </a:solidFill>
            <a:prstDash val="lgDash"/>
            <a:tailEnd type="triangle" w="med" len="med"/>
          </a:ln>
        </p:spPr>
      </p:cxnSp>
      <p:sp>
        <p:nvSpPr>
          <p:cNvPr id="74" name="Rounded Rectangle 73"/>
          <p:cNvSpPr/>
          <p:nvPr/>
        </p:nvSpPr>
        <p:spPr>
          <a:xfrm>
            <a:off x="2971800" y="5751576"/>
            <a:ext cx="3200400" cy="292608"/>
          </a:xfrm>
          <a:prstGeom prst="roundRect">
            <a:avLst>
              <a:gd name="adj" fmla="val 50000"/>
            </a:avLst>
          </a:prstGeom>
          <a:solidFill>
            <a:srgbClr val="FFFFFF"/>
          </a:solidFill>
          <a:ln w="12700">
            <a:solidFill>
              <a:srgbClr val="EA6A1E"/>
            </a:solidFill>
          </a:ln>
        </p:spPr>
        <p:txBody>
          <a:bodyPr rtlCol="0" anchor="ctr" wrap="square" lIns="18288" rIns="18288" tIns="18288" bIns="18288"/>
          <a:lstStyle/>
          <a:p>
            <a:pPr algn="ctr">
              <a:spcAft>
                <a:spcPts val="0"/>
              </a:spcAft>
            </a:pPr>
            <a:r>
              <a:rPr sz="1050" b="1" i="0">
                <a:solidFill>
                  <a:srgbClr val="EA6A1E"/>
                </a:solidFill>
                <a:latin typeface="Calibri"/>
              </a:rPr>
              <a:t>feedback &amp; continuous learning  ·  human validation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07  ·  ALGORITHMS STUDIED</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0E2B31"/>
                </a:solidFill>
                <a:latin typeface="Cambria"/>
              </a:rPr>
              <a:t>Early warning: learning from time-series data</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10</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5B6E72"/>
                </a:solidFill>
                <a:latin typeface="Calibri"/>
              </a:rPr>
              <a:t>Algorithm 1 — LSTM / Transformer flood forecasting from historical and live signals [4], [8]</a:t>
            </a:r>
          </a:p>
        </p:txBody>
      </p:sp>
      <p:sp>
        <p:nvSpPr>
          <p:cNvPr id="8" name="Rounded Rectangle 7"/>
          <p:cNvSpPr/>
          <p:nvPr/>
        </p:nvSpPr>
        <p:spPr>
          <a:xfrm>
            <a:off x="548640" y="1783080"/>
            <a:ext cx="1325880" cy="713232"/>
          </a:xfrm>
          <a:prstGeom prst="roundRect">
            <a:avLst>
              <a:gd name="adj" fmla="val 12820"/>
            </a:avLst>
          </a:prstGeom>
          <a:solidFill>
            <a:srgbClr val="E3F1F0"/>
          </a:solidFill>
          <a:ln>
            <a:noFill/>
          </a:ln>
        </p:spPr>
        <p:txBody>
          <a:bodyPr rtlCol="0" anchor="ctr" wrap="square" lIns="54864" rIns="54864" tIns="54864" bIns="54864"/>
          <a:lstStyle/>
          <a:p>
            <a:pPr algn="ctr">
              <a:spcAft>
                <a:spcPts val="0"/>
              </a:spcAft>
            </a:pPr>
            <a:r>
              <a:rPr sz="1050" b="1" i="0">
                <a:solidFill>
                  <a:srgbClr val="0E2B31"/>
                </a:solidFill>
                <a:latin typeface="Calibri"/>
              </a:rPr>
              <a:t>Historical</a:t>
            </a:r>
          </a:p>
          <a:p>
            <a:pPr algn="ctr">
              <a:spcAft>
                <a:spcPts val="0"/>
              </a:spcAft>
            </a:pPr>
            <a:r>
              <a:rPr sz="1050" b="0" i="0">
                <a:solidFill>
                  <a:srgbClr val="5B6E72"/>
                </a:solidFill>
                <a:latin typeface="Calibri"/>
              </a:rPr>
              <a:t>rainfall, river level</a:t>
            </a:r>
          </a:p>
        </p:txBody>
      </p:sp>
      <p:sp>
        <p:nvSpPr>
          <p:cNvPr id="9" name="Rounded Rectangle 8"/>
          <p:cNvSpPr/>
          <p:nvPr/>
        </p:nvSpPr>
        <p:spPr>
          <a:xfrm>
            <a:off x="548640" y="2651760"/>
            <a:ext cx="1325880" cy="713232"/>
          </a:xfrm>
          <a:prstGeom prst="roundRect">
            <a:avLst>
              <a:gd name="adj" fmla="val 12820"/>
            </a:avLst>
          </a:prstGeom>
          <a:solidFill>
            <a:srgbClr val="E3F1F0"/>
          </a:solidFill>
          <a:ln>
            <a:noFill/>
          </a:ln>
        </p:spPr>
        <p:txBody>
          <a:bodyPr rtlCol="0" anchor="ctr" wrap="square" lIns="54864" rIns="54864" tIns="54864" bIns="54864"/>
          <a:lstStyle/>
          <a:p>
            <a:pPr algn="ctr">
              <a:spcAft>
                <a:spcPts val="0"/>
              </a:spcAft>
            </a:pPr>
            <a:r>
              <a:rPr sz="1050" b="1" i="0">
                <a:solidFill>
                  <a:srgbClr val="0E2B31"/>
                </a:solidFill>
                <a:latin typeface="Calibri"/>
              </a:rPr>
              <a:t>Real-time IoT</a:t>
            </a:r>
          </a:p>
          <a:p>
            <a:pPr algn="ctr">
              <a:spcAft>
                <a:spcPts val="0"/>
              </a:spcAft>
            </a:pPr>
            <a:r>
              <a:rPr sz="1050" b="0" i="0">
                <a:solidFill>
                  <a:srgbClr val="5B6E72"/>
                </a:solidFill>
                <a:latin typeface="Calibri"/>
              </a:rPr>
              <a:t>sensors, weather</a:t>
            </a:r>
          </a:p>
        </p:txBody>
      </p:sp>
      <p:sp>
        <p:nvSpPr>
          <p:cNvPr id="10" name="Rounded Rectangle 9"/>
          <p:cNvSpPr/>
          <p:nvPr/>
        </p:nvSpPr>
        <p:spPr>
          <a:xfrm>
            <a:off x="2103120" y="2167128"/>
            <a:ext cx="1234440" cy="804672"/>
          </a:xfrm>
          <a:prstGeom prst="roundRect">
            <a:avLst>
              <a:gd name="adj" fmla="val 11363"/>
            </a:avLst>
          </a:prstGeom>
          <a:solidFill>
            <a:srgbClr val="FFFFFF"/>
          </a:solidFill>
          <a:ln w="15875">
            <a:solidFill>
              <a:srgbClr val="CBE0DE"/>
            </a:solidFill>
          </a:ln>
        </p:spPr>
        <p:txBody>
          <a:bodyPr rtlCol="0" anchor="ctr" wrap="square" lIns="54864" rIns="54864" tIns="54864" bIns="54864"/>
          <a:lstStyle/>
          <a:p>
            <a:pPr algn="ctr">
              <a:spcAft>
                <a:spcPts val="0"/>
              </a:spcAft>
            </a:pPr>
            <a:r>
              <a:rPr sz="1050" b="1" i="0">
                <a:solidFill>
                  <a:srgbClr val="0E2B31"/>
                </a:solidFill>
                <a:latin typeface="Calibri"/>
              </a:rPr>
              <a:t>Preprocess</a:t>
            </a:r>
          </a:p>
          <a:p>
            <a:pPr algn="ctr">
              <a:spcAft>
                <a:spcPts val="0"/>
              </a:spcAft>
            </a:pPr>
            <a:r>
              <a:rPr sz="1050" b="0" i="0">
                <a:solidFill>
                  <a:srgbClr val="5B6E72"/>
                </a:solidFill>
                <a:latin typeface="Calibri"/>
              </a:rPr>
              <a:t>normalize, windows</a:t>
            </a:r>
          </a:p>
        </p:txBody>
      </p:sp>
      <p:sp>
        <p:nvSpPr>
          <p:cNvPr id="11" name="Rounded Rectangle 10"/>
          <p:cNvSpPr/>
          <p:nvPr/>
        </p:nvSpPr>
        <p:spPr>
          <a:xfrm>
            <a:off x="3566160" y="2011680"/>
            <a:ext cx="1280160" cy="1115568"/>
          </a:xfrm>
          <a:prstGeom prst="roundRect">
            <a:avLst>
              <a:gd name="adj" fmla="val 8196"/>
            </a:avLst>
          </a:prstGeom>
          <a:solidFill>
            <a:srgbClr val="0E2B31"/>
          </a:solidFill>
          <a:ln>
            <a:noFill/>
          </a:ln>
        </p:spPr>
        <p:txBody>
          <a:bodyPr rtlCol="0" anchor="ctr" wrap="square" lIns="54864" rIns="54864" tIns="54864" bIns="54864"/>
          <a:lstStyle/>
          <a:p>
            <a:pPr algn="ctr">
              <a:spcAft>
                <a:spcPts val="0"/>
              </a:spcAft>
            </a:pPr>
            <a:r>
              <a:rPr sz="1400" b="1" i="0">
                <a:solidFill>
                  <a:srgbClr val="FFFFFF"/>
                </a:solidFill>
                <a:latin typeface="Calibri"/>
              </a:rPr>
              <a:t>LSTM /</a:t>
            </a:r>
          </a:p>
          <a:p>
            <a:pPr algn="ctr">
              <a:spcAft>
                <a:spcPts val="0"/>
              </a:spcAft>
            </a:pPr>
            <a:r>
              <a:rPr sz="1400" b="1" i="0">
                <a:solidFill>
                  <a:srgbClr val="FFFFFF"/>
                </a:solidFill>
                <a:latin typeface="Calibri"/>
              </a:rPr>
              <a:t>Transformer</a:t>
            </a:r>
          </a:p>
          <a:p>
            <a:pPr algn="ctr">
              <a:spcAft>
                <a:spcPts val="0"/>
              </a:spcAft>
            </a:pPr>
            <a:r>
              <a:rPr sz="1050" b="0" i="0">
                <a:solidFill>
                  <a:srgbClr val="FFFFFF"/>
                </a:solidFill>
                <a:latin typeface="Calibri"/>
              </a:rPr>
              <a:t>sequence model</a:t>
            </a:r>
          </a:p>
        </p:txBody>
      </p:sp>
      <p:sp>
        <p:nvSpPr>
          <p:cNvPr id="12" name="Rounded Rectangle 11"/>
          <p:cNvSpPr/>
          <p:nvPr/>
        </p:nvSpPr>
        <p:spPr>
          <a:xfrm>
            <a:off x="5074920" y="2167128"/>
            <a:ext cx="1234440" cy="804672"/>
          </a:xfrm>
          <a:prstGeom prst="roundRect">
            <a:avLst>
              <a:gd name="adj" fmla="val 11363"/>
            </a:avLst>
          </a:prstGeom>
          <a:solidFill>
            <a:srgbClr val="FFFFFF"/>
          </a:solidFill>
          <a:ln w="15875">
            <a:solidFill>
              <a:srgbClr val="CBE0DE"/>
            </a:solidFill>
          </a:ln>
        </p:spPr>
        <p:txBody>
          <a:bodyPr rtlCol="0" anchor="ctr" wrap="square" lIns="54864" rIns="54864" tIns="54864" bIns="54864"/>
          <a:lstStyle/>
          <a:p>
            <a:pPr algn="ctr">
              <a:spcAft>
                <a:spcPts val="0"/>
              </a:spcAft>
            </a:pPr>
            <a:r>
              <a:rPr sz="1050" b="1" i="0">
                <a:solidFill>
                  <a:srgbClr val="0E2B31"/>
                </a:solidFill>
                <a:latin typeface="Calibri"/>
              </a:rPr>
              <a:t>Flood risk ŷ</a:t>
            </a:r>
          </a:p>
          <a:p>
            <a:pPr algn="ctr">
              <a:spcAft>
                <a:spcPts val="0"/>
              </a:spcAft>
            </a:pPr>
            <a:r>
              <a:rPr sz="1050" b="0" i="0">
                <a:solidFill>
                  <a:srgbClr val="5B6E72"/>
                </a:solidFill>
                <a:latin typeface="Calibri"/>
              </a:rPr>
              <a:t>next 6–24 h</a:t>
            </a:r>
          </a:p>
        </p:txBody>
      </p:sp>
      <p:sp>
        <p:nvSpPr>
          <p:cNvPr id="13" name="Diamond 12"/>
          <p:cNvSpPr/>
          <p:nvPr/>
        </p:nvSpPr>
        <p:spPr>
          <a:xfrm>
            <a:off x="6492240" y="2066543"/>
            <a:ext cx="1051560" cy="1005840"/>
          </a:xfrm>
          <a:prstGeom prst="diamond">
            <a:avLst/>
          </a:prstGeom>
          <a:solidFill>
            <a:srgbClr val="F2C94C"/>
          </a:solidFill>
          <a:ln>
            <a:noFill/>
          </a:ln>
        </p:spPr>
        <p:txBody>
          <a:bodyPr rtlCol="0" anchor="ctr" wrap="square" lIns="54864" rIns="54864" tIns="54864" bIns="54864"/>
          <a:lstStyle/>
          <a:p>
            <a:pPr algn="ctr">
              <a:spcAft>
                <a:spcPts val="0"/>
              </a:spcAft>
            </a:pPr>
            <a:r>
              <a:rPr sz="1300" b="1" i="0">
                <a:solidFill>
                  <a:srgbClr val="0E2B31"/>
                </a:solidFill>
                <a:latin typeface="Calibri"/>
              </a:rPr>
              <a:t>ŷ &gt; τ ?</a:t>
            </a:r>
          </a:p>
        </p:txBody>
      </p:sp>
      <p:sp>
        <p:nvSpPr>
          <p:cNvPr id="14" name="Rounded Rectangle 13"/>
          <p:cNvSpPr/>
          <p:nvPr/>
        </p:nvSpPr>
        <p:spPr>
          <a:xfrm>
            <a:off x="7726679" y="2167128"/>
            <a:ext cx="868680" cy="804672"/>
          </a:xfrm>
          <a:prstGeom prst="roundRect">
            <a:avLst>
              <a:gd name="adj" fmla="val 11363"/>
            </a:avLst>
          </a:prstGeom>
          <a:solidFill>
            <a:srgbClr val="EA6A1E"/>
          </a:solidFill>
          <a:ln>
            <a:noFill/>
          </a:ln>
        </p:spPr>
        <p:txBody>
          <a:bodyPr rtlCol="0" anchor="ctr" wrap="square" lIns="54864" rIns="54864" tIns="54864" bIns="54864"/>
          <a:lstStyle/>
          <a:p>
            <a:pPr algn="ctr">
              <a:spcAft>
                <a:spcPts val="0"/>
              </a:spcAft>
            </a:pPr>
            <a:r>
              <a:rPr sz="1300" b="1" i="0">
                <a:solidFill>
                  <a:srgbClr val="FFFFFF"/>
                </a:solidFill>
                <a:latin typeface="Calibri"/>
              </a:rPr>
              <a:t>Issue</a:t>
            </a:r>
          </a:p>
          <a:p>
            <a:pPr algn="ctr">
              <a:spcAft>
                <a:spcPts val="0"/>
              </a:spcAft>
            </a:pPr>
            <a:r>
              <a:rPr sz="1300" b="1" i="0">
                <a:solidFill>
                  <a:srgbClr val="FFFFFF"/>
                </a:solidFill>
                <a:latin typeface="Calibri"/>
              </a:rPr>
              <a:t>alert</a:t>
            </a:r>
          </a:p>
        </p:txBody>
      </p:sp>
      <p:cxnSp>
        <p:nvCxnSpPr>
          <p:cNvPr id="15" name="Connector 14"/>
          <p:cNvCxnSpPr/>
          <p:nvPr/>
        </p:nvCxnSpPr>
        <p:spPr>
          <a:xfrm>
            <a:off x="1874519" y="2139696"/>
            <a:ext cx="228601" cy="256032"/>
          </a:xfrm>
          <a:prstGeom prst="line">
            <a:avLst/>
          </a:prstGeom>
          <a:ln w="19050">
            <a:solidFill>
              <a:srgbClr val="5B6E72"/>
            </a:solidFill>
            <a:tailEnd type="triangle" w="med" len="med"/>
          </a:ln>
        </p:spPr>
      </p:cxnSp>
      <p:cxnSp>
        <p:nvCxnSpPr>
          <p:cNvPr id="16" name="Connector 15"/>
          <p:cNvCxnSpPr/>
          <p:nvPr/>
        </p:nvCxnSpPr>
        <p:spPr>
          <a:xfrm flipV="1">
            <a:off x="1874519" y="2743200"/>
            <a:ext cx="228601" cy="265176"/>
          </a:xfrm>
          <a:prstGeom prst="line">
            <a:avLst/>
          </a:prstGeom>
          <a:ln w="19050">
            <a:solidFill>
              <a:srgbClr val="5B6E72"/>
            </a:solidFill>
            <a:tailEnd type="triangle" w="med" len="med"/>
          </a:ln>
        </p:spPr>
      </p:cxnSp>
      <p:cxnSp>
        <p:nvCxnSpPr>
          <p:cNvPr id="17" name="Connector 16"/>
          <p:cNvCxnSpPr/>
          <p:nvPr/>
        </p:nvCxnSpPr>
        <p:spPr>
          <a:xfrm>
            <a:off x="3337560" y="2569464"/>
            <a:ext cx="228600" cy="0"/>
          </a:xfrm>
          <a:prstGeom prst="line">
            <a:avLst/>
          </a:prstGeom>
          <a:ln w="22225">
            <a:solidFill>
              <a:srgbClr val="5B6E72"/>
            </a:solidFill>
            <a:tailEnd type="triangle" w="med" len="med"/>
          </a:ln>
        </p:spPr>
      </p:cxnSp>
      <p:cxnSp>
        <p:nvCxnSpPr>
          <p:cNvPr id="18" name="Connector 17"/>
          <p:cNvCxnSpPr/>
          <p:nvPr/>
        </p:nvCxnSpPr>
        <p:spPr>
          <a:xfrm>
            <a:off x="4846320" y="2569464"/>
            <a:ext cx="228600" cy="0"/>
          </a:xfrm>
          <a:prstGeom prst="line">
            <a:avLst/>
          </a:prstGeom>
          <a:ln w="22225">
            <a:solidFill>
              <a:srgbClr val="5B6E72"/>
            </a:solidFill>
            <a:tailEnd type="triangle" w="med" len="med"/>
          </a:ln>
        </p:spPr>
      </p:cxnSp>
      <p:cxnSp>
        <p:nvCxnSpPr>
          <p:cNvPr id="19" name="Connector 18"/>
          <p:cNvCxnSpPr/>
          <p:nvPr/>
        </p:nvCxnSpPr>
        <p:spPr>
          <a:xfrm>
            <a:off x="6309360" y="2569464"/>
            <a:ext cx="182880" cy="0"/>
          </a:xfrm>
          <a:prstGeom prst="line">
            <a:avLst/>
          </a:prstGeom>
          <a:ln w="22225">
            <a:solidFill>
              <a:srgbClr val="5B6E72"/>
            </a:solidFill>
            <a:tailEnd type="triangle" w="med" len="med"/>
          </a:ln>
        </p:spPr>
      </p:cxnSp>
      <p:cxnSp>
        <p:nvCxnSpPr>
          <p:cNvPr id="20" name="Connector 19"/>
          <p:cNvCxnSpPr/>
          <p:nvPr/>
        </p:nvCxnSpPr>
        <p:spPr>
          <a:xfrm>
            <a:off x="7543800" y="2569464"/>
            <a:ext cx="182879" cy="0"/>
          </a:xfrm>
          <a:prstGeom prst="line">
            <a:avLst/>
          </a:prstGeom>
          <a:ln w="22225">
            <a:solidFill>
              <a:srgbClr val="5B6E72"/>
            </a:solidFill>
            <a:tailEnd type="triangle" w="med" len="med"/>
          </a:ln>
        </p:spPr>
      </p:cxnSp>
      <p:sp>
        <p:nvSpPr>
          <p:cNvPr id="21" name="TextBox 20"/>
          <p:cNvSpPr txBox="1"/>
          <p:nvPr/>
        </p:nvSpPr>
        <p:spPr>
          <a:xfrm>
            <a:off x="7498079" y="2240280"/>
            <a:ext cx="365760" cy="228600"/>
          </a:xfrm>
          <a:prstGeom prst="rect">
            <a:avLst/>
          </a:prstGeom>
          <a:noFill/>
        </p:spPr>
        <p:txBody>
          <a:bodyPr wrap="square" anchor="t" lIns="0" rIns="0" tIns="0" bIns="0"/>
          <a:lstStyle/>
          <a:p>
            <a:pPr algn="l">
              <a:spcAft>
                <a:spcPts val="400"/>
              </a:spcAft>
            </a:pPr>
            <a:r>
              <a:rPr sz="950" b="0" i="0">
                <a:solidFill>
                  <a:srgbClr val="5B6E72"/>
                </a:solidFill>
                <a:latin typeface="Calibri"/>
              </a:rPr>
              <a:t>yes</a:t>
            </a:r>
          </a:p>
        </p:txBody>
      </p:sp>
      <p:sp>
        <p:nvSpPr>
          <p:cNvPr id="22" name="Rounded Rectangle 21"/>
          <p:cNvSpPr/>
          <p:nvPr/>
        </p:nvSpPr>
        <p:spPr>
          <a:xfrm>
            <a:off x="548640" y="3657600"/>
            <a:ext cx="3931920" cy="2560320"/>
          </a:xfrm>
          <a:prstGeom prst="roundRect">
            <a:avLst>
              <a:gd name="adj" fmla="val 4285"/>
            </a:avLst>
          </a:prstGeom>
          <a:solidFill>
            <a:srgbClr val="F3F7F7"/>
          </a:solidFill>
          <a:ln>
            <a:noFill/>
          </a:ln>
        </p:spPr>
        <p:txBody>
          <a:bodyPr rtlCol="0" anchor="ctr" wrap="square" lIns="54864" rIns="54864" tIns="54864" bIns="54864"/>
          <a:lstStyle/>
          <a:p>
            <a:pPr algn="ctr"/>
          </a:p>
        </p:txBody>
      </p:sp>
      <p:sp>
        <p:nvSpPr>
          <p:cNvPr id="23" name="TextBox 22"/>
          <p:cNvSpPr txBox="1"/>
          <p:nvPr/>
        </p:nvSpPr>
        <p:spPr>
          <a:xfrm>
            <a:off x="749808" y="3794760"/>
            <a:ext cx="3566160" cy="274320"/>
          </a:xfrm>
          <a:prstGeom prst="rect">
            <a:avLst/>
          </a:prstGeom>
          <a:noFill/>
        </p:spPr>
        <p:txBody>
          <a:bodyPr wrap="square" anchor="t" lIns="0" rIns="0" tIns="0" bIns="0"/>
          <a:lstStyle/>
          <a:p>
            <a:pPr algn="l">
              <a:spcAft>
                <a:spcPts val="400"/>
              </a:spcAft>
            </a:pPr>
            <a:r>
              <a:rPr sz="1000" b="1" i="0" spc="160">
                <a:solidFill>
                  <a:srgbClr val="12807F"/>
                </a:solidFill>
                <a:latin typeface="Calibri"/>
              </a:rPr>
              <a:t>WHY LSTM?</a:t>
            </a:r>
          </a:p>
        </p:txBody>
      </p:sp>
      <p:sp>
        <p:nvSpPr>
          <p:cNvPr id="24" name="TextBox 23"/>
          <p:cNvSpPr txBox="1"/>
          <p:nvPr/>
        </p:nvSpPr>
        <p:spPr>
          <a:xfrm>
            <a:off x="749808" y="4160520"/>
            <a:ext cx="3611880" cy="2011680"/>
          </a:xfrm>
          <a:prstGeom prst="rect">
            <a:avLst/>
          </a:prstGeom>
          <a:noFill/>
        </p:spPr>
        <p:txBody>
          <a:bodyPr wrap="square" anchor="t" lIns="0" rIns="0" tIns="0" bIns="0"/>
          <a:lstStyle/>
          <a:p>
            <a:pPr algn="l" marL="182880" indent="-182880">
              <a:spcAft>
                <a:spcPts val="700"/>
              </a:spcAft>
              <a:buClr>
                <a:srgbClr val="EA6A1E"/>
              </a:buClr>
              <a:buFont typeface="Arial"/>
              <a:buChar char="•"/>
            </a:pPr>
            <a:r>
              <a:rPr sz="1350" b="0" i="0">
                <a:solidFill>
                  <a:srgbClr val="17282C"/>
                </a:solidFill>
                <a:latin typeface="Calibri"/>
              </a:rPr>
              <a:t>Gated memory cells keep long-term patterns, e.g. days of rainfall [8]</a:t>
            </a:r>
          </a:p>
          <a:p>
            <a:pPr algn="l" marL="182880" indent="-182880">
              <a:spcAft>
                <a:spcPts val="700"/>
              </a:spcAft>
              <a:buClr>
                <a:srgbClr val="EA6A1E"/>
              </a:buClr>
              <a:buFont typeface="Arial"/>
              <a:buChar char="•"/>
            </a:pPr>
            <a:r>
              <a:rPr sz="1350" b="0" i="0">
                <a:solidFill>
                  <a:srgbClr val="17282C"/>
                </a:solidFill>
                <a:latin typeface="Calibri"/>
              </a:rPr>
              <a:t>Forget, input and output gates decide what to keep</a:t>
            </a:r>
          </a:p>
          <a:p>
            <a:pPr algn="l" marL="182880" indent="-182880">
              <a:spcAft>
                <a:spcPts val="700"/>
              </a:spcAft>
              <a:buClr>
                <a:srgbClr val="EA6A1E"/>
              </a:buClr>
              <a:buFont typeface="Arial"/>
              <a:buChar char="•"/>
            </a:pPr>
            <a:r>
              <a:rPr sz="1350" b="0" i="0">
                <a:solidFill>
                  <a:srgbClr val="17282C"/>
                </a:solidFill>
                <a:latin typeface="Calibri"/>
              </a:rPr>
              <a:t>Robust to noisy, irregular sensor sequences</a:t>
            </a:r>
          </a:p>
          <a:p>
            <a:pPr algn="l" marL="182880" indent="-182880">
              <a:spcAft>
                <a:spcPts val="700"/>
              </a:spcAft>
              <a:buClr>
                <a:srgbClr val="EA6A1E"/>
              </a:buClr>
              <a:buFont typeface="Arial"/>
              <a:buChar char="•"/>
            </a:pPr>
            <a:r>
              <a:rPr sz="1350" b="0" i="0">
                <a:solidFill>
                  <a:srgbClr val="17282C"/>
                </a:solidFill>
                <a:latin typeface="Calibri"/>
              </a:rPr>
              <a:t>Transformers use attention for long-range links</a:t>
            </a:r>
          </a:p>
        </p:txBody>
      </p:sp>
      <p:sp>
        <p:nvSpPr>
          <p:cNvPr id="25" name="Rounded Rectangle 24"/>
          <p:cNvSpPr/>
          <p:nvPr/>
        </p:nvSpPr>
        <p:spPr>
          <a:xfrm>
            <a:off x="4663440" y="3657600"/>
            <a:ext cx="3931920" cy="2560320"/>
          </a:xfrm>
          <a:prstGeom prst="roundRect">
            <a:avLst>
              <a:gd name="adj" fmla="val 4285"/>
            </a:avLst>
          </a:prstGeom>
          <a:solidFill>
            <a:srgbClr val="0E2B31"/>
          </a:solidFill>
          <a:ln>
            <a:noFill/>
          </a:ln>
        </p:spPr>
        <p:txBody>
          <a:bodyPr rtlCol="0" anchor="ctr" wrap="square" lIns="54864" rIns="54864" tIns="54864" bIns="54864"/>
          <a:lstStyle/>
          <a:p>
            <a:pPr algn="ctr"/>
          </a:p>
        </p:txBody>
      </p:sp>
      <p:sp>
        <p:nvSpPr>
          <p:cNvPr id="26" name="TextBox 25"/>
          <p:cNvSpPr txBox="1"/>
          <p:nvPr/>
        </p:nvSpPr>
        <p:spPr>
          <a:xfrm>
            <a:off x="4864607" y="3803904"/>
            <a:ext cx="3566160" cy="237744"/>
          </a:xfrm>
          <a:prstGeom prst="rect">
            <a:avLst/>
          </a:prstGeom>
          <a:noFill/>
        </p:spPr>
        <p:txBody>
          <a:bodyPr wrap="square" anchor="t" lIns="0" rIns="0" tIns="0" bIns="0"/>
          <a:lstStyle/>
          <a:p>
            <a:pPr algn="l">
              <a:spcAft>
                <a:spcPts val="400"/>
              </a:spcAft>
            </a:pPr>
            <a:r>
              <a:rPr sz="950" b="1" i="0" spc="180">
                <a:solidFill>
                  <a:srgbClr val="EA6A1E"/>
                </a:solidFill>
                <a:latin typeface="Calibri"/>
              </a:rPr>
              <a:t>PSEUDOCODE</a:t>
            </a:r>
          </a:p>
        </p:txBody>
      </p:sp>
      <p:sp>
        <p:nvSpPr>
          <p:cNvPr id="27" name="TextBox 26"/>
          <p:cNvSpPr txBox="1"/>
          <p:nvPr/>
        </p:nvSpPr>
        <p:spPr>
          <a:xfrm>
            <a:off x="4846320" y="4114800"/>
            <a:ext cx="3611879" cy="2011679"/>
          </a:xfrm>
          <a:prstGeom prst="rect">
            <a:avLst/>
          </a:prstGeom>
          <a:noFill/>
        </p:spPr>
        <p:txBody>
          <a:bodyPr wrap="square" anchor="t" lIns="0" rIns="0" tIns="0" bIns="0"/>
          <a:lstStyle/>
          <a:p>
            <a:pPr algn="l">
              <a:spcAft>
                <a:spcPts val="200"/>
              </a:spcAft>
            </a:pPr>
            <a:r>
              <a:rPr sz="1150" b="0" i="0">
                <a:solidFill>
                  <a:srgbClr val="7FA9A6"/>
                </a:solidFill>
                <a:latin typeface="Consolas"/>
              </a:rPr>
              <a:t> 1  </a:t>
            </a:r>
            <a:r>
              <a:rPr sz="1150" b="0" i="0">
                <a:solidFill>
                  <a:srgbClr val="F1F0FA"/>
                </a:solidFill>
                <a:latin typeface="Consolas"/>
              </a:rPr>
              <a:t>Input: series X_t, threshold τ</a:t>
            </a:r>
          </a:p>
          <a:p>
            <a:pPr algn="l">
              <a:spcAft>
                <a:spcPts val="200"/>
              </a:spcAft>
            </a:pPr>
            <a:r>
              <a:rPr sz="1150" b="0" i="0">
                <a:solidFill>
                  <a:srgbClr val="7FA9A6"/>
                </a:solidFill>
                <a:latin typeface="Consolas"/>
              </a:rPr>
              <a:t> 2  </a:t>
            </a:r>
            <a:r>
              <a:rPr sz="1150" b="0" i="0">
                <a:solidFill>
                  <a:srgbClr val="F1F0FA"/>
                </a:solidFill>
                <a:latin typeface="Consolas"/>
              </a:rPr>
              <a:t>X ← Normalize(X_t); make windows</a:t>
            </a:r>
          </a:p>
          <a:p>
            <a:pPr algn="l">
              <a:spcAft>
                <a:spcPts val="200"/>
              </a:spcAft>
            </a:pPr>
            <a:r>
              <a:rPr sz="1150" b="0" i="0">
                <a:solidFill>
                  <a:srgbClr val="7FA9A6"/>
                </a:solidFill>
                <a:latin typeface="Consolas"/>
              </a:rPr>
              <a:t> 3  </a:t>
            </a:r>
            <a:r>
              <a:rPr sz="1150" b="0" i="0">
                <a:solidFill>
                  <a:srgbClr val="F1F0FA"/>
                </a:solidFill>
                <a:latin typeface="Consolas"/>
              </a:rPr>
              <a:t>h_t ← LSTM(X, h_(t-1))</a:t>
            </a:r>
          </a:p>
          <a:p>
            <a:pPr algn="l">
              <a:spcAft>
                <a:spcPts val="200"/>
              </a:spcAft>
            </a:pPr>
            <a:r>
              <a:rPr sz="1150" b="0" i="0">
                <a:solidFill>
                  <a:srgbClr val="7FA9A6"/>
                </a:solidFill>
                <a:latin typeface="Consolas"/>
              </a:rPr>
              <a:t> 4  </a:t>
            </a:r>
            <a:r>
              <a:rPr sz="1150" b="0" i="0">
                <a:solidFill>
                  <a:srgbClr val="F1F0FA"/>
                </a:solidFill>
                <a:latin typeface="Consolas"/>
              </a:rPr>
              <a:t>ŷ_(t+1) ← Predict(h_t)   </a:t>
            </a:r>
            <a:r>
              <a:rPr sz="1150" b="0" i="1">
                <a:solidFill>
                  <a:srgbClr val="9CCBC7"/>
                </a:solidFill>
                <a:latin typeface="Consolas"/>
              </a:rPr>
              <a:t># risk</a:t>
            </a:r>
          </a:p>
          <a:p>
            <a:pPr algn="l">
              <a:spcAft>
                <a:spcPts val="200"/>
              </a:spcAft>
            </a:pPr>
            <a:r>
              <a:rPr sz="1150" b="0" i="0">
                <a:solidFill>
                  <a:srgbClr val="7FA9A6"/>
                </a:solidFill>
                <a:latin typeface="Consolas"/>
              </a:rPr>
              <a:t> 5  </a:t>
            </a:r>
            <a:r>
              <a:rPr sz="1150" b="0" i="0">
                <a:solidFill>
                  <a:srgbClr val="F1F0FA"/>
                </a:solidFill>
                <a:latin typeface="Consolas"/>
              </a:rPr>
              <a:t>if ŷ_(t+1) &gt; τ then</a:t>
            </a:r>
          </a:p>
          <a:p>
            <a:pPr algn="l">
              <a:spcAft>
                <a:spcPts val="200"/>
              </a:spcAft>
            </a:pPr>
            <a:r>
              <a:rPr sz="1150" b="0" i="0">
                <a:solidFill>
                  <a:srgbClr val="7FA9A6"/>
                </a:solidFill>
                <a:latin typeface="Consolas"/>
              </a:rPr>
              <a:t> 6  </a:t>
            </a:r>
            <a:r>
              <a:rPr sz="1150" b="0" i="0">
                <a:solidFill>
                  <a:srgbClr val="F1F0FA"/>
                </a:solidFill>
                <a:latin typeface="Consolas"/>
              </a:rPr>
              <a:t>    IssueAlert(region, ŷ_(t+1))</a:t>
            </a:r>
          </a:p>
          <a:p>
            <a:pPr algn="l">
              <a:spcAft>
                <a:spcPts val="200"/>
              </a:spcAft>
            </a:pPr>
            <a:r>
              <a:rPr sz="1150" b="0" i="0">
                <a:solidFill>
                  <a:srgbClr val="7FA9A6"/>
                </a:solidFill>
                <a:latin typeface="Consolas"/>
              </a:rPr>
              <a:t> 7  </a:t>
            </a:r>
            <a:r>
              <a:rPr sz="1150" b="0" i="0">
                <a:solidFill>
                  <a:srgbClr val="F1F0FA"/>
                </a:solidFill>
                <a:latin typeface="Consolas"/>
              </a:rPr>
              <a:t>return ŷ_(t+1), alert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07  ·  ALGORITHMS STUDIED</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0E2B31"/>
                </a:solidFill>
                <a:latin typeface="Cambria"/>
              </a:rPr>
              <a:t>Damage assessment: comparing before and after</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11</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5B6E72"/>
                </a:solidFill>
                <a:latin typeface="Calibri"/>
              </a:rPr>
              <a:t>Algorithm 2 — CNN / ViT segmentation of satellite and UAV imagery [3], [7]</a:t>
            </a:r>
          </a:p>
        </p:txBody>
      </p:sp>
      <p:sp>
        <p:nvSpPr>
          <p:cNvPr id="8" name="Rounded Rectangle 7"/>
          <p:cNvSpPr/>
          <p:nvPr/>
        </p:nvSpPr>
        <p:spPr>
          <a:xfrm>
            <a:off x="548640" y="1737360"/>
            <a:ext cx="1463040" cy="804672"/>
          </a:xfrm>
          <a:prstGeom prst="roundRect">
            <a:avLst>
              <a:gd name="adj" fmla="val 11363"/>
            </a:avLst>
          </a:prstGeom>
          <a:solidFill>
            <a:srgbClr val="E3F1F0"/>
          </a:solidFill>
          <a:ln>
            <a:noFill/>
          </a:ln>
        </p:spPr>
        <p:txBody>
          <a:bodyPr rtlCol="0" anchor="ctr" wrap="square" lIns="54864" rIns="54864" tIns="54864" bIns="54864"/>
          <a:lstStyle/>
          <a:p>
            <a:pPr algn="ctr"/>
          </a:p>
        </p:txBody>
      </p:sp>
      <p:pic>
        <p:nvPicPr>
          <p:cNvPr id="9" name="Picture 8" descr="house_dp.png"/>
          <p:cNvPicPr>
            <a:picLocks noChangeAspect="1"/>
          </p:cNvPicPr>
          <p:nvPr/>
        </p:nvPicPr>
        <p:blipFill>
          <a:blip r:embed="rId3"/>
          <a:stretch>
            <a:fillRect/>
          </a:stretch>
        </p:blipFill>
        <p:spPr>
          <a:xfrm>
            <a:off x="658368" y="1920240"/>
            <a:ext cx="438912" cy="438912"/>
          </a:xfrm>
          <a:prstGeom prst="rect">
            <a:avLst/>
          </a:prstGeom>
        </p:spPr>
      </p:pic>
      <p:sp>
        <p:nvSpPr>
          <p:cNvPr id="10" name="TextBox 9"/>
          <p:cNvSpPr txBox="1"/>
          <p:nvPr/>
        </p:nvSpPr>
        <p:spPr>
          <a:xfrm>
            <a:off x="1161288" y="1737360"/>
            <a:ext cx="822960" cy="804672"/>
          </a:xfrm>
          <a:prstGeom prst="rect">
            <a:avLst/>
          </a:prstGeom>
          <a:noFill/>
        </p:spPr>
        <p:txBody>
          <a:bodyPr wrap="square" anchor="ctr" lIns="0" rIns="0" tIns="0" bIns="0"/>
          <a:lstStyle/>
          <a:p>
            <a:pPr algn="l">
              <a:spcAft>
                <a:spcPts val="400"/>
              </a:spcAft>
            </a:pPr>
            <a:r>
              <a:rPr sz="1050" b="1" i="0">
                <a:solidFill>
                  <a:srgbClr val="0E2B31"/>
                </a:solidFill>
                <a:latin typeface="Calibri"/>
              </a:rPr>
              <a:t>Pre-disaster image</a:t>
            </a:r>
          </a:p>
        </p:txBody>
      </p:sp>
      <p:sp>
        <p:nvSpPr>
          <p:cNvPr id="11" name="Rounded Rectangle 10"/>
          <p:cNvSpPr/>
          <p:nvPr/>
        </p:nvSpPr>
        <p:spPr>
          <a:xfrm>
            <a:off x="548640" y="2651760"/>
            <a:ext cx="1463040" cy="804672"/>
          </a:xfrm>
          <a:prstGeom prst="roundRect">
            <a:avLst>
              <a:gd name="adj" fmla="val 11363"/>
            </a:avLst>
          </a:prstGeom>
          <a:solidFill>
            <a:srgbClr val="E3F1F0"/>
          </a:solidFill>
          <a:ln>
            <a:noFill/>
          </a:ln>
        </p:spPr>
        <p:txBody>
          <a:bodyPr rtlCol="0" anchor="ctr" wrap="square" lIns="54864" rIns="54864" tIns="54864" bIns="54864"/>
          <a:lstStyle/>
          <a:p>
            <a:pPr algn="ctr"/>
          </a:p>
        </p:txBody>
      </p:sp>
      <p:pic>
        <p:nvPicPr>
          <p:cNvPr id="12" name="Picture 11" descr="house_r.png"/>
          <p:cNvPicPr>
            <a:picLocks noChangeAspect="1"/>
          </p:cNvPicPr>
          <p:nvPr/>
        </p:nvPicPr>
        <p:blipFill>
          <a:blip r:embed="rId4"/>
          <a:stretch>
            <a:fillRect/>
          </a:stretch>
        </p:blipFill>
        <p:spPr>
          <a:xfrm>
            <a:off x="658368" y="2834640"/>
            <a:ext cx="438912" cy="438912"/>
          </a:xfrm>
          <a:prstGeom prst="rect">
            <a:avLst/>
          </a:prstGeom>
        </p:spPr>
      </p:pic>
      <p:sp>
        <p:nvSpPr>
          <p:cNvPr id="13" name="TextBox 12"/>
          <p:cNvSpPr txBox="1"/>
          <p:nvPr/>
        </p:nvSpPr>
        <p:spPr>
          <a:xfrm>
            <a:off x="1161288" y="2651760"/>
            <a:ext cx="822960" cy="804672"/>
          </a:xfrm>
          <a:prstGeom prst="rect">
            <a:avLst/>
          </a:prstGeom>
          <a:noFill/>
        </p:spPr>
        <p:txBody>
          <a:bodyPr wrap="square" anchor="ctr" lIns="0" rIns="0" tIns="0" bIns="0"/>
          <a:lstStyle/>
          <a:p>
            <a:pPr algn="l">
              <a:spcAft>
                <a:spcPts val="400"/>
              </a:spcAft>
            </a:pPr>
            <a:r>
              <a:rPr sz="1050" b="1" i="0">
                <a:solidFill>
                  <a:srgbClr val="0E2B31"/>
                </a:solidFill>
                <a:latin typeface="Calibri"/>
              </a:rPr>
              <a:t>Post-disaster image</a:t>
            </a:r>
          </a:p>
        </p:txBody>
      </p:sp>
      <p:sp>
        <p:nvSpPr>
          <p:cNvPr id="14" name="Rounded Rectangle 13"/>
          <p:cNvSpPr/>
          <p:nvPr/>
        </p:nvSpPr>
        <p:spPr>
          <a:xfrm>
            <a:off x="2240280" y="2103120"/>
            <a:ext cx="1234440" cy="960120"/>
          </a:xfrm>
          <a:prstGeom prst="roundRect">
            <a:avLst>
              <a:gd name="adj" fmla="val 9523"/>
            </a:avLst>
          </a:prstGeom>
          <a:solidFill>
            <a:srgbClr val="FFFFFF"/>
          </a:solidFill>
          <a:ln w="15875">
            <a:solidFill>
              <a:srgbClr val="CBE0DE"/>
            </a:solidFill>
          </a:ln>
        </p:spPr>
        <p:txBody>
          <a:bodyPr rtlCol="0" anchor="ctr" wrap="square" lIns="54864" rIns="54864" tIns="54864" bIns="54864"/>
          <a:lstStyle/>
          <a:p>
            <a:pPr algn="ctr">
              <a:spcAft>
                <a:spcPts val="0"/>
              </a:spcAft>
            </a:pPr>
            <a:r>
              <a:rPr sz="1050" b="1" i="0">
                <a:solidFill>
                  <a:srgbClr val="0E2B31"/>
                </a:solidFill>
                <a:latin typeface="Calibri"/>
              </a:rPr>
              <a:t>Align &amp;</a:t>
            </a:r>
          </a:p>
          <a:p>
            <a:pPr algn="ctr">
              <a:spcAft>
                <a:spcPts val="0"/>
              </a:spcAft>
            </a:pPr>
            <a:r>
              <a:rPr sz="1050" b="1" i="0">
                <a:solidFill>
                  <a:srgbClr val="0E2B31"/>
                </a:solidFill>
                <a:latin typeface="Calibri"/>
              </a:rPr>
              <a:t>preprocess</a:t>
            </a:r>
          </a:p>
          <a:p>
            <a:pPr algn="ctr">
              <a:spcAft>
                <a:spcPts val="0"/>
              </a:spcAft>
            </a:pPr>
            <a:r>
              <a:rPr sz="1050" b="0" i="0">
                <a:solidFill>
                  <a:srgbClr val="5B6E72"/>
                </a:solidFill>
                <a:latin typeface="Calibri"/>
              </a:rPr>
              <a:t>co-registration</a:t>
            </a:r>
          </a:p>
        </p:txBody>
      </p:sp>
      <p:sp>
        <p:nvSpPr>
          <p:cNvPr id="15" name="Rounded Rectangle 14"/>
          <p:cNvSpPr/>
          <p:nvPr/>
        </p:nvSpPr>
        <p:spPr>
          <a:xfrm>
            <a:off x="3703320" y="2011680"/>
            <a:ext cx="1325880" cy="1143000"/>
          </a:xfrm>
          <a:prstGeom prst="roundRect">
            <a:avLst>
              <a:gd name="adj" fmla="val 8000"/>
            </a:avLst>
          </a:prstGeom>
          <a:solidFill>
            <a:srgbClr val="0E2B31"/>
          </a:solidFill>
          <a:ln>
            <a:noFill/>
          </a:ln>
        </p:spPr>
        <p:txBody>
          <a:bodyPr rtlCol="0" anchor="ctr" wrap="square" lIns="54864" rIns="54864" tIns="54864" bIns="54864"/>
          <a:lstStyle/>
          <a:p>
            <a:pPr algn="ctr">
              <a:spcAft>
                <a:spcPts val="0"/>
              </a:spcAft>
            </a:pPr>
            <a:r>
              <a:rPr sz="1400" b="1" i="0">
                <a:solidFill>
                  <a:srgbClr val="FFFFFF"/>
                </a:solidFill>
                <a:latin typeface="Calibri"/>
              </a:rPr>
              <a:t>CNN / ViT</a:t>
            </a:r>
          </a:p>
          <a:p>
            <a:pPr algn="ctr">
              <a:spcAft>
                <a:spcPts val="0"/>
              </a:spcAft>
            </a:pPr>
            <a:r>
              <a:rPr sz="1050" b="0" i="0">
                <a:solidFill>
                  <a:srgbClr val="FFFFFF"/>
                </a:solidFill>
                <a:latin typeface="Calibri"/>
              </a:rPr>
              <a:t>semantic segmentation</a:t>
            </a:r>
          </a:p>
        </p:txBody>
      </p:sp>
      <p:cxnSp>
        <p:nvCxnSpPr>
          <p:cNvPr id="16" name="Connector 15"/>
          <p:cNvCxnSpPr/>
          <p:nvPr/>
        </p:nvCxnSpPr>
        <p:spPr>
          <a:xfrm>
            <a:off x="2011680" y="2139696"/>
            <a:ext cx="228600" cy="283464"/>
          </a:xfrm>
          <a:prstGeom prst="line">
            <a:avLst/>
          </a:prstGeom>
          <a:ln w="19050">
            <a:solidFill>
              <a:srgbClr val="5B6E72"/>
            </a:solidFill>
            <a:tailEnd type="triangle" w="med" len="med"/>
          </a:ln>
        </p:spPr>
      </p:cxnSp>
      <p:cxnSp>
        <p:nvCxnSpPr>
          <p:cNvPr id="17" name="Connector 16"/>
          <p:cNvCxnSpPr/>
          <p:nvPr/>
        </p:nvCxnSpPr>
        <p:spPr>
          <a:xfrm flipV="1">
            <a:off x="2011680" y="2743200"/>
            <a:ext cx="228600" cy="310896"/>
          </a:xfrm>
          <a:prstGeom prst="line">
            <a:avLst/>
          </a:prstGeom>
          <a:ln w="19050">
            <a:solidFill>
              <a:srgbClr val="5B6E72"/>
            </a:solidFill>
            <a:tailEnd type="triangle" w="med" len="med"/>
          </a:ln>
        </p:spPr>
      </p:cxnSp>
      <p:cxnSp>
        <p:nvCxnSpPr>
          <p:cNvPr id="18" name="Connector 17"/>
          <p:cNvCxnSpPr/>
          <p:nvPr/>
        </p:nvCxnSpPr>
        <p:spPr>
          <a:xfrm>
            <a:off x="3474720" y="2578608"/>
            <a:ext cx="228600" cy="0"/>
          </a:xfrm>
          <a:prstGeom prst="line">
            <a:avLst/>
          </a:prstGeom>
          <a:ln w="22225">
            <a:solidFill>
              <a:srgbClr val="5B6E72"/>
            </a:solidFill>
            <a:tailEnd type="triangle" w="med" len="med"/>
          </a:ln>
        </p:spPr>
      </p:cxnSp>
      <p:cxnSp>
        <p:nvCxnSpPr>
          <p:cNvPr id="19" name="Connector 18"/>
          <p:cNvCxnSpPr/>
          <p:nvPr/>
        </p:nvCxnSpPr>
        <p:spPr>
          <a:xfrm>
            <a:off x="5029200" y="2578608"/>
            <a:ext cx="256032" cy="0"/>
          </a:xfrm>
          <a:prstGeom prst="line">
            <a:avLst/>
          </a:prstGeom>
          <a:ln w="22225">
            <a:solidFill>
              <a:srgbClr val="5B6E72"/>
            </a:solidFill>
            <a:tailEnd type="triangle" w="med" len="med"/>
          </a:ln>
        </p:spPr>
      </p:cxnSp>
      <p:sp>
        <p:nvSpPr>
          <p:cNvPr id="20" name="Rectangle 19"/>
          <p:cNvSpPr/>
          <p:nvPr/>
        </p:nvSpPr>
        <p:spPr>
          <a:xfrm>
            <a:off x="5303520" y="1737360"/>
            <a:ext cx="246888" cy="246888"/>
          </a:xfrm>
          <a:prstGeom prst="rect">
            <a:avLst/>
          </a:prstGeom>
          <a:solidFill>
            <a:srgbClr val="2E9E6A"/>
          </a:solidFill>
          <a:ln>
            <a:noFill/>
          </a:ln>
        </p:spPr>
        <p:txBody>
          <a:bodyPr rtlCol="0" anchor="ctr" wrap="square" lIns="54864" rIns="54864" tIns="54864" bIns="54864"/>
          <a:lstStyle/>
          <a:p>
            <a:pPr algn="ctr"/>
          </a:p>
        </p:txBody>
      </p:sp>
      <p:sp>
        <p:nvSpPr>
          <p:cNvPr id="21" name="Rectangle 20"/>
          <p:cNvSpPr/>
          <p:nvPr/>
        </p:nvSpPr>
        <p:spPr>
          <a:xfrm>
            <a:off x="5568696" y="1737360"/>
            <a:ext cx="246888" cy="246888"/>
          </a:xfrm>
          <a:prstGeom prst="rect">
            <a:avLst/>
          </a:prstGeom>
          <a:solidFill>
            <a:srgbClr val="2E9E6A"/>
          </a:solidFill>
          <a:ln>
            <a:noFill/>
          </a:ln>
        </p:spPr>
        <p:txBody>
          <a:bodyPr rtlCol="0" anchor="ctr" wrap="square" lIns="54864" rIns="54864" tIns="54864" bIns="54864"/>
          <a:lstStyle/>
          <a:p>
            <a:pPr algn="ctr"/>
          </a:p>
        </p:txBody>
      </p:sp>
      <p:sp>
        <p:nvSpPr>
          <p:cNvPr id="22" name="Rectangle 21"/>
          <p:cNvSpPr/>
          <p:nvPr/>
        </p:nvSpPr>
        <p:spPr>
          <a:xfrm>
            <a:off x="5833872" y="1737360"/>
            <a:ext cx="246888" cy="246888"/>
          </a:xfrm>
          <a:prstGeom prst="rect">
            <a:avLst/>
          </a:prstGeom>
          <a:solidFill>
            <a:srgbClr val="2E9E6A"/>
          </a:solidFill>
          <a:ln>
            <a:noFill/>
          </a:ln>
        </p:spPr>
        <p:txBody>
          <a:bodyPr rtlCol="0" anchor="ctr" wrap="square" lIns="54864" rIns="54864" tIns="54864" bIns="54864"/>
          <a:lstStyle/>
          <a:p>
            <a:pPr algn="ctr"/>
          </a:p>
        </p:txBody>
      </p:sp>
      <p:sp>
        <p:nvSpPr>
          <p:cNvPr id="23" name="Rectangle 22"/>
          <p:cNvSpPr/>
          <p:nvPr/>
        </p:nvSpPr>
        <p:spPr>
          <a:xfrm>
            <a:off x="6099048" y="1737360"/>
            <a:ext cx="246888" cy="246888"/>
          </a:xfrm>
          <a:prstGeom prst="rect">
            <a:avLst/>
          </a:prstGeom>
          <a:solidFill>
            <a:srgbClr val="F2C94C"/>
          </a:solidFill>
          <a:ln>
            <a:noFill/>
          </a:ln>
        </p:spPr>
        <p:txBody>
          <a:bodyPr rtlCol="0" anchor="ctr" wrap="square" lIns="54864" rIns="54864" tIns="54864" bIns="54864"/>
          <a:lstStyle/>
          <a:p>
            <a:pPr algn="ctr"/>
          </a:p>
        </p:txBody>
      </p:sp>
      <p:sp>
        <p:nvSpPr>
          <p:cNvPr id="24" name="Rectangle 23"/>
          <p:cNvSpPr/>
          <p:nvPr/>
        </p:nvSpPr>
        <p:spPr>
          <a:xfrm>
            <a:off x="6364224" y="1737360"/>
            <a:ext cx="246888" cy="246888"/>
          </a:xfrm>
          <a:prstGeom prst="rect">
            <a:avLst/>
          </a:prstGeom>
          <a:solidFill>
            <a:srgbClr val="F2994A"/>
          </a:solidFill>
          <a:ln>
            <a:noFill/>
          </a:ln>
        </p:spPr>
        <p:txBody>
          <a:bodyPr rtlCol="0" anchor="ctr" wrap="square" lIns="54864" rIns="54864" tIns="54864" bIns="54864"/>
          <a:lstStyle/>
          <a:p>
            <a:pPr algn="ctr"/>
          </a:p>
        </p:txBody>
      </p:sp>
      <p:sp>
        <p:nvSpPr>
          <p:cNvPr id="25" name="Rectangle 24"/>
          <p:cNvSpPr/>
          <p:nvPr/>
        </p:nvSpPr>
        <p:spPr>
          <a:xfrm>
            <a:off x="5303520" y="2002536"/>
            <a:ext cx="246888" cy="246888"/>
          </a:xfrm>
          <a:prstGeom prst="rect">
            <a:avLst/>
          </a:prstGeom>
          <a:solidFill>
            <a:srgbClr val="2E9E6A"/>
          </a:solidFill>
          <a:ln>
            <a:noFill/>
          </a:ln>
        </p:spPr>
        <p:txBody>
          <a:bodyPr rtlCol="0" anchor="ctr" wrap="square" lIns="54864" rIns="54864" tIns="54864" bIns="54864"/>
          <a:lstStyle/>
          <a:p>
            <a:pPr algn="ctr"/>
          </a:p>
        </p:txBody>
      </p:sp>
      <p:sp>
        <p:nvSpPr>
          <p:cNvPr id="26" name="Rectangle 25"/>
          <p:cNvSpPr/>
          <p:nvPr/>
        </p:nvSpPr>
        <p:spPr>
          <a:xfrm>
            <a:off x="5568696" y="2002536"/>
            <a:ext cx="246888" cy="246888"/>
          </a:xfrm>
          <a:prstGeom prst="rect">
            <a:avLst/>
          </a:prstGeom>
          <a:solidFill>
            <a:srgbClr val="F2C94C"/>
          </a:solidFill>
          <a:ln>
            <a:noFill/>
          </a:ln>
        </p:spPr>
        <p:txBody>
          <a:bodyPr rtlCol="0" anchor="ctr" wrap="square" lIns="54864" rIns="54864" tIns="54864" bIns="54864"/>
          <a:lstStyle/>
          <a:p>
            <a:pPr algn="ctr"/>
          </a:p>
        </p:txBody>
      </p:sp>
      <p:sp>
        <p:nvSpPr>
          <p:cNvPr id="27" name="Rectangle 26"/>
          <p:cNvSpPr/>
          <p:nvPr/>
        </p:nvSpPr>
        <p:spPr>
          <a:xfrm>
            <a:off x="5833872" y="2002536"/>
            <a:ext cx="246888" cy="246888"/>
          </a:xfrm>
          <a:prstGeom prst="rect">
            <a:avLst/>
          </a:prstGeom>
          <a:solidFill>
            <a:srgbClr val="F2C94C"/>
          </a:solidFill>
          <a:ln>
            <a:noFill/>
          </a:ln>
        </p:spPr>
        <p:txBody>
          <a:bodyPr rtlCol="0" anchor="ctr" wrap="square" lIns="54864" rIns="54864" tIns="54864" bIns="54864"/>
          <a:lstStyle/>
          <a:p>
            <a:pPr algn="ctr"/>
          </a:p>
        </p:txBody>
      </p:sp>
      <p:sp>
        <p:nvSpPr>
          <p:cNvPr id="28" name="Rectangle 27"/>
          <p:cNvSpPr/>
          <p:nvPr/>
        </p:nvSpPr>
        <p:spPr>
          <a:xfrm>
            <a:off x="6099048" y="2002536"/>
            <a:ext cx="246888" cy="246888"/>
          </a:xfrm>
          <a:prstGeom prst="rect">
            <a:avLst/>
          </a:prstGeom>
          <a:solidFill>
            <a:srgbClr val="F2994A"/>
          </a:solidFill>
          <a:ln>
            <a:noFill/>
          </a:ln>
        </p:spPr>
        <p:txBody>
          <a:bodyPr rtlCol="0" anchor="ctr" wrap="square" lIns="54864" rIns="54864" tIns="54864" bIns="54864"/>
          <a:lstStyle/>
          <a:p>
            <a:pPr algn="ctr"/>
          </a:p>
        </p:txBody>
      </p:sp>
      <p:sp>
        <p:nvSpPr>
          <p:cNvPr id="29" name="Rectangle 28"/>
          <p:cNvSpPr/>
          <p:nvPr/>
        </p:nvSpPr>
        <p:spPr>
          <a:xfrm>
            <a:off x="6364224" y="2002536"/>
            <a:ext cx="246888" cy="246888"/>
          </a:xfrm>
          <a:prstGeom prst="rect">
            <a:avLst/>
          </a:prstGeom>
          <a:solidFill>
            <a:srgbClr val="D64545"/>
          </a:solidFill>
          <a:ln>
            <a:noFill/>
          </a:ln>
        </p:spPr>
        <p:txBody>
          <a:bodyPr rtlCol="0" anchor="ctr" wrap="square" lIns="54864" rIns="54864" tIns="54864" bIns="54864"/>
          <a:lstStyle/>
          <a:p>
            <a:pPr algn="ctr"/>
          </a:p>
        </p:txBody>
      </p:sp>
      <p:sp>
        <p:nvSpPr>
          <p:cNvPr id="30" name="Rectangle 29"/>
          <p:cNvSpPr/>
          <p:nvPr/>
        </p:nvSpPr>
        <p:spPr>
          <a:xfrm>
            <a:off x="5303520" y="2267712"/>
            <a:ext cx="246888" cy="246888"/>
          </a:xfrm>
          <a:prstGeom prst="rect">
            <a:avLst/>
          </a:prstGeom>
          <a:solidFill>
            <a:srgbClr val="2E9E6A"/>
          </a:solidFill>
          <a:ln>
            <a:noFill/>
          </a:ln>
        </p:spPr>
        <p:txBody>
          <a:bodyPr rtlCol="0" anchor="ctr" wrap="square" lIns="54864" rIns="54864" tIns="54864" bIns="54864"/>
          <a:lstStyle/>
          <a:p>
            <a:pPr algn="ctr"/>
          </a:p>
        </p:txBody>
      </p:sp>
      <p:sp>
        <p:nvSpPr>
          <p:cNvPr id="31" name="Rectangle 30"/>
          <p:cNvSpPr/>
          <p:nvPr/>
        </p:nvSpPr>
        <p:spPr>
          <a:xfrm>
            <a:off x="5568696" y="2267712"/>
            <a:ext cx="246888" cy="246888"/>
          </a:xfrm>
          <a:prstGeom prst="rect">
            <a:avLst/>
          </a:prstGeom>
          <a:solidFill>
            <a:srgbClr val="F2C94C"/>
          </a:solidFill>
          <a:ln>
            <a:noFill/>
          </a:ln>
        </p:spPr>
        <p:txBody>
          <a:bodyPr rtlCol="0" anchor="ctr" wrap="square" lIns="54864" rIns="54864" tIns="54864" bIns="54864"/>
          <a:lstStyle/>
          <a:p>
            <a:pPr algn="ctr"/>
          </a:p>
        </p:txBody>
      </p:sp>
      <p:sp>
        <p:nvSpPr>
          <p:cNvPr id="32" name="Rectangle 31"/>
          <p:cNvSpPr/>
          <p:nvPr/>
        </p:nvSpPr>
        <p:spPr>
          <a:xfrm>
            <a:off x="5833872" y="2267712"/>
            <a:ext cx="246888" cy="246888"/>
          </a:xfrm>
          <a:prstGeom prst="rect">
            <a:avLst/>
          </a:prstGeom>
          <a:solidFill>
            <a:srgbClr val="F2994A"/>
          </a:solidFill>
          <a:ln>
            <a:noFill/>
          </a:ln>
        </p:spPr>
        <p:txBody>
          <a:bodyPr rtlCol="0" anchor="ctr" wrap="square" lIns="54864" rIns="54864" tIns="54864" bIns="54864"/>
          <a:lstStyle/>
          <a:p>
            <a:pPr algn="ctr"/>
          </a:p>
        </p:txBody>
      </p:sp>
      <p:sp>
        <p:nvSpPr>
          <p:cNvPr id="33" name="Rectangle 32"/>
          <p:cNvSpPr/>
          <p:nvPr/>
        </p:nvSpPr>
        <p:spPr>
          <a:xfrm>
            <a:off x="6099048" y="2267712"/>
            <a:ext cx="246888" cy="246888"/>
          </a:xfrm>
          <a:prstGeom prst="rect">
            <a:avLst/>
          </a:prstGeom>
          <a:solidFill>
            <a:srgbClr val="D64545"/>
          </a:solidFill>
          <a:ln>
            <a:noFill/>
          </a:ln>
        </p:spPr>
        <p:txBody>
          <a:bodyPr rtlCol="0" anchor="ctr" wrap="square" lIns="54864" rIns="54864" tIns="54864" bIns="54864"/>
          <a:lstStyle/>
          <a:p>
            <a:pPr algn="ctr"/>
          </a:p>
        </p:txBody>
      </p:sp>
      <p:sp>
        <p:nvSpPr>
          <p:cNvPr id="34" name="Rectangle 33"/>
          <p:cNvSpPr/>
          <p:nvPr/>
        </p:nvSpPr>
        <p:spPr>
          <a:xfrm>
            <a:off x="6364224" y="2267712"/>
            <a:ext cx="246888" cy="246888"/>
          </a:xfrm>
          <a:prstGeom prst="rect">
            <a:avLst/>
          </a:prstGeom>
          <a:solidFill>
            <a:srgbClr val="D64545"/>
          </a:solidFill>
          <a:ln>
            <a:noFill/>
          </a:ln>
        </p:spPr>
        <p:txBody>
          <a:bodyPr rtlCol="0" anchor="ctr" wrap="square" lIns="54864" rIns="54864" tIns="54864" bIns="54864"/>
          <a:lstStyle/>
          <a:p>
            <a:pPr algn="ctr"/>
          </a:p>
        </p:txBody>
      </p:sp>
      <p:sp>
        <p:nvSpPr>
          <p:cNvPr id="35" name="Rectangle 34"/>
          <p:cNvSpPr/>
          <p:nvPr/>
        </p:nvSpPr>
        <p:spPr>
          <a:xfrm>
            <a:off x="5303520" y="2532887"/>
            <a:ext cx="246888" cy="246888"/>
          </a:xfrm>
          <a:prstGeom prst="rect">
            <a:avLst/>
          </a:prstGeom>
          <a:solidFill>
            <a:srgbClr val="2E9E6A"/>
          </a:solidFill>
          <a:ln>
            <a:noFill/>
          </a:ln>
        </p:spPr>
        <p:txBody>
          <a:bodyPr rtlCol="0" anchor="ctr" wrap="square" lIns="54864" rIns="54864" tIns="54864" bIns="54864"/>
          <a:lstStyle/>
          <a:p>
            <a:pPr algn="ctr"/>
          </a:p>
        </p:txBody>
      </p:sp>
      <p:sp>
        <p:nvSpPr>
          <p:cNvPr id="36" name="Rectangle 35"/>
          <p:cNvSpPr/>
          <p:nvPr/>
        </p:nvSpPr>
        <p:spPr>
          <a:xfrm>
            <a:off x="5568696" y="2532887"/>
            <a:ext cx="246888" cy="246888"/>
          </a:xfrm>
          <a:prstGeom prst="rect">
            <a:avLst/>
          </a:prstGeom>
          <a:solidFill>
            <a:srgbClr val="2E9E6A"/>
          </a:solidFill>
          <a:ln>
            <a:noFill/>
          </a:ln>
        </p:spPr>
        <p:txBody>
          <a:bodyPr rtlCol="0" anchor="ctr" wrap="square" lIns="54864" rIns="54864" tIns="54864" bIns="54864"/>
          <a:lstStyle/>
          <a:p>
            <a:pPr algn="ctr"/>
          </a:p>
        </p:txBody>
      </p:sp>
      <p:sp>
        <p:nvSpPr>
          <p:cNvPr id="37" name="Rectangle 36"/>
          <p:cNvSpPr/>
          <p:nvPr/>
        </p:nvSpPr>
        <p:spPr>
          <a:xfrm>
            <a:off x="5833872" y="2532887"/>
            <a:ext cx="246888" cy="246888"/>
          </a:xfrm>
          <a:prstGeom prst="rect">
            <a:avLst/>
          </a:prstGeom>
          <a:solidFill>
            <a:srgbClr val="F2C94C"/>
          </a:solidFill>
          <a:ln>
            <a:noFill/>
          </a:ln>
        </p:spPr>
        <p:txBody>
          <a:bodyPr rtlCol="0" anchor="ctr" wrap="square" lIns="54864" rIns="54864" tIns="54864" bIns="54864"/>
          <a:lstStyle/>
          <a:p>
            <a:pPr algn="ctr"/>
          </a:p>
        </p:txBody>
      </p:sp>
      <p:sp>
        <p:nvSpPr>
          <p:cNvPr id="38" name="Rectangle 37"/>
          <p:cNvSpPr/>
          <p:nvPr/>
        </p:nvSpPr>
        <p:spPr>
          <a:xfrm>
            <a:off x="6099048" y="2532887"/>
            <a:ext cx="246888" cy="246888"/>
          </a:xfrm>
          <a:prstGeom prst="rect">
            <a:avLst/>
          </a:prstGeom>
          <a:solidFill>
            <a:srgbClr val="F2994A"/>
          </a:solidFill>
          <a:ln>
            <a:noFill/>
          </a:ln>
        </p:spPr>
        <p:txBody>
          <a:bodyPr rtlCol="0" anchor="ctr" wrap="square" lIns="54864" rIns="54864" tIns="54864" bIns="54864"/>
          <a:lstStyle/>
          <a:p>
            <a:pPr algn="ctr"/>
          </a:p>
        </p:txBody>
      </p:sp>
      <p:sp>
        <p:nvSpPr>
          <p:cNvPr id="39" name="Rectangle 38"/>
          <p:cNvSpPr/>
          <p:nvPr/>
        </p:nvSpPr>
        <p:spPr>
          <a:xfrm>
            <a:off x="6364224" y="2532887"/>
            <a:ext cx="246888" cy="246888"/>
          </a:xfrm>
          <a:prstGeom prst="rect">
            <a:avLst/>
          </a:prstGeom>
          <a:solidFill>
            <a:srgbClr val="F2994A"/>
          </a:solidFill>
          <a:ln>
            <a:noFill/>
          </a:ln>
        </p:spPr>
        <p:txBody>
          <a:bodyPr rtlCol="0" anchor="ctr" wrap="square" lIns="54864" rIns="54864" tIns="54864" bIns="54864"/>
          <a:lstStyle/>
          <a:p>
            <a:pPr algn="ctr"/>
          </a:p>
        </p:txBody>
      </p:sp>
      <p:sp>
        <p:nvSpPr>
          <p:cNvPr id="40" name="Rectangle 39"/>
          <p:cNvSpPr/>
          <p:nvPr/>
        </p:nvSpPr>
        <p:spPr>
          <a:xfrm>
            <a:off x="5303520" y="2798063"/>
            <a:ext cx="246888" cy="246888"/>
          </a:xfrm>
          <a:prstGeom prst="rect">
            <a:avLst/>
          </a:prstGeom>
          <a:solidFill>
            <a:srgbClr val="2E9E6A"/>
          </a:solidFill>
          <a:ln>
            <a:noFill/>
          </a:ln>
        </p:spPr>
        <p:txBody>
          <a:bodyPr rtlCol="0" anchor="ctr" wrap="square" lIns="54864" rIns="54864" tIns="54864" bIns="54864"/>
          <a:lstStyle/>
          <a:p>
            <a:pPr algn="ctr"/>
          </a:p>
        </p:txBody>
      </p:sp>
      <p:sp>
        <p:nvSpPr>
          <p:cNvPr id="41" name="Rectangle 40"/>
          <p:cNvSpPr/>
          <p:nvPr/>
        </p:nvSpPr>
        <p:spPr>
          <a:xfrm>
            <a:off x="5568696" y="2798063"/>
            <a:ext cx="246888" cy="246888"/>
          </a:xfrm>
          <a:prstGeom prst="rect">
            <a:avLst/>
          </a:prstGeom>
          <a:solidFill>
            <a:srgbClr val="2E9E6A"/>
          </a:solidFill>
          <a:ln>
            <a:noFill/>
          </a:ln>
        </p:spPr>
        <p:txBody>
          <a:bodyPr rtlCol="0" anchor="ctr" wrap="square" lIns="54864" rIns="54864" tIns="54864" bIns="54864"/>
          <a:lstStyle/>
          <a:p>
            <a:pPr algn="ctr"/>
          </a:p>
        </p:txBody>
      </p:sp>
      <p:sp>
        <p:nvSpPr>
          <p:cNvPr id="42" name="Rectangle 41"/>
          <p:cNvSpPr/>
          <p:nvPr/>
        </p:nvSpPr>
        <p:spPr>
          <a:xfrm>
            <a:off x="5833872" y="2798063"/>
            <a:ext cx="246888" cy="246888"/>
          </a:xfrm>
          <a:prstGeom prst="rect">
            <a:avLst/>
          </a:prstGeom>
          <a:solidFill>
            <a:srgbClr val="2E9E6A"/>
          </a:solidFill>
          <a:ln>
            <a:noFill/>
          </a:ln>
        </p:spPr>
        <p:txBody>
          <a:bodyPr rtlCol="0" anchor="ctr" wrap="square" lIns="54864" rIns="54864" tIns="54864" bIns="54864"/>
          <a:lstStyle/>
          <a:p>
            <a:pPr algn="ctr"/>
          </a:p>
        </p:txBody>
      </p:sp>
      <p:sp>
        <p:nvSpPr>
          <p:cNvPr id="43" name="Rectangle 42"/>
          <p:cNvSpPr/>
          <p:nvPr/>
        </p:nvSpPr>
        <p:spPr>
          <a:xfrm>
            <a:off x="6099048" y="2798063"/>
            <a:ext cx="246888" cy="246888"/>
          </a:xfrm>
          <a:prstGeom prst="rect">
            <a:avLst/>
          </a:prstGeom>
          <a:solidFill>
            <a:srgbClr val="F2C94C"/>
          </a:solidFill>
          <a:ln>
            <a:noFill/>
          </a:ln>
        </p:spPr>
        <p:txBody>
          <a:bodyPr rtlCol="0" anchor="ctr" wrap="square" lIns="54864" rIns="54864" tIns="54864" bIns="54864"/>
          <a:lstStyle/>
          <a:p>
            <a:pPr algn="ctr"/>
          </a:p>
        </p:txBody>
      </p:sp>
      <p:sp>
        <p:nvSpPr>
          <p:cNvPr id="44" name="Rectangle 43"/>
          <p:cNvSpPr/>
          <p:nvPr/>
        </p:nvSpPr>
        <p:spPr>
          <a:xfrm>
            <a:off x="6364224" y="2798063"/>
            <a:ext cx="246888" cy="246888"/>
          </a:xfrm>
          <a:prstGeom prst="rect">
            <a:avLst/>
          </a:prstGeom>
          <a:solidFill>
            <a:srgbClr val="F2C94C"/>
          </a:solidFill>
          <a:ln>
            <a:noFill/>
          </a:ln>
        </p:spPr>
        <p:txBody>
          <a:bodyPr rtlCol="0" anchor="ctr" wrap="square" lIns="54864" rIns="54864" tIns="54864" bIns="54864"/>
          <a:lstStyle/>
          <a:p>
            <a:pPr algn="ctr"/>
          </a:p>
        </p:txBody>
      </p:sp>
      <p:sp>
        <p:nvSpPr>
          <p:cNvPr id="45" name="TextBox 44"/>
          <p:cNvSpPr txBox="1"/>
          <p:nvPr/>
        </p:nvSpPr>
        <p:spPr>
          <a:xfrm>
            <a:off x="5303520" y="3090672"/>
            <a:ext cx="1307592" cy="256032"/>
          </a:xfrm>
          <a:prstGeom prst="rect">
            <a:avLst/>
          </a:prstGeom>
          <a:noFill/>
        </p:spPr>
        <p:txBody>
          <a:bodyPr wrap="square" anchor="t" lIns="0" rIns="0" tIns="0" bIns="0"/>
          <a:lstStyle/>
          <a:p>
            <a:pPr algn="ctr">
              <a:spcAft>
                <a:spcPts val="400"/>
              </a:spcAft>
            </a:pPr>
            <a:r>
              <a:rPr sz="1100" b="1" i="0">
                <a:solidFill>
                  <a:srgbClr val="0E2B31"/>
                </a:solidFill>
                <a:latin typeface="Calibri"/>
              </a:rPr>
              <a:t>Damage map</a:t>
            </a:r>
          </a:p>
        </p:txBody>
      </p:sp>
      <p:sp>
        <p:nvSpPr>
          <p:cNvPr id="46" name="Rectangle 45"/>
          <p:cNvSpPr/>
          <p:nvPr/>
        </p:nvSpPr>
        <p:spPr>
          <a:xfrm>
            <a:off x="6949440" y="1828800"/>
            <a:ext cx="201168" cy="201168"/>
          </a:xfrm>
          <a:prstGeom prst="rect">
            <a:avLst/>
          </a:prstGeom>
          <a:solidFill>
            <a:srgbClr val="2E9E6A"/>
          </a:solidFill>
          <a:ln>
            <a:noFill/>
          </a:ln>
        </p:spPr>
        <p:txBody>
          <a:bodyPr rtlCol="0" anchor="ctr" wrap="square" lIns="54864" rIns="54864" tIns="54864" bIns="54864"/>
          <a:lstStyle/>
          <a:p>
            <a:pPr algn="ctr"/>
          </a:p>
        </p:txBody>
      </p:sp>
      <p:sp>
        <p:nvSpPr>
          <p:cNvPr id="47" name="TextBox 46"/>
          <p:cNvSpPr txBox="1"/>
          <p:nvPr/>
        </p:nvSpPr>
        <p:spPr>
          <a:xfrm>
            <a:off x="7242048" y="1783080"/>
            <a:ext cx="1371600" cy="292608"/>
          </a:xfrm>
          <a:prstGeom prst="rect">
            <a:avLst/>
          </a:prstGeom>
          <a:noFill/>
        </p:spPr>
        <p:txBody>
          <a:bodyPr wrap="square" anchor="ctr" lIns="0" rIns="0" tIns="0" bIns="0"/>
          <a:lstStyle/>
          <a:p>
            <a:pPr algn="l">
              <a:spcAft>
                <a:spcPts val="400"/>
              </a:spcAft>
            </a:pPr>
            <a:r>
              <a:rPr sz="1150" b="0" i="0">
                <a:solidFill>
                  <a:srgbClr val="17282C"/>
                </a:solidFill>
                <a:latin typeface="Calibri"/>
              </a:rPr>
              <a:t>No damage</a:t>
            </a:r>
          </a:p>
        </p:txBody>
      </p:sp>
      <p:sp>
        <p:nvSpPr>
          <p:cNvPr id="48" name="Rectangle 47"/>
          <p:cNvSpPr/>
          <p:nvPr/>
        </p:nvSpPr>
        <p:spPr>
          <a:xfrm>
            <a:off x="6949440" y="2157984"/>
            <a:ext cx="201168" cy="201168"/>
          </a:xfrm>
          <a:prstGeom prst="rect">
            <a:avLst/>
          </a:prstGeom>
          <a:solidFill>
            <a:srgbClr val="F2C94C"/>
          </a:solidFill>
          <a:ln>
            <a:noFill/>
          </a:ln>
        </p:spPr>
        <p:txBody>
          <a:bodyPr rtlCol="0" anchor="ctr" wrap="square" lIns="54864" rIns="54864" tIns="54864" bIns="54864"/>
          <a:lstStyle/>
          <a:p>
            <a:pPr algn="ctr"/>
          </a:p>
        </p:txBody>
      </p:sp>
      <p:sp>
        <p:nvSpPr>
          <p:cNvPr id="49" name="TextBox 48"/>
          <p:cNvSpPr txBox="1"/>
          <p:nvPr/>
        </p:nvSpPr>
        <p:spPr>
          <a:xfrm>
            <a:off x="7242048" y="2112264"/>
            <a:ext cx="1371600" cy="292608"/>
          </a:xfrm>
          <a:prstGeom prst="rect">
            <a:avLst/>
          </a:prstGeom>
          <a:noFill/>
        </p:spPr>
        <p:txBody>
          <a:bodyPr wrap="square" anchor="ctr" lIns="0" rIns="0" tIns="0" bIns="0"/>
          <a:lstStyle/>
          <a:p>
            <a:pPr algn="l">
              <a:spcAft>
                <a:spcPts val="400"/>
              </a:spcAft>
            </a:pPr>
            <a:r>
              <a:rPr sz="1150" b="0" i="0">
                <a:solidFill>
                  <a:srgbClr val="17282C"/>
                </a:solidFill>
                <a:latin typeface="Calibri"/>
              </a:rPr>
              <a:t>Minor</a:t>
            </a:r>
          </a:p>
        </p:txBody>
      </p:sp>
      <p:sp>
        <p:nvSpPr>
          <p:cNvPr id="50" name="Rectangle 49"/>
          <p:cNvSpPr/>
          <p:nvPr/>
        </p:nvSpPr>
        <p:spPr>
          <a:xfrm>
            <a:off x="6949440" y="2487168"/>
            <a:ext cx="201168" cy="201168"/>
          </a:xfrm>
          <a:prstGeom prst="rect">
            <a:avLst/>
          </a:prstGeom>
          <a:solidFill>
            <a:srgbClr val="F2994A"/>
          </a:solidFill>
          <a:ln>
            <a:noFill/>
          </a:ln>
        </p:spPr>
        <p:txBody>
          <a:bodyPr rtlCol="0" anchor="ctr" wrap="square" lIns="54864" rIns="54864" tIns="54864" bIns="54864"/>
          <a:lstStyle/>
          <a:p>
            <a:pPr algn="ctr"/>
          </a:p>
        </p:txBody>
      </p:sp>
      <p:sp>
        <p:nvSpPr>
          <p:cNvPr id="51" name="TextBox 50"/>
          <p:cNvSpPr txBox="1"/>
          <p:nvPr/>
        </p:nvSpPr>
        <p:spPr>
          <a:xfrm>
            <a:off x="7242048" y="2441448"/>
            <a:ext cx="1371600" cy="292608"/>
          </a:xfrm>
          <a:prstGeom prst="rect">
            <a:avLst/>
          </a:prstGeom>
          <a:noFill/>
        </p:spPr>
        <p:txBody>
          <a:bodyPr wrap="square" anchor="ctr" lIns="0" rIns="0" tIns="0" bIns="0"/>
          <a:lstStyle/>
          <a:p>
            <a:pPr algn="l">
              <a:spcAft>
                <a:spcPts val="400"/>
              </a:spcAft>
            </a:pPr>
            <a:r>
              <a:rPr sz="1150" b="0" i="0">
                <a:solidFill>
                  <a:srgbClr val="17282C"/>
                </a:solidFill>
                <a:latin typeface="Calibri"/>
              </a:rPr>
              <a:t>Major</a:t>
            </a:r>
          </a:p>
        </p:txBody>
      </p:sp>
      <p:sp>
        <p:nvSpPr>
          <p:cNvPr id="52" name="Rectangle 51"/>
          <p:cNvSpPr/>
          <p:nvPr/>
        </p:nvSpPr>
        <p:spPr>
          <a:xfrm>
            <a:off x="6949440" y="2816352"/>
            <a:ext cx="201168" cy="201168"/>
          </a:xfrm>
          <a:prstGeom prst="rect">
            <a:avLst/>
          </a:prstGeom>
          <a:solidFill>
            <a:srgbClr val="D64545"/>
          </a:solidFill>
          <a:ln>
            <a:noFill/>
          </a:ln>
        </p:spPr>
        <p:txBody>
          <a:bodyPr rtlCol="0" anchor="ctr" wrap="square" lIns="54864" rIns="54864" tIns="54864" bIns="54864"/>
          <a:lstStyle/>
          <a:p>
            <a:pPr algn="ctr"/>
          </a:p>
        </p:txBody>
      </p:sp>
      <p:sp>
        <p:nvSpPr>
          <p:cNvPr id="53" name="TextBox 52"/>
          <p:cNvSpPr txBox="1"/>
          <p:nvPr/>
        </p:nvSpPr>
        <p:spPr>
          <a:xfrm>
            <a:off x="7242048" y="2770632"/>
            <a:ext cx="1371600" cy="292608"/>
          </a:xfrm>
          <a:prstGeom prst="rect">
            <a:avLst/>
          </a:prstGeom>
          <a:noFill/>
        </p:spPr>
        <p:txBody>
          <a:bodyPr wrap="square" anchor="ctr" lIns="0" rIns="0" tIns="0" bIns="0"/>
          <a:lstStyle/>
          <a:p>
            <a:pPr algn="l">
              <a:spcAft>
                <a:spcPts val="400"/>
              </a:spcAft>
            </a:pPr>
            <a:r>
              <a:rPr sz="1150" b="0" i="0">
                <a:solidFill>
                  <a:srgbClr val="17282C"/>
                </a:solidFill>
                <a:latin typeface="Calibri"/>
              </a:rPr>
              <a:t>Destroyed</a:t>
            </a:r>
          </a:p>
        </p:txBody>
      </p:sp>
      <p:sp>
        <p:nvSpPr>
          <p:cNvPr id="54" name="Rounded Rectangle 53"/>
          <p:cNvSpPr/>
          <p:nvPr/>
        </p:nvSpPr>
        <p:spPr>
          <a:xfrm>
            <a:off x="548640" y="3657600"/>
            <a:ext cx="3931920" cy="2560320"/>
          </a:xfrm>
          <a:prstGeom prst="roundRect">
            <a:avLst>
              <a:gd name="adj" fmla="val 4285"/>
            </a:avLst>
          </a:prstGeom>
          <a:solidFill>
            <a:srgbClr val="F3F7F7"/>
          </a:solidFill>
          <a:ln>
            <a:noFill/>
          </a:ln>
        </p:spPr>
        <p:txBody>
          <a:bodyPr rtlCol="0" anchor="ctr" wrap="square" lIns="54864" rIns="54864" tIns="54864" bIns="54864"/>
          <a:lstStyle/>
          <a:p>
            <a:pPr algn="ctr"/>
          </a:p>
        </p:txBody>
      </p:sp>
      <p:sp>
        <p:nvSpPr>
          <p:cNvPr id="55" name="TextBox 54"/>
          <p:cNvSpPr txBox="1"/>
          <p:nvPr/>
        </p:nvSpPr>
        <p:spPr>
          <a:xfrm>
            <a:off x="749808" y="3794760"/>
            <a:ext cx="3566160" cy="274320"/>
          </a:xfrm>
          <a:prstGeom prst="rect">
            <a:avLst/>
          </a:prstGeom>
          <a:noFill/>
        </p:spPr>
        <p:txBody>
          <a:bodyPr wrap="square" anchor="t" lIns="0" rIns="0" tIns="0" bIns="0"/>
          <a:lstStyle/>
          <a:p>
            <a:pPr algn="l">
              <a:spcAft>
                <a:spcPts val="400"/>
              </a:spcAft>
            </a:pPr>
            <a:r>
              <a:rPr sz="1000" b="1" i="0" spc="160">
                <a:solidFill>
                  <a:srgbClr val="12807F"/>
                </a:solidFill>
                <a:latin typeface="Calibri"/>
              </a:rPr>
              <a:t>STEPS</a:t>
            </a:r>
          </a:p>
        </p:txBody>
      </p:sp>
      <p:sp>
        <p:nvSpPr>
          <p:cNvPr id="56" name="Oval 55"/>
          <p:cNvSpPr/>
          <p:nvPr/>
        </p:nvSpPr>
        <p:spPr>
          <a:xfrm>
            <a:off x="749808" y="4160520"/>
            <a:ext cx="274320" cy="274320"/>
          </a:xfrm>
          <a:prstGeom prst="ellipse">
            <a:avLst/>
          </a:prstGeom>
          <a:solidFill>
            <a:srgbClr val="12807F"/>
          </a:solidFill>
          <a:ln>
            <a:noFill/>
          </a:ln>
        </p:spPr>
        <p:txBody>
          <a:bodyPr rtlCol="0" anchor="ctr" wrap="square" lIns="0" rIns="0" tIns="0" bIns="0"/>
          <a:lstStyle/>
          <a:p>
            <a:pPr algn="ctr">
              <a:spcAft>
                <a:spcPts val="0"/>
              </a:spcAft>
            </a:pPr>
            <a:r>
              <a:rPr sz="1050" b="1" i="0">
                <a:solidFill>
                  <a:srgbClr val="FFFFFF"/>
                </a:solidFill>
                <a:latin typeface="Calibri"/>
              </a:rPr>
              <a:t>1</a:t>
            </a:r>
          </a:p>
        </p:txBody>
      </p:sp>
      <p:sp>
        <p:nvSpPr>
          <p:cNvPr id="57" name="TextBox 56"/>
          <p:cNvSpPr txBox="1"/>
          <p:nvPr/>
        </p:nvSpPr>
        <p:spPr>
          <a:xfrm>
            <a:off x="1143000" y="4114800"/>
            <a:ext cx="3246120" cy="365760"/>
          </a:xfrm>
          <a:prstGeom prst="rect">
            <a:avLst/>
          </a:prstGeom>
          <a:noFill/>
        </p:spPr>
        <p:txBody>
          <a:bodyPr wrap="square" anchor="ctr" lIns="0" rIns="0" tIns="0" bIns="0"/>
          <a:lstStyle/>
          <a:p>
            <a:pPr algn="l">
              <a:spcAft>
                <a:spcPts val="400"/>
              </a:spcAft>
            </a:pPr>
            <a:r>
              <a:rPr sz="1300" b="0" i="0">
                <a:solidFill>
                  <a:srgbClr val="17282C"/>
                </a:solidFill>
                <a:latin typeface="Calibri"/>
              </a:rPr>
              <a:t>Input pre- and post-event images</a:t>
            </a:r>
          </a:p>
        </p:txBody>
      </p:sp>
      <p:sp>
        <p:nvSpPr>
          <p:cNvPr id="58" name="Oval 57"/>
          <p:cNvSpPr/>
          <p:nvPr/>
        </p:nvSpPr>
        <p:spPr>
          <a:xfrm>
            <a:off x="749808" y="4572000"/>
            <a:ext cx="274320" cy="274320"/>
          </a:xfrm>
          <a:prstGeom prst="ellipse">
            <a:avLst/>
          </a:prstGeom>
          <a:solidFill>
            <a:srgbClr val="12807F"/>
          </a:solidFill>
          <a:ln>
            <a:noFill/>
          </a:ln>
        </p:spPr>
        <p:txBody>
          <a:bodyPr rtlCol="0" anchor="ctr" wrap="square" lIns="0" rIns="0" tIns="0" bIns="0"/>
          <a:lstStyle/>
          <a:p>
            <a:pPr algn="ctr">
              <a:spcAft>
                <a:spcPts val="0"/>
              </a:spcAft>
            </a:pPr>
            <a:r>
              <a:rPr sz="1050" b="1" i="0">
                <a:solidFill>
                  <a:srgbClr val="FFFFFF"/>
                </a:solidFill>
                <a:latin typeface="Calibri"/>
              </a:rPr>
              <a:t>2</a:t>
            </a:r>
          </a:p>
        </p:txBody>
      </p:sp>
      <p:sp>
        <p:nvSpPr>
          <p:cNvPr id="59" name="TextBox 58"/>
          <p:cNvSpPr txBox="1"/>
          <p:nvPr/>
        </p:nvSpPr>
        <p:spPr>
          <a:xfrm>
            <a:off x="1143000" y="4526280"/>
            <a:ext cx="3246120" cy="365760"/>
          </a:xfrm>
          <a:prstGeom prst="rect">
            <a:avLst/>
          </a:prstGeom>
          <a:noFill/>
        </p:spPr>
        <p:txBody>
          <a:bodyPr wrap="square" anchor="ctr" lIns="0" rIns="0" tIns="0" bIns="0"/>
          <a:lstStyle/>
          <a:p>
            <a:pPr algn="l">
              <a:spcAft>
                <a:spcPts val="400"/>
              </a:spcAft>
            </a:pPr>
            <a:r>
              <a:rPr sz="1300" b="0" i="0">
                <a:solidFill>
                  <a:srgbClr val="17282C"/>
                </a:solidFill>
                <a:latin typeface="Calibri"/>
              </a:rPr>
              <a:t>Align and normalise both images</a:t>
            </a:r>
          </a:p>
        </p:txBody>
      </p:sp>
      <p:sp>
        <p:nvSpPr>
          <p:cNvPr id="60" name="Oval 59"/>
          <p:cNvSpPr/>
          <p:nvPr/>
        </p:nvSpPr>
        <p:spPr>
          <a:xfrm>
            <a:off x="749808" y="4983480"/>
            <a:ext cx="274320" cy="274320"/>
          </a:xfrm>
          <a:prstGeom prst="ellipse">
            <a:avLst/>
          </a:prstGeom>
          <a:solidFill>
            <a:srgbClr val="12807F"/>
          </a:solidFill>
          <a:ln>
            <a:noFill/>
          </a:ln>
        </p:spPr>
        <p:txBody>
          <a:bodyPr rtlCol="0" anchor="ctr" wrap="square" lIns="0" rIns="0" tIns="0" bIns="0"/>
          <a:lstStyle/>
          <a:p>
            <a:pPr algn="ctr">
              <a:spcAft>
                <a:spcPts val="0"/>
              </a:spcAft>
            </a:pPr>
            <a:r>
              <a:rPr sz="1050" b="1" i="0">
                <a:solidFill>
                  <a:srgbClr val="FFFFFF"/>
                </a:solidFill>
                <a:latin typeface="Calibri"/>
              </a:rPr>
              <a:t>3</a:t>
            </a:r>
          </a:p>
        </p:txBody>
      </p:sp>
      <p:sp>
        <p:nvSpPr>
          <p:cNvPr id="61" name="TextBox 60"/>
          <p:cNvSpPr txBox="1"/>
          <p:nvPr/>
        </p:nvSpPr>
        <p:spPr>
          <a:xfrm>
            <a:off x="1143000" y="4937760"/>
            <a:ext cx="3246120" cy="365760"/>
          </a:xfrm>
          <a:prstGeom prst="rect">
            <a:avLst/>
          </a:prstGeom>
          <a:noFill/>
        </p:spPr>
        <p:txBody>
          <a:bodyPr wrap="square" anchor="ctr" lIns="0" rIns="0" tIns="0" bIns="0"/>
          <a:lstStyle/>
          <a:p>
            <a:pPr algn="l">
              <a:spcAft>
                <a:spcPts val="400"/>
              </a:spcAft>
            </a:pPr>
            <a:r>
              <a:rPr sz="1300" b="0" i="0">
                <a:solidFill>
                  <a:srgbClr val="17282C"/>
                </a:solidFill>
                <a:latin typeface="Calibri"/>
              </a:rPr>
              <a:t>CNN/ViT labels each pixel or building</a:t>
            </a:r>
          </a:p>
        </p:txBody>
      </p:sp>
      <p:sp>
        <p:nvSpPr>
          <p:cNvPr id="62" name="Oval 61"/>
          <p:cNvSpPr/>
          <p:nvPr/>
        </p:nvSpPr>
        <p:spPr>
          <a:xfrm>
            <a:off x="749808" y="5394959"/>
            <a:ext cx="274320" cy="274320"/>
          </a:xfrm>
          <a:prstGeom prst="ellipse">
            <a:avLst/>
          </a:prstGeom>
          <a:solidFill>
            <a:srgbClr val="12807F"/>
          </a:solidFill>
          <a:ln>
            <a:noFill/>
          </a:ln>
        </p:spPr>
        <p:txBody>
          <a:bodyPr rtlCol="0" anchor="ctr" wrap="square" lIns="0" rIns="0" tIns="0" bIns="0"/>
          <a:lstStyle/>
          <a:p>
            <a:pPr algn="ctr">
              <a:spcAft>
                <a:spcPts val="0"/>
              </a:spcAft>
            </a:pPr>
            <a:r>
              <a:rPr sz="1050" b="1" i="0">
                <a:solidFill>
                  <a:srgbClr val="FFFFFF"/>
                </a:solidFill>
                <a:latin typeface="Calibri"/>
              </a:rPr>
              <a:t>4</a:t>
            </a:r>
          </a:p>
        </p:txBody>
      </p:sp>
      <p:sp>
        <p:nvSpPr>
          <p:cNvPr id="63" name="TextBox 62"/>
          <p:cNvSpPr txBox="1"/>
          <p:nvPr/>
        </p:nvSpPr>
        <p:spPr>
          <a:xfrm>
            <a:off x="1143000" y="5349240"/>
            <a:ext cx="3246120" cy="365760"/>
          </a:xfrm>
          <a:prstGeom prst="rect">
            <a:avLst/>
          </a:prstGeom>
          <a:noFill/>
        </p:spPr>
        <p:txBody>
          <a:bodyPr wrap="square" anchor="ctr" lIns="0" rIns="0" tIns="0" bIns="0"/>
          <a:lstStyle/>
          <a:p>
            <a:pPr algn="l">
              <a:spcAft>
                <a:spcPts val="400"/>
              </a:spcAft>
            </a:pPr>
            <a:r>
              <a:rPr sz="1300" b="0" i="0">
                <a:solidFill>
                  <a:srgbClr val="17282C"/>
                </a:solidFill>
                <a:latin typeface="Calibri"/>
              </a:rPr>
              <a:t>Generate the damage map</a:t>
            </a:r>
          </a:p>
        </p:txBody>
      </p:sp>
      <p:sp>
        <p:nvSpPr>
          <p:cNvPr id="64" name="Oval 63"/>
          <p:cNvSpPr/>
          <p:nvPr/>
        </p:nvSpPr>
        <p:spPr>
          <a:xfrm>
            <a:off x="749808" y="5806440"/>
            <a:ext cx="274320" cy="274320"/>
          </a:xfrm>
          <a:prstGeom prst="ellipse">
            <a:avLst/>
          </a:prstGeom>
          <a:solidFill>
            <a:srgbClr val="12807F"/>
          </a:solidFill>
          <a:ln>
            <a:noFill/>
          </a:ln>
        </p:spPr>
        <p:txBody>
          <a:bodyPr rtlCol="0" anchor="ctr" wrap="square" lIns="0" rIns="0" tIns="0" bIns="0"/>
          <a:lstStyle/>
          <a:p>
            <a:pPr algn="ctr">
              <a:spcAft>
                <a:spcPts val="0"/>
              </a:spcAft>
            </a:pPr>
            <a:r>
              <a:rPr sz="1050" b="1" i="0">
                <a:solidFill>
                  <a:srgbClr val="FFFFFF"/>
                </a:solidFill>
                <a:latin typeface="Calibri"/>
              </a:rPr>
              <a:t>5</a:t>
            </a:r>
          </a:p>
        </p:txBody>
      </p:sp>
      <p:sp>
        <p:nvSpPr>
          <p:cNvPr id="65" name="TextBox 64"/>
          <p:cNvSpPr txBox="1"/>
          <p:nvPr/>
        </p:nvSpPr>
        <p:spPr>
          <a:xfrm>
            <a:off x="1143000" y="5760720"/>
            <a:ext cx="3246120" cy="365760"/>
          </a:xfrm>
          <a:prstGeom prst="rect">
            <a:avLst/>
          </a:prstGeom>
          <a:noFill/>
        </p:spPr>
        <p:txBody>
          <a:bodyPr wrap="square" anchor="ctr" lIns="0" rIns="0" tIns="0" bIns="0"/>
          <a:lstStyle/>
          <a:p>
            <a:pPr algn="l">
              <a:spcAft>
                <a:spcPts val="400"/>
              </a:spcAft>
            </a:pPr>
            <a:r>
              <a:rPr sz="1300" b="0" i="0">
                <a:solidFill>
                  <a:srgbClr val="17282C"/>
                </a:solidFill>
                <a:latin typeface="Calibri"/>
              </a:rPr>
              <a:t>Overlay on GIS maps for responders</a:t>
            </a:r>
          </a:p>
        </p:txBody>
      </p:sp>
      <p:sp>
        <p:nvSpPr>
          <p:cNvPr id="66" name="Rounded Rectangle 65"/>
          <p:cNvSpPr/>
          <p:nvPr/>
        </p:nvSpPr>
        <p:spPr>
          <a:xfrm>
            <a:off x="4663440" y="3657600"/>
            <a:ext cx="3931920" cy="2560320"/>
          </a:xfrm>
          <a:prstGeom prst="roundRect">
            <a:avLst>
              <a:gd name="adj" fmla="val 4285"/>
            </a:avLst>
          </a:prstGeom>
          <a:solidFill>
            <a:srgbClr val="0E2B31"/>
          </a:solidFill>
          <a:ln>
            <a:noFill/>
          </a:ln>
        </p:spPr>
        <p:txBody>
          <a:bodyPr rtlCol="0" anchor="ctr" wrap="square" lIns="54864" rIns="54864" tIns="54864" bIns="54864"/>
          <a:lstStyle/>
          <a:p>
            <a:pPr algn="ctr"/>
          </a:p>
        </p:txBody>
      </p:sp>
      <p:sp>
        <p:nvSpPr>
          <p:cNvPr id="67" name="TextBox 66"/>
          <p:cNvSpPr txBox="1"/>
          <p:nvPr/>
        </p:nvSpPr>
        <p:spPr>
          <a:xfrm>
            <a:off x="4864608" y="3794760"/>
            <a:ext cx="3566160" cy="274320"/>
          </a:xfrm>
          <a:prstGeom prst="rect">
            <a:avLst/>
          </a:prstGeom>
          <a:noFill/>
        </p:spPr>
        <p:txBody>
          <a:bodyPr wrap="square" anchor="t" lIns="0" rIns="0" tIns="0" bIns="0"/>
          <a:lstStyle/>
          <a:p>
            <a:pPr algn="l">
              <a:spcAft>
                <a:spcPts val="400"/>
              </a:spcAft>
            </a:pPr>
            <a:r>
              <a:rPr sz="1000" b="1" i="0" spc="160">
                <a:solidFill>
                  <a:srgbClr val="EA6A1E"/>
                </a:solidFill>
                <a:latin typeface="Calibri"/>
              </a:rPr>
              <a:t>EXTENSION · DISASTELLER [7]</a:t>
            </a:r>
          </a:p>
        </p:txBody>
      </p:sp>
      <p:sp>
        <p:nvSpPr>
          <p:cNvPr id="68" name="TextBox 67"/>
          <p:cNvSpPr txBox="1"/>
          <p:nvPr/>
        </p:nvSpPr>
        <p:spPr>
          <a:xfrm>
            <a:off x="4864608" y="4096512"/>
            <a:ext cx="3566160" cy="502920"/>
          </a:xfrm>
          <a:prstGeom prst="rect">
            <a:avLst/>
          </a:prstGeom>
          <a:noFill/>
        </p:spPr>
        <p:txBody>
          <a:bodyPr wrap="square" anchor="t" lIns="0" rIns="0" tIns="0" bIns="0"/>
          <a:lstStyle/>
          <a:p>
            <a:pPr algn="l">
              <a:spcAft>
                <a:spcPts val="400"/>
              </a:spcAft>
            </a:pPr>
            <a:r>
              <a:rPr sz="1250" b="0" i="0">
                <a:solidFill>
                  <a:srgbClr val="FFFFFF"/>
                </a:solidFill>
                <a:latin typeface="Calibri"/>
              </a:rPr>
              <a:t>Four specialised vision-language agents collaborate on post-disaster images.</a:t>
            </a:r>
          </a:p>
        </p:txBody>
      </p:sp>
      <p:sp>
        <p:nvSpPr>
          <p:cNvPr id="69" name="Oval 68"/>
          <p:cNvSpPr/>
          <p:nvPr/>
        </p:nvSpPr>
        <p:spPr>
          <a:xfrm>
            <a:off x="4956048" y="4663440"/>
            <a:ext cx="457200" cy="457200"/>
          </a:xfrm>
          <a:prstGeom prst="ellipse">
            <a:avLst/>
          </a:prstGeom>
          <a:solidFill>
            <a:srgbClr val="12807F"/>
          </a:solidFill>
          <a:ln>
            <a:noFill/>
          </a:ln>
        </p:spPr>
        <p:txBody>
          <a:bodyPr rtlCol="0" anchor="ctr" wrap="square" lIns="54864" rIns="54864" tIns="54864" bIns="54864"/>
          <a:lstStyle/>
          <a:p>
            <a:pPr algn="ctr"/>
          </a:p>
        </p:txBody>
      </p:sp>
      <p:pic>
        <p:nvPicPr>
          <p:cNvPr id="70" name="Picture 69" descr="robot_w.png"/>
          <p:cNvPicPr>
            <a:picLocks noChangeAspect="1"/>
          </p:cNvPicPr>
          <p:nvPr/>
        </p:nvPicPr>
        <p:blipFill>
          <a:blip r:embed="rId5"/>
          <a:stretch>
            <a:fillRect/>
          </a:stretch>
        </p:blipFill>
        <p:spPr>
          <a:xfrm>
            <a:off x="5070348" y="4777740"/>
            <a:ext cx="228600" cy="228600"/>
          </a:xfrm>
          <a:prstGeom prst="rect">
            <a:avLst/>
          </a:prstGeom>
        </p:spPr>
      </p:pic>
      <p:sp>
        <p:nvSpPr>
          <p:cNvPr id="71" name="Oval 70"/>
          <p:cNvSpPr/>
          <p:nvPr/>
        </p:nvSpPr>
        <p:spPr>
          <a:xfrm>
            <a:off x="5852160" y="4663440"/>
            <a:ext cx="457200" cy="457200"/>
          </a:xfrm>
          <a:prstGeom prst="ellipse">
            <a:avLst/>
          </a:prstGeom>
          <a:solidFill>
            <a:srgbClr val="EA6A1E"/>
          </a:solidFill>
          <a:ln>
            <a:noFill/>
          </a:ln>
        </p:spPr>
        <p:txBody>
          <a:bodyPr rtlCol="0" anchor="ctr" wrap="square" lIns="54864" rIns="54864" tIns="54864" bIns="54864"/>
          <a:lstStyle/>
          <a:p>
            <a:pPr algn="ctr"/>
          </a:p>
        </p:txBody>
      </p:sp>
      <p:pic>
        <p:nvPicPr>
          <p:cNvPr id="72" name="Picture 71" descr="robot_w.png"/>
          <p:cNvPicPr>
            <a:picLocks noChangeAspect="1"/>
          </p:cNvPicPr>
          <p:nvPr/>
        </p:nvPicPr>
        <p:blipFill>
          <a:blip r:embed="rId5"/>
          <a:stretch>
            <a:fillRect/>
          </a:stretch>
        </p:blipFill>
        <p:spPr>
          <a:xfrm>
            <a:off x="5966460" y="4777740"/>
            <a:ext cx="228600" cy="228600"/>
          </a:xfrm>
          <a:prstGeom prst="rect">
            <a:avLst/>
          </a:prstGeom>
        </p:spPr>
      </p:pic>
      <p:sp>
        <p:nvSpPr>
          <p:cNvPr id="73" name="Oval 72"/>
          <p:cNvSpPr/>
          <p:nvPr/>
        </p:nvSpPr>
        <p:spPr>
          <a:xfrm>
            <a:off x="6748272" y="4663440"/>
            <a:ext cx="457200" cy="457200"/>
          </a:xfrm>
          <a:prstGeom prst="ellipse">
            <a:avLst/>
          </a:prstGeom>
          <a:solidFill>
            <a:srgbClr val="12807F"/>
          </a:solidFill>
          <a:ln>
            <a:noFill/>
          </a:ln>
        </p:spPr>
        <p:txBody>
          <a:bodyPr rtlCol="0" anchor="ctr" wrap="square" lIns="54864" rIns="54864" tIns="54864" bIns="54864"/>
          <a:lstStyle/>
          <a:p>
            <a:pPr algn="ctr"/>
          </a:p>
        </p:txBody>
      </p:sp>
      <p:pic>
        <p:nvPicPr>
          <p:cNvPr id="74" name="Picture 73" descr="robot_w.png"/>
          <p:cNvPicPr>
            <a:picLocks noChangeAspect="1"/>
          </p:cNvPicPr>
          <p:nvPr/>
        </p:nvPicPr>
        <p:blipFill>
          <a:blip r:embed="rId5"/>
          <a:stretch>
            <a:fillRect/>
          </a:stretch>
        </p:blipFill>
        <p:spPr>
          <a:xfrm>
            <a:off x="6862572" y="4777740"/>
            <a:ext cx="228600" cy="228600"/>
          </a:xfrm>
          <a:prstGeom prst="rect">
            <a:avLst/>
          </a:prstGeom>
        </p:spPr>
      </p:pic>
      <p:sp>
        <p:nvSpPr>
          <p:cNvPr id="75" name="Oval 74"/>
          <p:cNvSpPr/>
          <p:nvPr/>
        </p:nvSpPr>
        <p:spPr>
          <a:xfrm>
            <a:off x="7644383" y="4663440"/>
            <a:ext cx="457200" cy="457200"/>
          </a:xfrm>
          <a:prstGeom prst="ellipse">
            <a:avLst/>
          </a:prstGeom>
          <a:solidFill>
            <a:srgbClr val="EA6A1E"/>
          </a:solidFill>
          <a:ln>
            <a:noFill/>
          </a:ln>
        </p:spPr>
        <p:txBody>
          <a:bodyPr rtlCol="0" anchor="ctr" wrap="square" lIns="54864" rIns="54864" tIns="54864" bIns="54864"/>
          <a:lstStyle/>
          <a:p>
            <a:pPr algn="ctr"/>
          </a:p>
        </p:txBody>
      </p:sp>
      <p:pic>
        <p:nvPicPr>
          <p:cNvPr id="76" name="Picture 75" descr="robot_w.png"/>
          <p:cNvPicPr>
            <a:picLocks noChangeAspect="1"/>
          </p:cNvPicPr>
          <p:nvPr/>
        </p:nvPicPr>
        <p:blipFill>
          <a:blip r:embed="rId5"/>
          <a:stretch>
            <a:fillRect/>
          </a:stretch>
        </p:blipFill>
        <p:spPr>
          <a:xfrm>
            <a:off x="7758683" y="4777740"/>
            <a:ext cx="228600" cy="228600"/>
          </a:xfrm>
          <a:prstGeom prst="rect">
            <a:avLst/>
          </a:prstGeom>
        </p:spPr>
      </p:pic>
      <p:sp>
        <p:nvSpPr>
          <p:cNvPr id="77" name="Rounded Rectangle 76"/>
          <p:cNvSpPr/>
          <p:nvPr/>
        </p:nvSpPr>
        <p:spPr>
          <a:xfrm>
            <a:off x="4864608" y="5257800"/>
            <a:ext cx="1737360" cy="365760"/>
          </a:xfrm>
          <a:prstGeom prst="roundRect">
            <a:avLst>
              <a:gd name="adj" fmla="val 50000"/>
            </a:avLst>
          </a:prstGeom>
          <a:solidFill>
            <a:srgbClr val="2A4B51"/>
          </a:solidFill>
          <a:ln>
            <a:noFill/>
          </a:ln>
        </p:spPr>
        <p:txBody>
          <a:bodyPr rtlCol="0" anchor="ctr" wrap="square" lIns="18288" rIns="18288" tIns="18288" bIns="18288"/>
          <a:lstStyle/>
          <a:p>
            <a:pPr algn="ctr">
              <a:spcAft>
                <a:spcPts val="0"/>
              </a:spcAft>
            </a:pPr>
            <a:r>
              <a:rPr sz="1050" b="0" i="0">
                <a:solidFill>
                  <a:srgbClr val="FFFFFF"/>
                </a:solidFill>
                <a:latin typeface="Calibri"/>
              </a:rPr>
              <a:t>Damage assessment</a:t>
            </a:r>
          </a:p>
        </p:txBody>
      </p:sp>
      <p:sp>
        <p:nvSpPr>
          <p:cNvPr id="78" name="Rounded Rectangle 77"/>
          <p:cNvSpPr/>
          <p:nvPr/>
        </p:nvSpPr>
        <p:spPr>
          <a:xfrm>
            <a:off x="6693408" y="5257800"/>
            <a:ext cx="1737360" cy="365760"/>
          </a:xfrm>
          <a:prstGeom prst="roundRect">
            <a:avLst>
              <a:gd name="adj" fmla="val 50000"/>
            </a:avLst>
          </a:prstGeom>
          <a:solidFill>
            <a:srgbClr val="2A4B51"/>
          </a:solidFill>
          <a:ln>
            <a:noFill/>
          </a:ln>
        </p:spPr>
        <p:txBody>
          <a:bodyPr rtlCol="0" anchor="ctr" wrap="square" lIns="18288" rIns="18288" tIns="18288" bIns="18288"/>
          <a:lstStyle/>
          <a:p>
            <a:pPr algn="ctr">
              <a:spcAft>
                <a:spcPts val="0"/>
              </a:spcAft>
            </a:pPr>
            <a:r>
              <a:rPr sz="1050" b="0" i="0">
                <a:solidFill>
                  <a:srgbClr val="FFFFFF"/>
                </a:solidFill>
                <a:latin typeface="Calibri"/>
              </a:rPr>
              <a:t>Alerts</a:t>
            </a:r>
          </a:p>
        </p:txBody>
      </p:sp>
      <p:sp>
        <p:nvSpPr>
          <p:cNvPr id="79" name="Rounded Rectangle 78"/>
          <p:cNvSpPr/>
          <p:nvPr/>
        </p:nvSpPr>
        <p:spPr>
          <a:xfrm>
            <a:off x="4864608" y="5696712"/>
            <a:ext cx="1737360" cy="365760"/>
          </a:xfrm>
          <a:prstGeom prst="roundRect">
            <a:avLst>
              <a:gd name="adj" fmla="val 50000"/>
            </a:avLst>
          </a:prstGeom>
          <a:solidFill>
            <a:srgbClr val="2A4B51"/>
          </a:solidFill>
          <a:ln>
            <a:noFill/>
          </a:ln>
        </p:spPr>
        <p:txBody>
          <a:bodyPr rtlCol="0" anchor="ctr" wrap="square" lIns="18288" rIns="18288" tIns="18288" bIns="18288"/>
          <a:lstStyle/>
          <a:p>
            <a:pPr algn="ctr">
              <a:spcAft>
                <a:spcPts val="0"/>
              </a:spcAft>
            </a:pPr>
            <a:r>
              <a:rPr sz="1050" b="0" i="0">
                <a:solidFill>
                  <a:srgbClr val="FFFFFF"/>
                </a:solidFill>
                <a:latin typeface="Calibri"/>
              </a:rPr>
              <a:t>Emergency reports</a:t>
            </a:r>
          </a:p>
        </p:txBody>
      </p:sp>
      <p:sp>
        <p:nvSpPr>
          <p:cNvPr id="80" name="Rounded Rectangle 79"/>
          <p:cNvSpPr/>
          <p:nvPr/>
        </p:nvSpPr>
        <p:spPr>
          <a:xfrm>
            <a:off x="6693408" y="5696712"/>
            <a:ext cx="1737360" cy="365760"/>
          </a:xfrm>
          <a:prstGeom prst="roundRect">
            <a:avLst>
              <a:gd name="adj" fmla="val 50000"/>
            </a:avLst>
          </a:prstGeom>
          <a:solidFill>
            <a:srgbClr val="2A4B51"/>
          </a:solidFill>
          <a:ln>
            <a:noFill/>
          </a:ln>
        </p:spPr>
        <p:txBody>
          <a:bodyPr rtlCol="0" anchor="ctr" wrap="square" lIns="18288" rIns="18288" tIns="18288" bIns="18288"/>
          <a:lstStyle/>
          <a:p>
            <a:pPr algn="ctr">
              <a:spcAft>
                <a:spcPts val="0"/>
              </a:spcAft>
            </a:pPr>
            <a:r>
              <a:rPr sz="1050" b="0" i="0">
                <a:solidFill>
                  <a:srgbClr val="FFFFFF"/>
                </a:solidFill>
                <a:latin typeface="Calibri"/>
              </a:rPr>
              <a:t>Resource &amp; recovery plans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07  ·  ALGORITHMS STUDIED</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0E2B31"/>
                </a:solidFill>
                <a:latin typeface="Cambria"/>
              </a:rPr>
              <a:t>From crisis messages and roads to action</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12</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5B6E72"/>
                </a:solidFill>
                <a:latin typeface="Calibri"/>
              </a:rPr>
              <a:t>Algorithm 3 — NLP information extraction [6] and reinforcement-learning evacuation routing</a:t>
            </a:r>
          </a:p>
        </p:txBody>
      </p:sp>
      <p:sp>
        <p:nvSpPr>
          <p:cNvPr id="8" name="TextBox 7"/>
          <p:cNvSpPr txBox="1"/>
          <p:nvPr/>
        </p:nvSpPr>
        <p:spPr>
          <a:xfrm>
            <a:off x="548640" y="1719072"/>
            <a:ext cx="5486400" cy="274320"/>
          </a:xfrm>
          <a:prstGeom prst="rect">
            <a:avLst/>
          </a:prstGeom>
          <a:noFill/>
        </p:spPr>
        <p:txBody>
          <a:bodyPr wrap="square" anchor="t" lIns="0" rIns="0" tIns="0" bIns="0"/>
          <a:lstStyle/>
          <a:p>
            <a:pPr algn="l">
              <a:spcAft>
                <a:spcPts val="400"/>
              </a:spcAft>
            </a:pPr>
            <a:r>
              <a:rPr sz="1000" b="1" i="0" spc="160">
                <a:solidFill>
                  <a:srgbClr val="12807F"/>
                </a:solidFill>
                <a:latin typeface="Calibri"/>
              </a:rPr>
              <a:t>CRISIS INFORMATION EXTRACTION</a:t>
            </a:r>
          </a:p>
        </p:txBody>
      </p:sp>
      <p:sp>
        <p:nvSpPr>
          <p:cNvPr id="9" name="Rounded Rectangle 8"/>
          <p:cNvSpPr/>
          <p:nvPr/>
        </p:nvSpPr>
        <p:spPr>
          <a:xfrm>
            <a:off x="548640" y="2084831"/>
            <a:ext cx="2468880" cy="603504"/>
          </a:xfrm>
          <a:prstGeom prst="roundRect">
            <a:avLst>
              <a:gd name="adj" fmla="val 27272"/>
            </a:avLst>
          </a:prstGeom>
          <a:solidFill>
            <a:srgbClr val="E3F1F0"/>
          </a:solidFill>
          <a:ln>
            <a:noFill/>
          </a:ln>
        </p:spPr>
        <p:txBody>
          <a:bodyPr rtlCol="0" anchor="ctr" wrap="square" lIns="128016" rIns="128016" tIns="128016" bIns="128016"/>
          <a:lstStyle/>
          <a:p>
            <a:pPr algn="l">
              <a:spcAft>
                <a:spcPts val="0"/>
              </a:spcAft>
            </a:pPr>
            <a:r>
              <a:rPr sz="1150" b="0" i="1">
                <a:solidFill>
                  <a:srgbClr val="0E2B31"/>
                </a:solidFill>
                <a:latin typeface="Calibri"/>
              </a:rPr>
              <a:t>“Road blocked near the bridge, need rescue!”</a:t>
            </a:r>
          </a:p>
        </p:txBody>
      </p:sp>
      <p:sp>
        <p:nvSpPr>
          <p:cNvPr id="10" name="Rounded Rectangle 9"/>
          <p:cNvSpPr/>
          <p:nvPr/>
        </p:nvSpPr>
        <p:spPr>
          <a:xfrm>
            <a:off x="548640" y="2798063"/>
            <a:ext cx="2468880" cy="603504"/>
          </a:xfrm>
          <a:prstGeom prst="roundRect">
            <a:avLst>
              <a:gd name="adj" fmla="val 27272"/>
            </a:avLst>
          </a:prstGeom>
          <a:solidFill>
            <a:srgbClr val="E3F1F0"/>
          </a:solidFill>
          <a:ln>
            <a:noFill/>
          </a:ln>
        </p:spPr>
        <p:txBody>
          <a:bodyPr rtlCol="0" anchor="ctr" wrap="square" lIns="128016" rIns="128016" tIns="128016" bIns="128016"/>
          <a:lstStyle/>
          <a:p>
            <a:pPr algn="l">
              <a:spcAft>
                <a:spcPts val="0"/>
              </a:spcAft>
            </a:pPr>
            <a:r>
              <a:rPr sz="1150" b="0" i="1">
                <a:solidFill>
                  <a:srgbClr val="0E2B31"/>
                </a:solidFill>
                <a:latin typeface="Calibri"/>
              </a:rPr>
              <a:t>“Help needed in Wardha, water rising”</a:t>
            </a:r>
          </a:p>
        </p:txBody>
      </p:sp>
      <p:sp>
        <p:nvSpPr>
          <p:cNvPr id="11" name="Rounded Rectangle 10"/>
          <p:cNvSpPr/>
          <p:nvPr/>
        </p:nvSpPr>
        <p:spPr>
          <a:xfrm>
            <a:off x="3291840" y="2212848"/>
            <a:ext cx="1417320" cy="914400"/>
          </a:xfrm>
          <a:prstGeom prst="roundRect">
            <a:avLst>
              <a:gd name="adj" fmla="val 10000"/>
            </a:avLst>
          </a:prstGeom>
          <a:solidFill>
            <a:srgbClr val="0E2B31"/>
          </a:solidFill>
          <a:ln>
            <a:noFill/>
          </a:ln>
        </p:spPr>
        <p:txBody>
          <a:bodyPr rtlCol="0" anchor="ctr" wrap="square" lIns="54864" rIns="54864" tIns="54864" bIns="54864"/>
          <a:lstStyle/>
          <a:p>
            <a:pPr algn="ctr">
              <a:spcAft>
                <a:spcPts val="0"/>
              </a:spcAft>
            </a:pPr>
            <a:r>
              <a:rPr sz="1350" b="1" i="0">
                <a:solidFill>
                  <a:srgbClr val="FFFFFF"/>
                </a:solidFill>
                <a:latin typeface="Calibri"/>
              </a:rPr>
              <a:t>NLP model</a:t>
            </a:r>
          </a:p>
          <a:p>
            <a:pPr algn="ctr">
              <a:spcAft>
                <a:spcPts val="0"/>
              </a:spcAft>
            </a:pPr>
            <a:r>
              <a:rPr sz="1050" b="0" i="0">
                <a:solidFill>
                  <a:srgbClr val="FFFFFF"/>
                </a:solidFill>
                <a:latin typeface="Calibri"/>
              </a:rPr>
              <a:t>BERT / LLM + NER</a:t>
            </a:r>
          </a:p>
        </p:txBody>
      </p:sp>
      <p:cxnSp>
        <p:nvCxnSpPr>
          <p:cNvPr id="12" name="Connector 11"/>
          <p:cNvCxnSpPr/>
          <p:nvPr/>
        </p:nvCxnSpPr>
        <p:spPr>
          <a:xfrm>
            <a:off x="3017520" y="2386584"/>
            <a:ext cx="274320" cy="155448"/>
          </a:xfrm>
          <a:prstGeom prst="line">
            <a:avLst/>
          </a:prstGeom>
          <a:ln w="19050">
            <a:solidFill>
              <a:srgbClr val="5B6E72"/>
            </a:solidFill>
            <a:tailEnd type="triangle" w="med" len="med"/>
          </a:ln>
        </p:spPr>
      </p:cxnSp>
      <p:cxnSp>
        <p:nvCxnSpPr>
          <p:cNvPr id="13" name="Connector 12"/>
          <p:cNvCxnSpPr/>
          <p:nvPr/>
        </p:nvCxnSpPr>
        <p:spPr>
          <a:xfrm flipV="1">
            <a:off x="3017520" y="2834640"/>
            <a:ext cx="274320" cy="265176"/>
          </a:xfrm>
          <a:prstGeom prst="line">
            <a:avLst/>
          </a:prstGeom>
          <a:ln w="19050">
            <a:solidFill>
              <a:srgbClr val="5B6E72"/>
            </a:solidFill>
            <a:tailEnd type="triangle" w="med" len="med"/>
          </a:ln>
        </p:spPr>
      </p:cxnSp>
      <p:cxnSp>
        <p:nvCxnSpPr>
          <p:cNvPr id="14" name="Connector 13"/>
          <p:cNvCxnSpPr/>
          <p:nvPr/>
        </p:nvCxnSpPr>
        <p:spPr>
          <a:xfrm>
            <a:off x="4709160" y="2670048"/>
            <a:ext cx="274320" cy="0"/>
          </a:xfrm>
          <a:prstGeom prst="line">
            <a:avLst/>
          </a:prstGeom>
          <a:ln w="22225">
            <a:solidFill>
              <a:srgbClr val="5B6E72"/>
            </a:solidFill>
            <a:tailEnd type="triangle" w="med" len="med"/>
          </a:ln>
        </p:spPr>
      </p:cxnSp>
      <p:sp>
        <p:nvSpPr>
          <p:cNvPr id="15" name="Rectangle 14"/>
          <p:cNvSpPr/>
          <p:nvPr/>
        </p:nvSpPr>
        <p:spPr>
          <a:xfrm>
            <a:off x="4983480" y="2057400"/>
            <a:ext cx="3611880" cy="292608"/>
          </a:xfrm>
          <a:prstGeom prst="rect">
            <a:avLst/>
          </a:prstGeom>
          <a:solidFill>
            <a:srgbClr val="F3F7F7"/>
          </a:solidFill>
          <a:ln>
            <a:noFill/>
          </a:ln>
        </p:spPr>
        <p:txBody>
          <a:bodyPr rtlCol="0" anchor="ctr" wrap="square" lIns="54864" rIns="54864" tIns="54864" bIns="54864"/>
          <a:lstStyle/>
          <a:p>
            <a:pPr algn="ctr"/>
          </a:p>
        </p:txBody>
      </p:sp>
      <p:sp>
        <p:nvSpPr>
          <p:cNvPr id="16" name="TextBox 15"/>
          <p:cNvSpPr txBox="1"/>
          <p:nvPr/>
        </p:nvSpPr>
        <p:spPr>
          <a:xfrm>
            <a:off x="5120640" y="2057400"/>
            <a:ext cx="1280160" cy="292608"/>
          </a:xfrm>
          <a:prstGeom prst="rect">
            <a:avLst/>
          </a:prstGeom>
          <a:noFill/>
        </p:spPr>
        <p:txBody>
          <a:bodyPr wrap="square" anchor="ctr" lIns="0" rIns="0" tIns="0" bIns="0"/>
          <a:lstStyle/>
          <a:p>
            <a:pPr algn="l">
              <a:spcAft>
                <a:spcPts val="400"/>
              </a:spcAft>
            </a:pPr>
            <a:r>
              <a:rPr sz="1150" b="1" i="0">
                <a:solidFill>
                  <a:srgbClr val="5B6E72"/>
                </a:solidFill>
                <a:latin typeface="Calibri"/>
              </a:rPr>
              <a:t>Location</a:t>
            </a:r>
          </a:p>
        </p:txBody>
      </p:sp>
      <p:sp>
        <p:nvSpPr>
          <p:cNvPr id="17" name="TextBox 16"/>
          <p:cNvSpPr txBox="1"/>
          <p:nvPr/>
        </p:nvSpPr>
        <p:spPr>
          <a:xfrm>
            <a:off x="6446520" y="2057400"/>
            <a:ext cx="2011680" cy="292608"/>
          </a:xfrm>
          <a:prstGeom prst="rect">
            <a:avLst/>
          </a:prstGeom>
          <a:noFill/>
        </p:spPr>
        <p:txBody>
          <a:bodyPr wrap="square" anchor="ctr" lIns="0" rIns="0" tIns="0" bIns="0"/>
          <a:lstStyle/>
          <a:p>
            <a:pPr algn="l">
              <a:spcAft>
                <a:spcPts val="400"/>
              </a:spcAft>
            </a:pPr>
            <a:r>
              <a:rPr sz="1200" b="1" i="0">
                <a:solidFill>
                  <a:srgbClr val="0E2B31"/>
                </a:solidFill>
                <a:latin typeface="Calibri"/>
              </a:rPr>
              <a:t>Wardha</a:t>
            </a:r>
          </a:p>
        </p:txBody>
      </p:sp>
      <p:sp>
        <p:nvSpPr>
          <p:cNvPr id="18" name="Rectangle 17"/>
          <p:cNvSpPr/>
          <p:nvPr/>
        </p:nvSpPr>
        <p:spPr>
          <a:xfrm>
            <a:off x="4983480" y="2386584"/>
            <a:ext cx="3611880" cy="292608"/>
          </a:xfrm>
          <a:prstGeom prst="rect">
            <a:avLst/>
          </a:prstGeom>
          <a:solidFill>
            <a:srgbClr val="FFFFFF"/>
          </a:solidFill>
          <a:ln>
            <a:noFill/>
          </a:ln>
        </p:spPr>
        <p:txBody>
          <a:bodyPr rtlCol="0" anchor="ctr" wrap="square" lIns="54864" rIns="54864" tIns="54864" bIns="54864"/>
          <a:lstStyle/>
          <a:p>
            <a:pPr algn="ctr"/>
          </a:p>
        </p:txBody>
      </p:sp>
      <p:sp>
        <p:nvSpPr>
          <p:cNvPr id="19" name="TextBox 18"/>
          <p:cNvSpPr txBox="1"/>
          <p:nvPr/>
        </p:nvSpPr>
        <p:spPr>
          <a:xfrm>
            <a:off x="5120640" y="2386584"/>
            <a:ext cx="1280160" cy="292608"/>
          </a:xfrm>
          <a:prstGeom prst="rect">
            <a:avLst/>
          </a:prstGeom>
          <a:noFill/>
        </p:spPr>
        <p:txBody>
          <a:bodyPr wrap="square" anchor="ctr" lIns="0" rIns="0" tIns="0" bIns="0"/>
          <a:lstStyle/>
          <a:p>
            <a:pPr algn="l">
              <a:spcAft>
                <a:spcPts val="400"/>
              </a:spcAft>
            </a:pPr>
            <a:r>
              <a:rPr sz="1150" b="1" i="0">
                <a:solidFill>
                  <a:srgbClr val="5B6E72"/>
                </a:solidFill>
                <a:latin typeface="Calibri"/>
              </a:rPr>
              <a:t>Event</a:t>
            </a:r>
          </a:p>
        </p:txBody>
      </p:sp>
      <p:sp>
        <p:nvSpPr>
          <p:cNvPr id="20" name="TextBox 19"/>
          <p:cNvSpPr txBox="1"/>
          <p:nvPr/>
        </p:nvSpPr>
        <p:spPr>
          <a:xfrm>
            <a:off x="6446520" y="2386584"/>
            <a:ext cx="2011680" cy="292608"/>
          </a:xfrm>
          <a:prstGeom prst="rect">
            <a:avLst/>
          </a:prstGeom>
          <a:noFill/>
        </p:spPr>
        <p:txBody>
          <a:bodyPr wrap="square" anchor="ctr" lIns="0" rIns="0" tIns="0" bIns="0"/>
          <a:lstStyle/>
          <a:p>
            <a:pPr algn="l">
              <a:spcAft>
                <a:spcPts val="400"/>
              </a:spcAft>
            </a:pPr>
            <a:r>
              <a:rPr sz="1200" b="1" i="0">
                <a:solidFill>
                  <a:srgbClr val="0E2B31"/>
                </a:solidFill>
                <a:latin typeface="Calibri"/>
              </a:rPr>
              <a:t>Flood</a:t>
            </a:r>
          </a:p>
        </p:txBody>
      </p:sp>
      <p:sp>
        <p:nvSpPr>
          <p:cNvPr id="21" name="Rectangle 20"/>
          <p:cNvSpPr/>
          <p:nvPr/>
        </p:nvSpPr>
        <p:spPr>
          <a:xfrm>
            <a:off x="4983480" y="2715768"/>
            <a:ext cx="3611880" cy="292608"/>
          </a:xfrm>
          <a:prstGeom prst="rect">
            <a:avLst/>
          </a:prstGeom>
          <a:solidFill>
            <a:srgbClr val="F3F7F7"/>
          </a:solidFill>
          <a:ln>
            <a:noFill/>
          </a:ln>
        </p:spPr>
        <p:txBody>
          <a:bodyPr rtlCol="0" anchor="ctr" wrap="square" lIns="54864" rIns="54864" tIns="54864" bIns="54864"/>
          <a:lstStyle/>
          <a:p>
            <a:pPr algn="ctr"/>
          </a:p>
        </p:txBody>
      </p:sp>
      <p:sp>
        <p:nvSpPr>
          <p:cNvPr id="22" name="TextBox 21"/>
          <p:cNvSpPr txBox="1"/>
          <p:nvPr/>
        </p:nvSpPr>
        <p:spPr>
          <a:xfrm>
            <a:off x="5120640" y="2715768"/>
            <a:ext cx="1280160" cy="292608"/>
          </a:xfrm>
          <a:prstGeom prst="rect">
            <a:avLst/>
          </a:prstGeom>
          <a:noFill/>
        </p:spPr>
        <p:txBody>
          <a:bodyPr wrap="square" anchor="ctr" lIns="0" rIns="0" tIns="0" bIns="0"/>
          <a:lstStyle/>
          <a:p>
            <a:pPr algn="l">
              <a:spcAft>
                <a:spcPts val="400"/>
              </a:spcAft>
            </a:pPr>
            <a:r>
              <a:rPr sz="1150" b="1" i="0">
                <a:solidFill>
                  <a:srgbClr val="5B6E72"/>
                </a:solidFill>
                <a:latin typeface="Calibri"/>
              </a:rPr>
              <a:t>Need</a:t>
            </a:r>
          </a:p>
        </p:txBody>
      </p:sp>
      <p:sp>
        <p:nvSpPr>
          <p:cNvPr id="23" name="TextBox 22"/>
          <p:cNvSpPr txBox="1"/>
          <p:nvPr/>
        </p:nvSpPr>
        <p:spPr>
          <a:xfrm>
            <a:off x="6446520" y="2715768"/>
            <a:ext cx="2011680" cy="292608"/>
          </a:xfrm>
          <a:prstGeom prst="rect">
            <a:avLst/>
          </a:prstGeom>
          <a:noFill/>
        </p:spPr>
        <p:txBody>
          <a:bodyPr wrap="square" anchor="ctr" lIns="0" rIns="0" tIns="0" bIns="0"/>
          <a:lstStyle/>
          <a:p>
            <a:pPr algn="l">
              <a:spcAft>
                <a:spcPts val="400"/>
              </a:spcAft>
            </a:pPr>
            <a:r>
              <a:rPr sz="1200" b="1" i="0">
                <a:solidFill>
                  <a:srgbClr val="0E2B31"/>
                </a:solidFill>
                <a:latin typeface="Calibri"/>
              </a:rPr>
              <a:t>Rescue</a:t>
            </a:r>
          </a:p>
        </p:txBody>
      </p:sp>
      <p:sp>
        <p:nvSpPr>
          <p:cNvPr id="24" name="Rectangle 23"/>
          <p:cNvSpPr/>
          <p:nvPr/>
        </p:nvSpPr>
        <p:spPr>
          <a:xfrm>
            <a:off x="4983480" y="3044952"/>
            <a:ext cx="3611880" cy="292608"/>
          </a:xfrm>
          <a:prstGeom prst="rect">
            <a:avLst/>
          </a:prstGeom>
          <a:solidFill>
            <a:srgbClr val="FFFFFF"/>
          </a:solidFill>
          <a:ln>
            <a:noFill/>
          </a:ln>
        </p:spPr>
        <p:txBody>
          <a:bodyPr rtlCol="0" anchor="ctr" wrap="square" lIns="54864" rIns="54864" tIns="54864" bIns="54864"/>
          <a:lstStyle/>
          <a:p>
            <a:pPr algn="ctr"/>
          </a:p>
        </p:txBody>
      </p:sp>
      <p:sp>
        <p:nvSpPr>
          <p:cNvPr id="25" name="TextBox 24"/>
          <p:cNvSpPr txBox="1"/>
          <p:nvPr/>
        </p:nvSpPr>
        <p:spPr>
          <a:xfrm>
            <a:off x="5120640" y="3044952"/>
            <a:ext cx="1280160" cy="292608"/>
          </a:xfrm>
          <a:prstGeom prst="rect">
            <a:avLst/>
          </a:prstGeom>
          <a:noFill/>
        </p:spPr>
        <p:txBody>
          <a:bodyPr wrap="square" anchor="ctr" lIns="0" rIns="0" tIns="0" bIns="0"/>
          <a:lstStyle/>
          <a:p>
            <a:pPr algn="l">
              <a:spcAft>
                <a:spcPts val="400"/>
              </a:spcAft>
            </a:pPr>
            <a:r>
              <a:rPr sz="1150" b="1" i="0">
                <a:solidFill>
                  <a:srgbClr val="5B6E72"/>
                </a:solidFill>
                <a:latin typeface="Calibri"/>
              </a:rPr>
              <a:t>Severity</a:t>
            </a:r>
          </a:p>
        </p:txBody>
      </p:sp>
      <p:sp>
        <p:nvSpPr>
          <p:cNvPr id="26" name="TextBox 25"/>
          <p:cNvSpPr txBox="1"/>
          <p:nvPr/>
        </p:nvSpPr>
        <p:spPr>
          <a:xfrm>
            <a:off x="6446520" y="3044952"/>
            <a:ext cx="2011680" cy="292608"/>
          </a:xfrm>
          <a:prstGeom prst="rect">
            <a:avLst/>
          </a:prstGeom>
          <a:noFill/>
        </p:spPr>
        <p:txBody>
          <a:bodyPr wrap="square" anchor="ctr" lIns="0" rIns="0" tIns="0" bIns="0"/>
          <a:lstStyle/>
          <a:p>
            <a:pPr algn="l">
              <a:spcAft>
                <a:spcPts val="400"/>
              </a:spcAft>
            </a:pPr>
            <a:r>
              <a:rPr sz="1200" b="1" i="0">
                <a:solidFill>
                  <a:srgbClr val="D64545"/>
                </a:solidFill>
                <a:latin typeface="Calibri"/>
              </a:rPr>
              <a:t>High</a:t>
            </a:r>
          </a:p>
        </p:txBody>
      </p:sp>
      <p:cxnSp>
        <p:nvCxnSpPr>
          <p:cNvPr id="27" name="Connector 26"/>
          <p:cNvCxnSpPr/>
          <p:nvPr/>
        </p:nvCxnSpPr>
        <p:spPr>
          <a:xfrm>
            <a:off x="548640" y="3520440"/>
            <a:ext cx="8046720" cy="0"/>
          </a:xfrm>
          <a:prstGeom prst="line">
            <a:avLst/>
          </a:prstGeom>
          <a:ln w="9525">
            <a:solidFill>
              <a:srgbClr val="CBE0DE"/>
            </a:solidFill>
          </a:ln>
        </p:spPr>
      </p:cxnSp>
      <p:sp>
        <p:nvSpPr>
          <p:cNvPr id="28" name="TextBox 27"/>
          <p:cNvSpPr txBox="1"/>
          <p:nvPr/>
        </p:nvSpPr>
        <p:spPr>
          <a:xfrm>
            <a:off x="548640" y="3657600"/>
            <a:ext cx="5486400" cy="274320"/>
          </a:xfrm>
          <a:prstGeom prst="rect">
            <a:avLst/>
          </a:prstGeom>
          <a:noFill/>
        </p:spPr>
        <p:txBody>
          <a:bodyPr wrap="square" anchor="t" lIns="0" rIns="0" tIns="0" bIns="0"/>
          <a:lstStyle/>
          <a:p>
            <a:pPr algn="l">
              <a:spcAft>
                <a:spcPts val="400"/>
              </a:spcAft>
            </a:pPr>
            <a:r>
              <a:rPr sz="1000" b="1" i="0" spc="160">
                <a:solidFill>
                  <a:srgbClr val="12807F"/>
                </a:solidFill>
                <a:latin typeface="Calibri"/>
              </a:rPr>
              <a:t>EVACUATION ROUTING  ·  REINFORCEMENT LEARNING</a:t>
            </a:r>
          </a:p>
        </p:txBody>
      </p:sp>
      <p:sp>
        <p:nvSpPr>
          <p:cNvPr id="29" name="Rounded Rectangle 28"/>
          <p:cNvSpPr/>
          <p:nvPr/>
        </p:nvSpPr>
        <p:spPr>
          <a:xfrm>
            <a:off x="548640" y="4343400"/>
            <a:ext cx="1691640" cy="1097280"/>
          </a:xfrm>
          <a:prstGeom prst="roundRect">
            <a:avLst>
              <a:gd name="adj" fmla="val 8333"/>
            </a:avLst>
          </a:prstGeom>
          <a:solidFill>
            <a:srgbClr val="EA6A1E"/>
          </a:solidFill>
          <a:ln>
            <a:noFill/>
          </a:ln>
        </p:spPr>
        <p:txBody>
          <a:bodyPr rtlCol="0" anchor="ctr" wrap="square" lIns="54864" rIns="54864" tIns="54864" bIns="54864"/>
          <a:lstStyle/>
          <a:p>
            <a:pPr algn="ctr">
              <a:spcAft>
                <a:spcPts val="0"/>
              </a:spcAft>
            </a:pPr>
            <a:r>
              <a:rPr sz="1500" b="1" i="0">
                <a:solidFill>
                  <a:srgbClr val="FFFFFF"/>
                </a:solidFill>
                <a:latin typeface="Calibri"/>
              </a:rPr>
              <a:t>Agent</a:t>
            </a:r>
          </a:p>
          <a:p>
            <a:pPr algn="ctr">
              <a:spcAft>
                <a:spcPts val="0"/>
              </a:spcAft>
            </a:pPr>
            <a:r>
              <a:rPr sz="1100" b="0" i="0">
                <a:solidFill>
                  <a:srgbClr val="FFFFFF"/>
                </a:solidFill>
                <a:latin typeface="Calibri"/>
              </a:rPr>
              <a:t>policy π</a:t>
            </a:r>
          </a:p>
          <a:p>
            <a:pPr algn="ctr">
              <a:spcAft>
                <a:spcPts val="0"/>
              </a:spcAft>
            </a:pPr>
            <a:r>
              <a:rPr sz="1100" b="0" i="0">
                <a:solidFill>
                  <a:srgbClr val="FFFFFF"/>
                </a:solidFill>
                <a:latin typeface="Calibri"/>
              </a:rPr>
              <a:t>PPO / DQN</a:t>
            </a:r>
          </a:p>
        </p:txBody>
      </p:sp>
      <p:sp>
        <p:nvSpPr>
          <p:cNvPr id="30" name="Rounded Rectangle 29"/>
          <p:cNvSpPr/>
          <p:nvPr/>
        </p:nvSpPr>
        <p:spPr>
          <a:xfrm>
            <a:off x="2926080" y="4343400"/>
            <a:ext cx="1691640" cy="1097280"/>
          </a:xfrm>
          <a:prstGeom prst="roundRect">
            <a:avLst>
              <a:gd name="adj" fmla="val 8333"/>
            </a:avLst>
          </a:prstGeom>
          <a:solidFill>
            <a:srgbClr val="12807F"/>
          </a:solidFill>
          <a:ln>
            <a:noFill/>
          </a:ln>
        </p:spPr>
        <p:txBody>
          <a:bodyPr rtlCol="0" anchor="ctr" wrap="square" lIns="54864" rIns="54864" tIns="54864" bIns="54864"/>
          <a:lstStyle/>
          <a:p>
            <a:pPr algn="ctr">
              <a:spcAft>
                <a:spcPts val="0"/>
              </a:spcAft>
            </a:pPr>
            <a:r>
              <a:rPr sz="1500" b="1" i="0">
                <a:solidFill>
                  <a:srgbClr val="FFFFFF"/>
                </a:solidFill>
                <a:latin typeface="Calibri"/>
              </a:rPr>
              <a:t>Environment</a:t>
            </a:r>
          </a:p>
          <a:p>
            <a:pPr algn="ctr">
              <a:spcAft>
                <a:spcPts val="0"/>
              </a:spcAft>
            </a:pPr>
            <a:r>
              <a:rPr sz="1100" b="0" i="0">
                <a:solidFill>
                  <a:srgbClr val="FFFFFF"/>
                </a:solidFill>
                <a:latin typeface="Calibri"/>
              </a:rPr>
              <a:t>road network,</a:t>
            </a:r>
          </a:p>
          <a:p>
            <a:pPr algn="ctr">
              <a:spcAft>
                <a:spcPts val="0"/>
              </a:spcAft>
            </a:pPr>
            <a:r>
              <a:rPr sz="1100" b="0" i="0">
                <a:solidFill>
                  <a:srgbClr val="FFFFFF"/>
                </a:solidFill>
                <a:latin typeface="Calibri"/>
              </a:rPr>
              <a:t>hazard map</a:t>
            </a:r>
          </a:p>
        </p:txBody>
      </p:sp>
      <p:cxnSp>
        <p:nvCxnSpPr>
          <p:cNvPr id="31" name="Connector 30"/>
          <p:cNvCxnSpPr/>
          <p:nvPr/>
        </p:nvCxnSpPr>
        <p:spPr>
          <a:xfrm flipV="1">
            <a:off x="1394460" y="4114800"/>
            <a:ext cx="0" cy="228600"/>
          </a:xfrm>
          <a:prstGeom prst="line">
            <a:avLst/>
          </a:prstGeom>
          <a:ln w="19050">
            <a:solidFill>
              <a:srgbClr val="0E2B31"/>
            </a:solidFill>
          </a:ln>
        </p:spPr>
      </p:cxnSp>
      <p:cxnSp>
        <p:nvCxnSpPr>
          <p:cNvPr id="32" name="Connector 31"/>
          <p:cNvCxnSpPr/>
          <p:nvPr/>
        </p:nvCxnSpPr>
        <p:spPr>
          <a:xfrm>
            <a:off x="1394460" y="4114800"/>
            <a:ext cx="2377440" cy="0"/>
          </a:xfrm>
          <a:prstGeom prst="line">
            <a:avLst/>
          </a:prstGeom>
          <a:ln w="19050">
            <a:solidFill>
              <a:srgbClr val="0E2B31"/>
            </a:solidFill>
          </a:ln>
        </p:spPr>
      </p:cxnSp>
      <p:cxnSp>
        <p:nvCxnSpPr>
          <p:cNvPr id="33" name="Connector 32"/>
          <p:cNvCxnSpPr/>
          <p:nvPr/>
        </p:nvCxnSpPr>
        <p:spPr>
          <a:xfrm>
            <a:off x="3771900" y="4114800"/>
            <a:ext cx="0" cy="228600"/>
          </a:xfrm>
          <a:prstGeom prst="line">
            <a:avLst/>
          </a:prstGeom>
          <a:ln w="19050">
            <a:solidFill>
              <a:srgbClr val="0E2B31"/>
            </a:solidFill>
            <a:tailEnd type="triangle" w="med" len="med"/>
          </a:ln>
        </p:spPr>
      </p:cxnSp>
      <p:sp>
        <p:nvSpPr>
          <p:cNvPr id="34" name="TextBox 33"/>
          <p:cNvSpPr txBox="1"/>
          <p:nvPr/>
        </p:nvSpPr>
        <p:spPr>
          <a:xfrm>
            <a:off x="1463040" y="3904487"/>
            <a:ext cx="2240280" cy="201168"/>
          </a:xfrm>
          <a:prstGeom prst="rect">
            <a:avLst/>
          </a:prstGeom>
          <a:noFill/>
        </p:spPr>
        <p:txBody>
          <a:bodyPr wrap="square" anchor="t" lIns="0" rIns="0" tIns="0" bIns="0"/>
          <a:lstStyle/>
          <a:p>
            <a:pPr algn="ctr">
              <a:spcAft>
                <a:spcPts val="400"/>
              </a:spcAft>
            </a:pPr>
            <a:r>
              <a:rPr sz="1050" b="0" i="0">
                <a:solidFill>
                  <a:srgbClr val="0E2B31"/>
                </a:solidFill>
                <a:latin typeface="Calibri"/>
              </a:rPr>
              <a:t>action: choose next road</a:t>
            </a:r>
          </a:p>
        </p:txBody>
      </p:sp>
      <p:cxnSp>
        <p:nvCxnSpPr>
          <p:cNvPr id="35" name="Connector 34"/>
          <p:cNvCxnSpPr/>
          <p:nvPr/>
        </p:nvCxnSpPr>
        <p:spPr>
          <a:xfrm>
            <a:off x="3771900" y="5440680"/>
            <a:ext cx="0" cy="228600"/>
          </a:xfrm>
          <a:prstGeom prst="line">
            <a:avLst/>
          </a:prstGeom>
          <a:ln w="19050">
            <a:solidFill>
              <a:srgbClr val="2E9E6A"/>
            </a:solidFill>
          </a:ln>
        </p:spPr>
      </p:cxnSp>
      <p:cxnSp>
        <p:nvCxnSpPr>
          <p:cNvPr id="36" name="Connector 35"/>
          <p:cNvCxnSpPr/>
          <p:nvPr/>
        </p:nvCxnSpPr>
        <p:spPr>
          <a:xfrm flipH="1">
            <a:off x="1394460" y="5669280"/>
            <a:ext cx="2377440" cy="0"/>
          </a:xfrm>
          <a:prstGeom prst="line">
            <a:avLst/>
          </a:prstGeom>
          <a:ln w="19050">
            <a:solidFill>
              <a:srgbClr val="2E9E6A"/>
            </a:solidFill>
          </a:ln>
        </p:spPr>
      </p:cxnSp>
      <p:cxnSp>
        <p:nvCxnSpPr>
          <p:cNvPr id="37" name="Connector 36"/>
          <p:cNvCxnSpPr/>
          <p:nvPr/>
        </p:nvCxnSpPr>
        <p:spPr>
          <a:xfrm flipV="1">
            <a:off x="1394460" y="5440680"/>
            <a:ext cx="0" cy="228600"/>
          </a:xfrm>
          <a:prstGeom prst="line">
            <a:avLst/>
          </a:prstGeom>
          <a:ln w="19050">
            <a:solidFill>
              <a:srgbClr val="2E9E6A"/>
            </a:solidFill>
            <a:tailEnd type="triangle" w="med" len="med"/>
          </a:ln>
        </p:spPr>
      </p:cxnSp>
      <p:sp>
        <p:nvSpPr>
          <p:cNvPr id="38" name="TextBox 37"/>
          <p:cNvSpPr txBox="1"/>
          <p:nvPr/>
        </p:nvSpPr>
        <p:spPr>
          <a:xfrm>
            <a:off x="548640" y="5733288"/>
            <a:ext cx="4069080" cy="457200"/>
          </a:xfrm>
          <a:prstGeom prst="rect">
            <a:avLst/>
          </a:prstGeom>
          <a:noFill/>
        </p:spPr>
        <p:txBody>
          <a:bodyPr wrap="square" anchor="t" lIns="0" rIns="0" tIns="0" bIns="0"/>
          <a:lstStyle/>
          <a:p>
            <a:pPr algn="ctr">
              <a:spcAft>
                <a:spcPts val="0"/>
              </a:spcAft>
            </a:pPr>
            <a:r>
              <a:rPr sz="1050" b="1" i="0">
                <a:solidFill>
                  <a:srgbClr val="2E9E6A"/>
                </a:solidFill>
                <a:latin typeface="Calibri"/>
              </a:rPr>
              <a:t>state  </a:t>
            </a:r>
            <a:r>
              <a:rPr sz="1050" b="0" i="0">
                <a:solidFill>
                  <a:srgbClr val="2E9E6A"/>
                </a:solidFill>
                <a:latin typeface="Calibri"/>
              </a:rPr>
              <a:t>location, congestion, hazard</a:t>
            </a:r>
          </a:p>
          <a:p>
            <a:pPr algn="ctr">
              <a:spcAft>
                <a:spcPts val="0"/>
              </a:spcAft>
            </a:pPr>
            <a:r>
              <a:rPr sz="1050" b="1" i="0">
                <a:solidFill>
                  <a:srgbClr val="2E9E6A"/>
                </a:solidFill>
                <a:latin typeface="Calibri"/>
              </a:rPr>
              <a:t>reward  </a:t>
            </a:r>
            <a:r>
              <a:rPr sz="1050" b="0" i="0">
                <a:solidFill>
                  <a:srgbClr val="2E9E6A"/>
                </a:solidFill>
                <a:latin typeface="Calibri"/>
              </a:rPr>
              <a:t>+ safety, − travel time</a:t>
            </a:r>
          </a:p>
        </p:txBody>
      </p:sp>
      <p:sp>
        <p:nvSpPr>
          <p:cNvPr id="39" name="Rounded Rectangle 38"/>
          <p:cNvSpPr/>
          <p:nvPr/>
        </p:nvSpPr>
        <p:spPr>
          <a:xfrm>
            <a:off x="4983480" y="4023360"/>
            <a:ext cx="3611880" cy="2194560"/>
          </a:xfrm>
          <a:prstGeom prst="roundRect">
            <a:avLst>
              <a:gd name="adj" fmla="val 5000"/>
            </a:avLst>
          </a:prstGeom>
          <a:solidFill>
            <a:srgbClr val="0E2B31"/>
          </a:solidFill>
          <a:ln>
            <a:noFill/>
          </a:ln>
        </p:spPr>
        <p:txBody>
          <a:bodyPr rtlCol="0" anchor="ctr" wrap="square" lIns="54864" rIns="54864" tIns="54864" bIns="54864"/>
          <a:lstStyle/>
          <a:p>
            <a:pPr algn="ctr"/>
          </a:p>
        </p:txBody>
      </p:sp>
      <p:sp>
        <p:nvSpPr>
          <p:cNvPr id="40" name="TextBox 39"/>
          <p:cNvSpPr txBox="1"/>
          <p:nvPr/>
        </p:nvSpPr>
        <p:spPr>
          <a:xfrm>
            <a:off x="5184648" y="4169664"/>
            <a:ext cx="3246120" cy="237744"/>
          </a:xfrm>
          <a:prstGeom prst="rect">
            <a:avLst/>
          </a:prstGeom>
          <a:noFill/>
        </p:spPr>
        <p:txBody>
          <a:bodyPr wrap="square" anchor="t" lIns="0" rIns="0" tIns="0" bIns="0"/>
          <a:lstStyle/>
          <a:p>
            <a:pPr algn="l">
              <a:spcAft>
                <a:spcPts val="400"/>
              </a:spcAft>
            </a:pPr>
            <a:r>
              <a:rPr sz="950" b="1" i="0" spc="180">
                <a:solidFill>
                  <a:srgbClr val="EA6A1E"/>
                </a:solidFill>
                <a:latin typeface="Calibri"/>
              </a:rPr>
              <a:t>PSEUDOCODE</a:t>
            </a:r>
          </a:p>
        </p:txBody>
      </p:sp>
      <p:sp>
        <p:nvSpPr>
          <p:cNvPr id="41" name="TextBox 40"/>
          <p:cNvSpPr txBox="1"/>
          <p:nvPr/>
        </p:nvSpPr>
        <p:spPr>
          <a:xfrm>
            <a:off x="5166360" y="4480560"/>
            <a:ext cx="3291840" cy="1645919"/>
          </a:xfrm>
          <a:prstGeom prst="rect">
            <a:avLst/>
          </a:prstGeom>
          <a:noFill/>
        </p:spPr>
        <p:txBody>
          <a:bodyPr wrap="square" anchor="t" lIns="0" rIns="0" tIns="0" bIns="0"/>
          <a:lstStyle/>
          <a:p>
            <a:pPr algn="l">
              <a:spcAft>
                <a:spcPts val="200"/>
              </a:spcAft>
            </a:pPr>
            <a:r>
              <a:rPr sz="1100" b="0" i="0">
                <a:solidFill>
                  <a:srgbClr val="7FA9A6"/>
                </a:solidFill>
                <a:latin typeface="Consolas"/>
              </a:rPr>
              <a:t> 1  </a:t>
            </a:r>
            <a:r>
              <a:rPr sz="1100" b="0" i="0">
                <a:solidFill>
                  <a:srgbClr val="F1F0FA"/>
                </a:solidFill>
                <a:latin typeface="Consolas"/>
              </a:rPr>
              <a:t>Input: road graph G, hazard map H</a:t>
            </a:r>
          </a:p>
          <a:p>
            <a:pPr algn="l">
              <a:spcAft>
                <a:spcPts val="200"/>
              </a:spcAft>
            </a:pPr>
            <a:r>
              <a:rPr sz="1100" b="0" i="0">
                <a:solidFill>
                  <a:srgbClr val="7FA9A6"/>
                </a:solidFill>
                <a:latin typeface="Consolas"/>
              </a:rPr>
              <a:t> 2  </a:t>
            </a:r>
            <a:r>
              <a:rPr sz="1100" b="0" i="0">
                <a:solidFill>
                  <a:srgbClr val="F1F0FA"/>
                </a:solidFill>
                <a:latin typeface="Consolas"/>
              </a:rPr>
              <a:t>s ← (loc, congestion, hazard)</a:t>
            </a:r>
          </a:p>
          <a:p>
            <a:pPr algn="l">
              <a:spcAft>
                <a:spcPts val="200"/>
              </a:spcAft>
            </a:pPr>
            <a:r>
              <a:rPr sz="1100" b="0" i="0">
                <a:solidFill>
                  <a:srgbClr val="7FA9A6"/>
                </a:solidFill>
                <a:latin typeface="Consolas"/>
              </a:rPr>
              <a:t> 3  </a:t>
            </a:r>
            <a:r>
              <a:rPr sz="1100" b="0" i="0">
                <a:solidFill>
                  <a:srgbClr val="F1F0FA"/>
                </a:solidFill>
                <a:latin typeface="Consolas"/>
              </a:rPr>
              <a:t>a ← π(s)            </a:t>
            </a:r>
            <a:r>
              <a:rPr sz="1100" b="0" i="1">
                <a:solidFill>
                  <a:srgbClr val="9CCBC7"/>
                </a:solidFill>
                <a:latin typeface="Consolas"/>
              </a:rPr>
              <a:t># next road</a:t>
            </a:r>
          </a:p>
          <a:p>
            <a:pPr algn="l">
              <a:spcAft>
                <a:spcPts val="200"/>
              </a:spcAft>
            </a:pPr>
            <a:r>
              <a:rPr sz="1100" b="0" i="0">
                <a:solidFill>
                  <a:srgbClr val="7FA9A6"/>
                </a:solidFill>
                <a:latin typeface="Consolas"/>
              </a:rPr>
              <a:t> 4  </a:t>
            </a:r>
            <a:r>
              <a:rPr sz="1100" b="0" i="0">
                <a:solidFill>
                  <a:srgbClr val="F1F0FA"/>
                </a:solidFill>
                <a:latin typeface="Consolas"/>
              </a:rPr>
              <a:t>r ← R(safety, time)</a:t>
            </a:r>
          </a:p>
          <a:p>
            <a:pPr algn="l">
              <a:spcAft>
                <a:spcPts val="200"/>
              </a:spcAft>
            </a:pPr>
            <a:r>
              <a:rPr sz="1100" b="0" i="0">
                <a:solidFill>
                  <a:srgbClr val="7FA9A6"/>
                </a:solidFill>
                <a:latin typeface="Consolas"/>
              </a:rPr>
              <a:t> 5  </a:t>
            </a:r>
            <a:r>
              <a:rPr sz="1100" b="0" i="0">
                <a:solidFill>
                  <a:srgbClr val="F1F0FA"/>
                </a:solidFill>
                <a:latin typeface="Consolas"/>
              </a:rPr>
              <a:t>update π with PPO / DQN</a:t>
            </a:r>
          </a:p>
          <a:p>
            <a:pPr algn="l">
              <a:spcAft>
                <a:spcPts val="200"/>
              </a:spcAft>
            </a:pPr>
            <a:r>
              <a:rPr sz="1100" b="0" i="0">
                <a:solidFill>
                  <a:srgbClr val="7FA9A6"/>
                </a:solidFill>
                <a:latin typeface="Consolas"/>
              </a:rPr>
              <a:t> 6  </a:t>
            </a:r>
            <a:r>
              <a:rPr sz="1100" b="0" i="0">
                <a:solidFill>
                  <a:srgbClr val="F1F0FA"/>
                </a:solidFill>
                <a:latin typeface="Consolas"/>
              </a:rPr>
              <a:t>return safest route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08  ·  FEATURES, ADVANTAGES &amp; DISADVANTAGES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0E2B31"/>
                </a:solidFill>
                <a:latin typeface="Cambria"/>
              </a:rPr>
              <a:t>Faster and wider, but only as good as its data</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13</a:t>
            </a:fld>
          </a:p>
        </p:txBody>
      </p:sp>
      <p:sp>
        <p:nvSpPr>
          <p:cNvPr id="7" name="Rounded Rectangle 6"/>
          <p:cNvSpPr/>
          <p:nvPr/>
        </p:nvSpPr>
        <p:spPr>
          <a:xfrm>
            <a:off x="548640" y="1508760"/>
            <a:ext cx="2514600" cy="4709160"/>
          </a:xfrm>
          <a:prstGeom prst="roundRect">
            <a:avLst>
              <a:gd name="adj" fmla="val 4363"/>
            </a:avLst>
          </a:prstGeom>
          <a:solidFill>
            <a:srgbClr val="F3F7F7"/>
          </a:solidFill>
          <a:ln>
            <a:noFill/>
          </a:ln>
        </p:spPr>
        <p:txBody>
          <a:bodyPr rtlCol="0" anchor="ctr" wrap="square" lIns="54864" rIns="54864" tIns="54864" bIns="54864"/>
          <a:lstStyle/>
          <a:p>
            <a:pPr algn="ctr"/>
          </a:p>
        </p:txBody>
      </p:sp>
      <p:sp>
        <p:nvSpPr>
          <p:cNvPr id="8" name="Oval 7"/>
          <p:cNvSpPr/>
          <p:nvPr/>
        </p:nvSpPr>
        <p:spPr>
          <a:xfrm>
            <a:off x="731520" y="1691639"/>
            <a:ext cx="420624" cy="420624"/>
          </a:xfrm>
          <a:prstGeom prst="ellipse">
            <a:avLst/>
          </a:prstGeom>
          <a:solidFill>
            <a:srgbClr val="12807F"/>
          </a:solidFill>
          <a:ln>
            <a:noFill/>
          </a:ln>
        </p:spPr>
        <p:txBody>
          <a:bodyPr rtlCol="0" anchor="ctr" wrap="square" lIns="54864" rIns="54864" tIns="54864" bIns="54864"/>
          <a:lstStyle/>
          <a:p>
            <a:pPr algn="ctr"/>
          </a:p>
        </p:txBody>
      </p:sp>
      <p:pic>
        <p:nvPicPr>
          <p:cNvPr id="9" name="Picture 8" descr="star_w.png"/>
          <p:cNvPicPr>
            <a:picLocks noChangeAspect="1"/>
          </p:cNvPicPr>
          <p:nvPr/>
        </p:nvPicPr>
        <p:blipFill>
          <a:blip r:embed="rId3"/>
          <a:stretch>
            <a:fillRect/>
          </a:stretch>
        </p:blipFill>
        <p:spPr>
          <a:xfrm>
            <a:off x="832103" y="1792224"/>
            <a:ext cx="219456" cy="219456"/>
          </a:xfrm>
          <a:prstGeom prst="rect">
            <a:avLst/>
          </a:prstGeom>
        </p:spPr>
      </p:pic>
      <p:sp>
        <p:nvSpPr>
          <p:cNvPr id="10" name="TextBox 9"/>
          <p:cNvSpPr txBox="1"/>
          <p:nvPr/>
        </p:nvSpPr>
        <p:spPr>
          <a:xfrm>
            <a:off x="1261872" y="1673351"/>
            <a:ext cx="1691640" cy="457200"/>
          </a:xfrm>
          <a:prstGeom prst="rect">
            <a:avLst/>
          </a:prstGeom>
          <a:noFill/>
        </p:spPr>
        <p:txBody>
          <a:bodyPr wrap="square" anchor="ctr" lIns="0" rIns="0" tIns="0" bIns="0"/>
          <a:lstStyle/>
          <a:p>
            <a:pPr algn="l">
              <a:spcAft>
                <a:spcPts val="400"/>
              </a:spcAft>
            </a:pPr>
            <a:r>
              <a:rPr sz="1600" b="1" i="0">
                <a:solidFill>
                  <a:srgbClr val="12807F"/>
                </a:solidFill>
                <a:latin typeface="Cambria"/>
              </a:rPr>
              <a:t>Features</a:t>
            </a:r>
          </a:p>
        </p:txBody>
      </p:sp>
      <p:sp>
        <p:nvSpPr>
          <p:cNvPr id="11" name="TextBox 10"/>
          <p:cNvSpPr txBox="1"/>
          <p:nvPr/>
        </p:nvSpPr>
        <p:spPr>
          <a:xfrm>
            <a:off x="731520" y="2331720"/>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Data fusion</a:t>
            </a:r>
          </a:p>
          <a:p>
            <a:pPr algn="l">
              <a:spcAft>
                <a:spcPts val="100"/>
              </a:spcAft>
            </a:pPr>
            <a:r>
              <a:rPr sz="1200" b="0" i="0">
                <a:solidFill>
                  <a:srgbClr val="5B6E72"/>
                </a:solidFill>
                <a:latin typeface="Calibri"/>
              </a:rPr>
              <a:t>satellite, sensor and text data</a:t>
            </a:r>
          </a:p>
        </p:txBody>
      </p:sp>
      <p:cxnSp>
        <p:nvCxnSpPr>
          <p:cNvPr id="12" name="Connector 11"/>
          <p:cNvCxnSpPr/>
          <p:nvPr/>
        </p:nvCxnSpPr>
        <p:spPr>
          <a:xfrm>
            <a:off x="731520" y="3072384"/>
            <a:ext cx="2148840" cy="0"/>
          </a:xfrm>
          <a:prstGeom prst="line">
            <a:avLst/>
          </a:prstGeom>
          <a:ln w="9525">
            <a:solidFill>
              <a:srgbClr val="CBE0DE"/>
            </a:solidFill>
          </a:ln>
        </p:spPr>
      </p:cxnSp>
      <p:sp>
        <p:nvSpPr>
          <p:cNvPr id="13" name="TextBox 12"/>
          <p:cNvSpPr txBox="1"/>
          <p:nvPr/>
        </p:nvSpPr>
        <p:spPr>
          <a:xfrm>
            <a:off x="731520" y="3099815"/>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Real-time</a:t>
            </a:r>
          </a:p>
          <a:p>
            <a:pPr algn="l">
              <a:spcAft>
                <a:spcPts val="100"/>
              </a:spcAft>
            </a:pPr>
            <a:r>
              <a:rPr sz="1200" b="0" i="0">
                <a:solidFill>
                  <a:srgbClr val="5B6E72"/>
                </a:solidFill>
                <a:latin typeface="Calibri"/>
              </a:rPr>
              <a:t>continuous monitoring</a:t>
            </a:r>
          </a:p>
        </p:txBody>
      </p:sp>
      <p:cxnSp>
        <p:nvCxnSpPr>
          <p:cNvPr id="14" name="Connector 13"/>
          <p:cNvCxnSpPr/>
          <p:nvPr/>
        </p:nvCxnSpPr>
        <p:spPr>
          <a:xfrm>
            <a:off x="731520" y="3840479"/>
            <a:ext cx="2148840" cy="0"/>
          </a:xfrm>
          <a:prstGeom prst="line">
            <a:avLst/>
          </a:prstGeom>
          <a:ln w="9525">
            <a:solidFill>
              <a:srgbClr val="CBE0DE"/>
            </a:solidFill>
          </a:ln>
        </p:spPr>
      </p:cxnSp>
      <p:sp>
        <p:nvSpPr>
          <p:cNvPr id="15" name="TextBox 14"/>
          <p:cNvSpPr txBox="1"/>
          <p:nvPr/>
        </p:nvSpPr>
        <p:spPr>
          <a:xfrm>
            <a:off x="731520" y="3867911"/>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Prediction</a:t>
            </a:r>
          </a:p>
          <a:p>
            <a:pPr algn="l">
              <a:spcAft>
                <a:spcPts val="100"/>
              </a:spcAft>
            </a:pPr>
            <a:r>
              <a:rPr sz="1200" b="0" i="0">
                <a:solidFill>
                  <a:srgbClr val="5B6E72"/>
                </a:solidFill>
                <a:latin typeface="Calibri"/>
              </a:rPr>
              <a:t>forecasts risk in advance</a:t>
            </a:r>
          </a:p>
        </p:txBody>
      </p:sp>
      <p:cxnSp>
        <p:nvCxnSpPr>
          <p:cNvPr id="16" name="Connector 15"/>
          <p:cNvCxnSpPr/>
          <p:nvPr/>
        </p:nvCxnSpPr>
        <p:spPr>
          <a:xfrm>
            <a:off x="731520" y="4608575"/>
            <a:ext cx="2148840" cy="0"/>
          </a:xfrm>
          <a:prstGeom prst="line">
            <a:avLst/>
          </a:prstGeom>
          <a:ln w="9525">
            <a:solidFill>
              <a:srgbClr val="CBE0DE"/>
            </a:solidFill>
          </a:ln>
        </p:spPr>
      </p:cxnSp>
      <p:sp>
        <p:nvSpPr>
          <p:cNvPr id="17" name="TextBox 16"/>
          <p:cNvSpPr txBox="1"/>
          <p:nvPr/>
        </p:nvSpPr>
        <p:spPr>
          <a:xfrm>
            <a:off x="731520" y="4636008"/>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Auto mapping</a:t>
            </a:r>
          </a:p>
          <a:p>
            <a:pPr algn="l">
              <a:spcAft>
                <a:spcPts val="100"/>
              </a:spcAft>
            </a:pPr>
            <a:r>
              <a:rPr sz="1200" b="0" i="0">
                <a:solidFill>
                  <a:srgbClr val="5B6E72"/>
                </a:solidFill>
                <a:latin typeface="Calibri"/>
              </a:rPr>
              <a:t>damage maps from imagery</a:t>
            </a:r>
          </a:p>
        </p:txBody>
      </p:sp>
      <p:cxnSp>
        <p:nvCxnSpPr>
          <p:cNvPr id="18" name="Connector 17"/>
          <p:cNvCxnSpPr/>
          <p:nvPr/>
        </p:nvCxnSpPr>
        <p:spPr>
          <a:xfrm>
            <a:off x="731520" y="5376672"/>
            <a:ext cx="2148840" cy="0"/>
          </a:xfrm>
          <a:prstGeom prst="line">
            <a:avLst/>
          </a:prstGeom>
          <a:ln w="9525">
            <a:solidFill>
              <a:srgbClr val="CBE0DE"/>
            </a:solidFill>
          </a:ln>
        </p:spPr>
      </p:cxnSp>
      <p:sp>
        <p:nvSpPr>
          <p:cNvPr id="19" name="TextBox 18"/>
          <p:cNvSpPr txBox="1"/>
          <p:nvPr/>
        </p:nvSpPr>
        <p:spPr>
          <a:xfrm>
            <a:off x="731520" y="5404104"/>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Decision support</a:t>
            </a:r>
          </a:p>
          <a:p>
            <a:pPr algn="l">
              <a:spcAft>
                <a:spcPts val="100"/>
              </a:spcAft>
            </a:pPr>
            <a:r>
              <a:rPr sz="1200" b="0" i="0">
                <a:solidFill>
                  <a:srgbClr val="5B6E72"/>
                </a:solidFill>
                <a:latin typeface="Calibri"/>
              </a:rPr>
              <a:t>routes, resources, reports</a:t>
            </a:r>
          </a:p>
        </p:txBody>
      </p:sp>
      <p:sp>
        <p:nvSpPr>
          <p:cNvPr id="20" name="Rounded Rectangle 19"/>
          <p:cNvSpPr/>
          <p:nvPr/>
        </p:nvSpPr>
        <p:spPr>
          <a:xfrm>
            <a:off x="3314700" y="1508760"/>
            <a:ext cx="2514600" cy="4709160"/>
          </a:xfrm>
          <a:prstGeom prst="roundRect">
            <a:avLst>
              <a:gd name="adj" fmla="val 4363"/>
            </a:avLst>
          </a:prstGeom>
          <a:solidFill>
            <a:srgbClr val="F3F7F7"/>
          </a:solidFill>
          <a:ln>
            <a:noFill/>
          </a:ln>
        </p:spPr>
        <p:txBody>
          <a:bodyPr rtlCol="0" anchor="ctr" wrap="square" lIns="54864" rIns="54864" tIns="54864" bIns="54864"/>
          <a:lstStyle/>
          <a:p>
            <a:pPr algn="ctr"/>
          </a:p>
        </p:txBody>
      </p:sp>
      <p:sp>
        <p:nvSpPr>
          <p:cNvPr id="21" name="Oval 20"/>
          <p:cNvSpPr/>
          <p:nvPr/>
        </p:nvSpPr>
        <p:spPr>
          <a:xfrm>
            <a:off x="3497580" y="1691639"/>
            <a:ext cx="420624" cy="420624"/>
          </a:xfrm>
          <a:prstGeom prst="ellipse">
            <a:avLst/>
          </a:prstGeom>
          <a:solidFill>
            <a:srgbClr val="2E9E6A"/>
          </a:solidFill>
          <a:ln>
            <a:noFill/>
          </a:ln>
        </p:spPr>
        <p:txBody>
          <a:bodyPr rtlCol="0" anchor="ctr" wrap="square" lIns="54864" rIns="54864" tIns="54864" bIns="54864"/>
          <a:lstStyle/>
          <a:p>
            <a:pPr algn="ctr"/>
          </a:p>
        </p:txBody>
      </p:sp>
      <p:pic>
        <p:nvPicPr>
          <p:cNvPr id="22" name="Picture 21" descr="check_w.png"/>
          <p:cNvPicPr>
            <a:picLocks noChangeAspect="1"/>
          </p:cNvPicPr>
          <p:nvPr/>
        </p:nvPicPr>
        <p:blipFill>
          <a:blip r:embed="rId4"/>
          <a:stretch>
            <a:fillRect/>
          </a:stretch>
        </p:blipFill>
        <p:spPr>
          <a:xfrm>
            <a:off x="3598164" y="1792224"/>
            <a:ext cx="219456" cy="219456"/>
          </a:xfrm>
          <a:prstGeom prst="rect">
            <a:avLst/>
          </a:prstGeom>
        </p:spPr>
      </p:pic>
      <p:sp>
        <p:nvSpPr>
          <p:cNvPr id="23" name="TextBox 22"/>
          <p:cNvSpPr txBox="1"/>
          <p:nvPr/>
        </p:nvSpPr>
        <p:spPr>
          <a:xfrm>
            <a:off x="4027932" y="1673351"/>
            <a:ext cx="1691640" cy="457200"/>
          </a:xfrm>
          <a:prstGeom prst="rect">
            <a:avLst/>
          </a:prstGeom>
          <a:noFill/>
        </p:spPr>
        <p:txBody>
          <a:bodyPr wrap="square" anchor="ctr" lIns="0" rIns="0" tIns="0" bIns="0"/>
          <a:lstStyle/>
          <a:p>
            <a:pPr algn="l">
              <a:spcAft>
                <a:spcPts val="400"/>
              </a:spcAft>
            </a:pPr>
            <a:r>
              <a:rPr sz="1600" b="1" i="0">
                <a:solidFill>
                  <a:srgbClr val="2E9E6A"/>
                </a:solidFill>
                <a:latin typeface="Cambria"/>
              </a:rPr>
              <a:t>Advantages</a:t>
            </a:r>
          </a:p>
        </p:txBody>
      </p:sp>
      <p:sp>
        <p:nvSpPr>
          <p:cNvPr id="24" name="TextBox 23"/>
          <p:cNvSpPr txBox="1"/>
          <p:nvPr/>
        </p:nvSpPr>
        <p:spPr>
          <a:xfrm>
            <a:off x="3497580" y="2331720"/>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Earlier warnings</a:t>
            </a:r>
          </a:p>
          <a:p>
            <a:pPr algn="l">
              <a:spcAft>
                <a:spcPts val="100"/>
              </a:spcAft>
            </a:pPr>
            <a:r>
              <a:rPr sz="1200" b="0" i="0">
                <a:solidFill>
                  <a:srgbClr val="5B6E72"/>
                </a:solidFill>
                <a:latin typeface="Calibri"/>
              </a:rPr>
              <a:t>more lead time to evacuate</a:t>
            </a:r>
          </a:p>
        </p:txBody>
      </p:sp>
      <p:cxnSp>
        <p:nvCxnSpPr>
          <p:cNvPr id="25" name="Connector 24"/>
          <p:cNvCxnSpPr/>
          <p:nvPr/>
        </p:nvCxnSpPr>
        <p:spPr>
          <a:xfrm>
            <a:off x="3497580" y="3072384"/>
            <a:ext cx="2148840" cy="0"/>
          </a:xfrm>
          <a:prstGeom prst="line">
            <a:avLst/>
          </a:prstGeom>
          <a:ln w="9525">
            <a:solidFill>
              <a:srgbClr val="CBE0DE"/>
            </a:solidFill>
          </a:ln>
        </p:spPr>
      </p:cxnSp>
      <p:sp>
        <p:nvSpPr>
          <p:cNvPr id="26" name="TextBox 25"/>
          <p:cNvSpPr txBox="1"/>
          <p:nvPr/>
        </p:nvSpPr>
        <p:spPr>
          <a:xfrm>
            <a:off x="3497580" y="3099815"/>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Faster assessment</a:t>
            </a:r>
          </a:p>
          <a:p>
            <a:pPr algn="l">
              <a:spcAft>
                <a:spcPts val="100"/>
              </a:spcAft>
            </a:pPr>
            <a:r>
              <a:rPr sz="1200" b="0" i="0">
                <a:solidFill>
                  <a:srgbClr val="5B6E72"/>
                </a:solidFill>
                <a:latin typeface="Calibri"/>
              </a:rPr>
              <a:t>quicker than ground surveys</a:t>
            </a:r>
          </a:p>
        </p:txBody>
      </p:sp>
      <p:cxnSp>
        <p:nvCxnSpPr>
          <p:cNvPr id="27" name="Connector 26"/>
          <p:cNvCxnSpPr/>
          <p:nvPr/>
        </p:nvCxnSpPr>
        <p:spPr>
          <a:xfrm>
            <a:off x="3497580" y="3840479"/>
            <a:ext cx="2148840" cy="0"/>
          </a:xfrm>
          <a:prstGeom prst="line">
            <a:avLst/>
          </a:prstGeom>
          <a:ln w="9525">
            <a:solidFill>
              <a:srgbClr val="CBE0DE"/>
            </a:solidFill>
          </a:ln>
        </p:spPr>
      </p:cxnSp>
      <p:sp>
        <p:nvSpPr>
          <p:cNvPr id="28" name="TextBox 27"/>
          <p:cNvSpPr txBox="1"/>
          <p:nvPr/>
        </p:nvSpPr>
        <p:spPr>
          <a:xfrm>
            <a:off x="3497580" y="3867911"/>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Better allocation</a:t>
            </a:r>
          </a:p>
          <a:p>
            <a:pPr algn="l">
              <a:spcAft>
                <a:spcPts val="100"/>
              </a:spcAft>
            </a:pPr>
            <a:r>
              <a:rPr sz="1200" b="0" i="0">
                <a:solidFill>
                  <a:srgbClr val="5B6E72"/>
                </a:solidFill>
                <a:latin typeface="Calibri"/>
              </a:rPr>
              <a:t>relief reaches need first</a:t>
            </a:r>
          </a:p>
        </p:txBody>
      </p:sp>
      <p:cxnSp>
        <p:nvCxnSpPr>
          <p:cNvPr id="29" name="Connector 28"/>
          <p:cNvCxnSpPr/>
          <p:nvPr/>
        </p:nvCxnSpPr>
        <p:spPr>
          <a:xfrm>
            <a:off x="3497580" y="4608575"/>
            <a:ext cx="2148840" cy="0"/>
          </a:xfrm>
          <a:prstGeom prst="line">
            <a:avLst/>
          </a:prstGeom>
          <a:ln w="9525">
            <a:solidFill>
              <a:srgbClr val="CBE0DE"/>
            </a:solidFill>
          </a:ln>
        </p:spPr>
      </p:cxnSp>
      <p:sp>
        <p:nvSpPr>
          <p:cNvPr id="30" name="TextBox 29"/>
          <p:cNvSpPr txBox="1"/>
          <p:nvPr/>
        </p:nvSpPr>
        <p:spPr>
          <a:xfrm>
            <a:off x="3497580" y="4636008"/>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Wide coverage</a:t>
            </a:r>
          </a:p>
          <a:p>
            <a:pPr algn="l">
              <a:spcAft>
                <a:spcPts val="100"/>
              </a:spcAft>
            </a:pPr>
            <a:r>
              <a:rPr sz="1200" b="0" i="0">
                <a:solidFill>
                  <a:srgbClr val="5B6E72"/>
                </a:solidFill>
                <a:latin typeface="Calibri"/>
              </a:rPr>
              <a:t>large or unreachable areas</a:t>
            </a:r>
          </a:p>
        </p:txBody>
      </p:sp>
      <p:cxnSp>
        <p:nvCxnSpPr>
          <p:cNvPr id="31" name="Connector 30"/>
          <p:cNvCxnSpPr/>
          <p:nvPr/>
        </p:nvCxnSpPr>
        <p:spPr>
          <a:xfrm>
            <a:off x="3497580" y="5376672"/>
            <a:ext cx="2148840" cy="0"/>
          </a:xfrm>
          <a:prstGeom prst="line">
            <a:avLst/>
          </a:prstGeom>
          <a:ln w="9525">
            <a:solidFill>
              <a:srgbClr val="CBE0DE"/>
            </a:solidFill>
          </a:ln>
        </p:spPr>
      </p:cxnSp>
      <p:sp>
        <p:nvSpPr>
          <p:cNvPr id="32" name="TextBox 31"/>
          <p:cNvSpPr txBox="1"/>
          <p:nvPr/>
        </p:nvSpPr>
        <p:spPr>
          <a:xfrm>
            <a:off x="3497580" y="5404104"/>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Scalable</a:t>
            </a:r>
          </a:p>
          <a:p>
            <a:pPr algn="l">
              <a:spcAft>
                <a:spcPts val="100"/>
              </a:spcAft>
            </a:pPr>
            <a:r>
              <a:rPr sz="1200" b="0" i="0">
                <a:solidFill>
                  <a:srgbClr val="5B6E72"/>
                </a:solidFill>
                <a:latin typeface="Calibri"/>
              </a:rPr>
              <a:t>works 24×7 at scale</a:t>
            </a:r>
          </a:p>
        </p:txBody>
      </p:sp>
      <p:sp>
        <p:nvSpPr>
          <p:cNvPr id="33" name="Rounded Rectangle 32"/>
          <p:cNvSpPr/>
          <p:nvPr/>
        </p:nvSpPr>
        <p:spPr>
          <a:xfrm>
            <a:off x="6080759" y="1508760"/>
            <a:ext cx="2514600" cy="4709160"/>
          </a:xfrm>
          <a:prstGeom prst="roundRect">
            <a:avLst>
              <a:gd name="adj" fmla="val 4363"/>
            </a:avLst>
          </a:prstGeom>
          <a:solidFill>
            <a:srgbClr val="F3F7F7"/>
          </a:solidFill>
          <a:ln>
            <a:noFill/>
          </a:ln>
        </p:spPr>
        <p:txBody>
          <a:bodyPr rtlCol="0" anchor="ctr" wrap="square" lIns="54864" rIns="54864" tIns="54864" bIns="54864"/>
          <a:lstStyle/>
          <a:p>
            <a:pPr algn="ctr"/>
          </a:p>
        </p:txBody>
      </p:sp>
      <p:sp>
        <p:nvSpPr>
          <p:cNvPr id="34" name="Oval 33"/>
          <p:cNvSpPr/>
          <p:nvPr/>
        </p:nvSpPr>
        <p:spPr>
          <a:xfrm>
            <a:off x="6263640" y="1691639"/>
            <a:ext cx="420624" cy="420624"/>
          </a:xfrm>
          <a:prstGeom prst="ellipse">
            <a:avLst/>
          </a:prstGeom>
          <a:solidFill>
            <a:srgbClr val="D64545"/>
          </a:solidFill>
          <a:ln>
            <a:noFill/>
          </a:ln>
        </p:spPr>
        <p:txBody>
          <a:bodyPr rtlCol="0" anchor="ctr" wrap="square" lIns="54864" rIns="54864" tIns="54864" bIns="54864"/>
          <a:lstStyle/>
          <a:p>
            <a:pPr algn="ctr"/>
          </a:p>
        </p:txBody>
      </p:sp>
      <p:pic>
        <p:nvPicPr>
          <p:cNvPr id="35" name="Picture 34" descr="warn_w.png"/>
          <p:cNvPicPr>
            <a:picLocks noChangeAspect="1"/>
          </p:cNvPicPr>
          <p:nvPr/>
        </p:nvPicPr>
        <p:blipFill>
          <a:blip r:embed="rId5"/>
          <a:stretch>
            <a:fillRect/>
          </a:stretch>
        </p:blipFill>
        <p:spPr>
          <a:xfrm>
            <a:off x="6364223" y="1792224"/>
            <a:ext cx="219456" cy="219456"/>
          </a:xfrm>
          <a:prstGeom prst="rect">
            <a:avLst/>
          </a:prstGeom>
        </p:spPr>
      </p:pic>
      <p:sp>
        <p:nvSpPr>
          <p:cNvPr id="36" name="TextBox 35"/>
          <p:cNvSpPr txBox="1"/>
          <p:nvPr/>
        </p:nvSpPr>
        <p:spPr>
          <a:xfrm>
            <a:off x="6793992" y="1673351"/>
            <a:ext cx="1691640" cy="457200"/>
          </a:xfrm>
          <a:prstGeom prst="rect">
            <a:avLst/>
          </a:prstGeom>
          <a:noFill/>
        </p:spPr>
        <p:txBody>
          <a:bodyPr wrap="square" anchor="ctr" lIns="0" rIns="0" tIns="0" bIns="0"/>
          <a:lstStyle/>
          <a:p>
            <a:pPr algn="l">
              <a:spcAft>
                <a:spcPts val="400"/>
              </a:spcAft>
            </a:pPr>
            <a:r>
              <a:rPr sz="1600" b="1" i="0">
                <a:solidFill>
                  <a:srgbClr val="D64545"/>
                </a:solidFill>
                <a:latin typeface="Cambria"/>
              </a:rPr>
              <a:t>Disadvantages</a:t>
            </a:r>
          </a:p>
        </p:txBody>
      </p:sp>
      <p:sp>
        <p:nvSpPr>
          <p:cNvPr id="37" name="TextBox 36"/>
          <p:cNvSpPr txBox="1"/>
          <p:nvPr/>
        </p:nvSpPr>
        <p:spPr>
          <a:xfrm>
            <a:off x="6263640" y="2331720"/>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Data scarcity</a:t>
            </a:r>
          </a:p>
          <a:p>
            <a:pPr algn="l">
              <a:spcAft>
                <a:spcPts val="100"/>
              </a:spcAft>
            </a:pPr>
            <a:r>
              <a:rPr sz="1200" b="0" i="0">
                <a:solidFill>
                  <a:srgbClr val="5B6E72"/>
                </a:solidFill>
                <a:latin typeface="Calibri"/>
              </a:rPr>
              <a:t>rare events, imbalanced data</a:t>
            </a:r>
          </a:p>
        </p:txBody>
      </p:sp>
      <p:cxnSp>
        <p:nvCxnSpPr>
          <p:cNvPr id="38" name="Connector 37"/>
          <p:cNvCxnSpPr/>
          <p:nvPr/>
        </p:nvCxnSpPr>
        <p:spPr>
          <a:xfrm>
            <a:off x="6263640" y="3072384"/>
            <a:ext cx="2148840" cy="0"/>
          </a:xfrm>
          <a:prstGeom prst="line">
            <a:avLst/>
          </a:prstGeom>
          <a:ln w="9525">
            <a:solidFill>
              <a:srgbClr val="CBE0DE"/>
            </a:solidFill>
          </a:ln>
        </p:spPr>
      </p:cxnSp>
      <p:sp>
        <p:nvSpPr>
          <p:cNvPr id="39" name="TextBox 38"/>
          <p:cNvSpPr txBox="1"/>
          <p:nvPr/>
        </p:nvSpPr>
        <p:spPr>
          <a:xfrm>
            <a:off x="6263640" y="3099815"/>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Generalization</a:t>
            </a:r>
          </a:p>
          <a:p>
            <a:pPr algn="l">
              <a:spcAft>
                <a:spcPts val="100"/>
              </a:spcAft>
            </a:pPr>
            <a:r>
              <a:rPr sz="1200" b="0" i="0">
                <a:solidFill>
                  <a:srgbClr val="5B6E72"/>
                </a:solidFill>
                <a:latin typeface="Calibri"/>
              </a:rPr>
              <a:t>may fail in new regions</a:t>
            </a:r>
          </a:p>
        </p:txBody>
      </p:sp>
      <p:cxnSp>
        <p:nvCxnSpPr>
          <p:cNvPr id="40" name="Connector 39"/>
          <p:cNvCxnSpPr/>
          <p:nvPr/>
        </p:nvCxnSpPr>
        <p:spPr>
          <a:xfrm>
            <a:off x="6263640" y="3840479"/>
            <a:ext cx="2148840" cy="0"/>
          </a:xfrm>
          <a:prstGeom prst="line">
            <a:avLst/>
          </a:prstGeom>
          <a:ln w="9525">
            <a:solidFill>
              <a:srgbClr val="CBE0DE"/>
            </a:solidFill>
          </a:ln>
        </p:spPr>
      </p:cxnSp>
      <p:sp>
        <p:nvSpPr>
          <p:cNvPr id="41" name="TextBox 40"/>
          <p:cNvSpPr txBox="1"/>
          <p:nvPr/>
        </p:nvSpPr>
        <p:spPr>
          <a:xfrm>
            <a:off x="6263640" y="3867911"/>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Black box</a:t>
            </a:r>
          </a:p>
          <a:p>
            <a:pPr algn="l">
              <a:spcAft>
                <a:spcPts val="100"/>
              </a:spcAft>
            </a:pPr>
            <a:r>
              <a:rPr sz="1200" b="0" i="0">
                <a:solidFill>
                  <a:srgbClr val="5B6E72"/>
                </a:solidFill>
                <a:latin typeface="Calibri"/>
              </a:rPr>
              <a:t>low trust without explanation [2]</a:t>
            </a:r>
          </a:p>
        </p:txBody>
      </p:sp>
      <p:cxnSp>
        <p:nvCxnSpPr>
          <p:cNvPr id="42" name="Connector 41"/>
          <p:cNvCxnSpPr/>
          <p:nvPr/>
        </p:nvCxnSpPr>
        <p:spPr>
          <a:xfrm>
            <a:off x="6263640" y="4608575"/>
            <a:ext cx="2148840" cy="0"/>
          </a:xfrm>
          <a:prstGeom prst="line">
            <a:avLst/>
          </a:prstGeom>
          <a:ln w="9525">
            <a:solidFill>
              <a:srgbClr val="CBE0DE"/>
            </a:solidFill>
          </a:ln>
        </p:spPr>
      </p:cxnSp>
      <p:sp>
        <p:nvSpPr>
          <p:cNvPr id="43" name="TextBox 42"/>
          <p:cNvSpPr txBox="1"/>
          <p:nvPr/>
        </p:nvSpPr>
        <p:spPr>
          <a:xfrm>
            <a:off x="6263640" y="4636008"/>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Infrastructure</a:t>
            </a:r>
          </a:p>
          <a:p>
            <a:pPr algn="l">
              <a:spcAft>
                <a:spcPts val="100"/>
              </a:spcAft>
            </a:pPr>
            <a:r>
              <a:rPr sz="1200" b="0" i="0">
                <a:solidFill>
                  <a:srgbClr val="5B6E72"/>
                </a:solidFill>
                <a:latin typeface="Calibri"/>
              </a:rPr>
              <a:t>power / network may fail</a:t>
            </a:r>
          </a:p>
        </p:txBody>
      </p:sp>
      <p:cxnSp>
        <p:nvCxnSpPr>
          <p:cNvPr id="44" name="Connector 43"/>
          <p:cNvCxnSpPr/>
          <p:nvPr/>
        </p:nvCxnSpPr>
        <p:spPr>
          <a:xfrm>
            <a:off x="6263640" y="5376672"/>
            <a:ext cx="2148840" cy="0"/>
          </a:xfrm>
          <a:prstGeom prst="line">
            <a:avLst/>
          </a:prstGeom>
          <a:ln w="9525">
            <a:solidFill>
              <a:srgbClr val="CBE0DE"/>
            </a:solidFill>
          </a:ln>
        </p:spPr>
      </p:cxnSp>
      <p:sp>
        <p:nvSpPr>
          <p:cNvPr id="45" name="TextBox 44"/>
          <p:cNvSpPr txBox="1"/>
          <p:nvPr/>
        </p:nvSpPr>
        <p:spPr>
          <a:xfrm>
            <a:off x="6263640" y="5404104"/>
            <a:ext cx="2194560" cy="713232"/>
          </a:xfrm>
          <a:prstGeom prst="rect">
            <a:avLst/>
          </a:prstGeom>
          <a:noFill/>
        </p:spPr>
        <p:txBody>
          <a:bodyPr wrap="square" anchor="ctr" lIns="0" rIns="0" tIns="0" bIns="0"/>
          <a:lstStyle/>
          <a:p>
            <a:pPr algn="l">
              <a:spcAft>
                <a:spcPts val="100"/>
              </a:spcAft>
            </a:pPr>
            <a:r>
              <a:rPr sz="1400" b="1" i="0">
                <a:solidFill>
                  <a:srgbClr val="0E2B31"/>
                </a:solidFill>
                <a:latin typeface="Calibri"/>
              </a:rPr>
              <a:t>Misinformation</a:t>
            </a:r>
          </a:p>
          <a:p>
            <a:pPr algn="l">
              <a:spcAft>
                <a:spcPts val="100"/>
              </a:spcAft>
            </a:pPr>
            <a:r>
              <a:rPr sz="1200" b="0" i="0">
                <a:solidFill>
                  <a:srgbClr val="5B6E72"/>
                </a:solidFill>
                <a:latin typeface="Calibri"/>
              </a:rPr>
              <a:t>false posts; privacy risks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09  ·  APPLICATIONS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0E2B31"/>
                </a:solidFill>
                <a:latin typeface="Cambria"/>
              </a:rPr>
              <a:t>AI across hazards and response tasks</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14</a:t>
            </a:fld>
          </a:p>
        </p:txBody>
      </p:sp>
      <p:sp>
        <p:nvSpPr>
          <p:cNvPr id="7" name="Rounded Rectangle 6"/>
          <p:cNvSpPr/>
          <p:nvPr/>
        </p:nvSpPr>
        <p:spPr>
          <a:xfrm>
            <a:off x="548640" y="1508760"/>
            <a:ext cx="3931920" cy="1417320"/>
          </a:xfrm>
          <a:prstGeom prst="roundRect">
            <a:avLst>
              <a:gd name="adj" fmla="val 7741"/>
            </a:avLst>
          </a:prstGeom>
          <a:solidFill>
            <a:srgbClr val="F3F7F7"/>
          </a:solidFill>
          <a:ln>
            <a:noFill/>
          </a:ln>
        </p:spPr>
        <p:txBody>
          <a:bodyPr rtlCol="0" anchor="ctr" wrap="square" lIns="54864" rIns="54864" tIns="54864" bIns="54864"/>
          <a:lstStyle/>
          <a:p>
            <a:pPr algn="ctr"/>
          </a:p>
        </p:txBody>
      </p:sp>
      <p:sp>
        <p:nvSpPr>
          <p:cNvPr id="8" name="Oval 7"/>
          <p:cNvSpPr/>
          <p:nvPr/>
        </p:nvSpPr>
        <p:spPr>
          <a:xfrm>
            <a:off x="777240" y="1874519"/>
            <a:ext cx="685800" cy="685800"/>
          </a:xfrm>
          <a:prstGeom prst="ellipse">
            <a:avLst/>
          </a:prstGeom>
          <a:solidFill>
            <a:srgbClr val="12807F"/>
          </a:solidFill>
          <a:ln>
            <a:noFill/>
          </a:ln>
        </p:spPr>
        <p:txBody>
          <a:bodyPr rtlCol="0" anchor="ctr" wrap="square" lIns="54864" rIns="54864" tIns="54864" bIns="54864"/>
          <a:lstStyle/>
          <a:p>
            <a:pPr algn="ctr"/>
          </a:p>
        </p:txBody>
      </p:sp>
      <p:pic>
        <p:nvPicPr>
          <p:cNvPr id="9" name="Picture 8" descr="water_w.png"/>
          <p:cNvPicPr>
            <a:picLocks noChangeAspect="1"/>
          </p:cNvPicPr>
          <p:nvPr/>
        </p:nvPicPr>
        <p:blipFill>
          <a:blip r:embed="rId3"/>
          <a:stretch>
            <a:fillRect/>
          </a:stretch>
        </p:blipFill>
        <p:spPr>
          <a:xfrm>
            <a:off x="948690" y="2045969"/>
            <a:ext cx="342900" cy="342900"/>
          </a:xfrm>
          <a:prstGeom prst="rect">
            <a:avLst/>
          </a:prstGeom>
        </p:spPr>
      </p:pic>
      <p:sp>
        <p:nvSpPr>
          <p:cNvPr id="10" name="TextBox 9"/>
          <p:cNvSpPr txBox="1"/>
          <p:nvPr/>
        </p:nvSpPr>
        <p:spPr>
          <a:xfrm>
            <a:off x="1691640" y="1691639"/>
            <a:ext cx="2651760" cy="384048"/>
          </a:xfrm>
          <a:prstGeom prst="rect">
            <a:avLst/>
          </a:prstGeom>
          <a:noFill/>
        </p:spPr>
        <p:txBody>
          <a:bodyPr wrap="square" anchor="ctr" lIns="0" rIns="0" tIns="0" bIns="0"/>
          <a:lstStyle/>
          <a:p>
            <a:pPr algn="l">
              <a:spcAft>
                <a:spcPts val="400"/>
              </a:spcAft>
            </a:pPr>
            <a:r>
              <a:rPr sz="1600" b="1" i="0">
                <a:solidFill>
                  <a:srgbClr val="0E2B31"/>
                </a:solidFill>
                <a:latin typeface="Cambria"/>
              </a:rPr>
              <a:t>Flood forecasting</a:t>
            </a:r>
          </a:p>
        </p:txBody>
      </p:sp>
      <p:sp>
        <p:nvSpPr>
          <p:cNvPr id="11" name="TextBox 10"/>
          <p:cNvSpPr txBox="1"/>
          <p:nvPr/>
        </p:nvSpPr>
        <p:spPr>
          <a:xfrm>
            <a:off x="1691640" y="2093976"/>
            <a:ext cx="2651760" cy="777240"/>
          </a:xfrm>
          <a:prstGeom prst="rect">
            <a:avLst/>
          </a:prstGeom>
          <a:noFill/>
        </p:spPr>
        <p:txBody>
          <a:bodyPr wrap="square" anchor="t" lIns="0" rIns="0" tIns="0" bIns="0"/>
          <a:lstStyle/>
          <a:p>
            <a:pPr algn="l">
              <a:spcAft>
                <a:spcPts val="400"/>
              </a:spcAft>
            </a:pPr>
            <a:r>
              <a:rPr sz="1300" b="0" i="0">
                <a:solidFill>
                  <a:srgbClr val="5B6E72"/>
                </a:solidFill>
                <a:latin typeface="Calibri"/>
              </a:rPr>
              <a:t>River-level and rainfall prediction for early warnings [4].</a:t>
            </a:r>
          </a:p>
        </p:txBody>
      </p:sp>
      <p:sp>
        <p:nvSpPr>
          <p:cNvPr id="12" name="Rounded Rectangle 11"/>
          <p:cNvSpPr/>
          <p:nvPr/>
        </p:nvSpPr>
        <p:spPr>
          <a:xfrm>
            <a:off x="4663440" y="1508760"/>
            <a:ext cx="3931920" cy="1417320"/>
          </a:xfrm>
          <a:prstGeom prst="roundRect">
            <a:avLst>
              <a:gd name="adj" fmla="val 7741"/>
            </a:avLst>
          </a:prstGeom>
          <a:solidFill>
            <a:srgbClr val="F3F7F7"/>
          </a:solidFill>
          <a:ln>
            <a:noFill/>
          </a:ln>
        </p:spPr>
        <p:txBody>
          <a:bodyPr rtlCol="0" anchor="ctr" wrap="square" lIns="54864" rIns="54864" tIns="54864" bIns="54864"/>
          <a:lstStyle/>
          <a:p>
            <a:pPr algn="ctr"/>
          </a:p>
        </p:txBody>
      </p:sp>
      <p:sp>
        <p:nvSpPr>
          <p:cNvPr id="13" name="Oval 12"/>
          <p:cNvSpPr/>
          <p:nvPr/>
        </p:nvSpPr>
        <p:spPr>
          <a:xfrm>
            <a:off x="4892040" y="1874519"/>
            <a:ext cx="685800" cy="685800"/>
          </a:xfrm>
          <a:prstGeom prst="ellipse">
            <a:avLst/>
          </a:prstGeom>
          <a:solidFill>
            <a:srgbClr val="EA6A1E"/>
          </a:solidFill>
          <a:ln>
            <a:noFill/>
          </a:ln>
        </p:spPr>
        <p:txBody>
          <a:bodyPr rtlCol="0" anchor="ctr" wrap="square" lIns="54864" rIns="54864" tIns="54864" bIns="54864"/>
          <a:lstStyle/>
          <a:p>
            <a:pPr algn="ctr"/>
          </a:p>
        </p:txBody>
      </p:sp>
      <p:pic>
        <p:nvPicPr>
          <p:cNvPr id="14" name="Picture 13" descr="fire_w.png"/>
          <p:cNvPicPr>
            <a:picLocks noChangeAspect="1"/>
          </p:cNvPicPr>
          <p:nvPr/>
        </p:nvPicPr>
        <p:blipFill>
          <a:blip r:embed="rId4"/>
          <a:stretch>
            <a:fillRect/>
          </a:stretch>
        </p:blipFill>
        <p:spPr>
          <a:xfrm>
            <a:off x="5063490" y="2045969"/>
            <a:ext cx="342900" cy="342900"/>
          </a:xfrm>
          <a:prstGeom prst="rect">
            <a:avLst/>
          </a:prstGeom>
        </p:spPr>
      </p:pic>
      <p:sp>
        <p:nvSpPr>
          <p:cNvPr id="15" name="TextBox 14"/>
          <p:cNvSpPr txBox="1"/>
          <p:nvPr/>
        </p:nvSpPr>
        <p:spPr>
          <a:xfrm>
            <a:off x="5806440" y="1691639"/>
            <a:ext cx="2651760" cy="384048"/>
          </a:xfrm>
          <a:prstGeom prst="rect">
            <a:avLst/>
          </a:prstGeom>
          <a:noFill/>
        </p:spPr>
        <p:txBody>
          <a:bodyPr wrap="square" anchor="ctr" lIns="0" rIns="0" tIns="0" bIns="0"/>
          <a:lstStyle/>
          <a:p>
            <a:pPr algn="l">
              <a:spcAft>
                <a:spcPts val="400"/>
              </a:spcAft>
            </a:pPr>
            <a:r>
              <a:rPr sz="1600" b="1" i="0">
                <a:solidFill>
                  <a:srgbClr val="0E2B31"/>
                </a:solidFill>
                <a:latin typeface="Cambria"/>
              </a:rPr>
              <a:t>Wildfire detection</a:t>
            </a:r>
          </a:p>
        </p:txBody>
      </p:sp>
      <p:sp>
        <p:nvSpPr>
          <p:cNvPr id="16" name="TextBox 15"/>
          <p:cNvSpPr txBox="1"/>
          <p:nvPr/>
        </p:nvSpPr>
        <p:spPr>
          <a:xfrm>
            <a:off x="5806440" y="2093976"/>
            <a:ext cx="2651760" cy="777240"/>
          </a:xfrm>
          <a:prstGeom prst="rect">
            <a:avLst/>
          </a:prstGeom>
          <a:noFill/>
        </p:spPr>
        <p:txBody>
          <a:bodyPr wrap="square" anchor="t" lIns="0" rIns="0" tIns="0" bIns="0"/>
          <a:lstStyle/>
          <a:p>
            <a:pPr algn="l">
              <a:spcAft>
                <a:spcPts val="400"/>
              </a:spcAft>
            </a:pPr>
            <a:r>
              <a:rPr sz="1300" b="0" i="0">
                <a:solidFill>
                  <a:srgbClr val="5B6E72"/>
                </a:solidFill>
                <a:latin typeface="Calibri"/>
              </a:rPr>
              <a:t>AIoT sensors and cameras detect fires early [5].</a:t>
            </a:r>
          </a:p>
        </p:txBody>
      </p:sp>
      <p:sp>
        <p:nvSpPr>
          <p:cNvPr id="17" name="Rounded Rectangle 16"/>
          <p:cNvSpPr/>
          <p:nvPr/>
        </p:nvSpPr>
        <p:spPr>
          <a:xfrm>
            <a:off x="548640" y="3081528"/>
            <a:ext cx="3931920" cy="1417320"/>
          </a:xfrm>
          <a:prstGeom prst="roundRect">
            <a:avLst>
              <a:gd name="adj" fmla="val 7741"/>
            </a:avLst>
          </a:prstGeom>
          <a:solidFill>
            <a:srgbClr val="F3F7F7"/>
          </a:solidFill>
          <a:ln>
            <a:noFill/>
          </a:ln>
        </p:spPr>
        <p:txBody>
          <a:bodyPr rtlCol="0" anchor="ctr" wrap="square" lIns="54864" rIns="54864" tIns="54864" bIns="54864"/>
          <a:lstStyle/>
          <a:p>
            <a:pPr algn="ctr"/>
          </a:p>
        </p:txBody>
      </p:sp>
      <p:sp>
        <p:nvSpPr>
          <p:cNvPr id="18" name="Oval 17"/>
          <p:cNvSpPr/>
          <p:nvPr/>
        </p:nvSpPr>
        <p:spPr>
          <a:xfrm>
            <a:off x="777240" y="3447288"/>
            <a:ext cx="685800" cy="685800"/>
          </a:xfrm>
          <a:prstGeom prst="ellipse">
            <a:avLst/>
          </a:prstGeom>
          <a:solidFill>
            <a:srgbClr val="12807F"/>
          </a:solidFill>
          <a:ln>
            <a:noFill/>
          </a:ln>
        </p:spPr>
        <p:txBody>
          <a:bodyPr rtlCol="0" anchor="ctr" wrap="square" lIns="54864" rIns="54864" tIns="54864" bIns="54864"/>
          <a:lstStyle/>
          <a:p>
            <a:pPr algn="ctr"/>
          </a:p>
        </p:txBody>
      </p:sp>
      <p:pic>
        <p:nvPicPr>
          <p:cNvPr id="19" name="Picture 18" descr="quake_w.png"/>
          <p:cNvPicPr>
            <a:picLocks noChangeAspect="1"/>
          </p:cNvPicPr>
          <p:nvPr/>
        </p:nvPicPr>
        <p:blipFill>
          <a:blip r:embed="rId5"/>
          <a:stretch>
            <a:fillRect/>
          </a:stretch>
        </p:blipFill>
        <p:spPr>
          <a:xfrm>
            <a:off x="948690" y="3618738"/>
            <a:ext cx="342900" cy="342900"/>
          </a:xfrm>
          <a:prstGeom prst="rect">
            <a:avLst/>
          </a:prstGeom>
        </p:spPr>
      </p:pic>
      <p:sp>
        <p:nvSpPr>
          <p:cNvPr id="20" name="TextBox 19"/>
          <p:cNvSpPr txBox="1"/>
          <p:nvPr/>
        </p:nvSpPr>
        <p:spPr>
          <a:xfrm>
            <a:off x="1691640" y="3264408"/>
            <a:ext cx="2651760" cy="384048"/>
          </a:xfrm>
          <a:prstGeom prst="rect">
            <a:avLst/>
          </a:prstGeom>
          <a:noFill/>
        </p:spPr>
        <p:txBody>
          <a:bodyPr wrap="square" anchor="ctr" lIns="0" rIns="0" tIns="0" bIns="0"/>
          <a:lstStyle/>
          <a:p>
            <a:pPr algn="l">
              <a:spcAft>
                <a:spcPts val="400"/>
              </a:spcAft>
            </a:pPr>
            <a:r>
              <a:rPr sz="1600" b="1" i="0">
                <a:solidFill>
                  <a:srgbClr val="0E2B31"/>
                </a:solidFill>
                <a:latin typeface="Cambria"/>
              </a:rPr>
              <a:t>Earthquake damage</a:t>
            </a:r>
          </a:p>
        </p:txBody>
      </p:sp>
      <p:sp>
        <p:nvSpPr>
          <p:cNvPr id="21" name="TextBox 20"/>
          <p:cNvSpPr txBox="1"/>
          <p:nvPr/>
        </p:nvSpPr>
        <p:spPr>
          <a:xfrm>
            <a:off x="1691640" y="3666744"/>
            <a:ext cx="2651760" cy="777240"/>
          </a:xfrm>
          <a:prstGeom prst="rect">
            <a:avLst/>
          </a:prstGeom>
          <a:noFill/>
        </p:spPr>
        <p:txBody>
          <a:bodyPr wrap="square" anchor="t" lIns="0" rIns="0" tIns="0" bIns="0"/>
          <a:lstStyle/>
          <a:p>
            <a:pPr algn="l">
              <a:spcAft>
                <a:spcPts val="400"/>
              </a:spcAft>
            </a:pPr>
            <a:r>
              <a:rPr sz="1300" b="0" i="0">
                <a:solidFill>
                  <a:srgbClr val="5B6E72"/>
                </a:solidFill>
                <a:latin typeface="Calibri"/>
              </a:rPr>
              <a:t>Satellite / UAV imagery maps collapsed buildings [3].</a:t>
            </a:r>
          </a:p>
        </p:txBody>
      </p:sp>
      <p:sp>
        <p:nvSpPr>
          <p:cNvPr id="22" name="Rounded Rectangle 21"/>
          <p:cNvSpPr/>
          <p:nvPr/>
        </p:nvSpPr>
        <p:spPr>
          <a:xfrm>
            <a:off x="4663440" y="3081528"/>
            <a:ext cx="3931920" cy="1417320"/>
          </a:xfrm>
          <a:prstGeom prst="roundRect">
            <a:avLst>
              <a:gd name="adj" fmla="val 7741"/>
            </a:avLst>
          </a:prstGeom>
          <a:solidFill>
            <a:srgbClr val="F3F7F7"/>
          </a:solidFill>
          <a:ln>
            <a:noFill/>
          </a:ln>
        </p:spPr>
        <p:txBody>
          <a:bodyPr rtlCol="0" anchor="ctr" wrap="square" lIns="54864" rIns="54864" tIns="54864" bIns="54864"/>
          <a:lstStyle/>
          <a:p>
            <a:pPr algn="ctr"/>
          </a:p>
        </p:txBody>
      </p:sp>
      <p:sp>
        <p:nvSpPr>
          <p:cNvPr id="23" name="Oval 22"/>
          <p:cNvSpPr/>
          <p:nvPr/>
        </p:nvSpPr>
        <p:spPr>
          <a:xfrm>
            <a:off x="4892040" y="3447288"/>
            <a:ext cx="685800" cy="685800"/>
          </a:xfrm>
          <a:prstGeom prst="ellipse">
            <a:avLst/>
          </a:prstGeom>
          <a:solidFill>
            <a:srgbClr val="12807F"/>
          </a:solidFill>
          <a:ln>
            <a:noFill/>
          </a:ln>
        </p:spPr>
        <p:txBody>
          <a:bodyPr rtlCol="0" anchor="ctr" wrap="square" lIns="54864" rIns="54864" tIns="54864" bIns="54864"/>
          <a:lstStyle/>
          <a:p>
            <a:pPr algn="ctr"/>
          </a:p>
        </p:txBody>
      </p:sp>
      <p:pic>
        <p:nvPicPr>
          <p:cNvPr id="24" name="Picture 23" descr="cyclone_w.png"/>
          <p:cNvPicPr>
            <a:picLocks noChangeAspect="1"/>
          </p:cNvPicPr>
          <p:nvPr/>
        </p:nvPicPr>
        <p:blipFill>
          <a:blip r:embed="rId6"/>
          <a:stretch>
            <a:fillRect/>
          </a:stretch>
        </p:blipFill>
        <p:spPr>
          <a:xfrm>
            <a:off x="5063490" y="3618738"/>
            <a:ext cx="342900" cy="342900"/>
          </a:xfrm>
          <a:prstGeom prst="rect">
            <a:avLst/>
          </a:prstGeom>
        </p:spPr>
      </p:pic>
      <p:sp>
        <p:nvSpPr>
          <p:cNvPr id="25" name="TextBox 24"/>
          <p:cNvSpPr txBox="1"/>
          <p:nvPr/>
        </p:nvSpPr>
        <p:spPr>
          <a:xfrm>
            <a:off x="5806440" y="3264408"/>
            <a:ext cx="2651760" cy="384048"/>
          </a:xfrm>
          <a:prstGeom prst="rect">
            <a:avLst/>
          </a:prstGeom>
          <a:noFill/>
        </p:spPr>
        <p:txBody>
          <a:bodyPr wrap="square" anchor="ctr" lIns="0" rIns="0" tIns="0" bIns="0"/>
          <a:lstStyle/>
          <a:p>
            <a:pPr algn="l">
              <a:spcAft>
                <a:spcPts val="400"/>
              </a:spcAft>
            </a:pPr>
            <a:r>
              <a:rPr sz="1600" b="1" i="0">
                <a:solidFill>
                  <a:srgbClr val="0E2B31"/>
                </a:solidFill>
                <a:latin typeface="Cambria"/>
              </a:rPr>
              <a:t>Cyclone tracking</a:t>
            </a:r>
          </a:p>
        </p:txBody>
      </p:sp>
      <p:sp>
        <p:nvSpPr>
          <p:cNvPr id="26" name="TextBox 25"/>
          <p:cNvSpPr txBox="1"/>
          <p:nvPr/>
        </p:nvSpPr>
        <p:spPr>
          <a:xfrm>
            <a:off x="5806440" y="3666744"/>
            <a:ext cx="2651760" cy="777240"/>
          </a:xfrm>
          <a:prstGeom prst="rect">
            <a:avLst/>
          </a:prstGeom>
          <a:noFill/>
        </p:spPr>
        <p:txBody>
          <a:bodyPr wrap="square" anchor="t" lIns="0" rIns="0" tIns="0" bIns="0"/>
          <a:lstStyle/>
          <a:p>
            <a:pPr algn="l">
              <a:spcAft>
                <a:spcPts val="400"/>
              </a:spcAft>
            </a:pPr>
            <a:r>
              <a:rPr sz="1300" b="0" i="0">
                <a:solidFill>
                  <a:srgbClr val="5B6E72"/>
                </a:solidFill>
                <a:latin typeface="Calibri"/>
              </a:rPr>
              <a:t>Forecasting track and intensity to plan evacuations.</a:t>
            </a:r>
          </a:p>
        </p:txBody>
      </p:sp>
      <p:sp>
        <p:nvSpPr>
          <p:cNvPr id="27" name="Rounded Rectangle 26"/>
          <p:cNvSpPr/>
          <p:nvPr/>
        </p:nvSpPr>
        <p:spPr>
          <a:xfrm>
            <a:off x="548640" y="4654296"/>
            <a:ext cx="3931920" cy="1417320"/>
          </a:xfrm>
          <a:prstGeom prst="roundRect">
            <a:avLst>
              <a:gd name="adj" fmla="val 7741"/>
            </a:avLst>
          </a:prstGeom>
          <a:solidFill>
            <a:srgbClr val="F3F7F7"/>
          </a:solidFill>
          <a:ln>
            <a:noFill/>
          </a:ln>
        </p:spPr>
        <p:txBody>
          <a:bodyPr rtlCol="0" anchor="ctr" wrap="square" lIns="54864" rIns="54864" tIns="54864" bIns="54864"/>
          <a:lstStyle/>
          <a:p>
            <a:pPr algn="ctr"/>
          </a:p>
        </p:txBody>
      </p:sp>
      <p:sp>
        <p:nvSpPr>
          <p:cNvPr id="28" name="Oval 27"/>
          <p:cNvSpPr/>
          <p:nvPr/>
        </p:nvSpPr>
        <p:spPr>
          <a:xfrm>
            <a:off x="777240" y="5020056"/>
            <a:ext cx="685800" cy="685800"/>
          </a:xfrm>
          <a:prstGeom prst="ellipse">
            <a:avLst/>
          </a:prstGeom>
          <a:solidFill>
            <a:srgbClr val="EA6A1E"/>
          </a:solidFill>
          <a:ln>
            <a:noFill/>
          </a:ln>
        </p:spPr>
        <p:txBody>
          <a:bodyPr rtlCol="0" anchor="ctr" wrap="square" lIns="54864" rIns="54864" tIns="54864" bIns="54864"/>
          <a:lstStyle/>
          <a:p>
            <a:pPr algn="ctr"/>
          </a:p>
        </p:txBody>
      </p:sp>
      <p:pic>
        <p:nvPicPr>
          <p:cNvPr id="29" name="Picture 28" descr="comment_w.png"/>
          <p:cNvPicPr>
            <a:picLocks noChangeAspect="1"/>
          </p:cNvPicPr>
          <p:nvPr/>
        </p:nvPicPr>
        <p:blipFill>
          <a:blip r:embed="rId7"/>
          <a:stretch>
            <a:fillRect/>
          </a:stretch>
        </p:blipFill>
        <p:spPr>
          <a:xfrm>
            <a:off x="948690" y="5191506"/>
            <a:ext cx="342900" cy="342900"/>
          </a:xfrm>
          <a:prstGeom prst="rect">
            <a:avLst/>
          </a:prstGeom>
        </p:spPr>
      </p:pic>
      <p:sp>
        <p:nvSpPr>
          <p:cNvPr id="30" name="TextBox 29"/>
          <p:cNvSpPr txBox="1"/>
          <p:nvPr/>
        </p:nvSpPr>
        <p:spPr>
          <a:xfrm>
            <a:off x="1691640" y="4837176"/>
            <a:ext cx="2651760" cy="384048"/>
          </a:xfrm>
          <a:prstGeom prst="rect">
            <a:avLst/>
          </a:prstGeom>
          <a:noFill/>
        </p:spPr>
        <p:txBody>
          <a:bodyPr wrap="square" anchor="ctr" lIns="0" rIns="0" tIns="0" bIns="0"/>
          <a:lstStyle/>
          <a:p>
            <a:pPr algn="l">
              <a:spcAft>
                <a:spcPts val="400"/>
              </a:spcAft>
            </a:pPr>
            <a:r>
              <a:rPr sz="1600" b="1" i="0">
                <a:solidFill>
                  <a:srgbClr val="0E2B31"/>
                </a:solidFill>
                <a:latin typeface="Cambria"/>
              </a:rPr>
              <a:t>Crisis informatics</a:t>
            </a:r>
          </a:p>
        </p:txBody>
      </p:sp>
      <p:sp>
        <p:nvSpPr>
          <p:cNvPr id="31" name="TextBox 30"/>
          <p:cNvSpPr txBox="1"/>
          <p:nvPr/>
        </p:nvSpPr>
        <p:spPr>
          <a:xfrm>
            <a:off x="1691640" y="5239512"/>
            <a:ext cx="2651760" cy="777240"/>
          </a:xfrm>
          <a:prstGeom prst="rect">
            <a:avLst/>
          </a:prstGeom>
          <a:noFill/>
        </p:spPr>
        <p:txBody>
          <a:bodyPr wrap="square" anchor="t" lIns="0" rIns="0" tIns="0" bIns="0"/>
          <a:lstStyle/>
          <a:p>
            <a:pPr algn="l">
              <a:spcAft>
                <a:spcPts val="400"/>
              </a:spcAft>
            </a:pPr>
            <a:r>
              <a:rPr sz="1300" b="0" i="0">
                <a:solidFill>
                  <a:srgbClr val="5B6E72"/>
                </a:solidFill>
                <a:latin typeface="Calibri"/>
              </a:rPr>
              <a:t>LLMs classify social-media posts and help requests [6].</a:t>
            </a:r>
          </a:p>
        </p:txBody>
      </p:sp>
      <p:sp>
        <p:nvSpPr>
          <p:cNvPr id="32" name="Rounded Rectangle 31"/>
          <p:cNvSpPr/>
          <p:nvPr/>
        </p:nvSpPr>
        <p:spPr>
          <a:xfrm>
            <a:off x="4663440" y="4654296"/>
            <a:ext cx="3931920" cy="1417320"/>
          </a:xfrm>
          <a:prstGeom prst="roundRect">
            <a:avLst>
              <a:gd name="adj" fmla="val 7741"/>
            </a:avLst>
          </a:prstGeom>
          <a:solidFill>
            <a:srgbClr val="F3F7F7"/>
          </a:solidFill>
          <a:ln>
            <a:noFill/>
          </a:ln>
        </p:spPr>
        <p:txBody>
          <a:bodyPr rtlCol="0" anchor="ctr" wrap="square" lIns="54864" rIns="54864" tIns="54864" bIns="54864"/>
          <a:lstStyle/>
          <a:p>
            <a:pPr algn="ctr"/>
          </a:p>
        </p:txBody>
      </p:sp>
      <p:sp>
        <p:nvSpPr>
          <p:cNvPr id="33" name="Oval 32"/>
          <p:cNvSpPr/>
          <p:nvPr/>
        </p:nvSpPr>
        <p:spPr>
          <a:xfrm>
            <a:off x="4892040" y="5020056"/>
            <a:ext cx="685800" cy="685800"/>
          </a:xfrm>
          <a:prstGeom prst="ellipse">
            <a:avLst/>
          </a:prstGeom>
          <a:solidFill>
            <a:srgbClr val="12807F"/>
          </a:solidFill>
          <a:ln>
            <a:noFill/>
          </a:ln>
        </p:spPr>
        <p:txBody>
          <a:bodyPr rtlCol="0" anchor="ctr" wrap="square" lIns="54864" rIns="54864" tIns="54864" bIns="54864"/>
          <a:lstStyle/>
          <a:p>
            <a:pPr algn="ctr"/>
          </a:p>
        </p:txBody>
      </p:sp>
      <p:pic>
        <p:nvPicPr>
          <p:cNvPr id="34" name="Picture 33" descr="truck_w.png"/>
          <p:cNvPicPr>
            <a:picLocks noChangeAspect="1"/>
          </p:cNvPicPr>
          <p:nvPr/>
        </p:nvPicPr>
        <p:blipFill>
          <a:blip r:embed="rId8"/>
          <a:stretch>
            <a:fillRect/>
          </a:stretch>
        </p:blipFill>
        <p:spPr>
          <a:xfrm>
            <a:off x="5063490" y="5191506"/>
            <a:ext cx="342900" cy="342900"/>
          </a:xfrm>
          <a:prstGeom prst="rect">
            <a:avLst/>
          </a:prstGeom>
        </p:spPr>
      </p:pic>
      <p:sp>
        <p:nvSpPr>
          <p:cNvPr id="35" name="TextBox 34"/>
          <p:cNvSpPr txBox="1"/>
          <p:nvPr/>
        </p:nvSpPr>
        <p:spPr>
          <a:xfrm>
            <a:off x="5806440" y="4837176"/>
            <a:ext cx="2651760" cy="384048"/>
          </a:xfrm>
          <a:prstGeom prst="rect">
            <a:avLst/>
          </a:prstGeom>
          <a:noFill/>
        </p:spPr>
        <p:txBody>
          <a:bodyPr wrap="square" anchor="ctr" lIns="0" rIns="0" tIns="0" bIns="0"/>
          <a:lstStyle/>
          <a:p>
            <a:pPr algn="l">
              <a:spcAft>
                <a:spcPts val="400"/>
              </a:spcAft>
            </a:pPr>
            <a:r>
              <a:rPr sz="1600" b="1" i="0">
                <a:solidFill>
                  <a:srgbClr val="0E2B31"/>
                </a:solidFill>
                <a:latin typeface="Cambria"/>
              </a:rPr>
              <a:t>Relief logistics</a:t>
            </a:r>
          </a:p>
        </p:txBody>
      </p:sp>
      <p:sp>
        <p:nvSpPr>
          <p:cNvPr id="36" name="TextBox 35"/>
          <p:cNvSpPr txBox="1"/>
          <p:nvPr/>
        </p:nvSpPr>
        <p:spPr>
          <a:xfrm>
            <a:off x="5806440" y="5239512"/>
            <a:ext cx="2651760" cy="777240"/>
          </a:xfrm>
          <a:prstGeom prst="rect">
            <a:avLst/>
          </a:prstGeom>
          <a:noFill/>
        </p:spPr>
        <p:txBody>
          <a:bodyPr wrap="square" anchor="t" lIns="0" rIns="0" tIns="0" bIns="0"/>
          <a:lstStyle/>
          <a:p>
            <a:pPr algn="l">
              <a:spcAft>
                <a:spcPts val="400"/>
              </a:spcAft>
            </a:pPr>
            <a:r>
              <a:rPr sz="1300" b="0" i="0">
                <a:solidFill>
                  <a:srgbClr val="5B6E72"/>
                </a:solidFill>
                <a:latin typeface="Calibri"/>
              </a:rPr>
              <a:t>Optimised routing of supplies, shelters and rescue teams.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10  ·  ANALYSIS &amp; COMPARISON</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0E2B31"/>
                </a:solidFill>
                <a:latin typeface="Cambria"/>
              </a:rPr>
              <a:t>AI shortens every step from signal to action</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15</a:t>
            </a:fld>
          </a:p>
        </p:txBody>
      </p:sp>
      <p:graphicFrame>
        <p:nvGraphicFramePr>
          <p:cNvPr id="7" name="Table 6"/>
          <p:cNvGraphicFramePr>
            <a:graphicFrameLocks noGrp="1"/>
          </p:cNvGraphicFramePr>
          <p:nvPr/>
        </p:nvGraphicFramePr>
        <p:xfrm>
          <a:off x="548640" y="1554480"/>
          <a:ext cx="8046720" cy="3621024"/>
        </p:xfrm>
        <a:graphic>
          <a:graphicData uri="http://schemas.openxmlformats.org/drawingml/2006/table">
            <a:tbl>
              <a:tblPr firstRow="0" bandRow="0">
                <a:tableStyleId>{5C22544A-7EE6-4342-B048-85BDC9FD1C3A}</a:tableStyleId>
              </a:tblPr>
              <a:tblGrid>
                <a:gridCol w="1691640"/>
                <a:gridCol w="2148840"/>
                <a:gridCol w="2377440"/>
                <a:gridCol w="1828800"/>
              </a:tblGrid>
              <a:tr h="603504">
                <a:tc>
                  <a:txBody>
                    <a:bodyPr wrap="square"/>
                    <a:lstStyle/>
                    <a:p>
                      <a:pPr algn="l">
                        <a:spcAft>
                          <a:spcPts val="400"/>
                        </a:spcAft>
                      </a:pPr>
                      <a:r>
                        <a:rPr sz="1200" b="1" i="0">
                          <a:solidFill>
                            <a:srgbClr val="FFFFFF"/>
                          </a:solidFill>
                          <a:latin typeface="Calibri"/>
                        </a:rPr>
                        <a:t>Aspect</a:t>
                      </a:r>
                    </a:p>
                  </a:txBody>
                  <a:tcPr marL="91440" marR="91440" marT="36576" marB="36576" anchor="ctr">
                    <a:solidFill>
                      <a:srgbClr val="0E2B31"/>
                    </a:solidFill>
                  </a:tcPr>
                </a:tc>
                <a:tc>
                  <a:txBody>
                    <a:bodyPr wrap="square"/>
                    <a:lstStyle/>
                    <a:p>
                      <a:pPr algn="l">
                        <a:spcAft>
                          <a:spcPts val="400"/>
                        </a:spcAft>
                      </a:pPr>
                      <a:r>
                        <a:rPr sz="1200" b="1" i="0">
                          <a:solidFill>
                            <a:srgbClr val="FFFFFF"/>
                          </a:solidFill>
                          <a:latin typeface="Calibri"/>
                        </a:rPr>
                        <a:t>Traditional approach</a:t>
                      </a:r>
                    </a:p>
                  </a:txBody>
                  <a:tcPr marL="91440" marR="91440" marT="36576" marB="36576" anchor="ctr">
                    <a:solidFill>
                      <a:srgbClr val="0E2B31"/>
                    </a:solidFill>
                  </a:tcPr>
                </a:tc>
                <a:tc>
                  <a:txBody>
                    <a:bodyPr wrap="square"/>
                    <a:lstStyle/>
                    <a:p>
                      <a:pPr algn="l">
                        <a:spcAft>
                          <a:spcPts val="400"/>
                        </a:spcAft>
                      </a:pPr>
                      <a:r>
                        <a:rPr sz="1200" b="1" i="0">
                          <a:solidFill>
                            <a:srgbClr val="FFFFFF"/>
                          </a:solidFill>
                          <a:latin typeface="Calibri"/>
                        </a:rPr>
                        <a:t>AI-based approach</a:t>
                      </a:r>
                    </a:p>
                  </a:txBody>
                  <a:tcPr marL="91440" marR="91440" marT="36576" marB="36576" anchor="ctr">
                    <a:solidFill>
                      <a:srgbClr val="12807F"/>
                    </a:solidFill>
                  </a:tcPr>
                </a:tc>
                <a:tc>
                  <a:txBody>
                    <a:bodyPr wrap="square"/>
                    <a:lstStyle/>
                    <a:p>
                      <a:pPr algn="l">
                        <a:spcAft>
                          <a:spcPts val="400"/>
                        </a:spcAft>
                      </a:pPr>
                      <a:r>
                        <a:rPr sz="1200" b="1" i="0">
                          <a:solidFill>
                            <a:srgbClr val="FFFFFF"/>
                          </a:solidFill>
                          <a:latin typeface="Calibri"/>
                        </a:rPr>
                        <a:t>Benefit</a:t>
                      </a:r>
                    </a:p>
                  </a:txBody>
                  <a:tcPr marL="91440" marR="91440" marT="36576" marB="36576" anchor="ctr">
                    <a:solidFill>
                      <a:srgbClr val="0E2B31"/>
                    </a:solidFill>
                  </a:tcPr>
                </a:tc>
              </a:tr>
              <a:tr h="603504">
                <a:tc>
                  <a:txBody>
                    <a:bodyPr wrap="square"/>
                    <a:lstStyle/>
                    <a:p>
                      <a:pPr algn="l">
                        <a:spcAft>
                          <a:spcPts val="400"/>
                        </a:spcAft>
                      </a:pPr>
                      <a:r>
                        <a:rPr sz="1250" b="1" i="0">
                          <a:solidFill>
                            <a:srgbClr val="0E2B31"/>
                          </a:solidFill>
                          <a:latin typeface="Calibri"/>
                        </a:rPr>
                        <a:t>Early warning</a:t>
                      </a:r>
                    </a:p>
                  </a:txBody>
                  <a:tcPr marL="91440" marR="91440" marT="36576" marB="36576" anchor="ctr">
                    <a:solidFill>
                      <a:srgbClr val="FFFFFF"/>
                    </a:solidFill>
                  </a:tcPr>
                </a:tc>
                <a:tc>
                  <a:txBody>
                    <a:bodyPr wrap="square"/>
                    <a:lstStyle/>
                    <a:p>
                      <a:pPr algn="l">
                        <a:spcAft>
                          <a:spcPts val="400"/>
                        </a:spcAft>
                      </a:pPr>
                      <a:r>
                        <a:rPr sz="1250" b="0" i="0">
                          <a:solidFill>
                            <a:srgbClr val="17282C"/>
                          </a:solidFill>
                          <a:latin typeface="Calibri"/>
                        </a:rPr>
                        <a:t>Manual monitoring, fixed thresholds</a:t>
                      </a:r>
                    </a:p>
                  </a:txBody>
                  <a:tcPr marL="91440" marR="91440" marT="36576" marB="36576" anchor="ctr">
                    <a:solidFill>
                      <a:srgbClr val="FFFFFF"/>
                    </a:solidFill>
                  </a:tcPr>
                </a:tc>
                <a:tc>
                  <a:txBody>
                    <a:bodyPr wrap="square"/>
                    <a:lstStyle/>
                    <a:p>
                      <a:pPr algn="l">
                        <a:spcAft>
                          <a:spcPts val="400"/>
                        </a:spcAft>
                      </a:pPr>
                      <a:r>
                        <a:rPr sz="1250" b="0" i="0">
                          <a:solidFill>
                            <a:srgbClr val="17282C"/>
                          </a:solidFill>
                          <a:latin typeface="Calibri"/>
                        </a:rPr>
                        <a:t>ML/DL forecasts on live sensor data</a:t>
                      </a:r>
                    </a:p>
                  </a:txBody>
                  <a:tcPr marL="91440" marR="91440" marT="36576" marB="36576" anchor="ctr">
                    <a:solidFill>
                      <a:srgbClr val="E3F1F0"/>
                    </a:solidFill>
                  </a:tcPr>
                </a:tc>
                <a:tc>
                  <a:txBody>
                    <a:bodyPr wrap="square"/>
                    <a:lstStyle/>
                    <a:p>
                      <a:pPr algn="l">
                        <a:spcAft>
                          <a:spcPts val="400"/>
                        </a:spcAft>
                      </a:pPr>
                      <a:r>
                        <a:rPr sz="1250" b="0" i="0">
                          <a:solidFill>
                            <a:srgbClr val="17282C"/>
                          </a:solidFill>
                          <a:latin typeface="Calibri"/>
                        </a:rPr>
                        <a:t>More lead time</a:t>
                      </a:r>
                    </a:p>
                  </a:txBody>
                  <a:tcPr marL="91440" marR="91440" marT="36576" marB="36576" anchor="ctr">
                    <a:solidFill>
                      <a:srgbClr val="FFFFFF"/>
                    </a:solidFill>
                  </a:tcPr>
                </a:tc>
              </a:tr>
              <a:tr h="603504">
                <a:tc>
                  <a:txBody>
                    <a:bodyPr wrap="square"/>
                    <a:lstStyle/>
                    <a:p>
                      <a:pPr algn="l">
                        <a:spcAft>
                          <a:spcPts val="400"/>
                        </a:spcAft>
                      </a:pPr>
                      <a:r>
                        <a:rPr sz="1250" b="1" i="0">
                          <a:solidFill>
                            <a:srgbClr val="0E2B31"/>
                          </a:solidFill>
                          <a:latin typeface="Calibri"/>
                        </a:rPr>
                        <a:t>Damage assessment</a:t>
                      </a:r>
                    </a:p>
                  </a:txBody>
                  <a:tcPr marL="91440" marR="91440" marT="36576" marB="36576" anchor="ctr">
                    <a:solidFill>
                      <a:srgbClr val="F3F7F7"/>
                    </a:solidFill>
                  </a:tcPr>
                </a:tc>
                <a:tc>
                  <a:txBody>
                    <a:bodyPr wrap="square"/>
                    <a:lstStyle/>
                    <a:p>
                      <a:pPr algn="l">
                        <a:spcAft>
                          <a:spcPts val="400"/>
                        </a:spcAft>
                      </a:pPr>
                      <a:r>
                        <a:rPr sz="1250" b="0" i="0">
                          <a:solidFill>
                            <a:srgbClr val="17282C"/>
                          </a:solidFill>
                          <a:latin typeface="Calibri"/>
                        </a:rPr>
                        <a:t>Ground surveys (days)</a:t>
                      </a:r>
                    </a:p>
                  </a:txBody>
                  <a:tcPr marL="91440" marR="91440" marT="36576" marB="36576" anchor="ctr">
                    <a:solidFill>
                      <a:srgbClr val="F3F7F7"/>
                    </a:solidFill>
                  </a:tcPr>
                </a:tc>
                <a:tc>
                  <a:txBody>
                    <a:bodyPr wrap="square"/>
                    <a:lstStyle/>
                    <a:p>
                      <a:pPr algn="l">
                        <a:spcAft>
                          <a:spcPts val="400"/>
                        </a:spcAft>
                      </a:pPr>
                      <a:r>
                        <a:rPr sz="1250" b="0" i="0">
                          <a:solidFill>
                            <a:srgbClr val="17282C"/>
                          </a:solidFill>
                          <a:latin typeface="Calibri"/>
                        </a:rPr>
                        <a:t>Satellite/UAV + CNN/ViT maps (hours)</a:t>
                      </a:r>
                    </a:p>
                  </a:txBody>
                  <a:tcPr marL="91440" marR="91440" marT="36576" marB="36576" anchor="ctr">
                    <a:solidFill>
                      <a:srgbClr val="E3F1F0"/>
                    </a:solidFill>
                  </a:tcPr>
                </a:tc>
                <a:tc>
                  <a:txBody>
                    <a:bodyPr wrap="square"/>
                    <a:lstStyle/>
                    <a:p>
                      <a:pPr algn="l">
                        <a:spcAft>
                          <a:spcPts val="400"/>
                        </a:spcAft>
                      </a:pPr>
                      <a:r>
                        <a:rPr sz="1250" b="0" i="0">
                          <a:solidFill>
                            <a:srgbClr val="17282C"/>
                          </a:solidFill>
                          <a:latin typeface="Calibri"/>
                        </a:rPr>
                        <a:t>Faster response</a:t>
                      </a:r>
                    </a:p>
                  </a:txBody>
                  <a:tcPr marL="91440" marR="91440" marT="36576" marB="36576" anchor="ctr">
                    <a:solidFill>
                      <a:srgbClr val="F3F7F7"/>
                    </a:solidFill>
                  </a:tcPr>
                </a:tc>
              </a:tr>
              <a:tr h="603504">
                <a:tc>
                  <a:txBody>
                    <a:bodyPr wrap="square"/>
                    <a:lstStyle/>
                    <a:p>
                      <a:pPr algn="l">
                        <a:spcAft>
                          <a:spcPts val="400"/>
                        </a:spcAft>
                      </a:pPr>
                      <a:r>
                        <a:rPr sz="1250" b="1" i="0">
                          <a:solidFill>
                            <a:srgbClr val="0E2B31"/>
                          </a:solidFill>
                          <a:latin typeface="Calibri"/>
                        </a:rPr>
                        <a:t>Information</a:t>
                      </a:r>
                    </a:p>
                  </a:txBody>
                  <a:tcPr marL="91440" marR="91440" marT="36576" marB="36576" anchor="ctr">
                    <a:solidFill>
                      <a:srgbClr val="FFFFFF"/>
                    </a:solidFill>
                  </a:tcPr>
                </a:tc>
                <a:tc>
                  <a:txBody>
                    <a:bodyPr wrap="square"/>
                    <a:lstStyle/>
                    <a:p>
                      <a:pPr algn="l">
                        <a:spcAft>
                          <a:spcPts val="400"/>
                        </a:spcAft>
                      </a:pPr>
                      <a:r>
                        <a:rPr sz="1250" b="0" i="0">
                          <a:solidFill>
                            <a:srgbClr val="17282C"/>
                          </a:solidFill>
                          <a:latin typeface="Calibri"/>
                        </a:rPr>
                        <a:t>Phone calls, manual reports</a:t>
                      </a:r>
                    </a:p>
                  </a:txBody>
                  <a:tcPr marL="91440" marR="91440" marT="36576" marB="36576" anchor="ctr">
                    <a:solidFill>
                      <a:srgbClr val="FFFFFF"/>
                    </a:solidFill>
                  </a:tcPr>
                </a:tc>
                <a:tc>
                  <a:txBody>
                    <a:bodyPr wrap="square"/>
                    <a:lstStyle/>
                    <a:p>
                      <a:pPr algn="l">
                        <a:spcAft>
                          <a:spcPts val="400"/>
                        </a:spcAft>
                      </a:pPr>
                      <a:r>
                        <a:rPr sz="1250" b="0" i="0">
                          <a:solidFill>
                            <a:srgbClr val="17282C"/>
                          </a:solidFill>
                          <a:latin typeface="Calibri"/>
                        </a:rPr>
                        <a:t>NLP/LLM triage of social media</a:t>
                      </a:r>
                    </a:p>
                  </a:txBody>
                  <a:tcPr marL="91440" marR="91440" marT="36576" marB="36576" anchor="ctr">
                    <a:solidFill>
                      <a:srgbClr val="E3F1F0"/>
                    </a:solidFill>
                  </a:tcPr>
                </a:tc>
                <a:tc>
                  <a:txBody>
                    <a:bodyPr wrap="square"/>
                    <a:lstStyle/>
                    <a:p>
                      <a:pPr algn="l">
                        <a:spcAft>
                          <a:spcPts val="400"/>
                        </a:spcAft>
                      </a:pPr>
                      <a:r>
                        <a:rPr sz="1250" b="0" i="0">
                          <a:solidFill>
                            <a:srgbClr val="17282C"/>
                          </a:solidFill>
                          <a:latin typeface="Calibri"/>
                        </a:rPr>
                        <a:t>Situational awareness</a:t>
                      </a:r>
                    </a:p>
                  </a:txBody>
                  <a:tcPr marL="91440" marR="91440" marT="36576" marB="36576" anchor="ctr">
                    <a:solidFill>
                      <a:srgbClr val="FFFFFF"/>
                    </a:solidFill>
                  </a:tcPr>
                </a:tc>
              </a:tr>
              <a:tr h="603504">
                <a:tc>
                  <a:txBody>
                    <a:bodyPr wrap="square"/>
                    <a:lstStyle/>
                    <a:p>
                      <a:pPr algn="l">
                        <a:spcAft>
                          <a:spcPts val="400"/>
                        </a:spcAft>
                      </a:pPr>
                      <a:r>
                        <a:rPr sz="1250" b="1" i="0">
                          <a:solidFill>
                            <a:srgbClr val="0E2B31"/>
                          </a:solidFill>
                          <a:latin typeface="Calibri"/>
                        </a:rPr>
                        <a:t>Resource allocation</a:t>
                      </a:r>
                    </a:p>
                  </a:txBody>
                  <a:tcPr marL="91440" marR="91440" marT="36576" marB="36576" anchor="ctr">
                    <a:solidFill>
                      <a:srgbClr val="F3F7F7"/>
                    </a:solidFill>
                  </a:tcPr>
                </a:tc>
                <a:tc>
                  <a:txBody>
                    <a:bodyPr wrap="square"/>
                    <a:lstStyle/>
                    <a:p>
                      <a:pPr algn="l">
                        <a:spcAft>
                          <a:spcPts val="400"/>
                        </a:spcAft>
                      </a:pPr>
                      <a:r>
                        <a:rPr sz="1250" b="0" i="0">
                          <a:solidFill>
                            <a:srgbClr val="17282C"/>
                          </a:solidFill>
                          <a:latin typeface="Calibri"/>
                        </a:rPr>
                        <a:t>Static, pre-planned routes</a:t>
                      </a:r>
                    </a:p>
                  </a:txBody>
                  <a:tcPr marL="91440" marR="91440" marT="36576" marB="36576" anchor="ctr">
                    <a:solidFill>
                      <a:srgbClr val="F3F7F7"/>
                    </a:solidFill>
                  </a:tcPr>
                </a:tc>
                <a:tc>
                  <a:txBody>
                    <a:bodyPr wrap="square"/>
                    <a:lstStyle/>
                    <a:p>
                      <a:pPr algn="l">
                        <a:spcAft>
                          <a:spcPts val="400"/>
                        </a:spcAft>
                      </a:pPr>
                      <a:r>
                        <a:rPr sz="1250" b="0" i="0">
                          <a:solidFill>
                            <a:srgbClr val="17282C"/>
                          </a:solidFill>
                          <a:latin typeface="Calibri"/>
                        </a:rPr>
                        <a:t>Optimization / RL adapts live</a:t>
                      </a:r>
                    </a:p>
                  </a:txBody>
                  <a:tcPr marL="91440" marR="91440" marT="36576" marB="36576" anchor="ctr">
                    <a:solidFill>
                      <a:srgbClr val="E3F1F0"/>
                    </a:solidFill>
                  </a:tcPr>
                </a:tc>
                <a:tc>
                  <a:txBody>
                    <a:bodyPr wrap="square"/>
                    <a:lstStyle/>
                    <a:p>
                      <a:pPr algn="l">
                        <a:spcAft>
                          <a:spcPts val="400"/>
                        </a:spcAft>
                      </a:pPr>
                      <a:r>
                        <a:rPr sz="1250" b="0" i="0">
                          <a:solidFill>
                            <a:srgbClr val="17282C"/>
                          </a:solidFill>
                          <a:latin typeface="Calibri"/>
                        </a:rPr>
                        <a:t>Efficient use</a:t>
                      </a:r>
                    </a:p>
                  </a:txBody>
                  <a:tcPr marL="91440" marR="91440" marT="36576" marB="36576" anchor="ctr">
                    <a:solidFill>
                      <a:srgbClr val="F3F7F7"/>
                    </a:solidFill>
                  </a:tcPr>
                </a:tc>
              </a:tr>
              <a:tr h="603504">
                <a:tc>
                  <a:txBody>
                    <a:bodyPr wrap="square"/>
                    <a:lstStyle/>
                    <a:p>
                      <a:pPr algn="l">
                        <a:spcAft>
                          <a:spcPts val="400"/>
                        </a:spcAft>
                      </a:pPr>
                      <a:r>
                        <a:rPr sz="1250" b="1" i="0">
                          <a:solidFill>
                            <a:srgbClr val="0E2B31"/>
                          </a:solidFill>
                          <a:latin typeface="Calibri"/>
                        </a:rPr>
                        <a:t>Reporting</a:t>
                      </a:r>
                    </a:p>
                  </a:txBody>
                  <a:tcPr marL="91440" marR="91440" marT="36576" marB="36576" anchor="ctr">
                    <a:solidFill>
                      <a:srgbClr val="FFFFFF"/>
                    </a:solidFill>
                  </a:tcPr>
                </a:tc>
                <a:tc>
                  <a:txBody>
                    <a:bodyPr wrap="square"/>
                    <a:lstStyle/>
                    <a:p>
                      <a:pPr algn="l">
                        <a:spcAft>
                          <a:spcPts val="400"/>
                        </a:spcAft>
                      </a:pPr>
                      <a:r>
                        <a:rPr sz="1250" b="0" i="0">
                          <a:solidFill>
                            <a:srgbClr val="17282C"/>
                          </a:solidFill>
                          <a:latin typeface="Calibri"/>
                        </a:rPr>
                        <a:t>Manual situation reports</a:t>
                      </a:r>
                    </a:p>
                  </a:txBody>
                  <a:tcPr marL="91440" marR="91440" marT="36576" marB="36576" anchor="ctr">
                    <a:solidFill>
                      <a:srgbClr val="FFFFFF"/>
                    </a:solidFill>
                  </a:tcPr>
                </a:tc>
                <a:tc>
                  <a:txBody>
                    <a:bodyPr wrap="square"/>
                    <a:lstStyle/>
                    <a:p>
                      <a:pPr algn="l">
                        <a:spcAft>
                          <a:spcPts val="400"/>
                        </a:spcAft>
                      </a:pPr>
                      <a:r>
                        <a:rPr sz="1250" b="0" i="0">
                          <a:solidFill>
                            <a:srgbClr val="17282C"/>
                          </a:solidFill>
                          <a:latin typeface="Calibri"/>
                        </a:rPr>
                        <a:t>Automated reports, e.g. [7]</a:t>
                      </a:r>
                    </a:p>
                  </a:txBody>
                  <a:tcPr marL="91440" marR="91440" marT="36576" marB="36576" anchor="ctr">
                    <a:solidFill>
                      <a:srgbClr val="E3F1F0"/>
                    </a:solidFill>
                  </a:tcPr>
                </a:tc>
                <a:tc>
                  <a:txBody>
                    <a:bodyPr wrap="square"/>
                    <a:lstStyle/>
                    <a:p>
                      <a:pPr algn="l">
                        <a:spcAft>
                          <a:spcPts val="400"/>
                        </a:spcAft>
                      </a:pPr>
                      <a:r>
                        <a:rPr sz="1250" b="0" i="0">
                          <a:solidFill>
                            <a:srgbClr val="17282C"/>
                          </a:solidFill>
                          <a:latin typeface="Calibri"/>
                        </a:rPr>
                        <a:t>Quick, consistent</a:t>
                      </a:r>
                    </a:p>
                  </a:txBody>
                  <a:tcPr marL="91440" marR="91440" marT="36576" marB="36576" anchor="ctr">
                    <a:solidFill>
                      <a:srgbClr val="FFFFFF"/>
                    </a:solidFill>
                  </a:tcPr>
                </a:tc>
              </a:tr>
            </a:tbl>
          </a:graphicData>
        </a:graphic>
      </p:graphicFrame>
      <p:sp>
        <p:nvSpPr>
          <p:cNvPr id="8" name="Rounded Rectangle 7"/>
          <p:cNvSpPr/>
          <p:nvPr/>
        </p:nvSpPr>
        <p:spPr>
          <a:xfrm>
            <a:off x="548640" y="5440680"/>
            <a:ext cx="8046720" cy="777240"/>
          </a:xfrm>
          <a:prstGeom prst="roundRect">
            <a:avLst>
              <a:gd name="adj" fmla="val 11764"/>
            </a:avLst>
          </a:prstGeom>
          <a:solidFill>
            <a:srgbClr val="0E2B31"/>
          </a:solidFill>
          <a:ln>
            <a:noFill/>
          </a:ln>
        </p:spPr>
        <p:txBody>
          <a:bodyPr rtlCol="0" anchor="ctr" wrap="square" lIns="54864" rIns="54864" tIns="54864" bIns="54864"/>
          <a:lstStyle/>
          <a:p>
            <a:pPr algn="ctr"/>
          </a:p>
        </p:txBody>
      </p:sp>
      <p:pic>
        <p:nvPicPr>
          <p:cNvPr id="9" name="Picture 8" descr="lightbulb_da.png"/>
          <p:cNvPicPr>
            <a:picLocks noChangeAspect="1"/>
          </p:cNvPicPr>
          <p:nvPr/>
        </p:nvPicPr>
        <p:blipFill>
          <a:blip r:embed="rId3"/>
          <a:stretch>
            <a:fillRect/>
          </a:stretch>
        </p:blipFill>
        <p:spPr>
          <a:xfrm>
            <a:off x="749808" y="5664708"/>
            <a:ext cx="329184" cy="329184"/>
          </a:xfrm>
          <a:prstGeom prst="rect">
            <a:avLst/>
          </a:prstGeom>
        </p:spPr>
      </p:pic>
      <p:sp>
        <p:nvSpPr>
          <p:cNvPr id="10" name="TextBox 9"/>
          <p:cNvSpPr txBox="1"/>
          <p:nvPr/>
        </p:nvSpPr>
        <p:spPr>
          <a:xfrm>
            <a:off x="1234440" y="5440680"/>
            <a:ext cx="7223760" cy="777240"/>
          </a:xfrm>
          <a:prstGeom prst="rect">
            <a:avLst/>
          </a:prstGeom>
          <a:noFill/>
        </p:spPr>
        <p:txBody>
          <a:bodyPr wrap="square" anchor="ctr" lIns="0" rIns="0" tIns="0" bIns="0"/>
          <a:lstStyle/>
          <a:p>
            <a:pPr algn="l">
              <a:spcAft>
                <a:spcPts val="400"/>
              </a:spcAft>
            </a:pPr>
            <a:r>
              <a:rPr sz="1350" b="1" i="0">
                <a:solidFill>
                  <a:srgbClr val="EA6A1E"/>
                </a:solidFill>
                <a:latin typeface="Calibri"/>
              </a:rPr>
              <a:t>Key insight  </a:t>
            </a:r>
            <a:r>
              <a:rPr sz="1350" b="0" i="0">
                <a:solidFill>
                  <a:srgbClr val="FFFFFF"/>
                </a:solidFill>
                <a:latin typeface="Calibri"/>
              </a:rPr>
              <a:t>AI supports — it does not replace — human decision-makers; outputs must be explainable and trusted before authorities act on them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2B31"/>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CONCLUSION &amp; FUTURE SCOPE</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FFFFFF"/>
                </a:solidFill>
                <a:latin typeface="Cambria"/>
              </a:rPr>
              <a:t>AI strengthens the whole disaster cycle</a:t>
            </a:r>
          </a:p>
        </p:txBody>
      </p:sp>
      <p:sp>
        <p:nvSpPr>
          <p:cNvPr id="4" name="Rounded Rectangle 3"/>
          <p:cNvSpPr/>
          <p:nvPr/>
        </p:nvSpPr>
        <p:spPr>
          <a:xfrm>
            <a:off x="7973568" y="256032"/>
            <a:ext cx="658368" cy="658368"/>
          </a:xfrm>
          <a:prstGeom prst="roundRect">
            <a:avLst>
              <a:gd name="adj" fmla="val 16666"/>
            </a:avLst>
          </a:prstGeom>
          <a:solidFill>
            <a:srgbClr val="FFFFFF"/>
          </a:solidFill>
          <a:ln>
            <a:noFill/>
          </a:ln>
        </p:spPr>
        <p:txBody>
          <a:bodyPr rtlCol="0" anchor="ctr" wrap="square" lIns="54864" rIns="54864" tIns="54864" bIns="54864"/>
          <a:lstStyle/>
          <a:p>
            <a:pPr algn="ctr"/>
          </a:p>
        </p:txBody>
      </p:sp>
      <p:pic>
        <p:nvPicPr>
          <p:cNvPr id="5" name="Picture 4" descr="image.jpg"/>
          <p:cNvPicPr>
            <a:picLocks noChangeAspect="1"/>
          </p:cNvPicPr>
          <p:nvPr/>
        </p:nvPicPr>
        <p:blipFill>
          <a:blip r:embed="rId2"/>
          <a:stretch>
            <a:fillRect/>
          </a:stretch>
        </p:blipFill>
        <p:spPr>
          <a:xfrm>
            <a:off x="8010144" y="320040"/>
            <a:ext cx="585216" cy="440763"/>
          </a:xfrm>
          <a:prstGeom prst="rect">
            <a:avLst/>
          </a:prstGeom>
        </p:spPr>
      </p:pic>
      <p:sp>
        <p:nvSpPr>
          <p:cNvPr id="6" name="TextBox 5"/>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9CCBC7"/>
                </a:solidFill>
                <a:latin typeface="Calibri"/>
              </a:rPr>
              <a:t>AI in Disaster Management  ·  Vedika Dandade (B344)</a:t>
            </a:r>
          </a:p>
        </p:txBody>
      </p:sp>
      <p:sp>
        <p:nvSpPr>
          <p:cNvPr id="7" name="TextBox 6"/>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9CCBC7"/>
                </a:solidFill>
                <a:latin typeface="Calibri"/>
              </a:rPr>
              <a:t>16</a:t>
            </a:fld>
          </a:p>
        </p:txBody>
      </p:sp>
      <p:sp>
        <p:nvSpPr>
          <p:cNvPr id="8" name="TextBox 7"/>
          <p:cNvSpPr txBox="1"/>
          <p:nvPr/>
        </p:nvSpPr>
        <p:spPr>
          <a:xfrm>
            <a:off x="548640" y="1508760"/>
            <a:ext cx="3840480" cy="274320"/>
          </a:xfrm>
          <a:prstGeom prst="rect">
            <a:avLst/>
          </a:prstGeom>
          <a:noFill/>
        </p:spPr>
        <p:txBody>
          <a:bodyPr wrap="square" anchor="t" lIns="0" rIns="0" tIns="0" bIns="0"/>
          <a:lstStyle/>
          <a:p>
            <a:pPr algn="l">
              <a:spcAft>
                <a:spcPts val="400"/>
              </a:spcAft>
            </a:pPr>
            <a:r>
              <a:rPr sz="1050" b="1" i="0" spc="180">
                <a:solidFill>
                  <a:srgbClr val="EA6A1E"/>
                </a:solidFill>
                <a:latin typeface="Calibri"/>
              </a:rPr>
              <a:t>KEY TAKEAWAYS</a:t>
            </a:r>
          </a:p>
        </p:txBody>
      </p:sp>
      <p:pic>
        <p:nvPicPr>
          <p:cNvPr id="9" name="Picture 8" descr="check_w.png"/>
          <p:cNvPicPr>
            <a:picLocks noChangeAspect="1"/>
          </p:cNvPicPr>
          <p:nvPr/>
        </p:nvPicPr>
        <p:blipFill>
          <a:blip r:embed="rId3"/>
          <a:stretch>
            <a:fillRect/>
          </a:stretch>
        </p:blipFill>
        <p:spPr>
          <a:xfrm>
            <a:off x="548640" y="2057400"/>
            <a:ext cx="274320" cy="274320"/>
          </a:xfrm>
          <a:prstGeom prst="rect">
            <a:avLst/>
          </a:prstGeom>
        </p:spPr>
      </p:pic>
      <p:sp>
        <p:nvSpPr>
          <p:cNvPr id="10" name="TextBox 9"/>
          <p:cNvSpPr txBox="1"/>
          <p:nvPr/>
        </p:nvSpPr>
        <p:spPr>
          <a:xfrm>
            <a:off x="987552" y="187451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AI supports every phase of the disaster-management cycle.</a:t>
            </a:r>
          </a:p>
        </p:txBody>
      </p:sp>
      <p:cxnSp>
        <p:nvCxnSpPr>
          <p:cNvPr id="11" name="Connector 10"/>
          <p:cNvCxnSpPr/>
          <p:nvPr/>
        </p:nvCxnSpPr>
        <p:spPr>
          <a:xfrm>
            <a:off x="548640" y="2651760"/>
            <a:ext cx="3840480" cy="0"/>
          </a:xfrm>
          <a:prstGeom prst="line">
            <a:avLst/>
          </a:prstGeom>
          <a:ln w="9525">
            <a:solidFill>
              <a:srgbClr val="2A4B51"/>
            </a:solidFill>
          </a:ln>
        </p:spPr>
      </p:cxnSp>
      <p:pic>
        <p:nvPicPr>
          <p:cNvPr id="12" name="Picture 11" descr="check_w.png"/>
          <p:cNvPicPr>
            <a:picLocks noChangeAspect="1"/>
          </p:cNvPicPr>
          <p:nvPr/>
        </p:nvPicPr>
        <p:blipFill>
          <a:blip r:embed="rId3"/>
          <a:stretch>
            <a:fillRect/>
          </a:stretch>
        </p:blipFill>
        <p:spPr>
          <a:xfrm>
            <a:off x="548640" y="2880360"/>
            <a:ext cx="274320" cy="274320"/>
          </a:xfrm>
          <a:prstGeom prst="rect">
            <a:avLst/>
          </a:prstGeom>
        </p:spPr>
      </p:pic>
      <p:sp>
        <p:nvSpPr>
          <p:cNvPr id="13" name="TextBox 12"/>
          <p:cNvSpPr txBox="1"/>
          <p:nvPr/>
        </p:nvSpPr>
        <p:spPr>
          <a:xfrm>
            <a:off x="987552" y="269747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Time-series models warn early; CNN/ViT models map damage quickly.</a:t>
            </a:r>
          </a:p>
        </p:txBody>
      </p:sp>
      <p:cxnSp>
        <p:nvCxnSpPr>
          <p:cNvPr id="14" name="Connector 13"/>
          <p:cNvCxnSpPr/>
          <p:nvPr/>
        </p:nvCxnSpPr>
        <p:spPr>
          <a:xfrm>
            <a:off x="548640" y="3474720"/>
            <a:ext cx="3840480" cy="0"/>
          </a:xfrm>
          <a:prstGeom prst="line">
            <a:avLst/>
          </a:prstGeom>
          <a:ln w="9525">
            <a:solidFill>
              <a:srgbClr val="2A4B51"/>
            </a:solidFill>
          </a:ln>
        </p:spPr>
      </p:cxnSp>
      <p:pic>
        <p:nvPicPr>
          <p:cNvPr id="15" name="Picture 14" descr="check_w.png"/>
          <p:cNvPicPr>
            <a:picLocks noChangeAspect="1"/>
          </p:cNvPicPr>
          <p:nvPr/>
        </p:nvPicPr>
        <p:blipFill>
          <a:blip r:embed="rId3"/>
          <a:stretch>
            <a:fillRect/>
          </a:stretch>
        </p:blipFill>
        <p:spPr>
          <a:xfrm>
            <a:off x="548640" y="3703320"/>
            <a:ext cx="274320" cy="274320"/>
          </a:xfrm>
          <a:prstGeom prst="rect">
            <a:avLst/>
          </a:prstGeom>
        </p:spPr>
      </p:pic>
      <p:sp>
        <p:nvSpPr>
          <p:cNvPr id="16" name="TextBox 15"/>
          <p:cNvSpPr txBox="1"/>
          <p:nvPr/>
        </p:nvSpPr>
        <p:spPr>
          <a:xfrm>
            <a:off x="987552" y="352043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NLP/LLMs turn crisis messages into structured, actionable data.</a:t>
            </a:r>
          </a:p>
        </p:txBody>
      </p:sp>
      <p:cxnSp>
        <p:nvCxnSpPr>
          <p:cNvPr id="17" name="Connector 16"/>
          <p:cNvCxnSpPr/>
          <p:nvPr/>
        </p:nvCxnSpPr>
        <p:spPr>
          <a:xfrm>
            <a:off x="548640" y="4297679"/>
            <a:ext cx="3840480" cy="0"/>
          </a:xfrm>
          <a:prstGeom prst="line">
            <a:avLst/>
          </a:prstGeom>
          <a:ln w="9525">
            <a:solidFill>
              <a:srgbClr val="2A4B51"/>
            </a:solidFill>
          </a:ln>
        </p:spPr>
      </p:cxnSp>
      <p:pic>
        <p:nvPicPr>
          <p:cNvPr id="18" name="Picture 17" descr="check_w.png"/>
          <p:cNvPicPr>
            <a:picLocks noChangeAspect="1"/>
          </p:cNvPicPr>
          <p:nvPr/>
        </p:nvPicPr>
        <p:blipFill>
          <a:blip r:embed="rId3"/>
          <a:stretch>
            <a:fillRect/>
          </a:stretch>
        </p:blipFill>
        <p:spPr>
          <a:xfrm>
            <a:off x="548640" y="4526280"/>
            <a:ext cx="274320" cy="274320"/>
          </a:xfrm>
          <a:prstGeom prst="rect">
            <a:avLst/>
          </a:prstGeom>
        </p:spPr>
      </p:pic>
      <p:sp>
        <p:nvSpPr>
          <p:cNvPr id="19" name="TextBox 18"/>
          <p:cNvSpPr txBox="1"/>
          <p:nvPr/>
        </p:nvSpPr>
        <p:spPr>
          <a:xfrm>
            <a:off x="987552" y="4343400"/>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Optimization and RL improve evacuation and relief logistics.</a:t>
            </a:r>
          </a:p>
        </p:txBody>
      </p:sp>
      <p:sp>
        <p:nvSpPr>
          <p:cNvPr id="20" name="TextBox 19"/>
          <p:cNvSpPr txBox="1"/>
          <p:nvPr/>
        </p:nvSpPr>
        <p:spPr>
          <a:xfrm>
            <a:off x="4709159" y="1508760"/>
            <a:ext cx="3840480" cy="274320"/>
          </a:xfrm>
          <a:prstGeom prst="rect">
            <a:avLst/>
          </a:prstGeom>
          <a:noFill/>
        </p:spPr>
        <p:txBody>
          <a:bodyPr wrap="square" anchor="t" lIns="0" rIns="0" tIns="0" bIns="0"/>
          <a:lstStyle/>
          <a:p>
            <a:pPr algn="l">
              <a:spcAft>
                <a:spcPts val="400"/>
              </a:spcAft>
            </a:pPr>
            <a:r>
              <a:rPr sz="1050" b="1" i="0" spc="180">
                <a:solidFill>
                  <a:srgbClr val="EA6A1E"/>
                </a:solidFill>
                <a:latin typeface="Calibri"/>
              </a:rPr>
              <a:t>FUTURE SCOPE</a:t>
            </a:r>
          </a:p>
        </p:txBody>
      </p:sp>
      <p:pic>
        <p:nvPicPr>
          <p:cNvPr id="21" name="Picture 20" descr="arrowr_da.png"/>
          <p:cNvPicPr>
            <a:picLocks noChangeAspect="1"/>
          </p:cNvPicPr>
          <p:nvPr/>
        </p:nvPicPr>
        <p:blipFill>
          <a:blip r:embed="rId4"/>
          <a:stretch>
            <a:fillRect/>
          </a:stretch>
        </p:blipFill>
        <p:spPr>
          <a:xfrm>
            <a:off x="4709159" y="2057400"/>
            <a:ext cx="274320" cy="274320"/>
          </a:xfrm>
          <a:prstGeom prst="rect">
            <a:avLst/>
          </a:prstGeom>
        </p:spPr>
      </p:pic>
      <p:sp>
        <p:nvSpPr>
          <p:cNvPr id="22" name="TextBox 21"/>
          <p:cNvSpPr txBox="1"/>
          <p:nvPr/>
        </p:nvSpPr>
        <p:spPr>
          <a:xfrm>
            <a:off x="5148071" y="187451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Multimodal models fusing satellite, sensor and text data</a:t>
            </a:r>
          </a:p>
        </p:txBody>
      </p:sp>
      <p:cxnSp>
        <p:nvCxnSpPr>
          <p:cNvPr id="23" name="Connector 22"/>
          <p:cNvCxnSpPr/>
          <p:nvPr/>
        </p:nvCxnSpPr>
        <p:spPr>
          <a:xfrm>
            <a:off x="4709159" y="2651760"/>
            <a:ext cx="3840481" cy="0"/>
          </a:xfrm>
          <a:prstGeom prst="line">
            <a:avLst/>
          </a:prstGeom>
          <a:ln w="9525">
            <a:solidFill>
              <a:srgbClr val="2A4B51"/>
            </a:solidFill>
          </a:ln>
        </p:spPr>
      </p:cxnSp>
      <p:pic>
        <p:nvPicPr>
          <p:cNvPr id="24" name="Picture 23" descr="arrowr_da.png"/>
          <p:cNvPicPr>
            <a:picLocks noChangeAspect="1"/>
          </p:cNvPicPr>
          <p:nvPr/>
        </p:nvPicPr>
        <p:blipFill>
          <a:blip r:embed="rId4"/>
          <a:stretch>
            <a:fillRect/>
          </a:stretch>
        </p:blipFill>
        <p:spPr>
          <a:xfrm>
            <a:off x="4709159" y="2880360"/>
            <a:ext cx="274320" cy="274320"/>
          </a:xfrm>
          <a:prstGeom prst="rect">
            <a:avLst/>
          </a:prstGeom>
        </p:spPr>
      </p:pic>
      <p:sp>
        <p:nvSpPr>
          <p:cNvPr id="25" name="TextBox 24"/>
          <p:cNvSpPr txBox="1"/>
          <p:nvPr/>
        </p:nvSpPr>
        <p:spPr>
          <a:xfrm>
            <a:off x="5148071" y="269747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Explainable, trustworthy AI for critical decisions [2]</a:t>
            </a:r>
          </a:p>
        </p:txBody>
      </p:sp>
      <p:cxnSp>
        <p:nvCxnSpPr>
          <p:cNvPr id="26" name="Connector 25"/>
          <p:cNvCxnSpPr/>
          <p:nvPr/>
        </p:nvCxnSpPr>
        <p:spPr>
          <a:xfrm>
            <a:off x="4709159" y="3474720"/>
            <a:ext cx="3840481" cy="0"/>
          </a:xfrm>
          <a:prstGeom prst="line">
            <a:avLst/>
          </a:prstGeom>
          <a:ln w="9525">
            <a:solidFill>
              <a:srgbClr val="2A4B51"/>
            </a:solidFill>
          </a:ln>
        </p:spPr>
      </p:cxnSp>
      <p:pic>
        <p:nvPicPr>
          <p:cNvPr id="27" name="Picture 26" descr="arrowr_da.png"/>
          <p:cNvPicPr>
            <a:picLocks noChangeAspect="1"/>
          </p:cNvPicPr>
          <p:nvPr/>
        </p:nvPicPr>
        <p:blipFill>
          <a:blip r:embed="rId4"/>
          <a:stretch>
            <a:fillRect/>
          </a:stretch>
        </p:blipFill>
        <p:spPr>
          <a:xfrm>
            <a:off x="4709159" y="3703320"/>
            <a:ext cx="274320" cy="274320"/>
          </a:xfrm>
          <a:prstGeom prst="rect">
            <a:avLst/>
          </a:prstGeom>
        </p:spPr>
      </p:pic>
      <p:sp>
        <p:nvSpPr>
          <p:cNvPr id="28" name="TextBox 27"/>
          <p:cNvSpPr txBox="1"/>
          <p:nvPr/>
        </p:nvSpPr>
        <p:spPr>
          <a:xfrm>
            <a:off x="5148071" y="352043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Edge AI that keeps working when networks fail</a:t>
            </a:r>
          </a:p>
        </p:txBody>
      </p:sp>
      <p:cxnSp>
        <p:nvCxnSpPr>
          <p:cNvPr id="29" name="Connector 28"/>
          <p:cNvCxnSpPr/>
          <p:nvPr/>
        </p:nvCxnSpPr>
        <p:spPr>
          <a:xfrm>
            <a:off x="4709159" y="4297679"/>
            <a:ext cx="3840481" cy="0"/>
          </a:xfrm>
          <a:prstGeom prst="line">
            <a:avLst/>
          </a:prstGeom>
          <a:ln w="9525">
            <a:solidFill>
              <a:srgbClr val="2A4B51"/>
            </a:solidFill>
          </a:ln>
        </p:spPr>
      </p:cxnSp>
      <p:pic>
        <p:nvPicPr>
          <p:cNvPr id="30" name="Picture 29" descr="arrowr_da.png"/>
          <p:cNvPicPr>
            <a:picLocks noChangeAspect="1"/>
          </p:cNvPicPr>
          <p:nvPr/>
        </p:nvPicPr>
        <p:blipFill>
          <a:blip r:embed="rId4"/>
          <a:stretch>
            <a:fillRect/>
          </a:stretch>
        </p:blipFill>
        <p:spPr>
          <a:xfrm>
            <a:off x="4709159" y="4526280"/>
            <a:ext cx="274320" cy="274320"/>
          </a:xfrm>
          <a:prstGeom prst="rect">
            <a:avLst/>
          </a:prstGeom>
        </p:spPr>
      </p:pic>
      <p:sp>
        <p:nvSpPr>
          <p:cNvPr id="31" name="TextBox 30"/>
          <p:cNvSpPr txBox="1"/>
          <p:nvPr/>
        </p:nvSpPr>
        <p:spPr>
          <a:xfrm>
            <a:off x="5148071" y="4343400"/>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Collaboration of government, research and industry</a:t>
            </a:r>
          </a:p>
        </p:txBody>
      </p:sp>
      <p:sp>
        <p:nvSpPr>
          <p:cNvPr id="32" name="Rounded Rectangle 31"/>
          <p:cNvSpPr/>
          <p:nvPr/>
        </p:nvSpPr>
        <p:spPr>
          <a:xfrm>
            <a:off x="548640" y="5303520"/>
            <a:ext cx="8046720" cy="868680"/>
          </a:xfrm>
          <a:prstGeom prst="roundRect">
            <a:avLst>
              <a:gd name="adj" fmla="val 12631"/>
            </a:avLst>
          </a:prstGeom>
          <a:solidFill>
            <a:srgbClr val="12807F"/>
          </a:solidFill>
          <a:ln>
            <a:noFill/>
          </a:ln>
        </p:spPr>
        <p:txBody>
          <a:bodyPr rtlCol="0" anchor="ctr" wrap="square" lIns="182880" rIns="182880" tIns="182880" bIns="182880"/>
          <a:lstStyle/>
          <a:p>
            <a:pPr algn="ctr">
              <a:spcAft>
                <a:spcPts val="0"/>
              </a:spcAft>
            </a:pPr>
            <a:r>
              <a:rPr sz="1600" b="1" i="1">
                <a:solidFill>
                  <a:srgbClr val="FFFFFF"/>
                </a:solidFill>
                <a:latin typeface="Cambria"/>
              </a:rPr>
              <a:t>Earlier detection, faster assessment, smarter response — with humans in the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EA6A1E"/>
                </a:solidFill>
                <a:latin typeface="Calibri"/>
              </a:rPr>
              <a:t>REFERENCES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0E2B31"/>
                </a:solidFill>
                <a:latin typeface="Cambria"/>
              </a:rPr>
              <a:t>References</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5B6E72"/>
                </a:solidFill>
                <a:latin typeface="Calibri"/>
              </a:rPr>
              <a:t>AI in Disaster Management  ·  Vedika Dandade (B344)</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5B6E72"/>
                </a:solidFill>
                <a:latin typeface="Calibri"/>
              </a:rPr>
              <a:t>17</a:t>
            </a:fld>
          </a:p>
        </p:txBody>
      </p:sp>
      <p:sp>
        <p:nvSpPr>
          <p:cNvPr id="7" name="TextBox 6"/>
          <p:cNvSpPr txBox="1"/>
          <p:nvPr/>
        </p:nvSpPr>
        <p:spPr>
          <a:xfrm>
            <a:off x="548640" y="1508760"/>
            <a:ext cx="8046720" cy="4754880"/>
          </a:xfrm>
          <a:prstGeom prst="rect">
            <a:avLst/>
          </a:prstGeom>
          <a:noFill/>
        </p:spPr>
        <p:txBody>
          <a:bodyPr wrap="square" anchor="t" lIns="0" rIns="0" tIns="0" bIns="0"/>
          <a:lstStyle/>
          <a:p>
            <a:pPr algn="l" marL="411480" indent="-411480">
              <a:spcAft>
                <a:spcPts val="1200"/>
              </a:spcAft>
            </a:pPr>
            <a:r>
              <a:rPr sz="1300" b="1" i="0">
                <a:solidFill>
                  <a:srgbClr val="12807F"/>
                </a:solidFill>
                <a:latin typeface="Calibri"/>
              </a:rPr>
              <a:t>[1]	</a:t>
            </a:r>
            <a:r>
              <a:rPr sz="1300" b="0" i="0">
                <a:solidFill>
                  <a:srgbClr val="17282C"/>
                </a:solidFill>
                <a:latin typeface="Calibri"/>
              </a:rPr>
              <a:t>S. Muthukumar et al., “A systematic review of artificial intelligence frameworks for holistic disaster management,” Discover Artificial Intelligence, vol. 6, Art. no. 308, 2026, doi: 10.1007/s44163-026-01020-w.</a:t>
            </a:r>
          </a:p>
          <a:p>
            <a:pPr algn="l" marL="411480" indent="-411480">
              <a:spcAft>
                <a:spcPts val="1200"/>
              </a:spcAft>
            </a:pPr>
            <a:r>
              <a:rPr sz="1300" b="1" i="0">
                <a:solidFill>
                  <a:srgbClr val="12807F"/>
                </a:solidFill>
                <a:latin typeface="Calibri"/>
              </a:rPr>
              <a:t>[2]	</a:t>
            </a:r>
            <a:r>
              <a:rPr sz="1300" b="0" i="0">
                <a:solidFill>
                  <a:srgbClr val="17282C"/>
                </a:solidFill>
                <a:latin typeface="Calibri"/>
              </a:rPr>
              <a:t>“A systematic review of trustworthy artificial intelligence applications in natural disasters,” Computers &amp; Electrical Engineering, vol. 118, pt. B, Art. no. 109409, 2024, doi: 10.1016/j.compeleceng.2024.109409.</a:t>
            </a:r>
          </a:p>
          <a:p>
            <a:pPr algn="l" marL="411480" indent="-411480">
              <a:spcAft>
                <a:spcPts val="1200"/>
              </a:spcAft>
            </a:pPr>
            <a:r>
              <a:rPr sz="1300" b="1" i="0">
                <a:solidFill>
                  <a:srgbClr val="12807F"/>
                </a:solidFill>
                <a:latin typeface="Calibri"/>
              </a:rPr>
              <a:t>[3]	</a:t>
            </a:r>
            <a:r>
              <a:rPr sz="1300" b="0" i="0">
                <a:solidFill>
                  <a:srgbClr val="17282C"/>
                </a:solidFill>
                <a:latin typeface="Calibri"/>
              </a:rPr>
              <a:t>Akhyar et al., “Deep artificial intelligence applications for natural disaster management systems: A methodological review,” Ecological Indicators, vol. 163, Art. no. 112067, 2024, doi: 10.1016/j.ecolind.2024.112067.</a:t>
            </a:r>
          </a:p>
          <a:p>
            <a:pPr algn="l" marL="411480" indent="-411480">
              <a:spcAft>
                <a:spcPts val="1200"/>
              </a:spcAft>
            </a:pPr>
            <a:r>
              <a:rPr sz="1300" b="1" i="0">
                <a:solidFill>
                  <a:srgbClr val="12807F"/>
                </a:solidFill>
                <a:latin typeface="Calibri"/>
              </a:rPr>
              <a:t>[4]	</a:t>
            </a:r>
            <a:r>
              <a:rPr sz="1300" b="0" i="0">
                <a:solidFill>
                  <a:srgbClr val="17282C"/>
                </a:solidFill>
                <a:latin typeface="Calibri"/>
              </a:rPr>
              <a:t>“Artificial intelligence for flood risk management: A comprehensive state-of-the-art review and future directions,” Int. J. Disaster Risk Reduction, vol. 117, Art. no. 105110, 2025, doi: 10.1016/j.ijdrr.2024.105110.</a:t>
            </a:r>
          </a:p>
          <a:p>
            <a:pPr algn="l" marL="411480" indent="-411480">
              <a:spcAft>
                <a:spcPts val="1200"/>
              </a:spcAft>
            </a:pPr>
            <a:r>
              <a:rPr sz="1300" b="1" i="0">
                <a:solidFill>
                  <a:srgbClr val="12807F"/>
                </a:solidFill>
                <a:latin typeface="Calibri"/>
              </a:rPr>
              <a:t>[5]	</a:t>
            </a:r>
            <a:r>
              <a:rPr sz="1300" b="0" i="0">
                <a:solidFill>
                  <a:srgbClr val="17282C"/>
                </a:solidFill>
                <a:latin typeface="Calibri"/>
              </a:rPr>
              <a:t>“Survey of AI-Enabled IoT for Wildfire Prediction, Detection, and Post-Operations,” IEEE Access, vol. 14, pp. 9819–9837, 2026, doi: 10.1109/ACCESS.2026.3654863.</a:t>
            </a:r>
          </a:p>
          <a:p>
            <a:pPr algn="l" marL="411480" indent="-411480">
              <a:spcAft>
                <a:spcPts val="1200"/>
              </a:spcAft>
            </a:pPr>
            <a:r>
              <a:rPr sz="1300" b="1" i="0">
                <a:solidFill>
                  <a:srgbClr val="12807F"/>
                </a:solidFill>
                <a:latin typeface="Calibri"/>
              </a:rPr>
              <a:t>[6]	</a:t>
            </a:r>
            <a:r>
              <a:rPr sz="1300" b="0" i="0">
                <a:solidFill>
                  <a:srgbClr val="17282C"/>
                </a:solidFill>
                <a:latin typeface="Calibri"/>
              </a:rPr>
              <a:t>Z. Lei et al., “Harnessing Large Language Models for Disaster Management: A Survey,” in Findings of the Association for Computational Linguistics: ACL 2025, 2025, pp. 14528–14551.</a:t>
            </a:r>
          </a:p>
          <a:p>
            <a:pPr algn="l" marL="411480" indent="-411480">
              <a:spcAft>
                <a:spcPts val="1200"/>
              </a:spcAft>
            </a:pPr>
            <a:r>
              <a:rPr sz="1300" b="1" i="0">
                <a:solidFill>
                  <a:srgbClr val="12807F"/>
                </a:solidFill>
                <a:latin typeface="Calibri"/>
              </a:rPr>
              <a:t>[7]	</a:t>
            </a:r>
            <a:r>
              <a:rPr sz="1300" b="0" i="0">
                <a:solidFill>
                  <a:srgbClr val="17282C"/>
                </a:solidFill>
                <a:latin typeface="Calibri"/>
              </a:rPr>
              <a:t>Z. Chen et al., “Integration of large vision language models for efficient post-disaster damage assessment and reporting,” Nature Communications, 2026. [Online]. Available: https://www.nature.com/articles/s41467-025-68216-z</a:t>
            </a:r>
          </a:p>
          <a:p>
            <a:pPr algn="l" marL="411480" indent="-411480">
              <a:spcAft>
                <a:spcPts val="1200"/>
              </a:spcAft>
            </a:pPr>
            <a:r>
              <a:rPr sz="1300" b="1" i="0">
                <a:solidFill>
                  <a:srgbClr val="12807F"/>
                </a:solidFill>
                <a:latin typeface="Calibri"/>
              </a:rPr>
              <a:t>[8]	</a:t>
            </a:r>
            <a:r>
              <a:rPr sz="1300" b="0" i="0">
                <a:solidFill>
                  <a:srgbClr val="17282C"/>
                </a:solidFill>
                <a:latin typeface="Calibri"/>
              </a:rPr>
              <a:t>S. Hochreiter and J. Schmidhuber, “Long Short-Term Memory,” Neural Computation, vol. 9, no. 8, pp. 1735–1780, 1997.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2B31"/>
        </a:solidFill>
        <a:effectLst/>
      </p:bgPr>
    </p:bg>
    <p:spTree>
      <p:nvGrpSpPr>
        <p:cNvPr id="1" name=""/>
        <p:cNvGrpSpPr/>
        <p:nvPr/>
      </p:nvGrpSpPr>
      <p:grpSpPr/>
      <p:sp>
        <p:nvSpPr>
          <p:cNvPr id="2" name="Rectangle 1"/>
          <p:cNvSpPr/>
          <p:nvPr/>
        </p:nvSpPr>
        <p:spPr>
          <a:xfrm>
            <a:off x="0" y="0"/>
            <a:ext cx="9144000" cy="1371600"/>
          </a:xfrm>
          <a:prstGeom prst="rect">
            <a:avLst/>
          </a:prstGeom>
          <a:solidFill>
            <a:srgbClr val="FFFFFF"/>
          </a:solidFill>
          <a:ln>
            <a:noFill/>
          </a:ln>
        </p:spPr>
        <p:txBody>
          <a:bodyPr rtlCol="0" anchor="ctr" wrap="square" lIns="54864" rIns="54864" tIns="54864" bIns="54864"/>
          <a:lstStyle/>
          <a:p>
            <a:pPr algn="ctr"/>
          </a:p>
        </p:txBody>
      </p:sp>
      <p:pic>
        <p:nvPicPr>
          <p:cNvPr id="3" name="Picture 2" descr="image.jpg"/>
          <p:cNvPicPr>
            <a:picLocks noChangeAspect="1"/>
          </p:cNvPicPr>
          <p:nvPr/>
        </p:nvPicPr>
        <p:blipFill>
          <a:blip r:embed="rId2"/>
          <a:stretch>
            <a:fillRect/>
          </a:stretch>
        </p:blipFill>
        <p:spPr>
          <a:xfrm>
            <a:off x="320040" y="182880"/>
            <a:ext cx="1280160" cy="964171"/>
          </a:xfrm>
          <a:prstGeom prst="rect">
            <a:avLst/>
          </a:prstGeom>
        </p:spPr>
      </p:pic>
      <p:pic>
        <p:nvPicPr>
          <p:cNvPr id="4" name="Picture 3" descr="image.png"/>
          <p:cNvPicPr>
            <a:picLocks noChangeAspect="1"/>
          </p:cNvPicPr>
          <p:nvPr/>
        </p:nvPicPr>
        <p:blipFill>
          <a:blip r:embed="rId3"/>
          <a:srcRect l="11745" r="3185"/>
          <a:stretch>
            <a:fillRect/>
          </a:stretch>
        </p:blipFill>
        <p:spPr>
          <a:xfrm>
            <a:off x="1691640" y="155448"/>
            <a:ext cx="7178040" cy="1069848"/>
          </a:xfrm>
          <a:prstGeom prst="rect">
            <a:avLst/>
          </a:prstGeom>
        </p:spPr>
      </p:pic>
      <p:sp>
        <p:nvSpPr>
          <p:cNvPr id="5" name="Oval 4"/>
          <p:cNvSpPr/>
          <p:nvPr/>
        </p:nvSpPr>
        <p:spPr>
          <a:xfrm>
            <a:off x="6949440" y="2880360"/>
            <a:ext cx="822960" cy="822960"/>
          </a:xfrm>
          <a:prstGeom prst="ellipse">
            <a:avLst/>
          </a:prstGeom>
          <a:noFill/>
          <a:ln w="15875">
            <a:solidFill>
              <a:srgbClr val="9CCBC7">
                <a:alpha val="70000"/>
              </a:srgbClr>
            </a:solidFill>
          </a:ln>
        </p:spPr>
        <p:txBody>
          <a:bodyPr rtlCol="0" anchor="ctr" wrap="square" lIns="54864" rIns="54864" tIns="54864" bIns="54864"/>
          <a:lstStyle/>
          <a:p>
            <a:pPr algn="ctr"/>
          </a:p>
        </p:txBody>
      </p:sp>
      <p:sp>
        <p:nvSpPr>
          <p:cNvPr id="6" name="Oval 5"/>
          <p:cNvSpPr/>
          <p:nvPr/>
        </p:nvSpPr>
        <p:spPr>
          <a:xfrm>
            <a:off x="6537960" y="2468880"/>
            <a:ext cx="1645920" cy="1645920"/>
          </a:xfrm>
          <a:prstGeom prst="ellipse">
            <a:avLst/>
          </a:prstGeom>
          <a:noFill/>
          <a:ln w="15875">
            <a:solidFill>
              <a:srgbClr val="9CCBC7">
                <a:alpha val="55000"/>
              </a:srgbClr>
            </a:solidFill>
          </a:ln>
        </p:spPr>
        <p:txBody>
          <a:bodyPr rtlCol="0" anchor="ctr" wrap="square" lIns="54864" rIns="54864" tIns="54864" bIns="54864"/>
          <a:lstStyle/>
          <a:p>
            <a:pPr algn="ctr"/>
          </a:p>
        </p:txBody>
      </p:sp>
      <p:sp>
        <p:nvSpPr>
          <p:cNvPr id="7" name="Oval 6"/>
          <p:cNvSpPr/>
          <p:nvPr/>
        </p:nvSpPr>
        <p:spPr>
          <a:xfrm>
            <a:off x="6126480" y="2057400"/>
            <a:ext cx="2468880" cy="2468880"/>
          </a:xfrm>
          <a:prstGeom prst="ellipse">
            <a:avLst/>
          </a:prstGeom>
          <a:noFill/>
          <a:ln w="15875">
            <a:solidFill>
              <a:srgbClr val="9CCBC7">
                <a:alpha val="40000"/>
              </a:srgbClr>
            </a:solidFill>
          </a:ln>
        </p:spPr>
        <p:txBody>
          <a:bodyPr rtlCol="0" anchor="ctr" wrap="square" lIns="54864" rIns="54864" tIns="54864" bIns="54864"/>
          <a:lstStyle/>
          <a:p>
            <a:pPr algn="ctr"/>
          </a:p>
        </p:txBody>
      </p:sp>
      <p:sp>
        <p:nvSpPr>
          <p:cNvPr id="8" name="Oval 7"/>
          <p:cNvSpPr/>
          <p:nvPr/>
        </p:nvSpPr>
        <p:spPr>
          <a:xfrm>
            <a:off x="5715000" y="1645920"/>
            <a:ext cx="3291840" cy="3291840"/>
          </a:xfrm>
          <a:prstGeom prst="ellipse">
            <a:avLst/>
          </a:prstGeom>
          <a:noFill/>
          <a:ln w="15875">
            <a:solidFill>
              <a:srgbClr val="9CCBC7">
                <a:alpha val="25000"/>
              </a:srgbClr>
            </a:solidFill>
          </a:ln>
        </p:spPr>
        <p:txBody>
          <a:bodyPr rtlCol="0" anchor="ctr" wrap="square" lIns="54864" rIns="54864" tIns="54864" bIns="54864"/>
          <a:lstStyle/>
          <a:p>
            <a:pPr algn="ctr"/>
          </a:p>
        </p:txBody>
      </p:sp>
      <p:sp>
        <p:nvSpPr>
          <p:cNvPr id="9" name="Oval 8"/>
          <p:cNvSpPr/>
          <p:nvPr/>
        </p:nvSpPr>
        <p:spPr>
          <a:xfrm>
            <a:off x="7086600" y="3017520"/>
            <a:ext cx="548640" cy="548640"/>
          </a:xfrm>
          <a:prstGeom prst="ellipse">
            <a:avLst/>
          </a:prstGeom>
          <a:solidFill>
            <a:srgbClr val="EA6A1E">
              <a:alpha val="30000"/>
            </a:srgbClr>
          </a:solidFill>
          <a:ln>
            <a:noFill/>
          </a:ln>
        </p:spPr>
        <p:txBody>
          <a:bodyPr rtlCol="0" anchor="ctr" wrap="square" lIns="54864" rIns="54864" tIns="54864" bIns="54864"/>
          <a:lstStyle/>
          <a:p>
            <a:pPr algn="ctr"/>
          </a:p>
        </p:txBody>
      </p:sp>
      <p:sp>
        <p:nvSpPr>
          <p:cNvPr id="10" name="Oval 9"/>
          <p:cNvSpPr/>
          <p:nvPr/>
        </p:nvSpPr>
        <p:spPr>
          <a:xfrm>
            <a:off x="7214616" y="3145536"/>
            <a:ext cx="292608" cy="292608"/>
          </a:xfrm>
          <a:prstGeom prst="ellipse">
            <a:avLst/>
          </a:prstGeom>
          <a:solidFill>
            <a:srgbClr val="EA6A1E"/>
          </a:solidFill>
          <a:ln>
            <a:noFill/>
          </a:ln>
        </p:spPr>
        <p:txBody>
          <a:bodyPr rtlCol="0" anchor="ctr" wrap="square" lIns="54864" rIns="54864" tIns="54864" bIns="54864"/>
          <a:lstStyle/>
          <a:p>
            <a:pPr algn="ctr"/>
          </a:p>
        </p:txBody>
      </p:sp>
      <p:sp>
        <p:nvSpPr>
          <p:cNvPr id="11" name="Oval 10"/>
          <p:cNvSpPr/>
          <p:nvPr/>
        </p:nvSpPr>
        <p:spPr>
          <a:xfrm>
            <a:off x="8110728" y="3218688"/>
            <a:ext cx="146304" cy="146304"/>
          </a:xfrm>
          <a:prstGeom prst="ellipse">
            <a:avLst/>
          </a:prstGeom>
          <a:solidFill>
            <a:srgbClr val="12807F"/>
          </a:solidFill>
          <a:ln>
            <a:noFill/>
          </a:ln>
        </p:spPr>
        <p:txBody>
          <a:bodyPr rtlCol="0" anchor="ctr" wrap="square" lIns="54864" rIns="54864" tIns="54864" bIns="54864"/>
          <a:lstStyle/>
          <a:p>
            <a:pPr algn="ctr"/>
          </a:p>
        </p:txBody>
      </p:sp>
      <p:sp>
        <p:nvSpPr>
          <p:cNvPr id="12" name="Oval 11"/>
          <p:cNvSpPr/>
          <p:nvPr/>
        </p:nvSpPr>
        <p:spPr>
          <a:xfrm>
            <a:off x="6400800" y="2331720"/>
            <a:ext cx="182880" cy="182880"/>
          </a:xfrm>
          <a:prstGeom prst="ellipse">
            <a:avLst/>
          </a:prstGeom>
          <a:solidFill>
            <a:srgbClr val="12807F"/>
          </a:solidFill>
          <a:ln>
            <a:noFill/>
          </a:ln>
        </p:spPr>
        <p:txBody>
          <a:bodyPr rtlCol="0" anchor="ctr" wrap="square" lIns="54864" rIns="54864" tIns="54864" bIns="54864"/>
          <a:lstStyle/>
          <a:p>
            <a:pPr algn="ctr"/>
          </a:p>
        </p:txBody>
      </p:sp>
      <p:sp>
        <p:nvSpPr>
          <p:cNvPr id="13" name="Oval 12"/>
          <p:cNvSpPr/>
          <p:nvPr/>
        </p:nvSpPr>
        <p:spPr>
          <a:xfrm>
            <a:off x="7845552" y="4370831"/>
            <a:ext cx="128016" cy="128016"/>
          </a:xfrm>
          <a:prstGeom prst="ellipse">
            <a:avLst/>
          </a:prstGeom>
          <a:solidFill>
            <a:srgbClr val="12807F"/>
          </a:solidFill>
          <a:ln>
            <a:noFill/>
          </a:ln>
        </p:spPr>
        <p:txBody>
          <a:bodyPr rtlCol="0" anchor="ctr" wrap="square" lIns="54864" rIns="54864" tIns="54864" bIns="54864"/>
          <a:lstStyle/>
          <a:p>
            <a:pPr algn="ctr"/>
          </a:p>
        </p:txBody>
      </p:sp>
      <p:sp>
        <p:nvSpPr>
          <p:cNvPr id="14" name="Oval 13"/>
          <p:cNvSpPr/>
          <p:nvPr/>
        </p:nvSpPr>
        <p:spPr>
          <a:xfrm>
            <a:off x="5934456" y="4151376"/>
            <a:ext cx="109728" cy="109728"/>
          </a:xfrm>
          <a:prstGeom prst="ellipse">
            <a:avLst/>
          </a:prstGeom>
          <a:solidFill>
            <a:srgbClr val="12807F"/>
          </a:solidFill>
          <a:ln>
            <a:noFill/>
          </a:ln>
        </p:spPr>
        <p:txBody>
          <a:bodyPr rtlCol="0" anchor="ctr" wrap="square" lIns="54864" rIns="54864" tIns="54864" bIns="54864"/>
          <a:lstStyle/>
          <a:p>
            <a:pPr algn="ctr"/>
          </a:p>
        </p:txBody>
      </p:sp>
      <p:sp>
        <p:nvSpPr>
          <p:cNvPr id="15" name="TextBox 14"/>
          <p:cNvSpPr txBox="1"/>
          <p:nvPr/>
        </p:nvSpPr>
        <p:spPr>
          <a:xfrm>
            <a:off x="548640" y="1828800"/>
            <a:ext cx="5943600" cy="274320"/>
          </a:xfrm>
          <a:prstGeom prst="rect">
            <a:avLst/>
          </a:prstGeom>
          <a:noFill/>
        </p:spPr>
        <p:txBody>
          <a:bodyPr wrap="square" anchor="t" lIns="0" rIns="0" tIns="0" bIns="0"/>
          <a:lstStyle/>
          <a:p>
            <a:pPr algn="l">
              <a:spcAft>
                <a:spcPts val="400"/>
              </a:spcAft>
            </a:pPr>
            <a:r>
              <a:rPr sz="1100" b="1" i="0" spc="200">
                <a:solidFill>
                  <a:srgbClr val="EA6A1E"/>
                </a:solidFill>
                <a:latin typeface="Calibri"/>
              </a:rPr>
              <a:t>SEMINAR-I  ·  2025–26</a:t>
            </a:r>
          </a:p>
        </p:txBody>
      </p:sp>
      <p:sp>
        <p:nvSpPr>
          <p:cNvPr id="16" name="TextBox 15"/>
          <p:cNvSpPr txBox="1"/>
          <p:nvPr/>
        </p:nvSpPr>
        <p:spPr>
          <a:xfrm>
            <a:off x="548640" y="2148840"/>
            <a:ext cx="5760720" cy="1645920"/>
          </a:xfrm>
          <a:prstGeom prst="rect">
            <a:avLst/>
          </a:prstGeom>
          <a:noFill/>
        </p:spPr>
        <p:txBody>
          <a:bodyPr wrap="square" anchor="t" lIns="0" rIns="0" tIns="0" bIns="0"/>
          <a:lstStyle/>
          <a:p>
            <a:pPr algn="l">
              <a:spcAft>
                <a:spcPts val="0"/>
              </a:spcAft>
            </a:pPr>
            <a:r>
              <a:rPr sz="5400" b="1" i="0">
                <a:solidFill>
                  <a:srgbClr val="FFFFFF"/>
                </a:solidFill>
                <a:latin typeface="Cambria"/>
              </a:rPr>
              <a:t>Thank you</a:t>
            </a:r>
          </a:p>
        </p:txBody>
      </p:sp>
      <p:sp>
        <p:nvSpPr>
          <p:cNvPr id="17" name="TextBox 16"/>
          <p:cNvSpPr txBox="1"/>
          <p:nvPr/>
        </p:nvSpPr>
        <p:spPr>
          <a:xfrm>
            <a:off x="548640" y="3154680"/>
            <a:ext cx="5486400" cy="548640"/>
          </a:xfrm>
          <a:prstGeom prst="rect">
            <a:avLst/>
          </a:prstGeom>
          <a:noFill/>
        </p:spPr>
        <p:txBody>
          <a:bodyPr wrap="square" anchor="t" lIns="0" rIns="0" tIns="0" bIns="0"/>
          <a:lstStyle/>
          <a:p>
            <a:pPr algn="l">
              <a:spcAft>
                <a:spcPts val="400"/>
              </a:spcAft>
            </a:pPr>
            <a:r>
              <a:rPr sz="2200" b="0" i="1">
                <a:solidFill>
                  <a:srgbClr val="9CCBC7"/>
                </a:solidFill>
                <a:latin typeface="Cambria"/>
              </a:rPr>
              <a:t>Questions &amp; discussion</a:t>
            </a:r>
          </a:p>
        </p:txBody>
      </p:sp>
      <p:sp>
        <p:nvSpPr>
          <p:cNvPr id="18" name="TextBox 17"/>
          <p:cNvSpPr txBox="1"/>
          <p:nvPr/>
        </p:nvSpPr>
        <p:spPr>
          <a:xfrm>
            <a:off x="548640" y="5257800"/>
            <a:ext cx="5486400" cy="411480"/>
          </a:xfrm>
          <a:prstGeom prst="rect">
            <a:avLst/>
          </a:prstGeom>
          <a:noFill/>
        </p:spPr>
        <p:txBody>
          <a:bodyPr wrap="square" anchor="t" lIns="0" rIns="0" tIns="0" bIns="0"/>
          <a:lstStyle/>
          <a:p>
            <a:pPr algn="l">
              <a:spcAft>
                <a:spcPts val="400"/>
              </a:spcAft>
            </a:pPr>
            <a:r>
              <a:rPr sz="1700" b="1" i="0">
                <a:solidFill>
                  <a:srgbClr val="FFFFFF"/>
                </a:solidFill>
                <a:latin typeface="Cambria"/>
              </a:rPr>
              <a:t>Vedika Dandade  ·  Roll No. B344</a:t>
            </a:r>
          </a:p>
        </p:txBody>
      </p:sp>
      <p:sp>
        <p:nvSpPr>
          <p:cNvPr id="19" name="TextBox 18"/>
          <p:cNvSpPr txBox="1"/>
          <p:nvPr/>
        </p:nvSpPr>
        <p:spPr>
          <a:xfrm>
            <a:off x="548640" y="5669280"/>
            <a:ext cx="7315200" cy="320040"/>
          </a:xfrm>
          <a:prstGeom prst="rect">
            <a:avLst/>
          </a:prstGeom>
          <a:noFill/>
        </p:spPr>
        <p:txBody>
          <a:bodyPr wrap="square" anchor="t" lIns="0" rIns="0" tIns="0" bIns="0"/>
          <a:lstStyle/>
          <a:p>
            <a:pPr algn="l">
              <a:spcAft>
                <a:spcPts val="400"/>
              </a:spcAft>
            </a:pPr>
            <a:r>
              <a:rPr sz="1100" b="0" i="0">
                <a:solidFill>
                  <a:srgbClr val="9CCBC7"/>
                </a:solidFill>
                <a:latin typeface="Calibri"/>
              </a:rPr>
              <a:t>Department of Computer Engineering  ·  Bajaj Institute of Technology, Wardha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Median</Template>
  <TotalTime>17307</TotalTime>
  <Words>822</Words>
  <Application>Microsoft Office PowerPoint</Application>
  <PresentationFormat>On-screen Show (4:3)</PresentationFormat>
  <Paragraphs>87</Paragraphs>
  <Slides>16</Slides>
  <Notes>1</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16</vt:i4>
      </vt:variant>
    </vt:vector>
  </HeadingPairs>
  <TitlesOfParts>
    <vt:vector size="21" baseType="lpstr">
      <vt:lpstr>Arial</vt:lpstr>
      <vt:lpstr>Calibri</vt:lpstr>
      <vt:lpstr>Times New Roman</vt:lpstr>
      <vt:lpstr>Office Theme</vt:lpstr>
      <vt:lpstr>2_Office Theme</vt:lpstr>
      <vt:lpstr>Points to Note</vt:lpstr>
      <vt:lpstr>PowerPoint Presentation</vt:lpstr>
      <vt:lpstr>Title   Delivered By:  Name of Student  Department of Computer Engineering Bajaj Institute of Technology, Wardha.  Under Supervision of:    Name of Faculty Designation of faculty  Computer Engineering Department, BIT, Wardha     </vt:lpstr>
      <vt:lpstr>Index</vt:lpstr>
      <vt:lpstr>PowerPoint Presentation</vt:lpstr>
      <vt:lpstr>Objective </vt:lpstr>
      <vt:lpstr> Literature Review </vt:lpstr>
      <vt:lpstr>PowerPoint Presentation</vt:lpstr>
      <vt:lpstr> Baseline Papers Selected for Seminar Work </vt:lpstr>
      <vt:lpstr>System architecture/Algorithms Studied</vt:lpstr>
      <vt:lpstr>Features/Advantages/Disadvantages </vt:lpstr>
      <vt:lpstr>Applications </vt:lpstr>
      <vt:lpstr>Analysis/Comparison </vt:lpstr>
      <vt:lpstr>Conclusion </vt:lpstr>
      <vt:lpstr>References </vt:lpstr>
      <vt:lpstr>References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Kevin Hickey</dc:creator>
  <cp:lastModifiedBy>Gajanan Tikhe</cp:lastModifiedBy>
  <cp:revision>764</cp:revision>
  <dcterms:created xsi:type="dcterms:W3CDTF">2010-06-24T14:41:07Z</dcterms:created>
  <dcterms:modified xsi:type="dcterms:W3CDTF">2026-09-05T04:49:03Z</dcterms:modified>
</cp:coreProperties>
</file>