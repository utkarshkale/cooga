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44" r:id="rId1"/>
    <p:sldMasterId id="2147483804" r:id="rId2"/>
  </p:sldMasterIdLst>
  <p:notesMasterIdLst>
    <p:notesMasterId r:id="rId19"/>
  </p:notesMasterIdLst>
  <p:handoutMasterIdLst>
    <p:handoutMasterId r:id="rId20"/>
  </p:handoutMasterIdLst>
  <p:sldIdLst>
    <p:sldId id="256" r:id="rId9"/>
    <p:sldId id="257" r:id="rId10"/>
    <p:sldId id="258" r:id="rId11"/>
    <p:sldId id="259" r:id="rId12"/>
    <p:sldId id="260" r:id="rId13"/>
    <p:sldId id="261" r:id="rId14"/>
    <p:sldId id="262" r:id="rId15"/>
    <p:sldId id="263" r:id="rId16"/>
    <p:sldId id="264" r:id="rId17"/>
    <p:sldId id="265" r:id="rId18"/>
    <p:sldId id="266" r:id="rId8"/>
    <p:sldId id="267" r:id="rId7"/>
    <p:sldId id="268" r:id="rId6"/>
    <p:sldId id="269" r:id="rId5"/>
    <p:sldId id="270" r:id="rId4"/>
    <p:sldId id="271" r:id="rId3"/>
    <p:sldId id="272" r:id="rId25"/>
    <p:sldId id="273" r:id="rId2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CFEA"/>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47" autoAdjust="0"/>
    <p:restoredTop sz="94624" autoAdjust="0"/>
  </p:normalViewPr>
  <p:slideViewPr>
    <p:cSldViewPr>
      <p:cViewPr varScale="1">
        <p:scale>
          <a:sx n="65" d="100"/>
          <a:sy n="65" d="100"/>
        </p:scale>
        <p:origin x="1554" y="78"/>
      </p:cViewPr>
      <p:guideLst>
        <p:guide orient="horz" pos="2160"/>
        <p:guide pos="2880"/>
      </p:guideLst>
    </p:cSldViewPr>
  </p:slid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7.xml"/><Relationship Id="rId26"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51B6C61-D26D-4CEA-A1F0-27D95809EFC3}" type="datetimeFigureOut">
              <a:rPr lang="en-US" smtClean="0"/>
              <a:pPr/>
              <a:t>9/5/2026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0F6C1F1A-88C9-4BF9-8699-F22C6D8974EF}" type="slidenum">
              <a:rPr lang="en-US" smtClean="0"/>
              <a:pPr/>
              <a:t>‹#›</a:t>
            </a:fld>
            <a:endParaRPr lang="en-US"/>
          </a:p>
        </p:txBody>
      </p:sp>
    </p:spTree>
    <p:extLst>
      <p:ext uri="{BB962C8B-B14F-4D97-AF65-F5344CB8AC3E}">
        <p14:creationId xmlns:p14="http://schemas.microsoft.com/office/powerpoint/2010/main" val="226797534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A13ADEF-1232-40E6-AA0C-2DC4E3D89003}" type="datetimeFigureOut">
              <a:rPr lang="en-GB" smtClean="0"/>
              <a:pPr/>
              <a:t>05/09/2026</a:t>
            </a:fld>
            <a:endParaRPr lang="en-GB"/>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E5E719B-CAD1-4CDF-AC07-FD62E51C143C}" type="slidenum">
              <a:rPr lang="en-GB" smtClean="0"/>
              <a:pPr/>
              <a:t>‹#›</a:t>
            </a:fld>
            <a:endParaRPr lang="en-GB"/>
          </a:p>
        </p:txBody>
      </p:sp>
    </p:spTree>
    <p:extLst>
      <p:ext uri="{BB962C8B-B14F-4D97-AF65-F5344CB8AC3E}">
        <p14:creationId xmlns:p14="http://schemas.microsoft.com/office/powerpoint/2010/main" val="17517176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seminar topic is AI in Disaster Management: how artificial intelligence helps predict disasters, assess damage, extract critical information and plan the response.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flow of my presentation. Sections 6 and 7 - the system architecture and the algorithms - are the technical core.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Disasters such as floods, cyclones and earthquakes cause huge losses every year. Traditional management depends on manual surveys and delayed information. Today satellites, drones, IoT sensors and social media give data in real time, and AI can process it quickly. The disaster management cycle has four phases - mitigation, preparedness, response and recovery - and AI has a role in each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objectives are to understand where AI fits in each phase of disaster management, study the main AI techniques, explore real applications, analyse a complete system pipeline, and discuss the challenges.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grouped the literature into four themes. Systematic reviews give the overall map - the Muthukumar review alone synthesises 96 studies. Hazard-specific papers cover floods, earthquakes and wildfires. The ACL survey covers large language models, and the Nature Communications paper presents DisasTeller, a multi-agent vision-language system for damage assessment and reporting.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each paper and what it reports. The first four are broad reviews and hazard-specific reviews for floods, fires and earthquakes.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each paper and what it reports. These cover AIoT for wildfires, large language models, and the DisasTeller vision-language system.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primary baseline is the systematic review by Muthukumar et al., because it covers all phases and AI approaches. The ACL survey supports the language-model part, and the DisasTeller paper shows how vision-language agents can automate damage assessment and reporting. Reviews 2 to 5 were used for early-warning, flood and wildfire details.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overall system, shown as four layers. Data comes from satellites and drones, IoT sensors, social media and government databases. The AI layer cleans and fuses it, then applies deep learning, NLP and optimization models. The decision layer predicts risk, assesses damage, extracts information and allocates resources. Outputs are warnings, damage maps, evacuation routes and reports. The feedback loop with human validation keeps improving the models.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early warning, the model takes historical and real-time readings such as rainfall and river level. After normalisation the data is split into time windows and fed to an LSTM or Transformer. The LSTM's gates let it remember long-term patterns like several days of rain. It predicts the flood risk for the next hours; if the prediction crosses the threshold tau, an alert is issued, otherwise monitoring continues.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damage assessment, the system takes satellite or drone images from before and after the event. After aligning them, a CNN or Vision Transformer performs semantic segmentation and labels each building or region: no damage, minor, major or destroyed. The result is a damage map overlaid on GIS for responders. DisasTeller extends this with four vision-language agents that also produce alerts, emergency reports and resource and recovery plans.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During a disaster people post messages like these. An NLP model such as BERT or an LLM with named entity recognition extracts structured fields - location, event, need and severity - so responders can prioritise. For evacuation, reinforcement learning treats routing as a sequence of decisions: the agent observes the state - location, congestion and hazard - chooses the next road, and gets a reward for safety and speed. Algorithms like PPO or DQN learn the best evacuation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features are data fusion, real-time monitoring, prediction, automatic mapping and decision support. Advantages include more lead time, faster assessment and better use of resources. But there are real limitations: data on rare disasters is scarce, models may not transfer to new regions, black-box outputs reduce trust, infrastructure can fail during the disaster itself, and social media contains misinformation.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Applications include flood forecasting, wildfire detection with AI-enabled IoT, earthquake damage mapping, cyclone tracking, crisis informatics using language models, and relief logistics.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traditional and AI-based approaches: AI gives earlier warnings, maps damage in hours instead of days, triages social media automatically, adapts routes as conditions change and generates reports quickly. But AI should support human decision-makers, and its outputs must be explainable and trusted.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AI can strengthen early detection, damage assessment, information extraction and resource allocation. Future work should focus on multimodal models, explainability, edge deployment and close collaboration with disaster-management authorities.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in IEEE format; numbers in square brackets on the slides point to this list.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C3A9361A-5752-4A3F-B317-24EB821E62FC}"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484ABE7-6F46-483A-A318-EB7CEB294141}"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5677C19-3876-44A2-A0CE-E292A435F0D3}"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B47744B-983E-408C-A292-CA00D1954083}"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83B162A-B07D-4289-86AD-0FFE81BAD1C7}" type="datetime1">
              <a:rPr lang="en-GB" smtClean="0"/>
              <a:t>05/09/2026</a:t>
            </a:fld>
            <a:endParaRPr lang="en-GB"/>
          </a:p>
        </p:txBody>
      </p:sp>
      <p:sp>
        <p:nvSpPr>
          <p:cNvPr id="8" name="Footer Placeholder 7"/>
          <p:cNvSpPr>
            <a:spLocks noGrp="1"/>
          </p:cNvSpPr>
          <p:nvPr>
            <p:ph type="ftr" sz="quarter" idx="11"/>
          </p:nvPr>
        </p:nvSpPr>
        <p:spPr/>
        <p:txBody>
          <a:bodyPr/>
          <a:lstStyle/>
          <a:p>
            <a:r>
              <a:rPr lang="en-GB"/>
              <a:t>1</a:t>
            </a:r>
          </a:p>
        </p:txBody>
      </p:sp>
      <p:sp>
        <p:nvSpPr>
          <p:cNvPr id="9" name="Slide Number Placeholder 8"/>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0661FC8-3BD0-4B3E-92B0-041560FB0C80}" type="datetime1">
              <a:rPr lang="en-GB" smtClean="0"/>
              <a:t>05/09/2026</a:t>
            </a:fld>
            <a:endParaRPr lang="en-GB"/>
          </a:p>
        </p:txBody>
      </p:sp>
      <p:sp>
        <p:nvSpPr>
          <p:cNvPr id="4" name="Footer Placeholder 3"/>
          <p:cNvSpPr>
            <a:spLocks noGrp="1"/>
          </p:cNvSpPr>
          <p:nvPr>
            <p:ph type="ftr" sz="quarter" idx="11"/>
          </p:nvPr>
        </p:nvSpPr>
        <p:spPr/>
        <p:txBody>
          <a:bodyPr/>
          <a:lstStyle/>
          <a:p>
            <a:r>
              <a:rPr lang="en-GB"/>
              <a:t>1</a:t>
            </a:r>
          </a:p>
        </p:txBody>
      </p:sp>
      <p:sp>
        <p:nvSpPr>
          <p:cNvPr id="5" name="Slide Number Placeholder 4"/>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402F35F-FAE8-42C5-8897-AB27EC360220}" type="datetime1">
              <a:rPr lang="en-GB" smtClean="0"/>
              <a:t>05/09/2026</a:t>
            </a:fld>
            <a:endParaRPr lang="en-GB"/>
          </a:p>
        </p:txBody>
      </p:sp>
      <p:sp>
        <p:nvSpPr>
          <p:cNvPr id="3" name="Footer Placeholder 2"/>
          <p:cNvSpPr>
            <a:spLocks noGrp="1"/>
          </p:cNvSpPr>
          <p:nvPr>
            <p:ph type="ftr" sz="quarter" idx="11"/>
          </p:nvPr>
        </p:nvSpPr>
        <p:spPr/>
        <p:txBody>
          <a:bodyPr/>
          <a:lstStyle/>
          <a:p>
            <a:r>
              <a:rPr lang="en-GB"/>
              <a:t>1</a:t>
            </a:r>
          </a:p>
        </p:txBody>
      </p:sp>
      <p:sp>
        <p:nvSpPr>
          <p:cNvPr id="4" name="Slide Number Placeholder 3"/>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047C1F6-3D22-4CB7-8FE7-C5A85987562C}"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7DA32B8-8311-4207-ADB6-15A12511FDD5}"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3FA4A5E-0E72-4911-9A6C-0A673FF39788}"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FDF5CE2-47B1-41AD-9B44-AEAA57961DF6}"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E6448341-C165-4832-A930-9C14941FE0C1}"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45333B3-7E08-4232-BF01-CEA4A255EC85}"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83250C1-0B22-40BA-8D3C-820F66690A62}"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66D7607-6B78-432E-ACEE-70CC6F79C167}"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CB2FA96-2CB9-4FF3-985F-7F96F41E8B43}" type="datetime1">
              <a:rPr lang="en-GB" smtClean="0"/>
              <a:t>05/09/2026</a:t>
            </a:fld>
            <a:endParaRPr lang="en-GB"/>
          </a:p>
        </p:txBody>
      </p:sp>
      <p:sp>
        <p:nvSpPr>
          <p:cNvPr id="8" name="Footer Placeholder 7"/>
          <p:cNvSpPr>
            <a:spLocks noGrp="1"/>
          </p:cNvSpPr>
          <p:nvPr>
            <p:ph type="ftr" sz="quarter" idx="11"/>
          </p:nvPr>
        </p:nvSpPr>
        <p:spPr/>
        <p:txBody>
          <a:bodyPr/>
          <a:lstStyle/>
          <a:p>
            <a:r>
              <a:rPr lang="en-GB"/>
              <a:t>1</a:t>
            </a:r>
          </a:p>
        </p:txBody>
      </p:sp>
      <p:sp>
        <p:nvSpPr>
          <p:cNvPr id="9" name="Slide Number Placeholder 8"/>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D8717EC-8CF9-4F7A-A293-4675CA811524}" type="datetime1">
              <a:rPr lang="en-GB" smtClean="0"/>
              <a:t>05/09/2026</a:t>
            </a:fld>
            <a:endParaRPr lang="en-GB"/>
          </a:p>
        </p:txBody>
      </p:sp>
      <p:sp>
        <p:nvSpPr>
          <p:cNvPr id="4" name="Footer Placeholder 3"/>
          <p:cNvSpPr>
            <a:spLocks noGrp="1"/>
          </p:cNvSpPr>
          <p:nvPr>
            <p:ph type="ftr" sz="quarter" idx="11"/>
          </p:nvPr>
        </p:nvSpPr>
        <p:spPr/>
        <p:txBody>
          <a:bodyPr/>
          <a:lstStyle/>
          <a:p>
            <a:r>
              <a:rPr lang="en-GB"/>
              <a:t>1</a:t>
            </a:r>
          </a:p>
        </p:txBody>
      </p:sp>
      <p:sp>
        <p:nvSpPr>
          <p:cNvPr id="5" name="Slide Number Placeholder 4"/>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A5CBD2-66C1-423B-A11A-13158259126E}" type="datetime1">
              <a:rPr lang="en-GB" smtClean="0"/>
              <a:t>05/09/2026</a:t>
            </a:fld>
            <a:endParaRPr lang="en-GB"/>
          </a:p>
        </p:txBody>
      </p:sp>
      <p:sp>
        <p:nvSpPr>
          <p:cNvPr id="3" name="Footer Placeholder 2"/>
          <p:cNvSpPr>
            <a:spLocks noGrp="1"/>
          </p:cNvSpPr>
          <p:nvPr>
            <p:ph type="ftr" sz="quarter" idx="11"/>
          </p:nvPr>
        </p:nvSpPr>
        <p:spPr/>
        <p:txBody>
          <a:bodyPr/>
          <a:lstStyle/>
          <a:p>
            <a:r>
              <a:rPr lang="en-GB"/>
              <a:t>1</a:t>
            </a:r>
          </a:p>
        </p:txBody>
      </p:sp>
      <p:sp>
        <p:nvSpPr>
          <p:cNvPr id="4" name="Slide Number Placeholder 3"/>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565167D-FA03-46DF-85C9-4E3D5ADDD51D}"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B327E4E-DF66-43CE-8D2C-97EC90D9C7A6}"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DF1A745-BAE3-4F75-B15E-70CC5EF55A39}"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73DBEF5-61E2-41D4-ADC0-52B6DDA9D0E3}"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9860F32-3C46-499F-A5B1-466BADF91087}" type="datetime1">
              <a:rPr lang="en-GB" smtClean="0"/>
              <a:t>05/09/2026</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GB"/>
              <a:t>1</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EC248AB-E565-412B-9D95-9B07D6A4F3F3}"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Lst>
  <p:transition advClick="0" advTm="20000"/>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124274D-0DB2-4E56-B769-729881BF81BB}" type="datetime1">
              <a:rPr lang="en-GB" smtClean="0"/>
              <a:t>05/09/2026</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GB"/>
              <a:t>1</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EC248AB-E565-412B-9D95-9B07D6A4F3F3}"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805" r:id="rId1"/>
    <p:sldLayoutId id="2147483806" r:id="rId2"/>
    <p:sldLayoutId id="2147483807" r:id="rId3"/>
    <p:sldLayoutId id="2147483808" r:id="rId4"/>
    <p:sldLayoutId id="2147483809" r:id="rId5"/>
    <p:sldLayoutId id="2147483810" r:id="rId6"/>
    <p:sldLayoutId id="2147483811" r:id="rId7"/>
    <p:sldLayoutId id="2147483812" r:id="rId8"/>
    <p:sldLayoutId id="2147483813" r:id="rId9"/>
    <p:sldLayoutId id="2147483814" r:id="rId10"/>
    <p:sldLayoutId id="2147483815" r:id="rId11"/>
  </p:sldLayoutIdLst>
  <p:transition advClick="0" advTm="20000"/>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7.png"/><Relationship Id="rId13" Type="http://schemas.openxmlformats.org/officeDocument/2006/relationships/image" Target="../media/image28.png"/><Relationship Id="rId14" Type="http://schemas.openxmlformats.org/officeDocument/2006/relationships/image" Target="../media/image29.png"/><Relationship Id="rId15" Type="http://schemas.openxmlformats.org/officeDocument/2006/relationships/image" Target="../media/image30.png"/><Relationship Id="rId16" Type="http://schemas.openxmlformats.org/officeDocument/2006/relationships/image" Target="../media/image31.png"/><Relationship Id="rId17" Type="http://schemas.openxmlformats.org/officeDocument/2006/relationships/image" Target="../media/image32.png"/><Relationship Id="rId18" Type="http://schemas.openxmlformats.org/officeDocument/2006/relationships/image" Target="../media/image33.png"/><Relationship Id="rId19" Type="http://schemas.openxmlformats.org/officeDocument/2006/relationships/image" Target="../media/image34.png"/><Relationship Id="rId2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27.png"/><Relationship Id="rId6" Type="http://schemas.openxmlformats.org/officeDocument/2006/relationships/image" Target="../media/image40.png"/><Relationship Id="rId7" Type="http://schemas.openxmlformats.org/officeDocument/2006/relationships/image" Target="../media/image13.png"/><Relationship Id="rId8" Type="http://schemas.openxmlformats.org/officeDocument/2006/relationships/image" Target="../media/image41.png"/><Relationship Id="rId9" Type="http://schemas.openxmlformats.org/officeDocument/2006/relationships/image" Target="../media/image42.png"/><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2.png"/><Relationship Id="rId4" Type="http://schemas.openxmlformats.org/officeDocument/2006/relationships/image" Target="../media/image4.png"/><Relationship Id="rId5" Type="http://schemas.openxmlformats.org/officeDocument/2006/relationships/image" Target="../media/image43.png"/><Relationship Id="rId6" Type="http://schemas.openxmlformats.org/officeDocument/2006/relationships/image" Target="../media/image6.png"/><Relationship Id="rId7" Type="http://schemas.openxmlformats.org/officeDocument/2006/relationships/image" Target="../media/image21.png"/><Relationship Id="rId8" Type="http://schemas.openxmlformats.org/officeDocument/2006/relationships/image" Target="../media/image44.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5.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320040" y="201168"/>
            <a:ext cx="1143000" cy="860867"/>
          </a:xfrm>
          <a:prstGeom prst="rect">
            <a:avLst/>
          </a:prstGeom>
        </p:spPr>
      </p:pic>
      <p:pic>
        <p:nvPicPr>
          <p:cNvPr id="3" name="Picture 2" descr="image.png"/>
          <p:cNvPicPr>
            <a:picLocks noChangeAspect="1"/>
          </p:cNvPicPr>
          <p:nvPr/>
        </p:nvPicPr>
        <p:blipFill>
          <a:blip r:embed="rId3"/>
          <a:srcRect l="11745" r="3185"/>
          <a:stretch>
            <a:fillRect/>
          </a:stretch>
        </p:blipFill>
        <p:spPr>
          <a:xfrm>
            <a:off x="1645920" y="182880"/>
            <a:ext cx="7178040" cy="1069848"/>
          </a:xfrm>
          <a:prstGeom prst="rect">
            <a:avLst/>
          </a:prstGeom>
        </p:spPr>
      </p:pic>
      <p:sp>
        <p:nvSpPr>
          <p:cNvPr id="4" name="Rectangle 3"/>
          <p:cNvSpPr/>
          <p:nvPr/>
        </p:nvSpPr>
        <p:spPr>
          <a:xfrm>
            <a:off x="0" y="1600200"/>
            <a:ext cx="6035040" cy="2971800"/>
          </a:xfrm>
          <a:prstGeom prst="rect">
            <a:avLst/>
          </a:prstGeom>
          <a:solidFill>
            <a:srgbClr val="F4A81D"/>
          </a:solidFill>
          <a:ln>
            <a:noFill/>
          </a:ln>
        </p:spPr>
        <p:txBody>
          <a:bodyPr rtlCol="0" anchor="ctr" wrap="square" lIns="54864" rIns="54864" tIns="54864" bIns="54864"/>
          <a:lstStyle/>
          <a:p>
            <a:pPr algn="ctr"/>
          </a:p>
        </p:txBody>
      </p:sp>
      <p:sp>
        <p:nvSpPr>
          <p:cNvPr id="5" name="TextBox 4"/>
          <p:cNvSpPr txBox="1"/>
          <p:nvPr/>
        </p:nvSpPr>
        <p:spPr>
          <a:xfrm>
            <a:off x="548640" y="1828800"/>
            <a:ext cx="5120640" cy="292608"/>
          </a:xfrm>
          <a:prstGeom prst="rect">
            <a:avLst/>
          </a:prstGeom>
          <a:noFill/>
        </p:spPr>
        <p:txBody>
          <a:bodyPr wrap="square" anchor="t" lIns="0" rIns="0" tIns="0" bIns="0"/>
          <a:lstStyle/>
          <a:p>
            <a:pPr algn="l">
              <a:spcAft>
                <a:spcPts val="400"/>
              </a:spcAft>
            </a:pPr>
            <a:r>
              <a:rPr sz="1200" b="1" i="0" spc="120">
                <a:solidFill>
                  <a:srgbClr val="23272B"/>
                </a:solidFill>
                <a:latin typeface="Arial"/>
              </a:rPr>
              <a:t>SEMINAR-I   |   2025–26</a:t>
            </a:r>
          </a:p>
        </p:txBody>
      </p:sp>
      <p:sp>
        <p:nvSpPr>
          <p:cNvPr id="6" name="TextBox 5"/>
          <p:cNvSpPr txBox="1"/>
          <p:nvPr/>
        </p:nvSpPr>
        <p:spPr>
          <a:xfrm>
            <a:off x="548640" y="2194560"/>
            <a:ext cx="5212080" cy="1737360"/>
          </a:xfrm>
          <a:prstGeom prst="rect">
            <a:avLst/>
          </a:prstGeom>
          <a:noFill/>
        </p:spPr>
        <p:txBody>
          <a:bodyPr wrap="square" anchor="t" lIns="0" rIns="0" tIns="0" bIns="0"/>
          <a:lstStyle/>
          <a:p>
            <a:pPr algn="l">
              <a:lnSpc>
                <a:spcPct val="95000"/>
              </a:lnSpc>
              <a:spcAft>
                <a:spcPts val="400"/>
              </a:spcAft>
            </a:pPr>
            <a:r>
              <a:rPr sz="4000" b="1" i="0">
                <a:solidFill>
                  <a:srgbClr val="23272B"/>
                </a:solidFill>
                <a:latin typeface="Arial"/>
              </a:rPr>
              <a:t>AI in Disaster Management</a:t>
            </a:r>
          </a:p>
        </p:txBody>
      </p:sp>
      <p:sp>
        <p:nvSpPr>
          <p:cNvPr id="7" name="Rectangle 6"/>
          <p:cNvSpPr/>
          <p:nvPr/>
        </p:nvSpPr>
        <p:spPr>
          <a:xfrm>
            <a:off x="6035040" y="1600200"/>
            <a:ext cx="3108960" cy="2971800"/>
          </a:xfrm>
          <a:prstGeom prst="rect">
            <a:avLst/>
          </a:prstGeom>
          <a:solidFill>
            <a:srgbClr val="23272B"/>
          </a:solidFill>
          <a:ln>
            <a:noFill/>
          </a:ln>
        </p:spPr>
        <p:txBody>
          <a:bodyPr rtlCol="0" anchor="ctr" wrap="square" lIns="54864" rIns="54864" tIns="54864" bIns="54864"/>
          <a:lstStyle/>
          <a:p>
            <a:pPr algn="ctr"/>
          </a:p>
        </p:txBody>
      </p:sp>
      <p:pic>
        <p:nvPicPr>
          <p:cNvPr id="8" name="Picture 7" descr="water_va.png"/>
          <p:cNvPicPr>
            <a:picLocks noChangeAspect="1"/>
          </p:cNvPicPr>
          <p:nvPr/>
        </p:nvPicPr>
        <p:blipFill>
          <a:blip r:embed="rId4"/>
          <a:stretch>
            <a:fillRect/>
          </a:stretch>
        </p:blipFill>
        <p:spPr>
          <a:xfrm>
            <a:off x="6601968" y="1965960"/>
            <a:ext cx="603504" cy="603504"/>
          </a:xfrm>
          <a:prstGeom prst="rect">
            <a:avLst/>
          </a:prstGeom>
        </p:spPr>
      </p:pic>
      <p:sp>
        <p:nvSpPr>
          <p:cNvPr id="9" name="TextBox 8"/>
          <p:cNvSpPr txBox="1"/>
          <p:nvPr/>
        </p:nvSpPr>
        <p:spPr>
          <a:xfrm>
            <a:off x="6263640" y="2624328"/>
            <a:ext cx="1280160" cy="274320"/>
          </a:xfrm>
          <a:prstGeom prst="rect">
            <a:avLst/>
          </a:prstGeom>
          <a:noFill/>
        </p:spPr>
        <p:txBody>
          <a:bodyPr wrap="square" anchor="t" lIns="0" rIns="0" tIns="0" bIns="0"/>
          <a:lstStyle/>
          <a:p>
            <a:pPr algn="ctr">
              <a:spcAft>
                <a:spcPts val="400"/>
              </a:spcAft>
            </a:pPr>
            <a:r>
              <a:rPr sz="1100" b="1" i="0">
                <a:solidFill>
                  <a:srgbClr val="FFFFFF"/>
                </a:solidFill>
                <a:latin typeface="Arial"/>
              </a:rPr>
              <a:t>Flood</a:t>
            </a:r>
          </a:p>
        </p:txBody>
      </p:sp>
      <p:pic>
        <p:nvPicPr>
          <p:cNvPr id="10" name="Picture 9" descr="fire_va.png"/>
          <p:cNvPicPr>
            <a:picLocks noChangeAspect="1"/>
          </p:cNvPicPr>
          <p:nvPr/>
        </p:nvPicPr>
        <p:blipFill>
          <a:blip r:embed="rId5"/>
          <a:stretch>
            <a:fillRect/>
          </a:stretch>
        </p:blipFill>
        <p:spPr>
          <a:xfrm>
            <a:off x="7973568" y="1965960"/>
            <a:ext cx="603504" cy="603504"/>
          </a:xfrm>
          <a:prstGeom prst="rect">
            <a:avLst/>
          </a:prstGeom>
        </p:spPr>
      </p:pic>
      <p:sp>
        <p:nvSpPr>
          <p:cNvPr id="11" name="TextBox 10"/>
          <p:cNvSpPr txBox="1"/>
          <p:nvPr/>
        </p:nvSpPr>
        <p:spPr>
          <a:xfrm>
            <a:off x="7635240" y="2624328"/>
            <a:ext cx="1280160" cy="274320"/>
          </a:xfrm>
          <a:prstGeom prst="rect">
            <a:avLst/>
          </a:prstGeom>
          <a:noFill/>
        </p:spPr>
        <p:txBody>
          <a:bodyPr wrap="square" anchor="t" lIns="0" rIns="0" tIns="0" bIns="0"/>
          <a:lstStyle/>
          <a:p>
            <a:pPr algn="ctr">
              <a:spcAft>
                <a:spcPts val="400"/>
              </a:spcAft>
            </a:pPr>
            <a:r>
              <a:rPr sz="1100" b="1" i="0">
                <a:solidFill>
                  <a:srgbClr val="FFFFFF"/>
                </a:solidFill>
                <a:latin typeface="Arial"/>
              </a:rPr>
              <a:t>Wildfire</a:t>
            </a:r>
          </a:p>
        </p:txBody>
      </p:sp>
      <p:pic>
        <p:nvPicPr>
          <p:cNvPr id="12" name="Picture 11" descr="quake_va.png"/>
          <p:cNvPicPr>
            <a:picLocks noChangeAspect="1"/>
          </p:cNvPicPr>
          <p:nvPr/>
        </p:nvPicPr>
        <p:blipFill>
          <a:blip r:embed="rId6"/>
          <a:stretch>
            <a:fillRect/>
          </a:stretch>
        </p:blipFill>
        <p:spPr>
          <a:xfrm>
            <a:off x="6601968" y="3291839"/>
            <a:ext cx="603504" cy="603504"/>
          </a:xfrm>
          <a:prstGeom prst="rect">
            <a:avLst/>
          </a:prstGeom>
        </p:spPr>
      </p:pic>
      <p:sp>
        <p:nvSpPr>
          <p:cNvPr id="13" name="TextBox 12"/>
          <p:cNvSpPr txBox="1"/>
          <p:nvPr/>
        </p:nvSpPr>
        <p:spPr>
          <a:xfrm>
            <a:off x="6263640" y="3950207"/>
            <a:ext cx="1280160" cy="274320"/>
          </a:xfrm>
          <a:prstGeom prst="rect">
            <a:avLst/>
          </a:prstGeom>
          <a:noFill/>
        </p:spPr>
        <p:txBody>
          <a:bodyPr wrap="square" anchor="t" lIns="0" rIns="0" tIns="0" bIns="0"/>
          <a:lstStyle/>
          <a:p>
            <a:pPr algn="ctr">
              <a:spcAft>
                <a:spcPts val="400"/>
              </a:spcAft>
            </a:pPr>
            <a:r>
              <a:rPr sz="1100" b="1" i="0">
                <a:solidFill>
                  <a:srgbClr val="FFFFFF"/>
                </a:solidFill>
                <a:latin typeface="Arial"/>
              </a:rPr>
              <a:t>Earthquake</a:t>
            </a:r>
          </a:p>
        </p:txBody>
      </p:sp>
      <p:pic>
        <p:nvPicPr>
          <p:cNvPr id="14" name="Picture 13" descr="cyclone_va.png"/>
          <p:cNvPicPr>
            <a:picLocks noChangeAspect="1"/>
          </p:cNvPicPr>
          <p:nvPr/>
        </p:nvPicPr>
        <p:blipFill>
          <a:blip r:embed="rId7"/>
          <a:stretch>
            <a:fillRect/>
          </a:stretch>
        </p:blipFill>
        <p:spPr>
          <a:xfrm>
            <a:off x="7973568" y="3291839"/>
            <a:ext cx="603504" cy="603504"/>
          </a:xfrm>
          <a:prstGeom prst="rect">
            <a:avLst/>
          </a:prstGeom>
        </p:spPr>
      </p:pic>
      <p:sp>
        <p:nvSpPr>
          <p:cNvPr id="15" name="TextBox 14"/>
          <p:cNvSpPr txBox="1"/>
          <p:nvPr/>
        </p:nvSpPr>
        <p:spPr>
          <a:xfrm>
            <a:off x="7635240" y="3950207"/>
            <a:ext cx="1280160" cy="274320"/>
          </a:xfrm>
          <a:prstGeom prst="rect">
            <a:avLst/>
          </a:prstGeom>
          <a:noFill/>
        </p:spPr>
        <p:txBody>
          <a:bodyPr wrap="square" anchor="t" lIns="0" rIns="0" tIns="0" bIns="0"/>
          <a:lstStyle/>
          <a:p>
            <a:pPr algn="ctr">
              <a:spcAft>
                <a:spcPts val="400"/>
              </a:spcAft>
            </a:pPr>
            <a:r>
              <a:rPr sz="1100" b="1" i="0">
                <a:solidFill>
                  <a:srgbClr val="FFFFFF"/>
                </a:solidFill>
                <a:latin typeface="Arial"/>
              </a:rPr>
              <a:t>Cyclone</a:t>
            </a:r>
          </a:p>
        </p:txBody>
      </p:sp>
      <p:sp>
        <p:nvSpPr>
          <p:cNvPr id="16" name="TextBox 15"/>
          <p:cNvSpPr txBox="1"/>
          <p:nvPr/>
        </p:nvSpPr>
        <p:spPr>
          <a:xfrm>
            <a:off x="548640" y="4937760"/>
            <a:ext cx="3840480" cy="256032"/>
          </a:xfrm>
          <a:prstGeom prst="rect">
            <a:avLst/>
          </a:prstGeom>
          <a:noFill/>
        </p:spPr>
        <p:txBody>
          <a:bodyPr wrap="square" anchor="t" lIns="0" rIns="0" tIns="0" bIns="0"/>
          <a:lstStyle/>
          <a:p>
            <a:pPr algn="l">
              <a:spcAft>
                <a:spcPts val="400"/>
              </a:spcAft>
            </a:pPr>
            <a:r>
              <a:rPr sz="1050" b="1" i="0" spc="120">
                <a:solidFill>
                  <a:srgbClr val="5F6B76"/>
                </a:solidFill>
                <a:latin typeface="Arial"/>
              </a:rPr>
              <a:t>PRESENTED BY</a:t>
            </a:r>
          </a:p>
        </p:txBody>
      </p:sp>
      <p:sp>
        <p:nvSpPr>
          <p:cNvPr id="17" name="TextBox 16"/>
          <p:cNvSpPr txBox="1"/>
          <p:nvPr/>
        </p:nvSpPr>
        <p:spPr>
          <a:xfrm>
            <a:off x="548640" y="5212080"/>
            <a:ext cx="3840480" cy="411480"/>
          </a:xfrm>
          <a:prstGeom prst="rect">
            <a:avLst/>
          </a:prstGeom>
          <a:noFill/>
        </p:spPr>
        <p:txBody>
          <a:bodyPr wrap="square" anchor="t" lIns="0" rIns="0" tIns="0" bIns="0"/>
          <a:lstStyle/>
          <a:p>
            <a:pPr algn="l">
              <a:spcAft>
                <a:spcPts val="400"/>
              </a:spcAft>
            </a:pPr>
            <a:r>
              <a:rPr sz="2000" b="1" i="0">
                <a:solidFill>
                  <a:srgbClr val="23272B"/>
                </a:solidFill>
                <a:latin typeface="Arial"/>
              </a:rPr>
              <a:t>Vedika Dandade</a:t>
            </a:r>
          </a:p>
        </p:txBody>
      </p:sp>
      <p:sp>
        <p:nvSpPr>
          <p:cNvPr id="18" name="TextBox 17"/>
          <p:cNvSpPr txBox="1"/>
          <p:nvPr/>
        </p:nvSpPr>
        <p:spPr>
          <a:xfrm>
            <a:off x="548640" y="5623560"/>
            <a:ext cx="3840480" cy="320040"/>
          </a:xfrm>
          <a:prstGeom prst="rect">
            <a:avLst/>
          </a:prstGeom>
          <a:noFill/>
        </p:spPr>
        <p:txBody>
          <a:bodyPr wrap="square" anchor="t" lIns="0" rIns="0" tIns="0" bIns="0"/>
          <a:lstStyle/>
          <a:p>
            <a:pPr algn="l">
              <a:spcAft>
                <a:spcPts val="400"/>
              </a:spcAft>
            </a:pPr>
            <a:r>
              <a:rPr sz="1250" b="0" i="0">
                <a:solidFill>
                  <a:srgbClr val="5F6B76"/>
                </a:solidFill>
                <a:latin typeface="Arial"/>
              </a:rPr>
              <a:t>Roll No. B344  |  Third Year, Semester V</a:t>
            </a:r>
          </a:p>
        </p:txBody>
      </p:sp>
      <p:sp>
        <p:nvSpPr>
          <p:cNvPr id="19" name="TextBox 18"/>
          <p:cNvSpPr txBox="1"/>
          <p:nvPr/>
        </p:nvSpPr>
        <p:spPr>
          <a:xfrm>
            <a:off x="4663440" y="4937760"/>
            <a:ext cx="3840480" cy="256032"/>
          </a:xfrm>
          <a:prstGeom prst="rect">
            <a:avLst/>
          </a:prstGeom>
          <a:noFill/>
        </p:spPr>
        <p:txBody>
          <a:bodyPr wrap="square" anchor="t" lIns="0" rIns="0" tIns="0" bIns="0"/>
          <a:lstStyle/>
          <a:p>
            <a:pPr algn="l">
              <a:spcAft>
                <a:spcPts val="400"/>
              </a:spcAft>
            </a:pPr>
            <a:r>
              <a:rPr sz="1050" b="1" i="0" spc="120">
                <a:solidFill>
                  <a:srgbClr val="5F6B76"/>
                </a:solidFill>
                <a:latin typeface="Arial"/>
              </a:rPr>
              <a:t>UNDER THE GUIDANCE OF</a:t>
            </a:r>
          </a:p>
        </p:txBody>
      </p:sp>
      <p:sp>
        <p:nvSpPr>
          <p:cNvPr id="20" name="TextBox 19"/>
          <p:cNvSpPr txBox="1"/>
          <p:nvPr/>
        </p:nvSpPr>
        <p:spPr>
          <a:xfrm>
            <a:off x="4663440" y="5212080"/>
            <a:ext cx="3840480" cy="411480"/>
          </a:xfrm>
          <a:prstGeom prst="rect">
            <a:avLst/>
          </a:prstGeom>
          <a:noFill/>
        </p:spPr>
        <p:txBody>
          <a:bodyPr wrap="square" anchor="t" lIns="0" rIns="0" tIns="0" bIns="0"/>
          <a:lstStyle/>
          <a:p>
            <a:pPr algn="l">
              <a:spcAft>
                <a:spcPts val="400"/>
              </a:spcAft>
            </a:pPr>
            <a:r>
              <a:rPr sz="2000" b="1" i="0">
                <a:solidFill>
                  <a:srgbClr val="23272B"/>
                </a:solidFill>
                <a:latin typeface="Arial"/>
              </a:rPr>
              <a:t>Name of Faculty</a:t>
            </a:r>
          </a:p>
        </p:txBody>
      </p:sp>
      <p:sp>
        <p:nvSpPr>
          <p:cNvPr id="21" name="TextBox 20"/>
          <p:cNvSpPr txBox="1"/>
          <p:nvPr/>
        </p:nvSpPr>
        <p:spPr>
          <a:xfrm>
            <a:off x="4663440" y="5623560"/>
            <a:ext cx="3840480" cy="320040"/>
          </a:xfrm>
          <a:prstGeom prst="rect">
            <a:avLst/>
          </a:prstGeom>
          <a:noFill/>
        </p:spPr>
        <p:txBody>
          <a:bodyPr wrap="square" anchor="t" lIns="0" rIns="0" tIns="0" bIns="0"/>
          <a:lstStyle/>
          <a:p>
            <a:pPr algn="l">
              <a:spcAft>
                <a:spcPts val="400"/>
              </a:spcAft>
            </a:pPr>
            <a:r>
              <a:rPr sz="1250" b="0" i="0">
                <a:solidFill>
                  <a:srgbClr val="5F6B76"/>
                </a:solidFill>
                <a:latin typeface="Arial"/>
              </a:rPr>
              <a:t>Designation of faculty</a:t>
            </a:r>
          </a:p>
        </p:txBody>
      </p:sp>
      <p:sp>
        <p:nvSpPr>
          <p:cNvPr id="22" name="TextBox 21"/>
          <p:cNvSpPr txBox="1"/>
          <p:nvPr/>
        </p:nvSpPr>
        <p:spPr>
          <a:xfrm>
            <a:off x="548640" y="6263640"/>
            <a:ext cx="8046720" cy="274320"/>
          </a:xfrm>
          <a:prstGeom prst="rect">
            <a:avLst/>
          </a:prstGeom>
          <a:noFill/>
        </p:spPr>
        <p:txBody>
          <a:bodyPr wrap="square" anchor="t" lIns="0" rIns="0" tIns="0" bIns="0"/>
          <a:lstStyle/>
          <a:p>
            <a:pPr algn="l">
              <a:spcAft>
                <a:spcPts val="400"/>
              </a:spcAft>
            </a:pPr>
            <a:r>
              <a:rPr sz="1050" b="0" i="0">
                <a:solidFill>
                  <a:srgbClr val="5F6B76"/>
                </a:solidFill>
                <a:latin typeface="Arial"/>
              </a:rPr>
              <a:t>Department of Computer Engineering, Bajaj Institute of Technology, Wardha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84048"/>
            <a:ext cx="566928" cy="566928"/>
          </a:xfrm>
          <a:prstGeom prst="rect">
            <a:avLst/>
          </a:prstGeom>
          <a:solidFill>
            <a:srgbClr val="F4A81D"/>
          </a:solidFill>
          <a:ln>
            <a:noFill/>
          </a:ln>
        </p:spPr>
        <p:txBody>
          <a:bodyPr rtlCol="0" anchor="ctr" wrap="square" lIns="0" rIns="0" tIns="0" bIns="0"/>
          <a:lstStyle/>
          <a:p>
            <a:pPr algn="ctr">
              <a:spcAft>
                <a:spcPts val="0"/>
              </a:spcAft>
            </a:pPr>
            <a:r>
              <a:rPr sz="1800" b="1" i="0">
                <a:solidFill>
                  <a:srgbClr val="23272B"/>
                </a:solidFill>
                <a:latin typeface="Arial"/>
              </a:rPr>
              <a:t>00</a:t>
            </a:r>
          </a:p>
        </p:txBody>
      </p:sp>
      <p:sp>
        <p:nvSpPr>
          <p:cNvPr id="3" name="TextBox 2"/>
          <p:cNvSpPr txBox="1"/>
          <p:nvPr/>
        </p:nvSpPr>
        <p:spPr>
          <a:xfrm>
            <a:off x="1280160" y="329184"/>
            <a:ext cx="7315200" cy="438912"/>
          </a:xfrm>
          <a:prstGeom prst="rect">
            <a:avLst/>
          </a:prstGeom>
          <a:noFill/>
        </p:spPr>
        <p:txBody>
          <a:bodyPr wrap="square" anchor="ctr" lIns="0" rIns="0" tIns="0" bIns="0"/>
          <a:lstStyle/>
          <a:p>
            <a:pPr algn="l">
              <a:spcAft>
                <a:spcPts val="400"/>
              </a:spcAft>
            </a:pPr>
            <a:r>
              <a:rPr sz="2400" b="1" i="0">
                <a:solidFill>
                  <a:srgbClr val="23272B"/>
                </a:solidFill>
                <a:latin typeface="Arial"/>
              </a:rPr>
              <a:t>Contents</a:t>
            </a:r>
          </a:p>
        </p:txBody>
      </p:sp>
      <p:sp>
        <p:nvSpPr>
          <p:cNvPr id="4" name="TextBox 3"/>
          <p:cNvSpPr txBox="1"/>
          <p:nvPr/>
        </p:nvSpPr>
        <p:spPr>
          <a:xfrm>
            <a:off x="1280160" y="749808"/>
            <a:ext cx="7315200" cy="292608"/>
          </a:xfrm>
          <a:prstGeom prst="rect">
            <a:avLst/>
          </a:prstGeom>
          <a:noFill/>
        </p:spPr>
        <p:txBody>
          <a:bodyPr wrap="square" anchor="t" lIns="0" rIns="0" tIns="0" bIns="0"/>
          <a:lstStyle/>
          <a:p>
            <a:pPr algn="l">
              <a:spcAft>
                <a:spcPts val="400"/>
              </a:spcAft>
            </a:pPr>
            <a:r>
              <a:rPr sz="1300" b="0" i="0">
                <a:solidFill>
                  <a:srgbClr val="5F6B76"/>
                </a:solidFill>
                <a:latin typeface="Arial"/>
              </a:rPr>
              <a:t>Seminar flow, following the Seminar-I template</a:t>
            </a:r>
          </a:p>
        </p:txBody>
      </p:sp>
      <p:pic>
        <p:nvPicPr>
          <p:cNvPr id="5" name="Picture 4" descr="image.jpg"/>
          <p:cNvPicPr>
            <a:picLocks noChangeAspect="1"/>
          </p:cNvPicPr>
          <p:nvPr/>
        </p:nvPicPr>
        <p:blipFill>
          <a:blip r:embed="rId2"/>
          <a:stretch>
            <a:fillRect/>
          </a:stretch>
        </p:blipFill>
        <p:spPr>
          <a:xfrm>
            <a:off x="548640" y="6336792"/>
            <a:ext cx="438912" cy="330572"/>
          </a:xfrm>
          <a:prstGeom prst="rect">
            <a:avLst/>
          </a:prstGeom>
        </p:spPr>
      </p:pic>
      <p:sp>
        <p:nvSpPr>
          <p:cNvPr id="6" name="TextBox 5"/>
          <p:cNvSpPr txBox="1"/>
          <p:nvPr/>
        </p:nvSpPr>
        <p:spPr>
          <a:xfrm>
            <a:off x="1078992" y="6382512"/>
            <a:ext cx="5943600" cy="274320"/>
          </a:xfrm>
          <a:prstGeom prst="rect">
            <a:avLst/>
          </a:prstGeom>
          <a:noFill/>
        </p:spPr>
        <p:txBody>
          <a:bodyPr wrap="square" anchor="ctr" lIns="0" rIns="0" tIns="0" bIns="0"/>
          <a:lstStyle/>
          <a:p>
            <a:pPr algn="l">
              <a:spcAft>
                <a:spcPts val="400"/>
              </a:spcAft>
            </a:pPr>
            <a:r>
              <a:rPr sz="900" b="0" i="0">
                <a:solidFill>
                  <a:srgbClr val="5F6B76"/>
                </a:solidFill>
                <a:latin typeface="Arial"/>
              </a:rPr>
              <a:t>AI in Disaster Management   |   Vedika Dandade, B344</a:t>
            </a:r>
          </a:p>
        </p:txBody>
      </p:sp>
      <p:sp>
        <p:nvSpPr>
          <p:cNvPr id="7" name="Rectangle 6"/>
          <p:cNvSpPr/>
          <p:nvPr/>
        </p:nvSpPr>
        <p:spPr>
          <a:xfrm>
            <a:off x="8275320" y="6355080"/>
            <a:ext cx="329184" cy="329184"/>
          </a:xfrm>
          <a:prstGeom prst="rect">
            <a:avLst/>
          </a:prstGeom>
          <a:solidFill>
            <a:srgbClr val="F4A81D"/>
          </a:solidFill>
          <a:ln>
            <a:noFill/>
          </a:ln>
        </p:spPr>
        <p:txBody>
          <a:bodyPr rtlCol="0" anchor="ctr" wrap="square" lIns="0" rIns="0" tIns="0" bIns="0"/>
          <a:lstStyle/>
          <a:p>
            <a:pPr algn="ctr"/>
            <a:fld id="{3C1D2E4F-6A7B-4C8D-9E0F-1A2B3C4D5E6F}" type="slidenum">
              <a:rPr lang="en-US" sz="1000" b="1">
                <a:solidFill>
                  <a:srgbClr val="23272B"/>
                </a:solidFill>
                <a:latin typeface="Arial"/>
              </a:rPr>
              <a:t>2</a:t>
            </a:fld>
          </a:p>
        </p:txBody>
      </p:sp>
      <p:sp>
        <p:nvSpPr>
          <p:cNvPr id="8" name="Rectangle 7"/>
          <p:cNvSpPr/>
          <p:nvPr/>
        </p:nvSpPr>
        <p:spPr>
          <a:xfrm>
            <a:off x="548640" y="1463040"/>
            <a:ext cx="2560320" cy="1024128"/>
          </a:xfrm>
          <a:prstGeom prst="rect">
            <a:avLst/>
          </a:prstGeom>
          <a:solidFill>
            <a:srgbClr val="F0F2F4"/>
          </a:solidFill>
          <a:ln>
            <a:noFill/>
          </a:ln>
        </p:spPr>
        <p:txBody>
          <a:bodyPr rtlCol="0" anchor="ctr" wrap="square" lIns="54864" rIns="54864" tIns="54864" bIns="54864"/>
          <a:lstStyle/>
          <a:p>
            <a:pPr algn="ctr"/>
          </a:p>
        </p:txBody>
      </p:sp>
      <p:sp>
        <p:nvSpPr>
          <p:cNvPr id="9" name="TextBox 8"/>
          <p:cNvSpPr txBox="1"/>
          <p:nvPr/>
        </p:nvSpPr>
        <p:spPr>
          <a:xfrm>
            <a:off x="713232" y="1554480"/>
            <a:ext cx="914400" cy="411480"/>
          </a:xfrm>
          <a:prstGeom prst="rect">
            <a:avLst/>
          </a:prstGeom>
          <a:noFill/>
        </p:spPr>
        <p:txBody>
          <a:bodyPr wrap="square" anchor="t" lIns="0" rIns="0" tIns="0" bIns="0"/>
          <a:lstStyle/>
          <a:p>
            <a:pPr algn="l">
              <a:spcAft>
                <a:spcPts val="400"/>
              </a:spcAft>
            </a:pPr>
            <a:r>
              <a:rPr sz="2000" b="1" i="0">
                <a:solidFill>
                  <a:srgbClr val="2C6E91"/>
                </a:solidFill>
                <a:latin typeface="Arial"/>
              </a:rPr>
              <a:t>01</a:t>
            </a:r>
          </a:p>
        </p:txBody>
      </p:sp>
      <p:sp>
        <p:nvSpPr>
          <p:cNvPr id="10" name="TextBox 9"/>
          <p:cNvSpPr txBox="1"/>
          <p:nvPr/>
        </p:nvSpPr>
        <p:spPr>
          <a:xfrm>
            <a:off x="713232" y="1965960"/>
            <a:ext cx="2286000" cy="457200"/>
          </a:xfrm>
          <a:prstGeom prst="rect">
            <a:avLst/>
          </a:prstGeom>
          <a:noFill/>
        </p:spPr>
        <p:txBody>
          <a:bodyPr wrap="square" anchor="t" lIns="0" rIns="0" tIns="0" bIns="0"/>
          <a:lstStyle/>
          <a:p>
            <a:pPr algn="l">
              <a:spcAft>
                <a:spcPts val="400"/>
              </a:spcAft>
            </a:pPr>
            <a:r>
              <a:rPr sz="1350" b="1" i="0">
                <a:solidFill>
                  <a:srgbClr val="23272B"/>
                </a:solidFill>
                <a:latin typeface="Arial"/>
              </a:rPr>
              <a:t>Introduction</a:t>
            </a:r>
          </a:p>
        </p:txBody>
      </p:sp>
      <p:sp>
        <p:nvSpPr>
          <p:cNvPr id="11" name="Rectangle 10"/>
          <p:cNvSpPr/>
          <p:nvPr/>
        </p:nvSpPr>
        <p:spPr>
          <a:xfrm>
            <a:off x="3291840" y="1463040"/>
            <a:ext cx="2560320" cy="1024128"/>
          </a:xfrm>
          <a:prstGeom prst="rect">
            <a:avLst/>
          </a:prstGeom>
          <a:solidFill>
            <a:srgbClr val="F0F2F4"/>
          </a:solidFill>
          <a:ln>
            <a:noFill/>
          </a:ln>
        </p:spPr>
        <p:txBody>
          <a:bodyPr rtlCol="0" anchor="ctr" wrap="square" lIns="54864" rIns="54864" tIns="54864" bIns="54864"/>
          <a:lstStyle/>
          <a:p>
            <a:pPr algn="ctr"/>
          </a:p>
        </p:txBody>
      </p:sp>
      <p:sp>
        <p:nvSpPr>
          <p:cNvPr id="12" name="TextBox 11"/>
          <p:cNvSpPr txBox="1"/>
          <p:nvPr/>
        </p:nvSpPr>
        <p:spPr>
          <a:xfrm>
            <a:off x="3456432" y="1554480"/>
            <a:ext cx="914400" cy="411480"/>
          </a:xfrm>
          <a:prstGeom prst="rect">
            <a:avLst/>
          </a:prstGeom>
          <a:noFill/>
        </p:spPr>
        <p:txBody>
          <a:bodyPr wrap="square" anchor="t" lIns="0" rIns="0" tIns="0" bIns="0"/>
          <a:lstStyle/>
          <a:p>
            <a:pPr algn="l">
              <a:spcAft>
                <a:spcPts val="400"/>
              </a:spcAft>
            </a:pPr>
            <a:r>
              <a:rPr sz="2000" b="1" i="0">
                <a:solidFill>
                  <a:srgbClr val="2C6E91"/>
                </a:solidFill>
                <a:latin typeface="Arial"/>
              </a:rPr>
              <a:t>02</a:t>
            </a:r>
          </a:p>
        </p:txBody>
      </p:sp>
      <p:sp>
        <p:nvSpPr>
          <p:cNvPr id="13" name="TextBox 12"/>
          <p:cNvSpPr txBox="1"/>
          <p:nvPr/>
        </p:nvSpPr>
        <p:spPr>
          <a:xfrm>
            <a:off x="3456432" y="1965960"/>
            <a:ext cx="2286000" cy="457200"/>
          </a:xfrm>
          <a:prstGeom prst="rect">
            <a:avLst/>
          </a:prstGeom>
          <a:noFill/>
        </p:spPr>
        <p:txBody>
          <a:bodyPr wrap="square" anchor="t" lIns="0" rIns="0" tIns="0" bIns="0"/>
          <a:lstStyle/>
          <a:p>
            <a:pPr algn="l">
              <a:spcAft>
                <a:spcPts val="400"/>
              </a:spcAft>
            </a:pPr>
            <a:r>
              <a:rPr sz="1350" b="1" i="0">
                <a:solidFill>
                  <a:srgbClr val="23272B"/>
                </a:solidFill>
                <a:latin typeface="Arial"/>
              </a:rPr>
              <a:t>Objectives</a:t>
            </a:r>
          </a:p>
        </p:txBody>
      </p:sp>
      <p:sp>
        <p:nvSpPr>
          <p:cNvPr id="14" name="Rectangle 13"/>
          <p:cNvSpPr/>
          <p:nvPr/>
        </p:nvSpPr>
        <p:spPr>
          <a:xfrm>
            <a:off x="6035040" y="1463040"/>
            <a:ext cx="2560320" cy="1024128"/>
          </a:xfrm>
          <a:prstGeom prst="rect">
            <a:avLst/>
          </a:prstGeom>
          <a:solidFill>
            <a:srgbClr val="F0F2F4"/>
          </a:solidFill>
          <a:ln>
            <a:noFill/>
          </a:ln>
        </p:spPr>
        <p:txBody>
          <a:bodyPr rtlCol="0" anchor="ctr" wrap="square" lIns="54864" rIns="54864" tIns="54864" bIns="54864"/>
          <a:lstStyle/>
          <a:p>
            <a:pPr algn="ctr"/>
          </a:p>
        </p:txBody>
      </p:sp>
      <p:sp>
        <p:nvSpPr>
          <p:cNvPr id="15" name="TextBox 14"/>
          <p:cNvSpPr txBox="1"/>
          <p:nvPr/>
        </p:nvSpPr>
        <p:spPr>
          <a:xfrm>
            <a:off x="6199631" y="1554480"/>
            <a:ext cx="914400" cy="411480"/>
          </a:xfrm>
          <a:prstGeom prst="rect">
            <a:avLst/>
          </a:prstGeom>
          <a:noFill/>
        </p:spPr>
        <p:txBody>
          <a:bodyPr wrap="square" anchor="t" lIns="0" rIns="0" tIns="0" bIns="0"/>
          <a:lstStyle/>
          <a:p>
            <a:pPr algn="l">
              <a:spcAft>
                <a:spcPts val="400"/>
              </a:spcAft>
            </a:pPr>
            <a:r>
              <a:rPr sz="2000" b="1" i="0">
                <a:solidFill>
                  <a:srgbClr val="2C6E91"/>
                </a:solidFill>
                <a:latin typeface="Arial"/>
              </a:rPr>
              <a:t>03</a:t>
            </a:r>
          </a:p>
        </p:txBody>
      </p:sp>
      <p:sp>
        <p:nvSpPr>
          <p:cNvPr id="16" name="TextBox 15"/>
          <p:cNvSpPr txBox="1"/>
          <p:nvPr/>
        </p:nvSpPr>
        <p:spPr>
          <a:xfrm>
            <a:off x="6199631" y="1965960"/>
            <a:ext cx="2286000" cy="457200"/>
          </a:xfrm>
          <a:prstGeom prst="rect">
            <a:avLst/>
          </a:prstGeom>
          <a:noFill/>
        </p:spPr>
        <p:txBody>
          <a:bodyPr wrap="square" anchor="t" lIns="0" rIns="0" tIns="0" bIns="0"/>
          <a:lstStyle/>
          <a:p>
            <a:pPr algn="l">
              <a:spcAft>
                <a:spcPts val="400"/>
              </a:spcAft>
            </a:pPr>
            <a:r>
              <a:rPr sz="1350" b="1" i="0">
                <a:solidFill>
                  <a:srgbClr val="23272B"/>
                </a:solidFill>
                <a:latin typeface="Arial"/>
              </a:rPr>
              <a:t>Literature Review</a:t>
            </a:r>
          </a:p>
        </p:txBody>
      </p:sp>
      <p:sp>
        <p:nvSpPr>
          <p:cNvPr id="17" name="Rectangle 16"/>
          <p:cNvSpPr/>
          <p:nvPr/>
        </p:nvSpPr>
        <p:spPr>
          <a:xfrm>
            <a:off x="548640" y="2651760"/>
            <a:ext cx="2560320" cy="1024128"/>
          </a:xfrm>
          <a:prstGeom prst="rect">
            <a:avLst/>
          </a:prstGeom>
          <a:solidFill>
            <a:srgbClr val="F0F2F4"/>
          </a:solidFill>
          <a:ln>
            <a:noFill/>
          </a:ln>
        </p:spPr>
        <p:txBody>
          <a:bodyPr rtlCol="0" anchor="ctr" wrap="square" lIns="54864" rIns="54864" tIns="54864" bIns="54864"/>
          <a:lstStyle/>
          <a:p>
            <a:pPr algn="ctr"/>
          </a:p>
        </p:txBody>
      </p:sp>
      <p:sp>
        <p:nvSpPr>
          <p:cNvPr id="18" name="TextBox 17"/>
          <p:cNvSpPr txBox="1"/>
          <p:nvPr/>
        </p:nvSpPr>
        <p:spPr>
          <a:xfrm>
            <a:off x="713232" y="2743200"/>
            <a:ext cx="914400" cy="411480"/>
          </a:xfrm>
          <a:prstGeom prst="rect">
            <a:avLst/>
          </a:prstGeom>
          <a:noFill/>
        </p:spPr>
        <p:txBody>
          <a:bodyPr wrap="square" anchor="t" lIns="0" rIns="0" tIns="0" bIns="0"/>
          <a:lstStyle/>
          <a:p>
            <a:pPr algn="l">
              <a:spcAft>
                <a:spcPts val="400"/>
              </a:spcAft>
            </a:pPr>
            <a:r>
              <a:rPr sz="2000" b="1" i="0">
                <a:solidFill>
                  <a:srgbClr val="2C6E91"/>
                </a:solidFill>
                <a:latin typeface="Arial"/>
              </a:rPr>
              <a:t>04</a:t>
            </a:r>
          </a:p>
        </p:txBody>
      </p:sp>
      <p:sp>
        <p:nvSpPr>
          <p:cNvPr id="19" name="TextBox 18"/>
          <p:cNvSpPr txBox="1"/>
          <p:nvPr/>
        </p:nvSpPr>
        <p:spPr>
          <a:xfrm>
            <a:off x="713232" y="3154680"/>
            <a:ext cx="2286000" cy="457200"/>
          </a:xfrm>
          <a:prstGeom prst="rect">
            <a:avLst/>
          </a:prstGeom>
          <a:noFill/>
        </p:spPr>
        <p:txBody>
          <a:bodyPr wrap="square" anchor="t" lIns="0" rIns="0" tIns="0" bIns="0"/>
          <a:lstStyle/>
          <a:p>
            <a:pPr algn="l">
              <a:spcAft>
                <a:spcPts val="400"/>
              </a:spcAft>
            </a:pPr>
            <a:r>
              <a:rPr sz="1350" b="1" i="0">
                <a:solidFill>
                  <a:srgbClr val="23272B"/>
                </a:solidFill>
                <a:latin typeface="Arial"/>
              </a:rPr>
              <a:t>Literature Survey</a:t>
            </a:r>
          </a:p>
        </p:txBody>
      </p:sp>
      <p:sp>
        <p:nvSpPr>
          <p:cNvPr id="20" name="Rectangle 19"/>
          <p:cNvSpPr/>
          <p:nvPr/>
        </p:nvSpPr>
        <p:spPr>
          <a:xfrm>
            <a:off x="3291840" y="2651760"/>
            <a:ext cx="2560320" cy="1024128"/>
          </a:xfrm>
          <a:prstGeom prst="rect">
            <a:avLst/>
          </a:prstGeom>
          <a:solidFill>
            <a:srgbClr val="F0F2F4"/>
          </a:solidFill>
          <a:ln>
            <a:noFill/>
          </a:ln>
        </p:spPr>
        <p:txBody>
          <a:bodyPr rtlCol="0" anchor="ctr" wrap="square" lIns="54864" rIns="54864" tIns="54864" bIns="54864"/>
          <a:lstStyle/>
          <a:p>
            <a:pPr algn="ctr"/>
          </a:p>
        </p:txBody>
      </p:sp>
      <p:sp>
        <p:nvSpPr>
          <p:cNvPr id="21" name="TextBox 20"/>
          <p:cNvSpPr txBox="1"/>
          <p:nvPr/>
        </p:nvSpPr>
        <p:spPr>
          <a:xfrm>
            <a:off x="3456432" y="2743200"/>
            <a:ext cx="914400" cy="411480"/>
          </a:xfrm>
          <a:prstGeom prst="rect">
            <a:avLst/>
          </a:prstGeom>
          <a:noFill/>
        </p:spPr>
        <p:txBody>
          <a:bodyPr wrap="square" anchor="t" lIns="0" rIns="0" tIns="0" bIns="0"/>
          <a:lstStyle/>
          <a:p>
            <a:pPr algn="l">
              <a:spcAft>
                <a:spcPts val="400"/>
              </a:spcAft>
            </a:pPr>
            <a:r>
              <a:rPr sz="2000" b="1" i="0">
                <a:solidFill>
                  <a:srgbClr val="2C6E91"/>
                </a:solidFill>
                <a:latin typeface="Arial"/>
              </a:rPr>
              <a:t>05</a:t>
            </a:r>
          </a:p>
        </p:txBody>
      </p:sp>
      <p:sp>
        <p:nvSpPr>
          <p:cNvPr id="22" name="TextBox 21"/>
          <p:cNvSpPr txBox="1"/>
          <p:nvPr/>
        </p:nvSpPr>
        <p:spPr>
          <a:xfrm>
            <a:off x="3456432" y="3154680"/>
            <a:ext cx="2286000" cy="457200"/>
          </a:xfrm>
          <a:prstGeom prst="rect">
            <a:avLst/>
          </a:prstGeom>
          <a:noFill/>
        </p:spPr>
        <p:txBody>
          <a:bodyPr wrap="square" anchor="t" lIns="0" rIns="0" tIns="0" bIns="0"/>
          <a:lstStyle/>
          <a:p>
            <a:pPr algn="l">
              <a:spcAft>
                <a:spcPts val="400"/>
              </a:spcAft>
            </a:pPr>
            <a:r>
              <a:rPr sz="1350" b="1" i="0">
                <a:solidFill>
                  <a:srgbClr val="23272B"/>
                </a:solidFill>
                <a:latin typeface="Arial"/>
              </a:rPr>
              <a:t>Baseline Papers</a:t>
            </a:r>
          </a:p>
        </p:txBody>
      </p:sp>
      <p:sp>
        <p:nvSpPr>
          <p:cNvPr id="23" name="Rectangle 22"/>
          <p:cNvSpPr/>
          <p:nvPr/>
        </p:nvSpPr>
        <p:spPr>
          <a:xfrm>
            <a:off x="6035040" y="2651760"/>
            <a:ext cx="2560320" cy="1024128"/>
          </a:xfrm>
          <a:prstGeom prst="rect">
            <a:avLst/>
          </a:prstGeom>
          <a:solidFill>
            <a:srgbClr val="23272B"/>
          </a:solidFill>
          <a:ln>
            <a:noFill/>
          </a:ln>
        </p:spPr>
        <p:txBody>
          <a:bodyPr rtlCol="0" anchor="ctr" wrap="square" lIns="54864" rIns="54864" tIns="54864" bIns="54864"/>
          <a:lstStyle/>
          <a:p>
            <a:pPr algn="ctr"/>
          </a:p>
        </p:txBody>
      </p:sp>
      <p:sp>
        <p:nvSpPr>
          <p:cNvPr id="24" name="TextBox 23"/>
          <p:cNvSpPr txBox="1"/>
          <p:nvPr/>
        </p:nvSpPr>
        <p:spPr>
          <a:xfrm>
            <a:off x="6199631" y="2743200"/>
            <a:ext cx="914400" cy="411480"/>
          </a:xfrm>
          <a:prstGeom prst="rect">
            <a:avLst/>
          </a:prstGeom>
          <a:noFill/>
        </p:spPr>
        <p:txBody>
          <a:bodyPr wrap="square" anchor="t" lIns="0" rIns="0" tIns="0" bIns="0"/>
          <a:lstStyle/>
          <a:p>
            <a:pPr algn="l">
              <a:spcAft>
                <a:spcPts val="400"/>
              </a:spcAft>
            </a:pPr>
            <a:r>
              <a:rPr sz="2000" b="1" i="0">
                <a:solidFill>
                  <a:srgbClr val="F4A81D"/>
                </a:solidFill>
                <a:latin typeface="Arial"/>
              </a:rPr>
              <a:t>06</a:t>
            </a:r>
          </a:p>
        </p:txBody>
      </p:sp>
      <p:sp>
        <p:nvSpPr>
          <p:cNvPr id="25" name="TextBox 24"/>
          <p:cNvSpPr txBox="1"/>
          <p:nvPr/>
        </p:nvSpPr>
        <p:spPr>
          <a:xfrm>
            <a:off x="6199631" y="3154680"/>
            <a:ext cx="2286000" cy="457200"/>
          </a:xfrm>
          <a:prstGeom prst="rect">
            <a:avLst/>
          </a:prstGeom>
          <a:noFill/>
        </p:spPr>
        <p:txBody>
          <a:bodyPr wrap="square" anchor="t" lIns="0" rIns="0" tIns="0" bIns="0"/>
          <a:lstStyle/>
          <a:p>
            <a:pPr algn="l">
              <a:spcAft>
                <a:spcPts val="400"/>
              </a:spcAft>
            </a:pPr>
            <a:r>
              <a:rPr sz="1350" b="1" i="0">
                <a:solidFill>
                  <a:srgbClr val="FFFFFF"/>
                </a:solidFill>
                <a:latin typeface="Arial"/>
              </a:rPr>
              <a:t>System Architecture</a:t>
            </a:r>
          </a:p>
        </p:txBody>
      </p:sp>
      <p:sp>
        <p:nvSpPr>
          <p:cNvPr id="26" name="Rectangle 25"/>
          <p:cNvSpPr/>
          <p:nvPr/>
        </p:nvSpPr>
        <p:spPr>
          <a:xfrm>
            <a:off x="548640" y="3840480"/>
            <a:ext cx="2560320" cy="1024128"/>
          </a:xfrm>
          <a:prstGeom prst="rect">
            <a:avLst/>
          </a:prstGeom>
          <a:solidFill>
            <a:srgbClr val="23272B"/>
          </a:solidFill>
          <a:ln>
            <a:noFill/>
          </a:ln>
        </p:spPr>
        <p:txBody>
          <a:bodyPr rtlCol="0" anchor="ctr" wrap="square" lIns="54864" rIns="54864" tIns="54864" bIns="54864"/>
          <a:lstStyle/>
          <a:p>
            <a:pPr algn="ctr"/>
          </a:p>
        </p:txBody>
      </p:sp>
      <p:sp>
        <p:nvSpPr>
          <p:cNvPr id="27" name="TextBox 26"/>
          <p:cNvSpPr txBox="1"/>
          <p:nvPr/>
        </p:nvSpPr>
        <p:spPr>
          <a:xfrm>
            <a:off x="713232" y="3931920"/>
            <a:ext cx="914400" cy="411480"/>
          </a:xfrm>
          <a:prstGeom prst="rect">
            <a:avLst/>
          </a:prstGeom>
          <a:noFill/>
        </p:spPr>
        <p:txBody>
          <a:bodyPr wrap="square" anchor="t" lIns="0" rIns="0" tIns="0" bIns="0"/>
          <a:lstStyle/>
          <a:p>
            <a:pPr algn="l">
              <a:spcAft>
                <a:spcPts val="400"/>
              </a:spcAft>
            </a:pPr>
            <a:r>
              <a:rPr sz="2000" b="1" i="0">
                <a:solidFill>
                  <a:srgbClr val="F4A81D"/>
                </a:solidFill>
                <a:latin typeface="Arial"/>
              </a:rPr>
              <a:t>07</a:t>
            </a:r>
          </a:p>
        </p:txBody>
      </p:sp>
      <p:sp>
        <p:nvSpPr>
          <p:cNvPr id="28" name="TextBox 27"/>
          <p:cNvSpPr txBox="1"/>
          <p:nvPr/>
        </p:nvSpPr>
        <p:spPr>
          <a:xfrm>
            <a:off x="713232" y="4343400"/>
            <a:ext cx="2286000" cy="457200"/>
          </a:xfrm>
          <a:prstGeom prst="rect">
            <a:avLst/>
          </a:prstGeom>
          <a:noFill/>
        </p:spPr>
        <p:txBody>
          <a:bodyPr wrap="square" anchor="t" lIns="0" rIns="0" tIns="0" bIns="0"/>
          <a:lstStyle/>
          <a:p>
            <a:pPr algn="l">
              <a:spcAft>
                <a:spcPts val="400"/>
              </a:spcAft>
            </a:pPr>
            <a:r>
              <a:rPr sz="1350" b="1" i="0">
                <a:solidFill>
                  <a:srgbClr val="FFFFFF"/>
                </a:solidFill>
                <a:latin typeface="Arial"/>
              </a:rPr>
              <a:t>Algorithms Studied</a:t>
            </a:r>
          </a:p>
        </p:txBody>
      </p:sp>
      <p:sp>
        <p:nvSpPr>
          <p:cNvPr id="29" name="Rectangle 28"/>
          <p:cNvSpPr/>
          <p:nvPr/>
        </p:nvSpPr>
        <p:spPr>
          <a:xfrm>
            <a:off x="3291840" y="3840480"/>
            <a:ext cx="2560320" cy="1024128"/>
          </a:xfrm>
          <a:prstGeom prst="rect">
            <a:avLst/>
          </a:prstGeom>
          <a:solidFill>
            <a:srgbClr val="F0F2F4"/>
          </a:solidFill>
          <a:ln>
            <a:noFill/>
          </a:ln>
        </p:spPr>
        <p:txBody>
          <a:bodyPr rtlCol="0" anchor="ctr" wrap="square" lIns="54864" rIns="54864" tIns="54864" bIns="54864"/>
          <a:lstStyle/>
          <a:p>
            <a:pPr algn="ctr"/>
          </a:p>
        </p:txBody>
      </p:sp>
      <p:sp>
        <p:nvSpPr>
          <p:cNvPr id="30" name="TextBox 29"/>
          <p:cNvSpPr txBox="1"/>
          <p:nvPr/>
        </p:nvSpPr>
        <p:spPr>
          <a:xfrm>
            <a:off x="3456432" y="3931920"/>
            <a:ext cx="914400" cy="411480"/>
          </a:xfrm>
          <a:prstGeom prst="rect">
            <a:avLst/>
          </a:prstGeom>
          <a:noFill/>
        </p:spPr>
        <p:txBody>
          <a:bodyPr wrap="square" anchor="t" lIns="0" rIns="0" tIns="0" bIns="0"/>
          <a:lstStyle/>
          <a:p>
            <a:pPr algn="l">
              <a:spcAft>
                <a:spcPts val="400"/>
              </a:spcAft>
            </a:pPr>
            <a:r>
              <a:rPr sz="2000" b="1" i="0">
                <a:solidFill>
                  <a:srgbClr val="2C6E91"/>
                </a:solidFill>
                <a:latin typeface="Arial"/>
              </a:rPr>
              <a:t>08</a:t>
            </a:r>
          </a:p>
        </p:txBody>
      </p:sp>
      <p:sp>
        <p:nvSpPr>
          <p:cNvPr id="31" name="TextBox 30"/>
          <p:cNvSpPr txBox="1"/>
          <p:nvPr/>
        </p:nvSpPr>
        <p:spPr>
          <a:xfrm>
            <a:off x="3456432" y="4343400"/>
            <a:ext cx="2286000" cy="457200"/>
          </a:xfrm>
          <a:prstGeom prst="rect">
            <a:avLst/>
          </a:prstGeom>
          <a:noFill/>
        </p:spPr>
        <p:txBody>
          <a:bodyPr wrap="square" anchor="t" lIns="0" rIns="0" tIns="0" bIns="0"/>
          <a:lstStyle/>
          <a:p>
            <a:pPr algn="l">
              <a:spcAft>
                <a:spcPts val="400"/>
              </a:spcAft>
            </a:pPr>
            <a:r>
              <a:rPr sz="1350" b="1" i="0">
                <a:solidFill>
                  <a:srgbClr val="23272B"/>
                </a:solidFill>
                <a:latin typeface="Arial"/>
              </a:rPr>
              <a:t>Features, Advantages &amp; Disadvantages</a:t>
            </a:r>
          </a:p>
        </p:txBody>
      </p:sp>
      <p:sp>
        <p:nvSpPr>
          <p:cNvPr id="32" name="Rectangle 31"/>
          <p:cNvSpPr/>
          <p:nvPr/>
        </p:nvSpPr>
        <p:spPr>
          <a:xfrm>
            <a:off x="6035040" y="3840480"/>
            <a:ext cx="2560320" cy="1024128"/>
          </a:xfrm>
          <a:prstGeom prst="rect">
            <a:avLst/>
          </a:prstGeom>
          <a:solidFill>
            <a:srgbClr val="F0F2F4"/>
          </a:solidFill>
          <a:ln>
            <a:noFill/>
          </a:ln>
        </p:spPr>
        <p:txBody>
          <a:bodyPr rtlCol="0" anchor="ctr" wrap="square" lIns="54864" rIns="54864" tIns="54864" bIns="54864"/>
          <a:lstStyle/>
          <a:p>
            <a:pPr algn="ctr"/>
          </a:p>
        </p:txBody>
      </p:sp>
      <p:sp>
        <p:nvSpPr>
          <p:cNvPr id="33" name="TextBox 32"/>
          <p:cNvSpPr txBox="1"/>
          <p:nvPr/>
        </p:nvSpPr>
        <p:spPr>
          <a:xfrm>
            <a:off x="6199631" y="3931920"/>
            <a:ext cx="914400" cy="411480"/>
          </a:xfrm>
          <a:prstGeom prst="rect">
            <a:avLst/>
          </a:prstGeom>
          <a:noFill/>
        </p:spPr>
        <p:txBody>
          <a:bodyPr wrap="square" anchor="t" lIns="0" rIns="0" tIns="0" bIns="0"/>
          <a:lstStyle/>
          <a:p>
            <a:pPr algn="l">
              <a:spcAft>
                <a:spcPts val="400"/>
              </a:spcAft>
            </a:pPr>
            <a:r>
              <a:rPr sz="2000" b="1" i="0">
                <a:solidFill>
                  <a:srgbClr val="2C6E91"/>
                </a:solidFill>
                <a:latin typeface="Arial"/>
              </a:rPr>
              <a:t>09</a:t>
            </a:r>
          </a:p>
        </p:txBody>
      </p:sp>
      <p:sp>
        <p:nvSpPr>
          <p:cNvPr id="34" name="TextBox 33"/>
          <p:cNvSpPr txBox="1"/>
          <p:nvPr/>
        </p:nvSpPr>
        <p:spPr>
          <a:xfrm>
            <a:off x="6199631" y="4343400"/>
            <a:ext cx="2286000" cy="457200"/>
          </a:xfrm>
          <a:prstGeom prst="rect">
            <a:avLst/>
          </a:prstGeom>
          <a:noFill/>
        </p:spPr>
        <p:txBody>
          <a:bodyPr wrap="square" anchor="t" lIns="0" rIns="0" tIns="0" bIns="0"/>
          <a:lstStyle/>
          <a:p>
            <a:pPr algn="l">
              <a:spcAft>
                <a:spcPts val="400"/>
              </a:spcAft>
            </a:pPr>
            <a:r>
              <a:rPr sz="1350" b="1" i="0">
                <a:solidFill>
                  <a:srgbClr val="23272B"/>
                </a:solidFill>
                <a:latin typeface="Arial"/>
              </a:rPr>
              <a:t>Applications</a:t>
            </a:r>
          </a:p>
        </p:txBody>
      </p:sp>
      <p:sp>
        <p:nvSpPr>
          <p:cNvPr id="35" name="Rectangle 34"/>
          <p:cNvSpPr/>
          <p:nvPr/>
        </p:nvSpPr>
        <p:spPr>
          <a:xfrm>
            <a:off x="548640" y="5029200"/>
            <a:ext cx="2560320" cy="1024128"/>
          </a:xfrm>
          <a:prstGeom prst="rect">
            <a:avLst/>
          </a:prstGeom>
          <a:solidFill>
            <a:srgbClr val="F0F2F4"/>
          </a:solidFill>
          <a:ln>
            <a:noFill/>
          </a:ln>
        </p:spPr>
        <p:txBody>
          <a:bodyPr rtlCol="0" anchor="ctr" wrap="square" lIns="54864" rIns="54864" tIns="54864" bIns="54864"/>
          <a:lstStyle/>
          <a:p>
            <a:pPr algn="ctr"/>
          </a:p>
        </p:txBody>
      </p:sp>
      <p:sp>
        <p:nvSpPr>
          <p:cNvPr id="36" name="TextBox 35"/>
          <p:cNvSpPr txBox="1"/>
          <p:nvPr/>
        </p:nvSpPr>
        <p:spPr>
          <a:xfrm>
            <a:off x="713232" y="5120640"/>
            <a:ext cx="914400" cy="411480"/>
          </a:xfrm>
          <a:prstGeom prst="rect">
            <a:avLst/>
          </a:prstGeom>
          <a:noFill/>
        </p:spPr>
        <p:txBody>
          <a:bodyPr wrap="square" anchor="t" lIns="0" rIns="0" tIns="0" bIns="0"/>
          <a:lstStyle/>
          <a:p>
            <a:pPr algn="l">
              <a:spcAft>
                <a:spcPts val="400"/>
              </a:spcAft>
            </a:pPr>
            <a:r>
              <a:rPr sz="2000" b="1" i="0">
                <a:solidFill>
                  <a:srgbClr val="2C6E91"/>
                </a:solidFill>
                <a:latin typeface="Arial"/>
              </a:rPr>
              <a:t>10</a:t>
            </a:r>
          </a:p>
        </p:txBody>
      </p:sp>
      <p:sp>
        <p:nvSpPr>
          <p:cNvPr id="37" name="TextBox 36"/>
          <p:cNvSpPr txBox="1"/>
          <p:nvPr/>
        </p:nvSpPr>
        <p:spPr>
          <a:xfrm>
            <a:off x="713232" y="5532120"/>
            <a:ext cx="2286000" cy="457200"/>
          </a:xfrm>
          <a:prstGeom prst="rect">
            <a:avLst/>
          </a:prstGeom>
          <a:noFill/>
        </p:spPr>
        <p:txBody>
          <a:bodyPr wrap="square" anchor="t" lIns="0" rIns="0" tIns="0" bIns="0"/>
          <a:lstStyle/>
          <a:p>
            <a:pPr algn="l">
              <a:spcAft>
                <a:spcPts val="400"/>
              </a:spcAft>
            </a:pPr>
            <a:r>
              <a:rPr sz="1350" b="1" i="0">
                <a:solidFill>
                  <a:srgbClr val="23272B"/>
                </a:solidFill>
                <a:latin typeface="Arial"/>
              </a:rPr>
              <a:t>Analysis &amp; Comparison</a:t>
            </a:r>
          </a:p>
        </p:txBody>
      </p:sp>
      <p:sp>
        <p:nvSpPr>
          <p:cNvPr id="38" name="Rectangle 37"/>
          <p:cNvSpPr/>
          <p:nvPr/>
        </p:nvSpPr>
        <p:spPr>
          <a:xfrm>
            <a:off x="3291840" y="5029200"/>
            <a:ext cx="2560320" cy="1024128"/>
          </a:xfrm>
          <a:prstGeom prst="rect">
            <a:avLst/>
          </a:prstGeom>
          <a:solidFill>
            <a:srgbClr val="F0F2F4"/>
          </a:solidFill>
          <a:ln>
            <a:noFill/>
          </a:ln>
        </p:spPr>
        <p:txBody>
          <a:bodyPr rtlCol="0" anchor="ctr" wrap="square" lIns="54864" rIns="54864" tIns="54864" bIns="54864"/>
          <a:lstStyle/>
          <a:p>
            <a:pPr algn="ctr"/>
          </a:p>
        </p:txBody>
      </p:sp>
      <p:sp>
        <p:nvSpPr>
          <p:cNvPr id="39" name="TextBox 38"/>
          <p:cNvSpPr txBox="1"/>
          <p:nvPr/>
        </p:nvSpPr>
        <p:spPr>
          <a:xfrm>
            <a:off x="3456432" y="5120640"/>
            <a:ext cx="914400" cy="411480"/>
          </a:xfrm>
          <a:prstGeom prst="rect">
            <a:avLst/>
          </a:prstGeom>
          <a:noFill/>
        </p:spPr>
        <p:txBody>
          <a:bodyPr wrap="square" anchor="t" lIns="0" rIns="0" tIns="0" bIns="0"/>
          <a:lstStyle/>
          <a:p>
            <a:pPr algn="l">
              <a:spcAft>
                <a:spcPts val="400"/>
              </a:spcAft>
            </a:pPr>
            <a:r>
              <a:rPr sz="2000" b="1" i="0">
                <a:solidFill>
                  <a:srgbClr val="2C6E91"/>
                </a:solidFill>
                <a:latin typeface="Arial"/>
              </a:rPr>
              <a:t>11</a:t>
            </a:r>
          </a:p>
        </p:txBody>
      </p:sp>
      <p:sp>
        <p:nvSpPr>
          <p:cNvPr id="40" name="TextBox 39"/>
          <p:cNvSpPr txBox="1"/>
          <p:nvPr/>
        </p:nvSpPr>
        <p:spPr>
          <a:xfrm>
            <a:off x="3456432" y="5532120"/>
            <a:ext cx="2286000" cy="457200"/>
          </a:xfrm>
          <a:prstGeom prst="rect">
            <a:avLst/>
          </a:prstGeom>
          <a:noFill/>
        </p:spPr>
        <p:txBody>
          <a:bodyPr wrap="square" anchor="t" lIns="0" rIns="0" tIns="0" bIns="0"/>
          <a:lstStyle/>
          <a:p>
            <a:pPr algn="l">
              <a:spcAft>
                <a:spcPts val="400"/>
              </a:spcAft>
            </a:pPr>
            <a:r>
              <a:rPr sz="1350" b="1" i="0">
                <a:solidFill>
                  <a:srgbClr val="23272B"/>
                </a:solidFill>
                <a:latin typeface="Arial"/>
              </a:rPr>
              <a:t>Conclusion &amp; Future Scope</a:t>
            </a:r>
          </a:p>
        </p:txBody>
      </p:sp>
      <p:sp>
        <p:nvSpPr>
          <p:cNvPr id="41" name="Rectangle 40"/>
          <p:cNvSpPr/>
          <p:nvPr/>
        </p:nvSpPr>
        <p:spPr>
          <a:xfrm>
            <a:off x="6035040" y="5029200"/>
            <a:ext cx="2560320" cy="1024128"/>
          </a:xfrm>
          <a:prstGeom prst="rect">
            <a:avLst/>
          </a:prstGeom>
          <a:solidFill>
            <a:srgbClr val="F0F2F4"/>
          </a:solidFill>
          <a:ln>
            <a:noFill/>
          </a:ln>
        </p:spPr>
        <p:txBody>
          <a:bodyPr rtlCol="0" anchor="ctr" wrap="square" lIns="54864" rIns="54864" tIns="54864" bIns="54864"/>
          <a:lstStyle/>
          <a:p>
            <a:pPr algn="ctr"/>
          </a:p>
        </p:txBody>
      </p:sp>
      <p:sp>
        <p:nvSpPr>
          <p:cNvPr id="42" name="TextBox 41"/>
          <p:cNvSpPr txBox="1"/>
          <p:nvPr/>
        </p:nvSpPr>
        <p:spPr>
          <a:xfrm>
            <a:off x="6199631" y="5120640"/>
            <a:ext cx="914400" cy="411480"/>
          </a:xfrm>
          <a:prstGeom prst="rect">
            <a:avLst/>
          </a:prstGeom>
          <a:noFill/>
        </p:spPr>
        <p:txBody>
          <a:bodyPr wrap="square" anchor="t" lIns="0" rIns="0" tIns="0" bIns="0"/>
          <a:lstStyle/>
          <a:p>
            <a:pPr algn="l">
              <a:spcAft>
                <a:spcPts val="400"/>
              </a:spcAft>
            </a:pPr>
            <a:r>
              <a:rPr sz="2000" b="1" i="0">
                <a:solidFill>
                  <a:srgbClr val="2C6E91"/>
                </a:solidFill>
                <a:latin typeface="Arial"/>
              </a:rPr>
              <a:t>12</a:t>
            </a:r>
          </a:p>
        </p:txBody>
      </p:sp>
      <p:sp>
        <p:nvSpPr>
          <p:cNvPr id="43" name="TextBox 42"/>
          <p:cNvSpPr txBox="1"/>
          <p:nvPr/>
        </p:nvSpPr>
        <p:spPr>
          <a:xfrm>
            <a:off x="6199631" y="5532120"/>
            <a:ext cx="2286000" cy="457200"/>
          </a:xfrm>
          <a:prstGeom prst="rect">
            <a:avLst/>
          </a:prstGeom>
          <a:noFill/>
        </p:spPr>
        <p:txBody>
          <a:bodyPr wrap="square" anchor="t" lIns="0" rIns="0" tIns="0" bIns="0"/>
          <a:lstStyle/>
          <a:p>
            <a:pPr algn="l">
              <a:spcAft>
                <a:spcPts val="400"/>
              </a:spcAft>
            </a:pPr>
            <a:r>
              <a:rPr sz="1350" b="1" i="0">
                <a:solidFill>
                  <a:srgbClr val="23272B"/>
                </a:solidFill>
                <a:latin typeface="Arial"/>
              </a:rPr>
              <a:t>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84048"/>
            <a:ext cx="566928" cy="566928"/>
          </a:xfrm>
          <a:prstGeom prst="rect">
            <a:avLst/>
          </a:prstGeom>
          <a:solidFill>
            <a:srgbClr val="F4A81D"/>
          </a:solidFill>
          <a:ln>
            <a:noFill/>
          </a:ln>
        </p:spPr>
        <p:txBody>
          <a:bodyPr rtlCol="0" anchor="ctr" wrap="square" lIns="0" rIns="0" tIns="0" bIns="0"/>
          <a:lstStyle/>
          <a:p>
            <a:pPr algn="ctr">
              <a:spcAft>
                <a:spcPts val="0"/>
              </a:spcAft>
            </a:pPr>
            <a:r>
              <a:rPr sz="1800" b="1" i="0">
                <a:solidFill>
                  <a:srgbClr val="23272B"/>
                </a:solidFill>
                <a:latin typeface="Arial"/>
              </a:rPr>
              <a:t>01</a:t>
            </a:r>
          </a:p>
        </p:txBody>
      </p:sp>
      <p:sp>
        <p:nvSpPr>
          <p:cNvPr id="3" name="TextBox 2"/>
          <p:cNvSpPr txBox="1"/>
          <p:nvPr/>
        </p:nvSpPr>
        <p:spPr>
          <a:xfrm>
            <a:off x="1280160" y="329184"/>
            <a:ext cx="7315200" cy="438912"/>
          </a:xfrm>
          <a:prstGeom prst="rect">
            <a:avLst/>
          </a:prstGeom>
          <a:noFill/>
        </p:spPr>
        <p:txBody>
          <a:bodyPr wrap="square" anchor="ctr" lIns="0" rIns="0" tIns="0" bIns="0"/>
          <a:lstStyle/>
          <a:p>
            <a:pPr algn="l">
              <a:spcAft>
                <a:spcPts val="400"/>
              </a:spcAft>
            </a:pPr>
            <a:r>
              <a:rPr sz="2400" b="1" i="0">
                <a:solidFill>
                  <a:srgbClr val="23272B"/>
                </a:solidFill>
                <a:latin typeface="Arial"/>
              </a:rPr>
              <a:t>Introduction</a:t>
            </a:r>
          </a:p>
        </p:txBody>
      </p:sp>
      <p:sp>
        <p:nvSpPr>
          <p:cNvPr id="4" name="TextBox 3"/>
          <p:cNvSpPr txBox="1"/>
          <p:nvPr/>
        </p:nvSpPr>
        <p:spPr>
          <a:xfrm>
            <a:off x="1280160" y="749808"/>
            <a:ext cx="7315200" cy="292608"/>
          </a:xfrm>
          <a:prstGeom prst="rect">
            <a:avLst/>
          </a:prstGeom>
          <a:noFill/>
        </p:spPr>
        <p:txBody>
          <a:bodyPr wrap="square" anchor="t" lIns="0" rIns="0" tIns="0" bIns="0"/>
          <a:lstStyle/>
          <a:p>
            <a:pPr algn="l">
              <a:spcAft>
                <a:spcPts val="400"/>
              </a:spcAft>
            </a:pPr>
            <a:r>
              <a:rPr sz="1300" b="0" i="0">
                <a:solidFill>
                  <a:srgbClr val="5F6B76"/>
                </a:solidFill>
                <a:latin typeface="Arial"/>
              </a:rPr>
              <a:t>Disasters move fast — data and AI can now move faster</a:t>
            </a:r>
          </a:p>
        </p:txBody>
      </p:sp>
      <p:pic>
        <p:nvPicPr>
          <p:cNvPr id="5" name="Picture 4" descr="image.jpg"/>
          <p:cNvPicPr>
            <a:picLocks noChangeAspect="1"/>
          </p:cNvPicPr>
          <p:nvPr/>
        </p:nvPicPr>
        <p:blipFill>
          <a:blip r:embed="rId2"/>
          <a:stretch>
            <a:fillRect/>
          </a:stretch>
        </p:blipFill>
        <p:spPr>
          <a:xfrm>
            <a:off x="548640" y="6336792"/>
            <a:ext cx="438912" cy="330572"/>
          </a:xfrm>
          <a:prstGeom prst="rect">
            <a:avLst/>
          </a:prstGeom>
        </p:spPr>
      </p:pic>
      <p:sp>
        <p:nvSpPr>
          <p:cNvPr id="6" name="TextBox 5"/>
          <p:cNvSpPr txBox="1"/>
          <p:nvPr/>
        </p:nvSpPr>
        <p:spPr>
          <a:xfrm>
            <a:off x="1078992" y="6382512"/>
            <a:ext cx="5943600" cy="274320"/>
          </a:xfrm>
          <a:prstGeom prst="rect">
            <a:avLst/>
          </a:prstGeom>
          <a:noFill/>
        </p:spPr>
        <p:txBody>
          <a:bodyPr wrap="square" anchor="ctr" lIns="0" rIns="0" tIns="0" bIns="0"/>
          <a:lstStyle/>
          <a:p>
            <a:pPr algn="l">
              <a:spcAft>
                <a:spcPts val="400"/>
              </a:spcAft>
            </a:pPr>
            <a:r>
              <a:rPr sz="900" b="0" i="0">
                <a:solidFill>
                  <a:srgbClr val="5F6B76"/>
                </a:solidFill>
                <a:latin typeface="Arial"/>
              </a:rPr>
              <a:t>AI in Disaster Management   |   Vedika Dandade, B344</a:t>
            </a:r>
          </a:p>
        </p:txBody>
      </p:sp>
      <p:sp>
        <p:nvSpPr>
          <p:cNvPr id="7" name="Rectangle 6"/>
          <p:cNvSpPr/>
          <p:nvPr/>
        </p:nvSpPr>
        <p:spPr>
          <a:xfrm>
            <a:off x="8275320" y="6355080"/>
            <a:ext cx="329184" cy="329184"/>
          </a:xfrm>
          <a:prstGeom prst="rect">
            <a:avLst/>
          </a:prstGeom>
          <a:solidFill>
            <a:srgbClr val="F4A81D"/>
          </a:solidFill>
          <a:ln>
            <a:noFill/>
          </a:ln>
        </p:spPr>
        <p:txBody>
          <a:bodyPr rtlCol="0" anchor="ctr" wrap="square" lIns="0" rIns="0" tIns="0" bIns="0"/>
          <a:lstStyle/>
          <a:p>
            <a:pPr algn="ctr"/>
            <a:fld id="{3C1D2E4F-6A7B-4C8D-9E0F-1A2B3C4D5E6F}" type="slidenum">
              <a:rPr lang="en-US" sz="1000" b="1">
                <a:solidFill>
                  <a:srgbClr val="23272B"/>
                </a:solidFill>
                <a:latin typeface="Arial"/>
              </a:rPr>
              <a:t>3</a:t>
            </a:fld>
          </a:p>
        </p:txBody>
      </p:sp>
      <p:sp>
        <p:nvSpPr>
          <p:cNvPr id="8" name="Rectangle 7"/>
          <p:cNvSpPr/>
          <p:nvPr/>
        </p:nvSpPr>
        <p:spPr>
          <a:xfrm>
            <a:off x="548640" y="1417320"/>
            <a:ext cx="502920" cy="502920"/>
          </a:xfrm>
          <a:prstGeom prst="rect">
            <a:avLst/>
          </a:prstGeom>
          <a:solidFill>
            <a:srgbClr val="F4A81D"/>
          </a:solidFill>
          <a:ln>
            <a:noFill/>
          </a:ln>
        </p:spPr>
        <p:txBody>
          <a:bodyPr rtlCol="0" anchor="ctr" wrap="square" lIns="54864" rIns="54864" tIns="54864" bIns="54864"/>
          <a:lstStyle/>
          <a:p>
            <a:pPr algn="ctr"/>
          </a:p>
        </p:txBody>
      </p:sp>
      <p:pic>
        <p:nvPicPr>
          <p:cNvPr id="9" name="Picture 8" descr="house_vc.png"/>
          <p:cNvPicPr>
            <a:picLocks noChangeAspect="1"/>
          </p:cNvPicPr>
          <p:nvPr/>
        </p:nvPicPr>
        <p:blipFill>
          <a:blip r:embed="rId3"/>
          <a:stretch>
            <a:fillRect/>
          </a:stretch>
        </p:blipFill>
        <p:spPr>
          <a:xfrm>
            <a:off x="659282" y="1527962"/>
            <a:ext cx="281635" cy="281635"/>
          </a:xfrm>
          <a:prstGeom prst="rect">
            <a:avLst/>
          </a:prstGeom>
        </p:spPr>
      </p:pic>
      <p:sp>
        <p:nvSpPr>
          <p:cNvPr id="10" name="TextBox 9"/>
          <p:cNvSpPr txBox="1"/>
          <p:nvPr/>
        </p:nvSpPr>
        <p:spPr>
          <a:xfrm>
            <a:off x="1188719" y="1417320"/>
            <a:ext cx="1920240" cy="502920"/>
          </a:xfrm>
          <a:prstGeom prst="rect">
            <a:avLst/>
          </a:prstGeom>
          <a:noFill/>
        </p:spPr>
        <p:txBody>
          <a:bodyPr wrap="square" anchor="ctr" lIns="0" rIns="0" tIns="0" bIns="0"/>
          <a:lstStyle/>
          <a:p>
            <a:pPr algn="l">
              <a:spcAft>
                <a:spcPts val="400"/>
              </a:spcAft>
            </a:pPr>
            <a:r>
              <a:rPr sz="1600" b="1" i="0">
                <a:solidFill>
                  <a:srgbClr val="23272B"/>
                </a:solidFill>
                <a:latin typeface="Arial"/>
              </a:rPr>
              <a:t>Background</a:t>
            </a:r>
          </a:p>
        </p:txBody>
      </p:sp>
      <p:sp>
        <p:nvSpPr>
          <p:cNvPr id="11" name="TextBox 10"/>
          <p:cNvSpPr txBox="1"/>
          <p:nvPr/>
        </p:nvSpPr>
        <p:spPr>
          <a:xfrm>
            <a:off x="548640" y="2057400"/>
            <a:ext cx="2514600" cy="1371600"/>
          </a:xfrm>
          <a:prstGeom prst="rect">
            <a:avLst/>
          </a:prstGeom>
          <a:noFill/>
        </p:spPr>
        <p:txBody>
          <a:bodyPr wrap="square" anchor="t" lIns="0" rIns="0" tIns="0" bIns="0"/>
          <a:lstStyle/>
          <a:p>
            <a:pPr algn="l">
              <a:spcAft>
                <a:spcPts val="400"/>
              </a:spcAft>
            </a:pPr>
            <a:r>
              <a:rPr sz="1300" b="0" i="0">
                <a:solidFill>
                  <a:srgbClr val="5F6B76"/>
                </a:solidFill>
                <a:latin typeface="Arial"/>
              </a:rPr>
              <a:t>Floods, cyclones, earthquakes, wildfires and landslides cause loss of life, infrastructure damage and economic setbacks.</a:t>
            </a:r>
          </a:p>
        </p:txBody>
      </p:sp>
      <p:sp>
        <p:nvSpPr>
          <p:cNvPr id="12" name="Rectangle 11"/>
          <p:cNvSpPr/>
          <p:nvPr/>
        </p:nvSpPr>
        <p:spPr>
          <a:xfrm>
            <a:off x="3291840" y="1417320"/>
            <a:ext cx="502920" cy="502920"/>
          </a:xfrm>
          <a:prstGeom prst="rect">
            <a:avLst/>
          </a:prstGeom>
          <a:solidFill>
            <a:srgbClr val="D9472B"/>
          </a:solidFill>
          <a:ln>
            <a:noFill/>
          </a:ln>
        </p:spPr>
        <p:txBody>
          <a:bodyPr rtlCol="0" anchor="ctr" wrap="square" lIns="54864" rIns="54864" tIns="54864" bIns="54864"/>
          <a:lstStyle/>
          <a:p>
            <a:pPr algn="ctr"/>
          </a:p>
        </p:txBody>
      </p:sp>
      <p:pic>
        <p:nvPicPr>
          <p:cNvPr id="13" name="Picture 12" descr="clock_w.png"/>
          <p:cNvPicPr>
            <a:picLocks noChangeAspect="1"/>
          </p:cNvPicPr>
          <p:nvPr/>
        </p:nvPicPr>
        <p:blipFill>
          <a:blip r:embed="rId4"/>
          <a:stretch>
            <a:fillRect/>
          </a:stretch>
        </p:blipFill>
        <p:spPr>
          <a:xfrm>
            <a:off x="3402482" y="1527962"/>
            <a:ext cx="281635" cy="281635"/>
          </a:xfrm>
          <a:prstGeom prst="rect">
            <a:avLst/>
          </a:prstGeom>
        </p:spPr>
      </p:pic>
      <p:sp>
        <p:nvSpPr>
          <p:cNvPr id="14" name="TextBox 13"/>
          <p:cNvSpPr txBox="1"/>
          <p:nvPr/>
        </p:nvSpPr>
        <p:spPr>
          <a:xfrm>
            <a:off x="3931920" y="1417320"/>
            <a:ext cx="1920240" cy="502920"/>
          </a:xfrm>
          <a:prstGeom prst="rect">
            <a:avLst/>
          </a:prstGeom>
          <a:noFill/>
        </p:spPr>
        <p:txBody>
          <a:bodyPr wrap="square" anchor="ctr" lIns="0" rIns="0" tIns="0" bIns="0"/>
          <a:lstStyle/>
          <a:p>
            <a:pPr algn="l">
              <a:spcAft>
                <a:spcPts val="400"/>
              </a:spcAft>
            </a:pPr>
            <a:r>
              <a:rPr sz="1600" b="1" i="0">
                <a:solidFill>
                  <a:srgbClr val="23272B"/>
                </a:solidFill>
                <a:latin typeface="Arial"/>
              </a:rPr>
              <a:t>Problem</a:t>
            </a:r>
          </a:p>
        </p:txBody>
      </p:sp>
      <p:sp>
        <p:nvSpPr>
          <p:cNvPr id="15" name="TextBox 14"/>
          <p:cNvSpPr txBox="1"/>
          <p:nvPr/>
        </p:nvSpPr>
        <p:spPr>
          <a:xfrm>
            <a:off x="3291840" y="2057400"/>
            <a:ext cx="2514600" cy="1371600"/>
          </a:xfrm>
          <a:prstGeom prst="rect">
            <a:avLst/>
          </a:prstGeom>
          <a:noFill/>
        </p:spPr>
        <p:txBody>
          <a:bodyPr wrap="square" anchor="t" lIns="0" rIns="0" tIns="0" bIns="0"/>
          <a:lstStyle/>
          <a:p>
            <a:pPr algn="l">
              <a:spcAft>
                <a:spcPts val="400"/>
              </a:spcAft>
            </a:pPr>
            <a:r>
              <a:rPr sz="1300" b="0" i="0">
                <a:solidFill>
                  <a:srgbClr val="5F6B76"/>
                </a:solidFill>
                <a:latin typeface="Arial"/>
              </a:rPr>
              <a:t>Traditional disaster management relies on manual surveys and delayed reports, which slows decisions.</a:t>
            </a:r>
          </a:p>
        </p:txBody>
      </p:sp>
      <p:sp>
        <p:nvSpPr>
          <p:cNvPr id="16" name="Rectangle 15"/>
          <p:cNvSpPr/>
          <p:nvPr/>
        </p:nvSpPr>
        <p:spPr>
          <a:xfrm>
            <a:off x="6035040" y="1417320"/>
            <a:ext cx="502920" cy="502920"/>
          </a:xfrm>
          <a:prstGeom prst="rect">
            <a:avLst/>
          </a:prstGeom>
          <a:solidFill>
            <a:srgbClr val="2C6E91"/>
          </a:solidFill>
          <a:ln>
            <a:noFill/>
          </a:ln>
        </p:spPr>
        <p:txBody>
          <a:bodyPr rtlCol="0" anchor="ctr" wrap="square" lIns="54864" rIns="54864" tIns="54864" bIns="54864"/>
          <a:lstStyle/>
          <a:p>
            <a:pPr algn="ctr"/>
          </a:p>
        </p:txBody>
      </p:sp>
      <p:pic>
        <p:nvPicPr>
          <p:cNvPr id="17" name="Picture 16" descr="lightbulb_w.png"/>
          <p:cNvPicPr>
            <a:picLocks noChangeAspect="1"/>
          </p:cNvPicPr>
          <p:nvPr/>
        </p:nvPicPr>
        <p:blipFill>
          <a:blip r:embed="rId5"/>
          <a:stretch>
            <a:fillRect/>
          </a:stretch>
        </p:blipFill>
        <p:spPr>
          <a:xfrm>
            <a:off x="6145682" y="1527962"/>
            <a:ext cx="281635" cy="281635"/>
          </a:xfrm>
          <a:prstGeom prst="rect">
            <a:avLst/>
          </a:prstGeom>
        </p:spPr>
      </p:pic>
      <p:sp>
        <p:nvSpPr>
          <p:cNvPr id="18" name="TextBox 17"/>
          <p:cNvSpPr txBox="1"/>
          <p:nvPr/>
        </p:nvSpPr>
        <p:spPr>
          <a:xfrm>
            <a:off x="6675120" y="1417320"/>
            <a:ext cx="1920240" cy="502920"/>
          </a:xfrm>
          <a:prstGeom prst="rect">
            <a:avLst/>
          </a:prstGeom>
          <a:noFill/>
        </p:spPr>
        <p:txBody>
          <a:bodyPr wrap="square" anchor="ctr" lIns="0" rIns="0" tIns="0" bIns="0"/>
          <a:lstStyle/>
          <a:p>
            <a:pPr algn="l">
              <a:spcAft>
                <a:spcPts val="400"/>
              </a:spcAft>
            </a:pPr>
            <a:r>
              <a:rPr sz="1600" b="1" i="0">
                <a:solidFill>
                  <a:srgbClr val="23272B"/>
                </a:solidFill>
                <a:latin typeface="Arial"/>
              </a:rPr>
              <a:t>Inspiration</a:t>
            </a:r>
          </a:p>
        </p:txBody>
      </p:sp>
      <p:sp>
        <p:nvSpPr>
          <p:cNvPr id="19" name="TextBox 18"/>
          <p:cNvSpPr txBox="1"/>
          <p:nvPr/>
        </p:nvSpPr>
        <p:spPr>
          <a:xfrm>
            <a:off x="6035040" y="2057400"/>
            <a:ext cx="2514600" cy="1371600"/>
          </a:xfrm>
          <a:prstGeom prst="rect">
            <a:avLst/>
          </a:prstGeom>
          <a:noFill/>
        </p:spPr>
        <p:txBody>
          <a:bodyPr wrap="square" anchor="t" lIns="0" rIns="0" tIns="0" bIns="0"/>
          <a:lstStyle/>
          <a:p>
            <a:pPr algn="l">
              <a:spcAft>
                <a:spcPts val="400"/>
              </a:spcAft>
            </a:pPr>
            <a:r>
              <a:rPr sz="1300" b="0" i="0">
                <a:solidFill>
                  <a:srgbClr val="5F6B76"/>
                </a:solidFill>
                <a:latin typeface="Arial"/>
              </a:rPr>
              <a:t>Satellites, IoT sensors and social media now give real-time data; AI turns it into early, actionable insight [1].</a:t>
            </a:r>
          </a:p>
        </p:txBody>
      </p:sp>
      <p:sp>
        <p:nvSpPr>
          <p:cNvPr id="20" name="TextBox 19"/>
          <p:cNvSpPr txBox="1"/>
          <p:nvPr/>
        </p:nvSpPr>
        <p:spPr>
          <a:xfrm>
            <a:off x="548640" y="3611880"/>
            <a:ext cx="8046720" cy="274320"/>
          </a:xfrm>
          <a:prstGeom prst="rect">
            <a:avLst/>
          </a:prstGeom>
          <a:noFill/>
        </p:spPr>
        <p:txBody>
          <a:bodyPr wrap="square" anchor="t" lIns="0" rIns="0" tIns="0" bIns="0"/>
          <a:lstStyle/>
          <a:p>
            <a:pPr algn="l">
              <a:spcAft>
                <a:spcPts val="400"/>
              </a:spcAft>
            </a:pPr>
            <a:r>
              <a:rPr sz="1050" b="1" i="0" spc="100">
                <a:solidFill>
                  <a:srgbClr val="23272B"/>
                </a:solidFill>
                <a:latin typeface="Arial"/>
              </a:rPr>
              <a:t>THE DISASTER MANAGEMENT CYCLE — WHERE AI HELPS</a:t>
            </a:r>
          </a:p>
        </p:txBody>
      </p:sp>
      <p:sp>
        <p:nvSpPr>
          <p:cNvPr id="21" name="Chevron 20"/>
          <p:cNvSpPr/>
          <p:nvPr/>
        </p:nvSpPr>
        <p:spPr>
          <a:xfrm>
            <a:off x="548640" y="3977639"/>
            <a:ext cx="2103120" cy="731520"/>
          </a:xfrm>
          <a:prstGeom prst="chevron">
            <a:avLst/>
          </a:prstGeom>
          <a:solidFill>
            <a:srgbClr val="23272B"/>
          </a:solidFill>
          <a:ln>
            <a:noFill/>
          </a:ln>
        </p:spPr>
        <p:txBody>
          <a:bodyPr rtlCol="0" anchor="ctr" wrap="square" lIns="54864" rIns="54864" tIns="54864" bIns="54864"/>
          <a:lstStyle/>
          <a:p>
            <a:pPr algn="ctr">
              <a:spcAft>
                <a:spcPts val="0"/>
              </a:spcAft>
            </a:pPr>
            <a:r>
              <a:rPr sz="1350" b="1" i="0">
                <a:solidFill>
                  <a:srgbClr val="FFFFFF"/>
                </a:solidFill>
                <a:latin typeface="Arial"/>
              </a:rPr>
              <a:t>Mitigation</a:t>
            </a:r>
          </a:p>
        </p:txBody>
      </p:sp>
      <p:sp>
        <p:nvSpPr>
          <p:cNvPr id="22" name="TextBox 21"/>
          <p:cNvSpPr txBox="1"/>
          <p:nvPr/>
        </p:nvSpPr>
        <p:spPr>
          <a:xfrm>
            <a:off x="777240" y="4846320"/>
            <a:ext cx="1691640" cy="777240"/>
          </a:xfrm>
          <a:prstGeom prst="rect">
            <a:avLst/>
          </a:prstGeom>
          <a:noFill/>
        </p:spPr>
        <p:txBody>
          <a:bodyPr wrap="square" anchor="t" lIns="0" rIns="0" tIns="0" bIns="0"/>
          <a:lstStyle/>
          <a:p>
            <a:pPr algn="ctr">
              <a:spcAft>
                <a:spcPts val="400"/>
              </a:spcAft>
            </a:pPr>
            <a:r>
              <a:rPr sz="1250" b="0" i="0">
                <a:solidFill>
                  <a:srgbClr val="23272B"/>
                </a:solidFill>
                <a:latin typeface="Arial"/>
              </a:rPr>
              <a:t>Risk and hazard mapping</a:t>
            </a:r>
          </a:p>
        </p:txBody>
      </p:sp>
      <p:sp>
        <p:nvSpPr>
          <p:cNvPr id="23" name="Chevron 22"/>
          <p:cNvSpPr/>
          <p:nvPr/>
        </p:nvSpPr>
        <p:spPr>
          <a:xfrm>
            <a:off x="2532888" y="3977639"/>
            <a:ext cx="2103120" cy="731520"/>
          </a:xfrm>
          <a:prstGeom prst="chevron">
            <a:avLst/>
          </a:prstGeom>
          <a:solidFill>
            <a:srgbClr val="2C6E91"/>
          </a:solidFill>
          <a:ln>
            <a:noFill/>
          </a:ln>
        </p:spPr>
        <p:txBody>
          <a:bodyPr rtlCol="0" anchor="ctr" wrap="square" lIns="54864" rIns="54864" tIns="54864" bIns="54864"/>
          <a:lstStyle/>
          <a:p>
            <a:pPr algn="ctr">
              <a:spcAft>
                <a:spcPts val="0"/>
              </a:spcAft>
            </a:pPr>
            <a:r>
              <a:rPr sz="1350" b="1" i="0">
                <a:solidFill>
                  <a:srgbClr val="FFFFFF"/>
                </a:solidFill>
                <a:latin typeface="Arial"/>
              </a:rPr>
              <a:t>Preparedness</a:t>
            </a:r>
          </a:p>
        </p:txBody>
      </p:sp>
      <p:sp>
        <p:nvSpPr>
          <p:cNvPr id="24" name="TextBox 23"/>
          <p:cNvSpPr txBox="1"/>
          <p:nvPr/>
        </p:nvSpPr>
        <p:spPr>
          <a:xfrm>
            <a:off x="2761488" y="4846320"/>
            <a:ext cx="1691640" cy="777240"/>
          </a:xfrm>
          <a:prstGeom prst="rect">
            <a:avLst/>
          </a:prstGeom>
          <a:noFill/>
        </p:spPr>
        <p:txBody>
          <a:bodyPr wrap="square" anchor="t" lIns="0" rIns="0" tIns="0" bIns="0"/>
          <a:lstStyle/>
          <a:p>
            <a:pPr algn="ctr">
              <a:spcAft>
                <a:spcPts val="400"/>
              </a:spcAft>
            </a:pPr>
            <a:r>
              <a:rPr sz="1250" b="0" i="0">
                <a:solidFill>
                  <a:srgbClr val="23272B"/>
                </a:solidFill>
                <a:latin typeface="Arial"/>
              </a:rPr>
              <a:t>Early warning and forecasting</a:t>
            </a:r>
          </a:p>
        </p:txBody>
      </p:sp>
      <p:sp>
        <p:nvSpPr>
          <p:cNvPr id="25" name="Chevron 24"/>
          <p:cNvSpPr/>
          <p:nvPr/>
        </p:nvSpPr>
        <p:spPr>
          <a:xfrm>
            <a:off x="4517136" y="3977639"/>
            <a:ext cx="2103120" cy="731520"/>
          </a:xfrm>
          <a:prstGeom prst="chevron">
            <a:avLst/>
          </a:prstGeom>
          <a:solidFill>
            <a:srgbClr val="D9472B"/>
          </a:solidFill>
          <a:ln>
            <a:noFill/>
          </a:ln>
        </p:spPr>
        <p:txBody>
          <a:bodyPr rtlCol="0" anchor="ctr" wrap="square" lIns="54864" rIns="54864" tIns="54864" bIns="54864"/>
          <a:lstStyle/>
          <a:p>
            <a:pPr algn="ctr">
              <a:spcAft>
                <a:spcPts val="0"/>
              </a:spcAft>
            </a:pPr>
            <a:r>
              <a:rPr sz="1350" b="1" i="0">
                <a:solidFill>
                  <a:srgbClr val="FFFFFF"/>
                </a:solidFill>
                <a:latin typeface="Arial"/>
              </a:rPr>
              <a:t>Response</a:t>
            </a:r>
          </a:p>
        </p:txBody>
      </p:sp>
      <p:sp>
        <p:nvSpPr>
          <p:cNvPr id="26" name="TextBox 25"/>
          <p:cNvSpPr txBox="1"/>
          <p:nvPr/>
        </p:nvSpPr>
        <p:spPr>
          <a:xfrm>
            <a:off x="4745736" y="4846320"/>
            <a:ext cx="1691640" cy="777240"/>
          </a:xfrm>
          <a:prstGeom prst="rect">
            <a:avLst/>
          </a:prstGeom>
          <a:noFill/>
        </p:spPr>
        <p:txBody>
          <a:bodyPr wrap="square" anchor="t" lIns="0" rIns="0" tIns="0" bIns="0"/>
          <a:lstStyle/>
          <a:p>
            <a:pPr algn="ctr">
              <a:spcAft>
                <a:spcPts val="400"/>
              </a:spcAft>
            </a:pPr>
            <a:r>
              <a:rPr sz="1250" b="0" i="0">
                <a:solidFill>
                  <a:srgbClr val="23272B"/>
                </a:solidFill>
                <a:latin typeface="Arial"/>
              </a:rPr>
              <a:t>Damage assessment and information extraction</a:t>
            </a:r>
          </a:p>
        </p:txBody>
      </p:sp>
      <p:sp>
        <p:nvSpPr>
          <p:cNvPr id="27" name="Chevron 26"/>
          <p:cNvSpPr/>
          <p:nvPr/>
        </p:nvSpPr>
        <p:spPr>
          <a:xfrm>
            <a:off x="6501383" y="3977639"/>
            <a:ext cx="2103120" cy="731520"/>
          </a:xfrm>
          <a:prstGeom prst="chevron">
            <a:avLst/>
          </a:prstGeom>
          <a:solidFill>
            <a:srgbClr val="3C9D5D"/>
          </a:solidFill>
          <a:ln>
            <a:noFill/>
          </a:ln>
        </p:spPr>
        <p:txBody>
          <a:bodyPr rtlCol="0" anchor="ctr" wrap="square" lIns="54864" rIns="54864" tIns="54864" bIns="54864"/>
          <a:lstStyle/>
          <a:p>
            <a:pPr algn="ctr">
              <a:spcAft>
                <a:spcPts val="0"/>
              </a:spcAft>
            </a:pPr>
            <a:r>
              <a:rPr sz="1350" b="1" i="0">
                <a:solidFill>
                  <a:srgbClr val="FFFFFF"/>
                </a:solidFill>
                <a:latin typeface="Arial"/>
              </a:rPr>
              <a:t>Recovery</a:t>
            </a:r>
          </a:p>
        </p:txBody>
      </p:sp>
      <p:sp>
        <p:nvSpPr>
          <p:cNvPr id="28" name="TextBox 27"/>
          <p:cNvSpPr txBox="1"/>
          <p:nvPr/>
        </p:nvSpPr>
        <p:spPr>
          <a:xfrm>
            <a:off x="6729983" y="4846320"/>
            <a:ext cx="1691640" cy="777240"/>
          </a:xfrm>
          <a:prstGeom prst="rect">
            <a:avLst/>
          </a:prstGeom>
          <a:noFill/>
        </p:spPr>
        <p:txBody>
          <a:bodyPr wrap="square" anchor="t" lIns="0" rIns="0" tIns="0" bIns="0"/>
          <a:lstStyle/>
          <a:p>
            <a:pPr algn="ctr">
              <a:spcAft>
                <a:spcPts val="400"/>
              </a:spcAft>
            </a:pPr>
            <a:r>
              <a:rPr sz="1250" b="0" i="0">
                <a:solidFill>
                  <a:srgbClr val="23272B"/>
                </a:solidFill>
                <a:latin typeface="Arial"/>
              </a:rPr>
              <a:t>Recovery planning and reports</a:t>
            </a:r>
          </a:p>
        </p:txBody>
      </p:sp>
      <p:cxnSp>
        <p:nvCxnSpPr>
          <p:cNvPr id="29" name="Connector 28"/>
          <p:cNvCxnSpPr/>
          <p:nvPr/>
        </p:nvCxnSpPr>
        <p:spPr>
          <a:xfrm>
            <a:off x="8366760" y="5669280"/>
            <a:ext cx="0" cy="274320"/>
          </a:xfrm>
          <a:prstGeom prst="line">
            <a:avLst/>
          </a:prstGeom>
          <a:ln w="15875">
            <a:solidFill>
              <a:srgbClr val="5F6B76"/>
            </a:solidFill>
          </a:ln>
        </p:spPr>
      </p:cxnSp>
      <p:cxnSp>
        <p:nvCxnSpPr>
          <p:cNvPr id="30" name="Connector 29"/>
          <p:cNvCxnSpPr/>
          <p:nvPr/>
        </p:nvCxnSpPr>
        <p:spPr>
          <a:xfrm flipH="1">
            <a:off x="777240" y="5943600"/>
            <a:ext cx="7589520" cy="0"/>
          </a:xfrm>
          <a:prstGeom prst="line">
            <a:avLst/>
          </a:prstGeom>
          <a:ln w="15875">
            <a:solidFill>
              <a:srgbClr val="5F6B76"/>
            </a:solidFill>
          </a:ln>
        </p:spPr>
      </p:cxnSp>
      <p:cxnSp>
        <p:nvCxnSpPr>
          <p:cNvPr id="31" name="Connector 30"/>
          <p:cNvCxnSpPr/>
          <p:nvPr/>
        </p:nvCxnSpPr>
        <p:spPr>
          <a:xfrm flipV="1">
            <a:off x="777240" y="5669280"/>
            <a:ext cx="0" cy="274320"/>
          </a:xfrm>
          <a:prstGeom prst="line">
            <a:avLst/>
          </a:prstGeom>
          <a:ln w="15875">
            <a:solidFill>
              <a:srgbClr val="5F6B76"/>
            </a:solidFill>
            <a:tailEnd type="triangle" w="med" len="med"/>
          </a:ln>
        </p:spPr>
      </p:cxnSp>
      <p:sp>
        <p:nvSpPr>
          <p:cNvPr id="32" name="TextBox 31"/>
          <p:cNvSpPr txBox="1"/>
          <p:nvPr/>
        </p:nvSpPr>
        <p:spPr>
          <a:xfrm>
            <a:off x="3200400" y="5961888"/>
            <a:ext cx="2743200" cy="256032"/>
          </a:xfrm>
          <a:prstGeom prst="rect">
            <a:avLst/>
          </a:prstGeom>
          <a:noFill/>
        </p:spPr>
        <p:txBody>
          <a:bodyPr wrap="square" anchor="t" lIns="0" rIns="0" tIns="0" bIns="0"/>
          <a:lstStyle/>
          <a:p>
            <a:pPr algn="ctr">
              <a:spcAft>
                <a:spcPts val="400"/>
              </a:spcAft>
            </a:pPr>
            <a:r>
              <a:rPr sz="1000" b="0" i="1">
                <a:solidFill>
                  <a:srgbClr val="5F6B76"/>
                </a:solidFill>
                <a:latin typeface="Arial"/>
              </a:rPr>
              <a:t>the cycle repeats for the next event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84048"/>
            <a:ext cx="566928" cy="566928"/>
          </a:xfrm>
          <a:prstGeom prst="rect">
            <a:avLst/>
          </a:prstGeom>
          <a:solidFill>
            <a:srgbClr val="F4A81D"/>
          </a:solidFill>
          <a:ln>
            <a:noFill/>
          </a:ln>
        </p:spPr>
        <p:txBody>
          <a:bodyPr rtlCol="0" anchor="ctr" wrap="square" lIns="0" rIns="0" tIns="0" bIns="0"/>
          <a:lstStyle/>
          <a:p>
            <a:pPr algn="ctr">
              <a:spcAft>
                <a:spcPts val="0"/>
              </a:spcAft>
            </a:pPr>
            <a:r>
              <a:rPr sz="1800" b="1" i="0">
                <a:solidFill>
                  <a:srgbClr val="23272B"/>
                </a:solidFill>
                <a:latin typeface="Arial"/>
              </a:rPr>
              <a:t>02</a:t>
            </a:r>
          </a:p>
        </p:txBody>
      </p:sp>
      <p:sp>
        <p:nvSpPr>
          <p:cNvPr id="3" name="TextBox 2"/>
          <p:cNvSpPr txBox="1"/>
          <p:nvPr/>
        </p:nvSpPr>
        <p:spPr>
          <a:xfrm>
            <a:off x="1280160" y="329184"/>
            <a:ext cx="7315200" cy="438912"/>
          </a:xfrm>
          <a:prstGeom prst="rect">
            <a:avLst/>
          </a:prstGeom>
          <a:noFill/>
        </p:spPr>
        <p:txBody>
          <a:bodyPr wrap="square" anchor="ctr" lIns="0" rIns="0" tIns="0" bIns="0"/>
          <a:lstStyle/>
          <a:p>
            <a:pPr algn="l">
              <a:spcAft>
                <a:spcPts val="400"/>
              </a:spcAft>
            </a:pPr>
            <a:r>
              <a:rPr sz="2400" b="1" i="0">
                <a:solidFill>
                  <a:srgbClr val="23272B"/>
                </a:solidFill>
                <a:latin typeface="Arial"/>
              </a:rPr>
              <a:t>Objectives</a:t>
            </a:r>
          </a:p>
        </p:txBody>
      </p:sp>
      <p:sp>
        <p:nvSpPr>
          <p:cNvPr id="4" name="TextBox 3"/>
          <p:cNvSpPr txBox="1"/>
          <p:nvPr/>
        </p:nvSpPr>
        <p:spPr>
          <a:xfrm>
            <a:off x="1280160" y="749808"/>
            <a:ext cx="7315200" cy="292608"/>
          </a:xfrm>
          <a:prstGeom prst="rect">
            <a:avLst/>
          </a:prstGeom>
          <a:noFill/>
        </p:spPr>
        <p:txBody>
          <a:bodyPr wrap="square" anchor="t" lIns="0" rIns="0" tIns="0" bIns="0"/>
          <a:lstStyle/>
          <a:p>
            <a:pPr algn="l">
              <a:spcAft>
                <a:spcPts val="400"/>
              </a:spcAft>
            </a:pPr>
            <a:r>
              <a:rPr sz="1300" b="0" i="0">
                <a:solidFill>
                  <a:srgbClr val="5F6B76"/>
                </a:solidFill>
                <a:latin typeface="Arial"/>
              </a:rPr>
              <a:t>What this seminar aims to achieve</a:t>
            </a:r>
          </a:p>
        </p:txBody>
      </p:sp>
      <p:pic>
        <p:nvPicPr>
          <p:cNvPr id="5" name="Picture 4" descr="image.jpg"/>
          <p:cNvPicPr>
            <a:picLocks noChangeAspect="1"/>
          </p:cNvPicPr>
          <p:nvPr/>
        </p:nvPicPr>
        <p:blipFill>
          <a:blip r:embed="rId2"/>
          <a:stretch>
            <a:fillRect/>
          </a:stretch>
        </p:blipFill>
        <p:spPr>
          <a:xfrm>
            <a:off x="548640" y="6336792"/>
            <a:ext cx="438912" cy="330572"/>
          </a:xfrm>
          <a:prstGeom prst="rect">
            <a:avLst/>
          </a:prstGeom>
        </p:spPr>
      </p:pic>
      <p:sp>
        <p:nvSpPr>
          <p:cNvPr id="6" name="TextBox 5"/>
          <p:cNvSpPr txBox="1"/>
          <p:nvPr/>
        </p:nvSpPr>
        <p:spPr>
          <a:xfrm>
            <a:off x="1078992" y="6382512"/>
            <a:ext cx="5943600" cy="274320"/>
          </a:xfrm>
          <a:prstGeom prst="rect">
            <a:avLst/>
          </a:prstGeom>
          <a:noFill/>
        </p:spPr>
        <p:txBody>
          <a:bodyPr wrap="square" anchor="ctr" lIns="0" rIns="0" tIns="0" bIns="0"/>
          <a:lstStyle/>
          <a:p>
            <a:pPr algn="l">
              <a:spcAft>
                <a:spcPts val="400"/>
              </a:spcAft>
            </a:pPr>
            <a:r>
              <a:rPr sz="900" b="0" i="0">
                <a:solidFill>
                  <a:srgbClr val="5F6B76"/>
                </a:solidFill>
                <a:latin typeface="Arial"/>
              </a:rPr>
              <a:t>AI in Disaster Management   |   Vedika Dandade, B344</a:t>
            </a:r>
          </a:p>
        </p:txBody>
      </p:sp>
      <p:sp>
        <p:nvSpPr>
          <p:cNvPr id="7" name="Rectangle 6"/>
          <p:cNvSpPr/>
          <p:nvPr/>
        </p:nvSpPr>
        <p:spPr>
          <a:xfrm>
            <a:off x="8275320" y="6355080"/>
            <a:ext cx="329184" cy="329184"/>
          </a:xfrm>
          <a:prstGeom prst="rect">
            <a:avLst/>
          </a:prstGeom>
          <a:solidFill>
            <a:srgbClr val="F4A81D"/>
          </a:solidFill>
          <a:ln>
            <a:noFill/>
          </a:ln>
        </p:spPr>
        <p:txBody>
          <a:bodyPr rtlCol="0" anchor="ctr" wrap="square" lIns="0" rIns="0" tIns="0" bIns="0"/>
          <a:lstStyle/>
          <a:p>
            <a:pPr algn="ctr"/>
            <a:fld id="{3C1D2E4F-6A7B-4C8D-9E0F-1A2B3C4D5E6F}" type="slidenum">
              <a:rPr lang="en-US" sz="1000" b="1">
                <a:solidFill>
                  <a:srgbClr val="23272B"/>
                </a:solidFill>
                <a:latin typeface="Arial"/>
              </a:rPr>
              <a:t>4</a:t>
            </a:fld>
          </a:p>
        </p:txBody>
      </p:sp>
      <p:sp>
        <p:nvSpPr>
          <p:cNvPr id="8" name="Rectangle 7"/>
          <p:cNvSpPr/>
          <p:nvPr/>
        </p:nvSpPr>
        <p:spPr>
          <a:xfrm>
            <a:off x="548640" y="1417320"/>
            <a:ext cx="2560320" cy="2240280"/>
          </a:xfrm>
          <a:prstGeom prst="rect">
            <a:avLst/>
          </a:prstGeom>
          <a:solidFill>
            <a:srgbClr val="F0F2F4"/>
          </a:solidFill>
          <a:ln>
            <a:noFill/>
          </a:ln>
        </p:spPr>
        <p:txBody>
          <a:bodyPr rtlCol="0" anchor="ctr" wrap="square" lIns="54864" rIns="54864" tIns="54864" bIns="54864"/>
          <a:lstStyle/>
          <a:p>
            <a:pPr algn="ctr"/>
          </a:p>
        </p:txBody>
      </p:sp>
      <p:sp>
        <p:nvSpPr>
          <p:cNvPr id="9" name="TextBox 8"/>
          <p:cNvSpPr txBox="1"/>
          <p:nvPr/>
        </p:nvSpPr>
        <p:spPr>
          <a:xfrm>
            <a:off x="731520" y="1527048"/>
            <a:ext cx="914400" cy="548640"/>
          </a:xfrm>
          <a:prstGeom prst="rect">
            <a:avLst/>
          </a:prstGeom>
          <a:noFill/>
        </p:spPr>
        <p:txBody>
          <a:bodyPr wrap="square" anchor="t" lIns="0" rIns="0" tIns="0" bIns="0"/>
          <a:lstStyle/>
          <a:p>
            <a:pPr algn="l">
              <a:spcAft>
                <a:spcPts val="400"/>
              </a:spcAft>
            </a:pPr>
            <a:r>
              <a:rPr sz="3200" b="1" i="0">
                <a:solidFill>
                  <a:srgbClr val="F4A81D"/>
                </a:solidFill>
                <a:latin typeface="Arial"/>
              </a:rPr>
              <a:t>1</a:t>
            </a:r>
          </a:p>
        </p:txBody>
      </p:sp>
      <p:pic>
        <p:nvPicPr>
          <p:cNvPr id="10" name="Picture 9" descr="sync_vc.png"/>
          <p:cNvPicPr>
            <a:picLocks noChangeAspect="1"/>
          </p:cNvPicPr>
          <p:nvPr/>
        </p:nvPicPr>
        <p:blipFill>
          <a:blip r:embed="rId3"/>
          <a:stretch>
            <a:fillRect/>
          </a:stretch>
        </p:blipFill>
        <p:spPr>
          <a:xfrm>
            <a:off x="2560320" y="1645920"/>
            <a:ext cx="365760" cy="365760"/>
          </a:xfrm>
          <a:prstGeom prst="rect">
            <a:avLst/>
          </a:prstGeom>
        </p:spPr>
      </p:pic>
      <p:sp>
        <p:nvSpPr>
          <p:cNvPr id="11" name="TextBox 10"/>
          <p:cNvSpPr txBox="1"/>
          <p:nvPr/>
        </p:nvSpPr>
        <p:spPr>
          <a:xfrm>
            <a:off x="731520" y="2194560"/>
            <a:ext cx="2240280" cy="365760"/>
          </a:xfrm>
          <a:prstGeom prst="rect">
            <a:avLst/>
          </a:prstGeom>
          <a:noFill/>
        </p:spPr>
        <p:txBody>
          <a:bodyPr wrap="square" anchor="t" lIns="0" rIns="0" tIns="0" bIns="0"/>
          <a:lstStyle/>
          <a:p>
            <a:pPr algn="l">
              <a:spcAft>
                <a:spcPts val="400"/>
              </a:spcAft>
            </a:pPr>
            <a:r>
              <a:rPr sz="1500" b="1" i="0">
                <a:solidFill>
                  <a:srgbClr val="23272B"/>
                </a:solidFill>
                <a:latin typeface="Arial"/>
              </a:rPr>
              <a:t>Disaster lifecycle</a:t>
            </a:r>
          </a:p>
        </p:txBody>
      </p:sp>
      <p:sp>
        <p:nvSpPr>
          <p:cNvPr id="12" name="TextBox 11"/>
          <p:cNvSpPr txBox="1"/>
          <p:nvPr/>
        </p:nvSpPr>
        <p:spPr>
          <a:xfrm>
            <a:off x="731520" y="2578608"/>
            <a:ext cx="2240280" cy="1005840"/>
          </a:xfrm>
          <a:prstGeom prst="rect">
            <a:avLst/>
          </a:prstGeom>
          <a:noFill/>
        </p:spPr>
        <p:txBody>
          <a:bodyPr wrap="square" anchor="t" lIns="0" rIns="0" tIns="0" bIns="0"/>
          <a:lstStyle/>
          <a:p>
            <a:pPr algn="l">
              <a:spcAft>
                <a:spcPts val="400"/>
              </a:spcAft>
            </a:pPr>
            <a:r>
              <a:rPr sz="1250" b="0" i="0">
                <a:solidFill>
                  <a:srgbClr val="5F6B76"/>
                </a:solidFill>
                <a:latin typeface="Arial"/>
              </a:rPr>
              <a:t>Understand the role of AI in mitigation, preparedness, response and recovery.</a:t>
            </a:r>
          </a:p>
        </p:txBody>
      </p:sp>
      <p:sp>
        <p:nvSpPr>
          <p:cNvPr id="13" name="Rectangle 12"/>
          <p:cNvSpPr/>
          <p:nvPr/>
        </p:nvSpPr>
        <p:spPr>
          <a:xfrm>
            <a:off x="3291840" y="1417320"/>
            <a:ext cx="2560320" cy="2240280"/>
          </a:xfrm>
          <a:prstGeom prst="rect">
            <a:avLst/>
          </a:prstGeom>
          <a:solidFill>
            <a:srgbClr val="F0F2F4"/>
          </a:solidFill>
          <a:ln>
            <a:noFill/>
          </a:ln>
        </p:spPr>
        <p:txBody>
          <a:bodyPr rtlCol="0" anchor="ctr" wrap="square" lIns="54864" rIns="54864" tIns="54864" bIns="54864"/>
          <a:lstStyle/>
          <a:p>
            <a:pPr algn="ctr"/>
          </a:p>
        </p:txBody>
      </p:sp>
      <p:sp>
        <p:nvSpPr>
          <p:cNvPr id="14" name="TextBox 13"/>
          <p:cNvSpPr txBox="1"/>
          <p:nvPr/>
        </p:nvSpPr>
        <p:spPr>
          <a:xfrm>
            <a:off x="3474720" y="1527048"/>
            <a:ext cx="914400" cy="548640"/>
          </a:xfrm>
          <a:prstGeom prst="rect">
            <a:avLst/>
          </a:prstGeom>
          <a:noFill/>
        </p:spPr>
        <p:txBody>
          <a:bodyPr wrap="square" anchor="t" lIns="0" rIns="0" tIns="0" bIns="0"/>
          <a:lstStyle/>
          <a:p>
            <a:pPr algn="l">
              <a:spcAft>
                <a:spcPts val="400"/>
              </a:spcAft>
            </a:pPr>
            <a:r>
              <a:rPr sz="3200" b="1" i="0">
                <a:solidFill>
                  <a:srgbClr val="F4A81D"/>
                </a:solidFill>
                <a:latin typeface="Arial"/>
              </a:rPr>
              <a:t>2</a:t>
            </a:r>
          </a:p>
        </p:txBody>
      </p:sp>
      <p:pic>
        <p:nvPicPr>
          <p:cNvPr id="15" name="Picture 14" descr="brain_vc.png"/>
          <p:cNvPicPr>
            <a:picLocks noChangeAspect="1"/>
          </p:cNvPicPr>
          <p:nvPr/>
        </p:nvPicPr>
        <p:blipFill>
          <a:blip r:embed="rId4"/>
          <a:stretch>
            <a:fillRect/>
          </a:stretch>
        </p:blipFill>
        <p:spPr>
          <a:xfrm>
            <a:off x="5303520" y="1645920"/>
            <a:ext cx="365760" cy="365760"/>
          </a:xfrm>
          <a:prstGeom prst="rect">
            <a:avLst/>
          </a:prstGeom>
        </p:spPr>
      </p:pic>
      <p:sp>
        <p:nvSpPr>
          <p:cNvPr id="16" name="TextBox 15"/>
          <p:cNvSpPr txBox="1"/>
          <p:nvPr/>
        </p:nvSpPr>
        <p:spPr>
          <a:xfrm>
            <a:off x="3474720" y="2194560"/>
            <a:ext cx="2240280" cy="365760"/>
          </a:xfrm>
          <a:prstGeom prst="rect">
            <a:avLst/>
          </a:prstGeom>
          <a:noFill/>
        </p:spPr>
        <p:txBody>
          <a:bodyPr wrap="square" anchor="t" lIns="0" rIns="0" tIns="0" bIns="0"/>
          <a:lstStyle/>
          <a:p>
            <a:pPr algn="l">
              <a:spcAft>
                <a:spcPts val="400"/>
              </a:spcAft>
            </a:pPr>
            <a:r>
              <a:rPr sz="1500" b="1" i="0">
                <a:solidFill>
                  <a:srgbClr val="23272B"/>
                </a:solidFill>
                <a:latin typeface="Arial"/>
              </a:rPr>
              <a:t>AI techniques</a:t>
            </a:r>
          </a:p>
        </p:txBody>
      </p:sp>
      <p:sp>
        <p:nvSpPr>
          <p:cNvPr id="17" name="TextBox 16"/>
          <p:cNvSpPr txBox="1"/>
          <p:nvPr/>
        </p:nvSpPr>
        <p:spPr>
          <a:xfrm>
            <a:off x="3474720" y="2578608"/>
            <a:ext cx="2240280" cy="1005840"/>
          </a:xfrm>
          <a:prstGeom prst="rect">
            <a:avLst/>
          </a:prstGeom>
          <a:noFill/>
        </p:spPr>
        <p:txBody>
          <a:bodyPr wrap="square" anchor="t" lIns="0" rIns="0" tIns="0" bIns="0"/>
          <a:lstStyle/>
          <a:p>
            <a:pPr algn="l">
              <a:spcAft>
                <a:spcPts val="400"/>
              </a:spcAft>
            </a:pPr>
            <a:r>
              <a:rPr sz="1250" b="0" i="0">
                <a:solidFill>
                  <a:srgbClr val="5F6B76"/>
                </a:solidFill>
                <a:latin typeface="Arial"/>
              </a:rPr>
              <a:t>Study ML, deep learning, computer vision, NLP and spatio-temporal analysis.</a:t>
            </a:r>
          </a:p>
        </p:txBody>
      </p:sp>
      <p:sp>
        <p:nvSpPr>
          <p:cNvPr id="18" name="Rectangle 17"/>
          <p:cNvSpPr/>
          <p:nvPr/>
        </p:nvSpPr>
        <p:spPr>
          <a:xfrm>
            <a:off x="6035040" y="1417320"/>
            <a:ext cx="2560320" cy="2240280"/>
          </a:xfrm>
          <a:prstGeom prst="rect">
            <a:avLst/>
          </a:prstGeom>
          <a:solidFill>
            <a:srgbClr val="F0F2F4"/>
          </a:solidFill>
          <a:ln>
            <a:noFill/>
          </a:ln>
        </p:spPr>
        <p:txBody>
          <a:bodyPr rtlCol="0" anchor="ctr" wrap="square" lIns="54864" rIns="54864" tIns="54864" bIns="54864"/>
          <a:lstStyle/>
          <a:p>
            <a:pPr algn="ctr"/>
          </a:p>
        </p:txBody>
      </p:sp>
      <p:sp>
        <p:nvSpPr>
          <p:cNvPr id="19" name="TextBox 18"/>
          <p:cNvSpPr txBox="1"/>
          <p:nvPr/>
        </p:nvSpPr>
        <p:spPr>
          <a:xfrm>
            <a:off x="6217920" y="1527048"/>
            <a:ext cx="914400" cy="548640"/>
          </a:xfrm>
          <a:prstGeom prst="rect">
            <a:avLst/>
          </a:prstGeom>
          <a:noFill/>
        </p:spPr>
        <p:txBody>
          <a:bodyPr wrap="square" anchor="t" lIns="0" rIns="0" tIns="0" bIns="0"/>
          <a:lstStyle/>
          <a:p>
            <a:pPr algn="l">
              <a:spcAft>
                <a:spcPts val="400"/>
              </a:spcAft>
            </a:pPr>
            <a:r>
              <a:rPr sz="3200" b="1" i="0">
                <a:solidFill>
                  <a:srgbClr val="F4A81D"/>
                </a:solidFill>
                <a:latin typeface="Arial"/>
              </a:rPr>
              <a:t>3</a:t>
            </a:r>
          </a:p>
        </p:txBody>
      </p:sp>
      <p:pic>
        <p:nvPicPr>
          <p:cNvPr id="20" name="Picture 19" descr="water_vc.png"/>
          <p:cNvPicPr>
            <a:picLocks noChangeAspect="1"/>
          </p:cNvPicPr>
          <p:nvPr/>
        </p:nvPicPr>
        <p:blipFill>
          <a:blip r:embed="rId5"/>
          <a:stretch>
            <a:fillRect/>
          </a:stretch>
        </p:blipFill>
        <p:spPr>
          <a:xfrm>
            <a:off x="8046720" y="1645920"/>
            <a:ext cx="365760" cy="365760"/>
          </a:xfrm>
          <a:prstGeom prst="rect">
            <a:avLst/>
          </a:prstGeom>
        </p:spPr>
      </p:pic>
      <p:sp>
        <p:nvSpPr>
          <p:cNvPr id="21" name="TextBox 20"/>
          <p:cNvSpPr txBox="1"/>
          <p:nvPr/>
        </p:nvSpPr>
        <p:spPr>
          <a:xfrm>
            <a:off x="6217920" y="2194560"/>
            <a:ext cx="2240280" cy="365760"/>
          </a:xfrm>
          <a:prstGeom prst="rect">
            <a:avLst/>
          </a:prstGeom>
          <a:noFill/>
        </p:spPr>
        <p:txBody>
          <a:bodyPr wrap="square" anchor="t" lIns="0" rIns="0" tIns="0" bIns="0"/>
          <a:lstStyle/>
          <a:p>
            <a:pPr algn="l">
              <a:spcAft>
                <a:spcPts val="400"/>
              </a:spcAft>
            </a:pPr>
            <a:r>
              <a:rPr sz="1500" b="1" i="0">
                <a:solidFill>
                  <a:srgbClr val="23272B"/>
                </a:solidFill>
                <a:latin typeface="Arial"/>
              </a:rPr>
              <a:t>Applications</a:t>
            </a:r>
          </a:p>
        </p:txBody>
      </p:sp>
      <p:sp>
        <p:nvSpPr>
          <p:cNvPr id="22" name="TextBox 21"/>
          <p:cNvSpPr txBox="1"/>
          <p:nvPr/>
        </p:nvSpPr>
        <p:spPr>
          <a:xfrm>
            <a:off x="6217920" y="2578608"/>
            <a:ext cx="2240280" cy="1005840"/>
          </a:xfrm>
          <a:prstGeom prst="rect">
            <a:avLst/>
          </a:prstGeom>
          <a:noFill/>
        </p:spPr>
        <p:txBody>
          <a:bodyPr wrap="square" anchor="t" lIns="0" rIns="0" tIns="0" bIns="0"/>
          <a:lstStyle/>
          <a:p>
            <a:pPr algn="l">
              <a:spcAft>
                <a:spcPts val="400"/>
              </a:spcAft>
            </a:pPr>
            <a:r>
              <a:rPr sz="1250" b="0" i="0">
                <a:solidFill>
                  <a:srgbClr val="5F6B76"/>
                </a:solidFill>
                <a:latin typeface="Arial"/>
              </a:rPr>
              <a:t>Explore flood prediction, wildfire detection, damage assessment and crisis information.</a:t>
            </a:r>
          </a:p>
        </p:txBody>
      </p:sp>
      <p:sp>
        <p:nvSpPr>
          <p:cNvPr id="23" name="Rectangle 22"/>
          <p:cNvSpPr/>
          <p:nvPr/>
        </p:nvSpPr>
        <p:spPr>
          <a:xfrm>
            <a:off x="548640" y="3813048"/>
            <a:ext cx="2560320" cy="2240280"/>
          </a:xfrm>
          <a:prstGeom prst="rect">
            <a:avLst/>
          </a:prstGeom>
          <a:solidFill>
            <a:srgbClr val="F0F2F4"/>
          </a:solidFill>
          <a:ln>
            <a:noFill/>
          </a:ln>
        </p:spPr>
        <p:txBody>
          <a:bodyPr rtlCol="0" anchor="ctr" wrap="square" lIns="54864" rIns="54864" tIns="54864" bIns="54864"/>
          <a:lstStyle/>
          <a:p>
            <a:pPr algn="ctr"/>
          </a:p>
        </p:txBody>
      </p:sp>
      <p:sp>
        <p:nvSpPr>
          <p:cNvPr id="24" name="TextBox 23"/>
          <p:cNvSpPr txBox="1"/>
          <p:nvPr/>
        </p:nvSpPr>
        <p:spPr>
          <a:xfrm>
            <a:off x="731520" y="3922776"/>
            <a:ext cx="914400" cy="548640"/>
          </a:xfrm>
          <a:prstGeom prst="rect">
            <a:avLst/>
          </a:prstGeom>
          <a:noFill/>
        </p:spPr>
        <p:txBody>
          <a:bodyPr wrap="square" anchor="t" lIns="0" rIns="0" tIns="0" bIns="0"/>
          <a:lstStyle/>
          <a:p>
            <a:pPr algn="l">
              <a:spcAft>
                <a:spcPts val="400"/>
              </a:spcAft>
            </a:pPr>
            <a:r>
              <a:rPr sz="3200" b="1" i="0">
                <a:solidFill>
                  <a:srgbClr val="F4A81D"/>
                </a:solidFill>
                <a:latin typeface="Arial"/>
              </a:rPr>
              <a:t>4</a:t>
            </a:r>
          </a:p>
        </p:txBody>
      </p:sp>
      <p:pic>
        <p:nvPicPr>
          <p:cNvPr id="25" name="Picture 24" descr="sitemap_vc.png"/>
          <p:cNvPicPr>
            <a:picLocks noChangeAspect="1"/>
          </p:cNvPicPr>
          <p:nvPr/>
        </p:nvPicPr>
        <p:blipFill>
          <a:blip r:embed="rId6"/>
          <a:stretch>
            <a:fillRect/>
          </a:stretch>
        </p:blipFill>
        <p:spPr>
          <a:xfrm>
            <a:off x="2560320" y="4041648"/>
            <a:ext cx="365760" cy="365760"/>
          </a:xfrm>
          <a:prstGeom prst="rect">
            <a:avLst/>
          </a:prstGeom>
        </p:spPr>
      </p:pic>
      <p:sp>
        <p:nvSpPr>
          <p:cNvPr id="26" name="TextBox 25"/>
          <p:cNvSpPr txBox="1"/>
          <p:nvPr/>
        </p:nvSpPr>
        <p:spPr>
          <a:xfrm>
            <a:off x="731520" y="4590288"/>
            <a:ext cx="2240280" cy="365760"/>
          </a:xfrm>
          <a:prstGeom prst="rect">
            <a:avLst/>
          </a:prstGeom>
          <a:noFill/>
        </p:spPr>
        <p:txBody>
          <a:bodyPr wrap="square" anchor="t" lIns="0" rIns="0" tIns="0" bIns="0"/>
          <a:lstStyle/>
          <a:p>
            <a:pPr algn="l">
              <a:spcAft>
                <a:spcPts val="400"/>
              </a:spcAft>
            </a:pPr>
            <a:r>
              <a:rPr sz="1500" b="1" i="0">
                <a:solidFill>
                  <a:srgbClr val="23272B"/>
                </a:solidFill>
                <a:latin typeface="Arial"/>
              </a:rPr>
              <a:t>System design</a:t>
            </a:r>
          </a:p>
        </p:txBody>
      </p:sp>
      <p:sp>
        <p:nvSpPr>
          <p:cNvPr id="27" name="TextBox 26"/>
          <p:cNvSpPr txBox="1"/>
          <p:nvPr/>
        </p:nvSpPr>
        <p:spPr>
          <a:xfrm>
            <a:off x="731520" y="4974336"/>
            <a:ext cx="2240280" cy="1005840"/>
          </a:xfrm>
          <a:prstGeom prst="rect">
            <a:avLst/>
          </a:prstGeom>
          <a:noFill/>
        </p:spPr>
        <p:txBody>
          <a:bodyPr wrap="square" anchor="t" lIns="0" rIns="0" tIns="0" bIns="0"/>
          <a:lstStyle/>
          <a:p>
            <a:pPr algn="l">
              <a:spcAft>
                <a:spcPts val="400"/>
              </a:spcAft>
            </a:pPr>
            <a:r>
              <a:rPr sz="1250" b="0" i="0">
                <a:solidFill>
                  <a:srgbClr val="5F6B76"/>
                </a:solidFill>
                <a:latin typeface="Arial"/>
              </a:rPr>
              <a:t>Analyse an end-to-end AI-based disaster management pipeline.</a:t>
            </a:r>
          </a:p>
        </p:txBody>
      </p:sp>
      <p:sp>
        <p:nvSpPr>
          <p:cNvPr id="28" name="Rectangle 27"/>
          <p:cNvSpPr/>
          <p:nvPr/>
        </p:nvSpPr>
        <p:spPr>
          <a:xfrm>
            <a:off x="3291840" y="3813048"/>
            <a:ext cx="2560320" cy="2240280"/>
          </a:xfrm>
          <a:prstGeom prst="rect">
            <a:avLst/>
          </a:prstGeom>
          <a:solidFill>
            <a:srgbClr val="F0F2F4"/>
          </a:solidFill>
          <a:ln>
            <a:noFill/>
          </a:ln>
        </p:spPr>
        <p:txBody>
          <a:bodyPr rtlCol="0" anchor="ctr" wrap="square" lIns="54864" rIns="54864" tIns="54864" bIns="54864"/>
          <a:lstStyle/>
          <a:p>
            <a:pPr algn="ctr"/>
          </a:p>
        </p:txBody>
      </p:sp>
      <p:sp>
        <p:nvSpPr>
          <p:cNvPr id="29" name="TextBox 28"/>
          <p:cNvSpPr txBox="1"/>
          <p:nvPr/>
        </p:nvSpPr>
        <p:spPr>
          <a:xfrm>
            <a:off x="3474720" y="3922776"/>
            <a:ext cx="914400" cy="548640"/>
          </a:xfrm>
          <a:prstGeom prst="rect">
            <a:avLst/>
          </a:prstGeom>
          <a:noFill/>
        </p:spPr>
        <p:txBody>
          <a:bodyPr wrap="square" anchor="t" lIns="0" rIns="0" tIns="0" bIns="0"/>
          <a:lstStyle/>
          <a:p>
            <a:pPr algn="l">
              <a:spcAft>
                <a:spcPts val="400"/>
              </a:spcAft>
            </a:pPr>
            <a:r>
              <a:rPr sz="3200" b="1" i="0">
                <a:solidFill>
                  <a:srgbClr val="F4A81D"/>
                </a:solidFill>
                <a:latin typeface="Arial"/>
              </a:rPr>
              <a:t>5</a:t>
            </a:r>
          </a:p>
        </p:txBody>
      </p:sp>
      <p:pic>
        <p:nvPicPr>
          <p:cNvPr id="30" name="Picture 29" descr="balance_vc.png"/>
          <p:cNvPicPr>
            <a:picLocks noChangeAspect="1"/>
          </p:cNvPicPr>
          <p:nvPr/>
        </p:nvPicPr>
        <p:blipFill>
          <a:blip r:embed="rId7"/>
          <a:stretch>
            <a:fillRect/>
          </a:stretch>
        </p:blipFill>
        <p:spPr>
          <a:xfrm>
            <a:off x="5303520" y="4041648"/>
            <a:ext cx="365760" cy="365760"/>
          </a:xfrm>
          <a:prstGeom prst="rect">
            <a:avLst/>
          </a:prstGeom>
        </p:spPr>
      </p:pic>
      <p:sp>
        <p:nvSpPr>
          <p:cNvPr id="31" name="TextBox 30"/>
          <p:cNvSpPr txBox="1"/>
          <p:nvPr/>
        </p:nvSpPr>
        <p:spPr>
          <a:xfrm>
            <a:off x="3474720" y="4590288"/>
            <a:ext cx="2240280" cy="365760"/>
          </a:xfrm>
          <a:prstGeom prst="rect">
            <a:avLst/>
          </a:prstGeom>
          <a:noFill/>
        </p:spPr>
        <p:txBody>
          <a:bodyPr wrap="square" anchor="t" lIns="0" rIns="0" tIns="0" bIns="0"/>
          <a:lstStyle/>
          <a:p>
            <a:pPr algn="l">
              <a:spcAft>
                <a:spcPts val="400"/>
              </a:spcAft>
            </a:pPr>
            <a:r>
              <a:rPr sz="1500" b="1" i="0">
                <a:solidFill>
                  <a:srgbClr val="23272B"/>
                </a:solidFill>
                <a:latin typeface="Arial"/>
              </a:rPr>
              <a:t>Challenges</a:t>
            </a:r>
          </a:p>
        </p:txBody>
      </p:sp>
      <p:sp>
        <p:nvSpPr>
          <p:cNvPr id="32" name="TextBox 31"/>
          <p:cNvSpPr txBox="1"/>
          <p:nvPr/>
        </p:nvSpPr>
        <p:spPr>
          <a:xfrm>
            <a:off x="3474720" y="4974336"/>
            <a:ext cx="2240280" cy="1005840"/>
          </a:xfrm>
          <a:prstGeom prst="rect">
            <a:avLst/>
          </a:prstGeom>
          <a:noFill/>
        </p:spPr>
        <p:txBody>
          <a:bodyPr wrap="square" anchor="t" lIns="0" rIns="0" tIns="0" bIns="0"/>
          <a:lstStyle/>
          <a:p>
            <a:pPr algn="l">
              <a:spcAft>
                <a:spcPts val="400"/>
              </a:spcAft>
            </a:pPr>
            <a:r>
              <a:rPr sz="1250" b="0" i="0">
                <a:solidFill>
                  <a:srgbClr val="5F6B76"/>
                </a:solidFill>
                <a:latin typeface="Arial"/>
              </a:rPr>
              <a:t>Identify issues in data, generalization, interpretability and fairness.</a:t>
            </a:r>
          </a:p>
        </p:txBody>
      </p:sp>
      <p:sp>
        <p:nvSpPr>
          <p:cNvPr id="33" name="Rectangle 32"/>
          <p:cNvSpPr/>
          <p:nvPr/>
        </p:nvSpPr>
        <p:spPr>
          <a:xfrm>
            <a:off x="6035040" y="3813048"/>
            <a:ext cx="2560320" cy="2240280"/>
          </a:xfrm>
          <a:prstGeom prst="rect">
            <a:avLst/>
          </a:prstGeom>
          <a:solidFill>
            <a:srgbClr val="23272B"/>
          </a:solidFill>
          <a:ln>
            <a:noFill/>
          </a:ln>
        </p:spPr>
        <p:txBody>
          <a:bodyPr rtlCol="0" anchor="ctr" wrap="square" lIns="54864" rIns="54864" tIns="54864" bIns="54864"/>
          <a:lstStyle/>
          <a:p>
            <a:pPr algn="ctr"/>
          </a:p>
        </p:txBody>
      </p:sp>
      <p:sp>
        <p:nvSpPr>
          <p:cNvPr id="34" name="TextBox 33"/>
          <p:cNvSpPr txBox="1"/>
          <p:nvPr/>
        </p:nvSpPr>
        <p:spPr>
          <a:xfrm>
            <a:off x="6217920" y="3977639"/>
            <a:ext cx="2194560" cy="274320"/>
          </a:xfrm>
          <a:prstGeom prst="rect">
            <a:avLst/>
          </a:prstGeom>
          <a:noFill/>
        </p:spPr>
        <p:txBody>
          <a:bodyPr wrap="square" anchor="t" lIns="0" rIns="0" tIns="0" bIns="0"/>
          <a:lstStyle/>
          <a:p>
            <a:pPr algn="l">
              <a:spcAft>
                <a:spcPts val="400"/>
              </a:spcAft>
            </a:pPr>
            <a:r>
              <a:rPr sz="1050" b="1" i="0" spc="100">
                <a:solidFill>
                  <a:srgbClr val="F4A81D"/>
                </a:solidFill>
                <a:latin typeface="Arial"/>
              </a:rPr>
              <a:t>EXPECTED OUTCOME</a:t>
            </a:r>
          </a:p>
        </p:txBody>
      </p:sp>
      <p:sp>
        <p:nvSpPr>
          <p:cNvPr id="35" name="TextBox 34"/>
          <p:cNvSpPr txBox="1"/>
          <p:nvPr/>
        </p:nvSpPr>
        <p:spPr>
          <a:xfrm>
            <a:off x="6217920" y="4343400"/>
            <a:ext cx="2240280" cy="1600200"/>
          </a:xfrm>
          <a:prstGeom prst="rect">
            <a:avLst/>
          </a:prstGeom>
          <a:noFill/>
        </p:spPr>
        <p:txBody>
          <a:bodyPr wrap="square" anchor="t" lIns="0" rIns="0" tIns="0" bIns="0"/>
          <a:lstStyle/>
          <a:p>
            <a:pPr algn="l">
              <a:spcAft>
                <a:spcPts val="400"/>
              </a:spcAft>
            </a:pPr>
            <a:r>
              <a:rPr sz="1350" b="0" i="0">
                <a:solidFill>
                  <a:srgbClr val="FFFFFF"/>
                </a:solidFill>
                <a:latin typeface="Arial"/>
              </a:rPr>
              <a:t>A clear picture of how AI makes disaster response earlier, faster and smarter — and where it still falls short.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84048"/>
            <a:ext cx="566928" cy="566928"/>
          </a:xfrm>
          <a:prstGeom prst="rect">
            <a:avLst/>
          </a:prstGeom>
          <a:solidFill>
            <a:srgbClr val="F4A81D"/>
          </a:solidFill>
          <a:ln>
            <a:noFill/>
          </a:ln>
        </p:spPr>
        <p:txBody>
          <a:bodyPr rtlCol="0" anchor="ctr" wrap="square" lIns="0" rIns="0" tIns="0" bIns="0"/>
          <a:lstStyle/>
          <a:p>
            <a:pPr algn="ctr">
              <a:spcAft>
                <a:spcPts val="0"/>
              </a:spcAft>
            </a:pPr>
            <a:r>
              <a:rPr sz="1800" b="1" i="0">
                <a:solidFill>
                  <a:srgbClr val="23272B"/>
                </a:solidFill>
                <a:latin typeface="Arial"/>
              </a:rPr>
              <a:t>03</a:t>
            </a:r>
          </a:p>
        </p:txBody>
      </p:sp>
      <p:sp>
        <p:nvSpPr>
          <p:cNvPr id="3" name="TextBox 2"/>
          <p:cNvSpPr txBox="1"/>
          <p:nvPr/>
        </p:nvSpPr>
        <p:spPr>
          <a:xfrm>
            <a:off x="1280160" y="329184"/>
            <a:ext cx="7315200" cy="438912"/>
          </a:xfrm>
          <a:prstGeom prst="rect">
            <a:avLst/>
          </a:prstGeom>
          <a:noFill/>
        </p:spPr>
        <p:txBody>
          <a:bodyPr wrap="square" anchor="ctr" lIns="0" rIns="0" tIns="0" bIns="0"/>
          <a:lstStyle/>
          <a:p>
            <a:pPr algn="l">
              <a:spcAft>
                <a:spcPts val="400"/>
              </a:spcAft>
            </a:pPr>
            <a:r>
              <a:rPr sz="2400" b="1" i="0">
                <a:solidFill>
                  <a:srgbClr val="23272B"/>
                </a:solidFill>
                <a:latin typeface="Arial"/>
              </a:rPr>
              <a:t>Literature Review</a:t>
            </a:r>
          </a:p>
        </p:txBody>
      </p:sp>
      <p:sp>
        <p:nvSpPr>
          <p:cNvPr id="4" name="TextBox 3"/>
          <p:cNvSpPr txBox="1"/>
          <p:nvPr/>
        </p:nvSpPr>
        <p:spPr>
          <a:xfrm>
            <a:off x="1280160" y="749808"/>
            <a:ext cx="7315200" cy="292608"/>
          </a:xfrm>
          <a:prstGeom prst="rect">
            <a:avLst/>
          </a:prstGeom>
          <a:noFill/>
        </p:spPr>
        <p:txBody>
          <a:bodyPr wrap="square" anchor="t" lIns="0" rIns="0" tIns="0" bIns="0"/>
          <a:lstStyle/>
          <a:p>
            <a:pPr algn="l">
              <a:spcAft>
                <a:spcPts val="400"/>
              </a:spcAft>
            </a:pPr>
            <a:r>
              <a:rPr sz="1300" b="0" i="0">
                <a:solidFill>
                  <a:srgbClr val="5F6B76"/>
                </a:solidFill>
                <a:latin typeface="Arial"/>
              </a:rPr>
              <a:t>Peer-reviewed reviews and surveys (2024–2026), grouped into four themes</a:t>
            </a:r>
          </a:p>
        </p:txBody>
      </p:sp>
      <p:pic>
        <p:nvPicPr>
          <p:cNvPr id="5" name="Picture 4" descr="image.jpg"/>
          <p:cNvPicPr>
            <a:picLocks noChangeAspect="1"/>
          </p:cNvPicPr>
          <p:nvPr/>
        </p:nvPicPr>
        <p:blipFill>
          <a:blip r:embed="rId2"/>
          <a:stretch>
            <a:fillRect/>
          </a:stretch>
        </p:blipFill>
        <p:spPr>
          <a:xfrm>
            <a:off x="548640" y="6336792"/>
            <a:ext cx="438912" cy="330572"/>
          </a:xfrm>
          <a:prstGeom prst="rect">
            <a:avLst/>
          </a:prstGeom>
        </p:spPr>
      </p:pic>
      <p:sp>
        <p:nvSpPr>
          <p:cNvPr id="6" name="TextBox 5"/>
          <p:cNvSpPr txBox="1"/>
          <p:nvPr/>
        </p:nvSpPr>
        <p:spPr>
          <a:xfrm>
            <a:off x="1078992" y="6382512"/>
            <a:ext cx="5943600" cy="274320"/>
          </a:xfrm>
          <a:prstGeom prst="rect">
            <a:avLst/>
          </a:prstGeom>
          <a:noFill/>
        </p:spPr>
        <p:txBody>
          <a:bodyPr wrap="square" anchor="ctr" lIns="0" rIns="0" tIns="0" bIns="0"/>
          <a:lstStyle/>
          <a:p>
            <a:pPr algn="l">
              <a:spcAft>
                <a:spcPts val="400"/>
              </a:spcAft>
            </a:pPr>
            <a:r>
              <a:rPr sz="900" b="0" i="0">
                <a:solidFill>
                  <a:srgbClr val="5F6B76"/>
                </a:solidFill>
                <a:latin typeface="Arial"/>
              </a:rPr>
              <a:t>AI in Disaster Management   |   Vedika Dandade, B344</a:t>
            </a:r>
          </a:p>
        </p:txBody>
      </p:sp>
      <p:sp>
        <p:nvSpPr>
          <p:cNvPr id="7" name="Rectangle 6"/>
          <p:cNvSpPr/>
          <p:nvPr/>
        </p:nvSpPr>
        <p:spPr>
          <a:xfrm>
            <a:off x="8275320" y="6355080"/>
            <a:ext cx="329184" cy="329184"/>
          </a:xfrm>
          <a:prstGeom prst="rect">
            <a:avLst/>
          </a:prstGeom>
          <a:solidFill>
            <a:srgbClr val="F4A81D"/>
          </a:solidFill>
          <a:ln>
            <a:noFill/>
          </a:ln>
        </p:spPr>
        <p:txBody>
          <a:bodyPr rtlCol="0" anchor="ctr" wrap="square" lIns="0" rIns="0" tIns="0" bIns="0"/>
          <a:lstStyle/>
          <a:p>
            <a:pPr algn="ctr"/>
            <a:fld id="{3C1D2E4F-6A7B-4C8D-9E0F-1A2B3C4D5E6F}" type="slidenum">
              <a:rPr lang="en-US" sz="1000" b="1">
                <a:solidFill>
                  <a:srgbClr val="23272B"/>
                </a:solidFill>
                <a:latin typeface="Arial"/>
              </a:rPr>
              <a:t>5</a:t>
            </a:fld>
          </a:p>
        </p:txBody>
      </p:sp>
      <p:sp>
        <p:nvSpPr>
          <p:cNvPr id="8" name="Rectangle 7"/>
          <p:cNvSpPr/>
          <p:nvPr/>
        </p:nvSpPr>
        <p:spPr>
          <a:xfrm>
            <a:off x="548640" y="1417320"/>
            <a:ext cx="2377440" cy="868680"/>
          </a:xfrm>
          <a:prstGeom prst="rect">
            <a:avLst/>
          </a:prstGeom>
          <a:solidFill>
            <a:srgbClr val="23272B"/>
          </a:solidFill>
          <a:ln>
            <a:noFill/>
          </a:ln>
        </p:spPr>
        <p:txBody>
          <a:bodyPr rtlCol="0" anchor="ctr" wrap="square" lIns="54864" rIns="54864" tIns="54864" bIns="54864"/>
          <a:lstStyle/>
          <a:p>
            <a:pPr algn="ctr"/>
          </a:p>
        </p:txBody>
      </p:sp>
      <p:pic>
        <p:nvPicPr>
          <p:cNvPr id="9" name="Picture 8" descr="book_va.png"/>
          <p:cNvPicPr>
            <a:picLocks noChangeAspect="1"/>
          </p:cNvPicPr>
          <p:nvPr/>
        </p:nvPicPr>
        <p:blipFill>
          <a:blip r:embed="rId3"/>
          <a:stretch>
            <a:fillRect/>
          </a:stretch>
        </p:blipFill>
        <p:spPr>
          <a:xfrm>
            <a:off x="713232" y="1682496"/>
            <a:ext cx="347472" cy="347472"/>
          </a:xfrm>
          <a:prstGeom prst="rect">
            <a:avLst/>
          </a:prstGeom>
        </p:spPr>
      </p:pic>
      <p:sp>
        <p:nvSpPr>
          <p:cNvPr id="10" name="TextBox 9"/>
          <p:cNvSpPr txBox="1"/>
          <p:nvPr/>
        </p:nvSpPr>
        <p:spPr>
          <a:xfrm>
            <a:off x="1170432" y="1417320"/>
            <a:ext cx="1691640" cy="868680"/>
          </a:xfrm>
          <a:prstGeom prst="rect">
            <a:avLst/>
          </a:prstGeom>
          <a:noFill/>
        </p:spPr>
        <p:txBody>
          <a:bodyPr wrap="square" anchor="ctr" lIns="0" rIns="0" tIns="0" bIns="0"/>
          <a:lstStyle/>
          <a:p>
            <a:pPr algn="l">
              <a:spcAft>
                <a:spcPts val="400"/>
              </a:spcAft>
            </a:pPr>
            <a:r>
              <a:rPr sz="1300" b="1" i="0">
                <a:solidFill>
                  <a:srgbClr val="FFFFFF"/>
                </a:solidFill>
                <a:latin typeface="Arial"/>
              </a:rPr>
              <a:t>Reviews &amp; frameworks</a:t>
            </a:r>
          </a:p>
        </p:txBody>
      </p:sp>
      <p:sp>
        <p:nvSpPr>
          <p:cNvPr id="11" name="Rectangle 10"/>
          <p:cNvSpPr/>
          <p:nvPr/>
        </p:nvSpPr>
        <p:spPr>
          <a:xfrm>
            <a:off x="2926080" y="1417320"/>
            <a:ext cx="5669280" cy="868680"/>
          </a:xfrm>
          <a:prstGeom prst="rect">
            <a:avLst/>
          </a:prstGeom>
          <a:solidFill>
            <a:srgbClr val="F0F2F4"/>
          </a:solidFill>
          <a:ln>
            <a:noFill/>
          </a:ln>
        </p:spPr>
        <p:txBody>
          <a:bodyPr rtlCol="0" anchor="ctr" wrap="square" lIns="54864" rIns="54864" tIns="54864" bIns="54864"/>
          <a:lstStyle/>
          <a:p>
            <a:pPr algn="ctr"/>
          </a:p>
        </p:txBody>
      </p:sp>
      <p:sp>
        <p:nvSpPr>
          <p:cNvPr id="12" name="TextBox 11"/>
          <p:cNvSpPr txBox="1"/>
          <p:nvPr/>
        </p:nvSpPr>
        <p:spPr>
          <a:xfrm>
            <a:off x="3108960" y="1417320"/>
            <a:ext cx="4206240" cy="868680"/>
          </a:xfrm>
          <a:prstGeom prst="rect">
            <a:avLst/>
          </a:prstGeom>
          <a:noFill/>
        </p:spPr>
        <p:txBody>
          <a:bodyPr wrap="square" anchor="ctr" lIns="0" rIns="0" tIns="0" bIns="0"/>
          <a:lstStyle/>
          <a:p>
            <a:pPr algn="l">
              <a:spcAft>
                <a:spcPts val="400"/>
              </a:spcAft>
            </a:pPr>
            <a:r>
              <a:rPr sz="1250" b="0" i="0">
                <a:solidFill>
                  <a:srgbClr val="23272B"/>
                </a:solidFill>
                <a:latin typeface="Arial"/>
              </a:rPr>
              <a:t>Map AI methods to every disaster phase (96 studies in [1]); stress trustworthy, explainable deployment [2].</a:t>
            </a:r>
          </a:p>
        </p:txBody>
      </p:sp>
      <p:sp>
        <p:nvSpPr>
          <p:cNvPr id="13" name="Rectangle 12"/>
          <p:cNvSpPr/>
          <p:nvPr/>
        </p:nvSpPr>
        <p:spPr>
          <a:xfrm>
            <a:off x="7452360" y="1691640"/>
            <a:ext cx="329184" cy="310896"/>
          </a:xfrm>
          <a:prstGeom prst="rect">
            <a:avLst/>
          </a:prstGeom>
          <a:solidFill>
            <a:srgbClr val="F4A81D"/>
          </a:solidFill>
          <a:ln>
            <a:noFill/>
          </a:ln>
        </p:spPr>
        <p:txBody>
          <a:bodyPr rtlCol="0" anchor="ctr" wrap="square" lIns="0" rIns="0" tIns="0" bIns="0"/>
          <a:lstStyle/>
          <a:p>
            <a:pPr algn="ctr">
              <a:spcAft>
                <a:spcPts val="0"/>
              </a:spcAft>
            </a:pPr>
            <a:r>
              <a:rPr sz="1000" b="1" i="0">
                <a:solidFill>
                  <a:srgbClr val="23272B"/>
                </a:solidFill>
                <a:latin typeface="Arial"/>
              </a:rPr>
              <a:t>[1]</a:t>
            </a:r>
          </a:p>
        </p:txBody>
      </p:sp>
      <p:sp>
        <p:nvSpPr>
          <p:cNvPr id="14" name="Rectangle 13"/>
          <p:cNvSpPr/>
          <p:nvPr/>
        </p:nvSpPr>
        <p:spPr>
          <a:xfrm>
            <a:off x="7836408" y="1691640"/>
            <a:ext cx="329184" cy="310896"/>
          </a:xfrm>
          <a:prstGeom prst="rect">
            <a:avLst/>
          </a:prstGeom>
          <a:solidFill>
            <a:srgbClr val="F4A81D"/>
          </a:solidFill>
          <a:ln>
            <a:noFill/>
          </a:ln>
        </p:spPr>
        <p:txBody>
          <a:bodyPr rtlCol="0" anchor="ctr" wrap="square" lIns="0" rIns="0" tIns="0" bIns="0"/>
          <a:lstStyle/>
          <a:p>
            <a:pPr algn="ctr">
              <a:spcAft>
                <a:spcPts val="0"/>
              </a:spcAft>
            </a:pPr>
            <a:r>
              <a:rPr sz="1000" b="1" i="0">
                <a:solidFill>
                  <a:srgbClr val="23272B"/>
                </a:solidFill>
                <a:latin typeface="Arial"/>
              </a:rPr>
              <a:t>[2]</a:t>
            </a:r>
          </a:p>
        </p:txBody>
      </p:sp>
      <p:sp>
        <p:nvSpPr>
          <p:cNvPr id="15" name="Rectangle 14"/>
          <p:cNvSpPr/>
          <p:nvPr/>
        </p:nvSpPr>
        <p:spPr>
          <a:xfrm>
            <a:off x="548640" y="2423160"/>
            <a:ext cx="2377440" cy="868680"/>
          </a:xfrm>
          <a:prstGeom prst="rect">
            <a:avLst/>
          </a:prstGeom>
          <a:solidFill>
            <a:srgbClr val="23272B"/>
          </a:solidFill>
          <a:ln>
            <a:noFill/>
          </a:ln>
        </p:spPr>
        <p:txBody>
          <a:bodyPr rtlCol="0" anchor="ctr" wrap="square" lIns="54864" rIns="54864" tIns="54864" bIns="54864"/>
          <a:lstStyle/>
          <a:p>
            <a:pPr algn="ctr"/>
          </a:p>
        </p:txBody>
      </p:sp>
      <p:pic>
        <p:nvPicPr>
          <p:cNvPr id="16" name="Picture 15" descr="layers_va.png"/>
          <p:cNvPicPr>
            <a:picLocks noChangeAspect="1"/>
          </p:cNvPicPr>
          <p:nvPr/>
        </p:nvPicPr>
        <p:blipFill>
          <a:blip r:embed="rId4"/>
          <a:stretch>
            <a:fillRect/>
          </a:stretch>
        </p:blipFill>
        <p:spPr>
          <a:xfrm>
            <a:off x="713232" y="2688336"/>
            <a:ext cx="347472" cy="347472"/>
          </a:xfrm>
          <a:prstGeom prst="rect">
            <a:avLst/>
          </a:prstGeom>
        </p:spPr>
      </p:pic>
      <p:sp>
        <p:nvSpPr>
          <p:cNvPr id="17" name="TextBox 16"/>
          <p:cNvSpPr txBox="1"/>
          <p:nvPr/>
        </p:nvSpPr>
        <p:spPr>
          <a:xfrm>
            <a:off x="1170432" y="2423160"/>
            <a:ext cx="1691640" cy="868680"/>
          </a:xfrm>
          <a:prstGeom prst="rect">
            <a:avLst/>
          </a:prstGeom>
          <a:noFill/>
        </p:spPr>
        <p:txBody>
          <a:bodyPr wrap="square" anchor="ctr" lIns="0" rIns="0" tIns="0" bIns="0"/>
          <a:lstStyle/>
          <a:p>
            <a:pPr algn="l">
              <a:spcAft>
                <a:spcPts val="400"/>
              </a:spcAft>
            </a:pPr>
            <a:r>
              <a:rPr sz="1300" b="1" i="0">
                <a:solidFill>
                  <a:srgbClr val="FFFFFF"/>
                </a:solidFill>
                <a:latin typeface="Arial"/>
              </a:rPr>
              <a:t>Hazard-specific deep learning</a:t>
            </a:r>
          </a:p>
        </p:txBody>
      </p:sp>
      <p:sp>
        <p:nvSpPr>
          <p:cNvPr id="18" name="Rectangle 17"/>
          <p:cNvSpPr/>
          <p:nvPr/>
        </p:nvSpPr>
        <p:spPr>
          <a:xfrm>
            <a:off x="2926080" y="2423160"/>
            <a:ext cx="5669280" cy="868680"/>
          </a:xfrm>
          <a:prstGeom prst="rect">
            <a:avLst/>
          </a:prstGeom>
          <a:solidFill>
            <a:srgbClr val="F0F2F4"/>
          </a:solidFill>
          <a:ln>
            <a:noFill/>
          </a:ln>
        </p:spPr>
        <p:txBody>
          <a:bodyPr rtlCol="0" anchor="ctr" wrap="square" lIns="54864" rIns="54864" tIns="54864" bIns="54864"/>
          <a:lstStyle/>
          <a:p>
            <a:pPr algn="ctr"/>
          </a:p>
        </p:txBody>
      </p:sp>
      <p:sp>
        <p:nvSpPr>
          <p:cNvPr id="19" name="TextBox 18"/>
          <p:cNvSpPr txBox="1"/>
          <p:nvPr/>
        </p:nvSpPr>
        <p:spPr>
          <a:xfrm>
            <a:off x="3108960" y="2423160"/>
            <a:ext cx="4206240" cy="868680"/>
          </a:xfrm>
          <a:prstGeom prst="rect">
            <a:avLst/>
          </a:prstGeom>
          <a:noFill/>
        </p:spPr>
        <p:txBody>
          <a:bodyPr wrap="square" anchor="ctr" lIns="0" rIns="0" tIns="0" bIns="0"/>
          <a:lstStyle/>
          <a:p>
            <a:pPr algn="l">
              <a:spcAft>
                <a:spcPts val="400"/>
              </a:spcAft>
            </a:pPr>
            <a:r>
              <a:rPr sz="1250" b="0" i="0">
                <a:solidFill>
                  <a:srgbClr val="23272B"/>
                </a:solidFill>
                <a:latin typeface="Arial"/>
              </a:rPr>
              <a:t>CNNs, LSTMs and AIoT for floods, earthquakes and wildfires: prediction, detection and damage assessment.</a:t>
            </a:r>
          </a:p>
        </p:txBody>
      </p:sp>
      <p:sp>
        <p:nvSpPr>
          <p:cNvPr id="20" name="Rectangle 19"/>
          <p:cNvSpPr/>
          <p:nvPr/>
        </p:nvSpPr>
        <p:spPr>
          <a:xfrm>
            <a:off x="7452360" y="2697480"/>
            <a:ext cx="329184" cy="310896"/>
          </a:xfrm>
          <a:prstGeom prst="rect">
            <a:avLst/>
          </a:prstGeom>
          <a:solidFill>
            <a:srgbClr val="F4A81D"/>
          </a:solidFill>
          <a:ln>
            <a:noFill/>
          </a:ln>
        </p:spPr>
        <p:txBody>
          <a:bodyPr rtlCol="0" anchor="ctr" wrap="square" lIns="0" rIns="0" tIns="0" bIns="0"/>
          <a:lstStyle/>
          <a:p>
            <a:pPr algn="ctr">
              <a:spcAft>
                <a:spcPts val="0"/>
              </a:spcAft>
            </a:pPr>
            <a:r>
              <a:rPr sz="1000" b="1" i="0">
                <a:solidFill>
                  <a:srgbClr val="23272B"/>
                </a:solidFill>
                <a:latin typeface="Arial"/>
              </a:rPr>
              <a:t>[3]</a:t>
            </a:r>
          </a:p>
        </p:txBody>
      </p:sp>
      <p:sp>
        <p:nvSpPr>
          <p:cNvPr id="21" name="Rectangle 20"/>
          <p:cNvSpPr/>
          <p:nvPr/>
        </p:nvSpPr>
        <p:spPr>
          <a:xfrm>
            <a:off x="7836408" y="2697480"/>
            <a:ext cx="329184" cy="310896"/>
          </a:xfrm>
          <a:prstGeom prst="rect">
            <a:avLst/>
          </a:prstGeom>
          <a:solidFill>
            <a:srgbClr val="F4A81D"/>
          </a:solidFill>
          <a:ln>
            <a:noFill/>
          </a:ln>
        </p:spPr>
        <p:txBody>
          <a:bodyPr rtlCol="0" anchor="ctr" wrap="square" lIns="0" rIns="0" tIns="0" bIns="0"/>
          <a:lstStyle/>
          <a:p>
            <a:pPr algn="ctr">
              <a:spcAft>
                <a:spcPts val="0"/>
              </a:spcAft>
            </a:pPr>
            <a:r>
              <a:rPr sz="1000" b="1" i="0">
                <a:solidFill>
                  <a:srgbClr val="23272B"/>
                </a:solidFill>
                <a:latin typeface="Arial"/>
              </a:rPr>
              <a:t>[4]</a:t>
            </a:r>
          </a:p>
        </p:txBody>
      </p:sp>
      <p:sp>
        <p:nvSpPr>
          <p:cNvPr id="22" name="Rectangle 21"/>
          <p:cNvSpPr/>
          <p:nvPr/>
        </p:nvSpPr>
        <p:spPr>
          <a:xfrm>
            <a:off x="8220456" y="2697480"/>
            <a:ext cx="329184" cy="310896"/>
          </a:xfrm>
          <a:prstGeom prst="rect">
            <a:avLst/>
          </a:prstGeom>
          <a:solidFill>
            <a:srgbClr val="F4A81D"/>
          </a:solidFill>
          <a:ln>
            <a:noFill/>
          </a:ln>
        </p:spPr>
        <p:txBody>
          <a:bodyPr rtlCol="0" anchor="ctr" wrap="square" lIns="0" rIns="0" tIns="0" bIns="0"/>
          <a:lstStyle/>
          <a:p>
            <a:pPr algn="ctr">
              <a:spcAft>
                <a:spcPts val="0"/>
              </a:spcAft>
            </a:pPr>
            <a:r>
              <a:rPr sz="1000" b="1" i="0">
                <a:solidFill>
                  <a:srgbClr val="23272B"/>
                </a:solidFill>
                <a:latin typeface="Arial"/>
              </a:rPr>
              <a:t>[5]</a:t>
            </a:r>
          </a:p>
        </p:txBody>
      </p:sp>
      <p:sp>
        <p:nvSpPr>
          <p:cNvPr id="23" name="Rectangle 22"/>
          <p:cNvSpPr/>
          <p:nvPr/>
        </p:nvSpPr>
        <p:spPr>
          <a:xfrm>
            <a:off x="548640" y="3429000"/>
            <a:ext cx="2377440" cy="868680"/>
          </a:xfrm>
          <a:prstGeom prst="rect">
            <a:avLst/>
          </a:prstGeom>
          <a:solidFill>
            <a:srgbClr val="23272B"/>
          </a:solidFill>
          <a:ln>
            <a:noFill/>
          </a:ln>
        </p:spPr>
        <p:txBody>
          <a:bodyPr rtlCol="0" anchor="ctr" wrap="square" lIns="54864" rIns="54864" tIns="54864" bIns="54864"/>
          <a:lstStyle/>
          <a:p>
            <a:pPr algn="ctr"/>
          </a:p>
        </p:txBody>
      </p:sp>
      <p:pic>
        <p:nvPicPr>
          <p:cNvPr id="24" name="Picture 23" descr="comment_va.png"/>
          <p:cNvPicPr>
            <a:picLocks noChangeAspect="1"/>
          </p:cNvPicPr>
          <p:nvPr/>
        </p:nvPicPr>
        <p:blipFill>
          <a:blip r:embed="rId5"/>
          <a:stretch>
            <a:fillRect/>
          </a:stretch>
        </p:blipFill>
        <p:spPr>
          <a:xfrm>
            <a:off x="713232" y="3694176"/>
            <a:ext cx="347472" cy="347472"/>
          </a:xfrm>
          <a:prstGeom prst="rect">
            <a:avLst/>
          </a:prstGeom>
        </p:spPr>
      </p:pic>
      <p:sp>
        <p:nvSpPr>
          <p:cNvPr id="25" name="TextBox 24"/>
          <p:cNvSpPr txBox="1"/>
          <p:nvPr/>
        </p:nvSpPr>
        <p:spPr>
          <a:xfrm>
            <a:off x="1170432" y="3429000"/>
            <a:ext cx="1691640" cy="868680"/>
          </a:xfrm>
          <a:prstGeom prst="rect">
            <a:avLst/>
          </a:prstGeom>
          <a:noFill/>
        </p:spPr>
        <p:txBody>
          <a:bodyPr wrap="square" anchor="ctr" lIns="0" rIns="0" tIns="0" bIns="0"/>
          <a:lstStyle/>
          <a:p>
            <a:pPr algn="l">
              <a:spcAft>
                <a:spcPts val="400"/>
              </a:spcAft>
            </a:pPr>
            <a:r>
              <a:rPr sz="1300" b="1" i="0">
                <a:solidFill>
                  <a:srgbClr val="FFFFFF"/>
                </a:solidFill>
                <a:latin typeface="Arial"/>
              </a:rPr>
              <a:t>Large language models</a:t>
            </a:r>
          </a:p>
        </p:txBody>
      </p:sp>
      <p:sp>
        <p:nvSpPr>
          <p:cNvPr id="26" name="Rectangle 25"/>
          <p:cNvSpPr/>
          <p:nvPr/>
        </p:nvSpPr>
        <p:spPr>
          <a:xfrm>
            <a:off x="2926080" y="3429000"/>
            <a:ext cx="5669280" cy="868680"/>
          </a:xfrm>
          <a:prstGeom prst="rect">
            <a:avLst/>
          </a:prstGeom>
          <a:solidFill>
            <a:srgbClr val="F0F2F4"/>
          </a:solidFill>
          <a:ln>
            <a:noFill/>
          </a:ln>
        </p:spPr>
        <p:txBody>
          <a:bodyPr rtlCol="0" anchor="ctr" wrap="square" lIns="54864" rIns="54864" tIns="54864" bIns="54864"/>
          <a:lstStyle/>
          <a:p>
            <a:pPr algn="ctr"/>
          </a:p>
        </p:txBody>
      </p:sp>
      <p:sp>
        <p:nvSpPr>
          <p:cNvPr id="27" name="TextBox 26"/>
          <p:cNvSpPr txBox="1"/>
          <p:nvPr/>
        </p:nvSpPr>
        <p:spPr>
          <a:xfrm>
            <a:off x="3108960" y="3429000"/>
            <a:ext cx="4206240" cy="868680"/>
          </a:xfrm>
          <a:prstGeom prst="rect">
            <a:avLst/>
          </a:prstGeom>
          <a:noFill/>
        </p:spPr>
        <p:txBody>
          <a:bodyPr wrap="square" anchor="ctr" lIns="0" rIns="0" tIns="0" bIns="0"/>
          <a:lstStyle/>
          <a:p>
            <a:pPr algn="l">
              <a:spcAft>
                <a:spcPts val="400"/>
              </a:spcAft>
            </a:pPr>
            <a:r>
              <a:rPr sz="1250" b="0" i="0">
                <a:solidFill>
                  <a:srgbClr val="23272B"/>
                </a:solidFill>
                <a:latin typeface="Arial"/>
              </a:rPr>
              <a:t>LLMs across disaster phases: classifying crisis messages, extracting information, generating reports.</a:t>
            </a:r>
          </a:p>
        </p:txBody>
      </p:sp>
      <p:sp>
        <p:nvSpPr>
          <p:cNvPr id="28" name="Rectangle 27"/>
          <p:cNvSpPr/>
          <p:nvPr/>
        </p:nvSpPr>
        <p:spPr>
          <a:xfrm>
            <a:off x="7452360" y="3703320"/>
            <a:ext cx="329184" cy="310896"/>
          </a:xfrm>
          <a:prstGeom prst="rect">
            <a:avLst/>
          </a:prstGeom>
          <a:solidFill>
            <a:srgbClr val="F4A81D"/>
          </a:solidFill>
          <a:ln>
            <a:noFill/>
          </a:ln>
        </p:spPr>
        <p:txBody>
          <a:bodyPr rtlCol="0" anchor="ctr" wrap="square" lIns="0" rIns="0" tIns="0" bIns="0"/>
          <a:lstStyle/>
          <a:p>
            <a:pPr algn="ctr">
              <a:spcAft>
                <a:spcPts val="0"/>
              </a:spcAft>
            </a:pPr>
            <a:r>
              <a:rPr sz="1000" b="1" i="0">
                <a:solidFill>
                  <a:srgbClr val="23272B"/>
                </a:solidFill>
                <a:latin typeface="Arial"/>
              </a:rPr>
              <a:t>[6]</a:t>
            </a:r>
          </a:p>
        </p:txBody>
      </p:sp>
      <p:sp>
        <p:nvSpPr>
          <p:cNvPr id="29" name="Rectangle 28"/>
          <p:cNvSpPr/>
          <p:nvPr/>
        </p:nvSpPr>
        <p:spPr>
          <a:xfrm>
            <a:off x="548640" y="4434840"/>
            <a:ext cx="2377440" cy="868680"/>
          </a:xfrm>
          <a:prstGeom prst="rect">
            <a:avLst/>
          </a:prstGeom>
          <a:solidFill>
            <a:srgbClr val="23272B"/>
          </a:solidFill>
          <a:ln>
            <a:noFill/>
          </a:ln>
        </p:spPr>
        <p:txBody>
          <a:bodyPr rtlCol="0" anchor="ctr" wrap="square" lIns="54864" rIns="54864" tIns="54864" bIns="54864"/>
          <a:lstStyle/>
          <a:p>
            <a:pPr algn="ctr"/>
          </a:p>
        </p:txBody>
      </p:sp>
      <p:pic>
        <p:nvPicPr>
          <p:cNvPr id="30" name="Picture 29" descr="eye_va.png"/>
          <p:cNvPicPr>
            <a:picLocks noChangeAspect="1"/>
          </p:cNvPicPr>
          <p:nvPr/>
        </p:nvPicPr>
        <p:blipFill>
          <a:blip r:embed="rId6"/>
          <a:stretch>
            <a:fillRect/>
          </a:stretch>
        </p:blipFill>
        <p:spPr>
          <a:xfrm>
            <a:off x="713232" y="4700016"/>
            <a:ext cx="347472" cy="347472"/>
          </a:xfrm>
          <a:prstGeom prst="rect">
            <a:avLst/>
          </a:prstGeom>
        </p:spPr>
      </p:pic>
      <p:sp>
        <p:nvSpPr>
          <p:cNvPr id="31" name="TextBox 30"/>
          <p:cNvSpPr txBox="1"/>
          <p:nvPr/>
        </p:nvSpPr>
        <p:spPr>
          <a:xfrm>
            <a:off x="1170432" y="4434840"/>
            <a:ext cx="1691640" cy="868680"/>
          </a:xfrm>
          <a:prstGeom prst="rect">
            <a:avLst/>
          </a:prstGeom>
          <a:noFill/>
        </p:spPr>
        <p:txBody>
          <a:bodyPr wrap="square" anchor="ctr" lIns="0" rIns="0" tIns="0" bIns="0"/>
          <a:lstStyle/>
          <a:p>
            <a:pPr algn="l">
              <a:spcAft>
                <a:spcPts val="400"/>
              </a:spcAft>
            </a:pPr>
            <a:r>
              <a:rPr sz="1300" b="1" i="0">
                <a:solidFill>
                  <a:srgbClr val="FFFFFF"/>
                </a:solidFill>
                <a:latin typeface="Arial"/>
              </a:rPr>
              <a:t>Vision-language agents</a:t>
            </a:r>
          </a:p>
        </p:txBody>
      </p:sp>
      <p:sp>
        <p:nvSpPr>
          <p:cNvPr id="32" name="Rectangle 31"/>
          <p:cNvSpPr/>
          <p:nvPr/>
        </p:nvSpPr>
        <p:spPr>
          <a:xfrm>
            <a:off x="2926080" y="4434840"/>
            <a:ext cx="5669280" cy="868680"/>
          </a:xfrm>
          <a:prstGeom prst="rect">
            <a:avLst/>
          </a:prstGeom>
          <a:solidFill>
            <a:srgbClr val="F0F2F4"/>
          </a:solidFill>
          <a:ln>
            <a:noFill/>
          </a:ln>
        </p:spPr>
        <p:txBody>
          <a:bodyPr rtlCol="0" anchor="ctr" wrap="square" lIns="54864" rIns="54864" tIns="54864" bIns="54864"/>
          <a:lstStyle/>
          <a:p>
            <a:pPr algn="ctr"/>
          </a:p>
        </p:txBody>
      </p:sp>
      <p:sp>
        <p:nvSpPr>
          <p:cNvPr id="33" name="TextBox 32"/>
          <p:cNvSpPr txBox="1"/>
          <p:nvPr/>
        </p:nvSpPr>
        <p:spPr>
          <a:xfrm>
            <a:off x="3108960" y="4434840"/>
            <a:ext cx="4206240" cy="868680"/>
          </a:xfrm>
          <a:prstGeom prst="rect">
            <a:avLst/>
          </a:prstGeom>
          <a:noFill/>
        </p:spPr>
        <p:txBody>
          <a:bodyPr wrap="square" anchor="ctr" lIns="0" rIns="0" tIns="0" bIns="0"/>
          <a:lstStyle/>
          <a:p>
            <a:pPr algn="l">
              <a:spcAft>
                <a:spcPts val="400"/>
              </a:spcAft>
            </a:pPr>
            <a:r>
              <a:rPr sz="1250" b="0" i="0">
                <a:solidFill>
                  <a:srgbClr val="23272B"/>
                </a:solidFill>
                <a:latin typeface="Arial"/>
              </a:rPr>
              <a:t>DisasTeller: four specialised agents turn post-disaster imagery into assessments, alerts and plans.</a:t>
            </a:r>
          </a:p>
        </p:txBody>
      </p:sp>
      <p:sp>
        <p:nvSpPr>
          <p:cNvPr id="34" name="Rectangle 33"/>
          <p:cNvSpPr/>
          <p:nvPr/>
        </p:nvSpPr>
        <p:spPr>
          <a:xfrm>
            <a:off x="7452360" y="4709160"/>
            <a:ext cx="329184" cy="310896"/>
          </a:xfrm>
          <a:prstGeom prst="rect">
            <a:avLst/>
          </a:prstGeom>
          <a:solidFill>
            <a:srgbClr val="F4A81D"/>
          </a:solidFill>
          <a:ln>
            <a:noFill/>
          </a:ln>
        </p:spPr>
        <p:txBody>
          <a:bodyPr rtlCol="0" anchor="ctr" wrap="square" lIns="0" rIns="0" tIns="0" bIns="0"/>
          <a:lstStyle/>
          <a:p>
            <a:pPr algn="ctr">
              <a:spcAft>
                <a:spcPts val="0"/>
              </a:spcAft>
            </a:pPr>
            <a:r>
              <a:rPr sz="1000" b="1" i="0">
                <a:solidFill>
                  <a:srgbClr val="23272B"/>
                </a:solidFill>
                <a:latin typeface="Arial"/>
              </a:rPr>
              <a:t>[7]</a:t>
            </a:r>
          </a:p>
        </p:txBody>
      </p:sp>
      <p:sp>
        <p:nvSpPr>
          <p:cNvPr id="35" name="Rectangle 34"/>
          <p:cNvSpPr/>
          <p:nvPr/>
        </p:nvSpPr>
        <p:spPr>
          <a:xfrm>
            <a:off x="548640" y="5532120"/>
            <a:ext cx="8046720" cy="685800"/>
          </a:xfrm>
          <a:prstGeom prst="rect">
            <a:avLst/>
          </a:prstGeom>
          <a:solidFill>
            <a:srgbClr val="F4A81D"/>
          </a:solidFill>
          <a:ln>
            <a:noFill/>
          </a:ln>
        </p:spPr>
        <p:txBody>
          <a:bodyPr rtlCol="0" anchor="ctr" wrap="square" lIns="54864" rIns="54864" tIns="54864" bIns="54864"/>
          <a:lstStyle/>
          <a:p>
            <a:pPr algn="ctr"/>
          </a:p>
        </p:txBody>
      </p:sp>
      <p:sp>
        <p:nvSpPr>
          <p:cNvPr id="36" name="TextBox 35"/>
          <p:cNvSpPr txBox="1"/>
          <p:nvPr/>
        </p:nvSpPr>
        <p:spPr>
          <a:xfrm>
            <a:off x="777240" y="5532120"/>
            <a:ext cx="7680960" cy="685800"/>
          </a:xfrm>
          <a:prstGeom prst="rect">
            <a:avLst/>
          </a:prstGeom>
          <a:noFill/>
        </p:spPr>
        <p:txBody>
          <a:bodyPr wrap="square" anchor="ctr" lIns="0" rIns="0" tIns="0" bIns="0"/>
          <a:lstStyle/>
          <a:p>
            <a:pPr algn="l">
              <a:spcAft>
                <a:spcPts val="400"/>
              </a:spcAft>
            </a:pPr>
            <a:r>
              <a:rPr sz="1350" b="1" i="0">
                <a:solidFill>
                  <a:srgbClr val="23272B"/>
                </a:solidFill>
                <a:latin typeface="Arial"/>
              </a:rPr>
              <a:t>Key finding:  </a:t>
            </a:r>
            <a:r>
              <a:rPr sz="1350" b="0" i="0">
                <a:solidFill>
                  <a:srgbClr val="23272B"/>
                </a:solidFill>
                <a:latin typeface="Arial"/>
              </a:rPr>
              <a:t>AI helps most when several data sources are fused and its outputs are trustworthy enough for responders to act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84048"/>
            <a:ext cx="566928" cy="566928"/>
          </a:xfrm>
          <a:prstGeom prst="rect">
            <a:avLst/>
          </a:prstGeom>
          <a:solidFill>
            <a:srgbClr val="F4A81D"/>
          </a:solidFill>
          <a:ln>
            <a:noFill/>
          </a:ln>
        </p:spPr>
        <p:txBody>
          <a:bodyPr rtlCol="0" anchor="ctr" wrap="square" lIns="0" rIns="0" tIns="0" bIns="0"/>
          <a:lstStyle/>
          <a:p>
            <a:pPr algn="ctr">
              <a:spcAft>
                <a:spcPts val="0"/>
              </a:spcAft>
            </a:pPr>
            <a:r>
              <a:rPr sz="1800" b="1" i="0">
                <a:solidFill>
                  <a:srgbClr val="23272B"/>
                </a:solidFill>
                <a:latin typeface="Arial"/>
              </a:rPr>
              <a:t>04</a:t>
            </a:r>
          </a:p>
        </p:txBody>
      </p:sp>
      <p:sp>
        <p:nvSpPr>
          <p:cNvPr id="3" name="TextBox 2"/>
          <p:cNvSpPr txBox="1"/>
          <p:nvPr/>
        </p:nvSpPr>
        <p:spPr>
          <a:xfrm>
            <a:off x="1280160" y="329184"/>
            <a:ext cx="7315200" cy="438912"/>
          </a:xfrm>
          <a:prstGeom prst="rect">
            <a:avLst/>
          </a:prstGeom>
          <a:noFill/>
        </p:spPr>
        <p:txBody>
          <a:bodyPr wrap="square" anchor="ctr" lIns="0" rIns="0" tIns="0" bIns="0"/>
          <a:lstStyle/>
          <a:p>
            <a:pPr algn="l">
              <a:spcAft>
                <a:spcPts val="400"/>
              </a:spcAft>
            </a:pPr>
            <a:r>
              <a:rPr sz="2400" b="1" i="0">
                <a:solidFill>
                  <a:srgbClr val="23272B"/>
                </a:solidFill>
                <a:latin typeface="Arial"/>
              </a:rPr>
              <a:t>Literature Survey (1/2)</a:t>
            </a:r>
          </a:p>
        </p:txBody>
      </p:sp>
      <p:sp>
        <p:nvSpPr>
          <p:cNvPr id="4" name="TextBox 3"/>
          <p:cNvSpPr txBox="1"/>
          <p:nvPr/>
        </p:nvSpPr>
        <p:spPr>
          <a:xfrm>
            <a:off x="1280160" y="749808"/>
            <a:ext cx="7315200" cy="292608"/>
          </a:xfrm>
          <a:prstGeom prst="rect">
            <a:avLst/>
          </a:prstGeom>
          <a:noFill/>
        </p:spPr>
        <p:txBody>
          <a:bodyPr wrap="square" anchor="t" lIns="0" rIns="0" tIns="0" bIns="0"/>
          <a:lstStyle/>
          <a:p>
            <a:pPr algn="l">
              <a:spcAft>
                <a:spcPts val="400"/>
              </a:spcAft>
            </a:pPr>
            <a:r>
              <a:rPr sz="1300" b="0" i="0">
                <a:solidFill>
                  <a:srgbClr val="5F6B76"/>
                </a:solidFill>
                <a:latin typeface="Arial"/>
              </a:rPr>
              <a:t>Papers studied and the work each one reports</a:t>
            </a:r>
          </a:p>
        </p:txBody>
      </p:sp>
      <p:pic>
        <p:nvPicPr>
          <p:cNvPr id="5" name="Picture 4" descr="image.jpg"/>
          <p:cNvPicPr>
            <a:picLocks noChangeAspect="1"/>
          </p:cNvPicPr>
          <p:nvPr/>
        </p:nvPicPr>
        <p:blipFill>
          <a:blip r:embed="rId2"/>
          <a:stretch>
            <a:fillRect/>
          </a:stretch>
        </p:blipFill>
        <p:spPr>
          <a:xfrm>
            <a:off x="548640" y="6336792"/>
            <a:ext cx="438912" cy="330572"/>
          </a:xfrm>
          <a:prstGeom prst="rect">
            <a:avLst/>
          </a:prstGeom>
        </p:spPr>
      </p:pic>
      <p:sp>
        <p:nvSpPr>
          <p:cNvPr id="6" name="TextBox 5"/>
          <p:cNvSpPr txBox="1"/>
          <p:nvPr/>
        </p:nvSpPr>
        <p:spPr>
          <a:xfrm>
            <a:off x="1078992" y="6382512"/>
            <a:ext cx="5943600" cy="274320"/>
          </a:xfrm>
          <a:prstGeom prst="rect">
            <a:avLst/>
          </a:prstGeom>
          <a:noFill/>
        </p:spPr>
        <p:txBody>
          <a:bodyPr wrap="square" anchor="ctr" lIns="0" rIns="0" tIns="0" bIns="0"/>
          <a:lstStyle/>
          <a:p>
            <a:pPr algn="l">
              <a:spcAft>
                <a:spcPts val="400"/>
              </a:spcAft>
            </a:pPr>
            <a:r>
              <a:rPr sz="900" b="0" i="0">
                <a:solidFill>
                  <a:srgbClr val="5F6B76"/>
                </a:solidFill>
                <a:latin typeface="Arial"/>
              </a:rPr>
              <a:t>AI in Disaster Management   |   Vedika Dandade, B344</a:t>
            </a:r>
          </a:p>
        </p:txBody>
      </p:sp>
      <p:sp>
        <p:nvSpPr>
          <p:cNvPr id="7" name="Rectangle 6"/>
          <p:cNvSpPr/>
          <p:nvPr/>
        </p:nvSpPr>
        <p:spPr>
          <a:xfrm>
            <a:off x="8275320" y="6355080"/>
            <a:ext cx="329184" cy="329184"/>
          </a:xfrm>
          <a:prstGeom prst="rect">
            <a:avLst/>
          </a:prstGeom>
          <a:solidFill>
            <a:srgbClr val="F4A81D"/>
          </a:solidFill>
          <a:ln>
            <a:noFill/>
          </a:ln>
        </p:spPr>
        <p:txBody>
          <a:bodyPr rtlCol="0" anchor="ctr" wrap="square" lIns="0" rIns="0" tIns="0" bIns="0"/>
          <a:lstStyle/>
          <a:p>
            <a:pPr algn="ctr"/>
            <a:fld id="{3C1D2E4F-6A7B-4C8D-9E0F-1A2B3C4D5E6F}" type="slidenum">
              <a:rPr lang="en-US" sz="1000" b="1">
                <a:solidFill>
                  <a:srgbClr val="23272B"/>
                </a:solidFill>
                <a:latin typeface="Arial"/>
              </a:rPr>
              <a:t>6</a:t>
            </a:fld>
          </a:p>
        </p:txBody>
      </p:sp>
      <p:graphicFrame>
        <p:nvGraphicFramePr>
          <p:cNvPr id="8" name="Table 7"/>
          <p:cNvGraphicFramePr>
            <a:graphicFrameLocks noGrp="1"/>
          </p:cNvGraphicFramePr>
          <p:nvPr/>
        </p:nvGraphicFramePr>
        <p:xfrm>
          <a:off x="548640" y="1371600"/>
          <a:ext cx="8046719" cy="4617720"/>
        </p:xfrm>
        <a:graphic>
          <a:graphicData uri="http://schemas.openxmlformats.org/drawingml/2006/table">
            <a:tbl>
              <a:tblPr firstRow="0" bandRow="0">
                <a:tableStyleId>{5C22544A-7EE6-4342-B048-85BDC9FD1C3A}</a:tableStyleId>
              </a:tblPr>
              <a:tblGrid>
                <a:gridCol w="731520"/>
                <a:gridCol w="3749039"/>
                <a:gridCol w="3566160"/>
              </a:tblGrid>
              <a:tr h="411480">
                <a:tc>
                  <a:txBody>
                    <a:bodyPr wrap="square"/>
                    <a:lstStyle/>
                    <a:p>
                      <a:pPr algn="l">
                        <a:spcAft>
                          <a:spcPts val="400"/>
                        </a:spcAft>
                      </a:pPr>
                      <a:r>
                        <a:rPr sz="1200" b="1" i="0">
                          <a:solidFill>
                            <a:srgbClr val="23272B"/>
                          </a:solidFill>
                          <a:latin typeface="Arial"/>
                        </a:rPr>
                        <a:t>Sr. No</a:t>
                      </a:r>
                    </a:p>
                  </a:txBody>
                  <a:tcPr marL="91440" marR="91440" marT="45720" marB="45720" anchor="ctr">
                    <a:solidFill>
                      <a:srgbClr val="F4A81D"/>
                    </a:solidFill>
                  </a:tcPr>
                </a:tc>
                <a:tc>
                  <a:txBody>
                    <a:bodyPr wrap="square"/>
                    <a:lstStyle/>
                    <a:p>
                      <a:pPr algn="l">
                        <a:spcAft>
                          <a:spcPts val="400"/>
                        </a:spcAft>
                      </a:pPr>
                      <a:r>
                        <a:rPr sz="1200" b="1" i="0">
                          <a:solidFill>
                            <a:srgbClr val="23272B"/>
                          </a:solidFill>
                          <a:latin typeface="Arial"/>
                        </a:rPr>
                        <a:t>Details of paper</a:t>
                      </a:r>
                    </a:p>
                  </a:txBody>
                  <a:tcPr marL="91440" marR="91440" marT="45720" marB="45720" anchor="ctr">
                    <a:solidFill>
                      <a:srgbClr val="F4A81D"/>
                    </a:solidFill>
                  </a:tcPr>
                </a:tc>
                <a:tc>
                  <a:txBody>
                    <a:bodyPr wrap="square"/>
                    <a:lstStyle/>
                    <a:p>
                      <a:pPr algn="l">
                        <a:spcAft>
                          <a:spcPts val="400"/>
                        </a:spcAft>
                      </a:pPr>
                      <a:r>
                        <a:rPr sz="1200" b="1" i="0">
                          <a:solidFill>
                            <a:srgbClr val="23272B"/>
                          </a:solidFill>
                          <a:latin typeface="Arial"/>
                        </a:rPr>
                        <a:t>Work reported</a:t>
                      </a:r>
                    </a:p>
                  </a:txBody>
                  <a:tcPr marL="91440" marR="91440" marT="45720" marB="45720" anchor="ctr">
                    <a:solidFill>
                      <a:srgbClr val="F4A81D"/>
                    </a:solidFill>
                  </a:tcPr>
                </a:tc>
              </a:tr>
              <a:tr h="1051560">
                <a:tc>
                  <a:txBody>
                    <a:bodyPr wrap="square"/>
                    <a:lstStyle/>
                    <a:p>
                      <a:pPr algn="ctr">
                        <a:spcAft>
                          <a:spcPts val="400"/>
                        </a:spcAft>
                      </a:pPr>
                      <a:r>
                        <a:rPr sz="1400" b="1" i="0">
                          <a:solidFill>
                            <a:srgbClr val="23272B"/>
                          </a:solidFill>
                          <a:latin typeface="Arial"/>
                        </a:rPr>
                        <a:t>1</a:t>
                      </a:r>
                    </a:p>
                  </a:txBody>
                  <a:tcPr marL="91440" marR="91440" marT="45720" marB="45720" anchor="ctr">
                    <a:solidFill>
                      <a:srgbClr val="FFFFFF"/>
                    </a:solidFill>
                  </a:tcPr>
                </a:tc>
                <a:tc>
                  <a:txBody>
                    <a:bodyPr wrap="square"/>
                    <a:lstStyle/>
                    <a:p>
                      <a:pPr algn="l">
                        <a:spcAft>
                          <a:spcPts val="200"/>
                        </a:spcAft>
                      </a:pPr>
                      <a:r>
                        <a:rPr sz="1200" b="1" i="0">
                          <a:solidFill>
                            <a:srgbClr val="23272B"/>
                          </a:solidFill>
                          <a:latin typeface="Arial"/>
                        </a:rPr>
                        <a:t>A systematic review of AI frameworks for holistic disaster management</a:t>
                      </a:r>
                    </a:p>
                    <a:p>
                      <a:pPr algn="l">
                        <a:spcAft>
                          <a:spcPts val="200"/>
                        </a:spcAft>
                      </a:pPr>
                      <a:r>
                        <a:rPr sz="1050" b="0" i="0">
                          <a:solidFill>
                            <a:srgbClr val="5F6B76"/>
                          </a:solidFill>
                          <a:latin typeface="Arial"/>
                        </a:rPr>
                        <a:t>S. Muthukumar et al., Discover Artificial Intelligence, 2026</a:t>
                      </a:r>
                    </a:p>
                  </a:txBody>
                  <a:tcPr marL="91440" marR="91440" marT="45720" marB="45720" anchor="ctr">
                    <a:solidFill>
                      <a:srgbClr val="FFFFFF"/>
                    </a:solidFill>
                  </a:tcPr>
                </a:tc>
                <a:tc>
                  <a:txBody>
                    <a:bodyPr wrap="square"/>
                    <a:lstStyle/>
                    <a:p>
                      <a:pPr algn="l">
                        <a:spcAft>
                          <a:spcPts val="200"/>
                        </a:spcAft>
                      </a:pPr>
                      <a:r>
                        <a:rPr sz="1200" b="0" i="0">
                          <a:solidFill>
                            <a:srgbClr val="23272B"/>
                          </a:solidFill>
                          <a:latin typeface="Arial"/>
                        </a:rPr>
                        <a:t>Synthesises 96 peer-reviewed studies; maps AI approaches to each disaster-management phase.</a:t>
                      </a:r>
                    </a:p>
                  </a:txBody>
                  <a:tcPr marL="91440" marR="91440" marT="45720" marB="45720" anchor="ctr">
                    <a:solidFill>
                      <a:srgbClr val="FFFFFF"/>
                    </a:solidFill>
                  </a:tcPr>
                </a:tc>
              </a:tr>
              <a:tr h="1051560">
                <a:tc>
                  <a:txBody>
                    <a:bodyPr wrap="square"/>
                    <a:lstStyle/>
                    <a:p>
                      <a:pPr algn="ctr">
                        <a:spcAft>
                          <a:spcPts val="400"/>
                        </a:spcAft>
                      </a:pPr>
                      <a:r>
                        <a:rPr sz="1400" b="1" i="0">
                          <a:solidFill>
                            <a:srgbClr val="23272B"/>
                          </a:solidFill>
                          <a:latin typeface="Arial"/>
                        </a:rPr>
                        <a:t>2</a:t>
                      </a:r>
                    </a:p>
                  </a:txBody>
                  <a:tcPr marL="91440" marR="91440" marT="45720" marB="45720" anchor="ctr">
                    <a:solidFill>
                      <a:srgbClr val="F0F2F4"/>
                    </a:solidFill>
                  </a:tcPr>
                </a:tc>
                <a:tc>
                  <a:txBody>
                    <a:bodyPr wrap="square"/>
                    <a:lstStyle/>
                    <a:p>
                      <a:pPr algn="l">
                        <a:spcAft>
                          <a:spcPts val="200"/>
                        </a:spcAft>
                      </a:pPr>
                      <a:r>
                        <a:rPr sz="1200" b="1" i="0">
                          <a:solidFill>
                            <a:srgbClr val="23272B"/>
                          </a:solidFill>
                          <a:latin typeface="Arial"/>
                        </a:rPr>
                        <a:t>A systematic review of trustworthy AI applications in natural disasters</a:t>
                      </a:r>
                    </a:p>
                    <a:p>
                      <a:pPr algn="l">
                        <a:spcAft>
                          <a:spcPts val="200"/>
                        </a:spcAft>
                      </a:pPr>
                      <a:r>
                        <a:rPr sz="1050" b="0" i="0">
                          <a:solidFill>
                            <a:srgbClr val="5F6B76"/>
                          </a:solidFill>
                          <a:latin typeface="Arial"/>
                        </a:rPr>
                        <a:t>Computers &amp; Electrical Engineering, 2024</a:t>
                      </a:r>
                    </a:p>
                  </a:txBody>
                  <a:tcPr marL="91440" marR="91440" marT="45720" marB="45720" anchor="ctr">
                    <a:solidFill>
                      <a:srgbClr val="F0F2F4"/>
                    </a:solidFill>
                  </a:tcPr>
                </a:tc>
                <a:tc>
                  <a:txBody>
                    <a:bodyPr wrap="square"/>
                    <a:lstStyle/>
                    <a:p>
                      <a:pPr algn="l">
                        <a:spcAft>
                          <a:spcPts val="200"/>
                        </a:spcAft>
                      </a:pPr>
                      <a:r>
                        <a:rPr sz="1200" b="0" i="0">
                          <a:solidFill>
                            <a:srgbClr val="23272B"/>
                          </a:solidFill>
                          <a:latin typeface="Arial"/>
                        </a:rPr>
                        <a:t>Reviews AI for prediction, risk assessment, early warning and evacuation, focusing on trustworthy deployment.</a:t>
                      </a:r>
                    </a:p>
                  </a:txBody>
                  <a:tcPr marL="91440" marR="91440" marT="45720" marB="45720" anchor="ctr">
                    <a:solidFill>
                      <a:srgbClr val="F0F2F4"/>
                    </a:solidFill>
                  </a:tcPr>
                </a:tc>
              </a:tr>
              <a:tr h="1051560">
                <a:tc>
                  <a:txBody>
                    <a:bodyPr wrap="square"/>
                    <a:lstStyle/>
                    <a:p>
                      <a:pPr algn="ctr">
                        <a:spcAft>
                          <a:spcPts val="400"/>
                        </a:spcAft>
                      </a:pPr>
                      <a:r>
                        <a:rPr sz="1400" b="1" i="0">
                          <a:solidFill>
                            <a:srgbClr val="23272B"/>
                          </a:solidFill>
                          <a:latin typeface="Arial"/>
                        </a:rPr>
                        <a:t>3</a:t>
                      </a:r>
                    </a:p>
                  </a:txBody>
                  <a:tcPr marL="91440" marR="91440" marT="45720" marB="45720" anchor="ctr">
                    <a:solidFill>
                      <a:srgbClr val="FFFFFF"/>
                    </a:solidFill>
                  </a:tcPr>
                </a:tc>
                <a:tc>
                  <a:txBody>
                    <a:bodyPr wrap="square"/>
                    <a:lstStyle/>
                    <a:p>
                      <a:pPr algn="l">
                        <a:spcAft>
                          <a:spcPts val="200"/>
                        </a:spcAft>
                      </a:pPr>
                      <a:r>
                        <a:rPr sz="1200" b="1" i="0">
                          <a:solidFill>
                            <a:srgbClr val="23272B"/>
                          </a:solidFill>
                          <a:latin typeface="Arial"/>
                        </a:rPr>
                        <a:t>Deep AI applications for natural disaster management systems: a methodological review</a:t>
                      </a:r>
                    </a:p>
                    <a:p>
                      <a:pPr algn="l">
                        <a:spcAft>
                          <a:spcPts val="200"/>
                        </a:spcAft>
                      </a:pPr>
                      <a:r>
                        <a:rPr sz="1050" b="0" i="0">
                          <a:solidFill>
                            <a:srgbClr val="5F6B76"/>
                          </a:solidFill>
                          <a:latin typeface="Arial"/>
                        </a:rPr>
                        <a:t>Akhyar et al., Ecological Indicators, 2024</a:t>
                      </a:r>
                    </a:p>
                  </a:txBody>
                  <a:tcPr marL="91440" marR="91440" marT="45720" marB="45720" anchor="ctr">
                    <a:solidFill>
                      <a:srgbClr val="FFFFFF"/>
                    </a:solidFill>
                  </a:tcPr>
                </a:tc>
                <a:tc>
                  <a:txBody>
                    <a:bodyPr wrap="square"/>
                    <a:lstStyle/>
                    <a:p>
                      <a:pPr algn="l">
                        <a:spcAft>
                          <a:spcPts val="200"/>
                        </a:spcAft>
                      </a:pPr>
                      <a:r>
                        <a:rPr sz="1200" b="0" i="0">
                          <a:solidFill>
                            <a:srgbClr val="23272B"/>
                          </a:solidFill>
                          <a:latin typeface="Arial"/>
                        </a:rPr>
                        <a:t>Reviews deep-learning applications for forest fires, earthquakes and floods.</a:t>
                      </a:r>
                    </a:p>
                  </a:txBody>
                  <a:tcPr marL="91440" marR="91440" marT="45720" marB="45720" anchor="ctr">
                    <a:solidFill>
                      <a:srgbClr val="FFFFFF"/>
                    </a:solidFill>
                  </a:tcPr>
                </a:tc>
              </a:tr>
              <a:tr h="1051560">
                <a:tc>
                  <a:txBody>
                    <a:bodyPr wrap="square"/>
                    <a:lstStyle/>
                    <a:p>
                      <a:pPr algn="ctr">
                        <a:spcAft>
                          <a:spcPts val="400"/>
                        </a:spcAft>
                      </a:pPr>
                      <a:r>
                        <a:rPr sz="1400" b="1" i="0">
                          <a:solidFill>
                            <a:srgbClr val="23272B"/>
                          </a:solidFill>
                          <a:latin typeface="Arial"/>
                        </a:rPr>
                        <a:t>4</a:t>
                      </a:r>
                    </a:p>
                  </a:txBody>
                  <a:tcPr marL="91440" marR="91440" marT="45720" marB="45720" anchor="ctr">
                    <a:solidFill>
                      <a:srgbClr val="F0F2F4"/>
                    </a:solidFill>
                  </a:tcPr>
                </a:tc>
                <a:tc>
                  <a:txBody>
                    <a:bodyPr wrap="square"/>
                    <a:lstStyle/>
                    <a:p>
                      <a:pPr algn="l">
                        <a:spcAft>
                          <a:spcPts val="200"/>
                        </a:spcAft>
                      </a:pPr>
                      <a:r>
                        <a:rPr sz="1200" b="1" i="0">
                          <a:solidFill>
                            <a:srgbClr val="23272B"/>
                          </a:solidFill>
                          <a:latin typeface="Arial"/>
                        </a:rPr>
                        <a:t>AI for flood risk management: a comprehensive state-of-the-art review</a:t>
                      </a:r>
                    </a:p>
                    <a:p>
                      <a:pPr algn="l">
                        <a:spcAft>
                          <a:spcPts val="200"/>
                        </a:spcAft>
                      </a:pPr>
                      <a:r>
                        <a:rPr sz="1050" b="0" i="0">
                          <a:solidFill>
                            <a:srgbClr val="5F6B76"/>
                          </a:solidFill>
                          <a:latin typeface="Arial"/>
                        </a:rPr>
                        <a:t>Int. J. Disaster Risk Reduction, 2025</a:t>
                      </a:r>
                    </a:p>
                  </a:txBody>
                  <a:tcPr marL="91440" marR="91440" marT="45720" marB="45720" anchor="ctr">
                    <a:solidFill>
                      <a:srgbClr val="F0F2F4"/>
                    </a:solidFill>
                  </a:tcPr>
                </a:tc>
                <a:tc>
                  <a:txBody>
                    <a:bodyPr wrap="square"/>
                    <a:lstStyle/>
                    <a:p>
                      <a:pPr algn="l">
                        <a:spcAft>
                          <a:spcPts val="200"/>
                        </a:spcAft>
                      </a:pPr>
                      <a:r>
                        <a:rPr sz="1200" b="0" i="0">
                          <a:solidFill>
                            <a:srgbClr val="23272B"/>
                          </a:solidFill>
                          <a:latin typeface="Arial"/>
                        </a:rPr>
                        <a:t>Reviews ML/DL models, input data and applications in flood-risk management.</a:t>
                      </a:r>
                    </a:p>
                  </a:txBody>
                  <a:tcPr marL="91440" marR="91440" marT="45720" marB="45720" anchor="ctr">
                    <a:solidFill>
                      <a:srgbClr val="F0F2F4"/>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84048"/>
            <a:ext cx="566928" cy="566928"/>
          </a:xfrm>
          <a:prstGeom prst="rect">
            <a:avLst/>
          </a:prstGeom>
          <a:solidFill>
            <a:srgbClr val="F4A81D"/>
          </a:solidFill>
          <a:ln>
            <a:noFill/>
          </a:ln>
        </p:spPr>
        <p:txBody>
          <a:bodyPr rtlCol="0" anchor="ctr" wrap="square" lIns="0" rIns="0" tIns="0" bIns="0"/>
          <a:lstStyle/>
          <a:p>
            <a:pPr algn="ctr">
              <a:spcAft>
                <a:spcPts val="0"/>
              </a:spcAft>
            </a:pPr>
            <a:r>
              <a:rPr sz="1800" b="1" i="0">
                <a:solidFill>
                  <a:srgbClr val="23272B"/>
                </a:solidFill>
                <a:latin typeface="Arial"/>
              </a:rPr>
              <a:t>04</a:t>
            </a:r>
          </a:p>
        </p:txBody>
      </p:sp>
      <p:sp>
        <p:nvSpPr>
          <p:cNvPr id="3" name="TextBox 2"/>
          <p:cNvSpPr txBox="1"/>
          <p:nvPr/>
        </p:nvSpPr>
        <p:spPr>
          <a:xfrm>
            <a:off x="1280160" y="329184"/>
            <a:ext cx="7315200" cy="438912"/>
          </a:xfrm>
          <a:prstGeom prst="rect">
            <a:avLst/>
          </a:prstGeom>
          <a:noFill/>
        </p:spPr>
        <p:txBody>
          <a:bodyPr wrap="square" anchor="ctr" lIns="0" rIns="0" tIns="0" bIns="0"/>
          <a:lstStyle/>
          <a:p>
            <a:pPr algn="l">
              <a:spcAft>
                <a:spcPts val="400"/>
              </a:spcAft>
            </a:pPr>
            <a:r>
              <a:rPr sz="2400" b="1" i="0">
                <a:solidFill>
                  <a:srgbClr val="23272B"/>
                </a:solidFill>
                <a:latin typeface="Arial"/>
              </a:rPr>
              <a:t>Literature Survey (2/2)</a:t>
            </a:r>
          </a:p>
        </p:txBody>
      </p:sp>
      <p:sp>
        <p:nvSpPr>
          <p:cNvPr id="4" name="TextBox 3"/>
          <p:cNvSpPr txBox="1"/>
          <p:nvPr/>
        </p:nvSpPr>
        <p:spPr>
          <a:xfrm>
            <a:off x="1280160" y="749808"/>
            <a:ext cx="7315200" cy="292608"/>
          </a:xfrm>
          <a:prstGeom prst="rect">
            <a:avLst/>
          </a:prstGeom>
          <a:noFill/>
        </p:spPr>
        <p:txBody>
          <a:bodyPr wrap="square" anchor="t" lIns="0" rIns="0" tIns="0" bIns="0"/>
          <a:lstStyle/>
          <a:p>
            <a:pPr algn="l">
              <a:spcAft>
                <a:spcPts val="400"/>
              </a:spcAft>
            </a:pPr>
            <a:r>
              <a:rPr sz="1300" b="0" i="0">
                <a:solidFill>
                  <a:srgbClr val="5F6B76"/>
                </a:solidFill>
                <a:latin typeface="Arial"/>
              </a:rPr>
              <a:t>Papers studied and the work each one reports</a:t>
            </a:r>
          </a:p>
        </p:txBody>
      </p:sp>
      <p:pic>
        <p:nvPicPr>
          <p:cNvPr id="5" name="Picture 4" descr="image.jpg"/>
          <p:cNvPicPr>
            <a:picLocks noChangeAspect="1"/>
          </p:cNvPicPr>
          <p:nvPr/>
        </p:nvPicPr>
        <p:blipFill>
          <a:blip r:embed="rId2"/>
          <a:stretch>
            <a:fillRect/>
          </a:stretch>
        </p:blipFill>
        <p:spPr>
          <a:xfrm>
            <a:off x="548640" y="6336792"/>
            <a:ext cx="438912" cy="330572"/>
          </a:xfrm>
          <a:prstGeom prst="rect">
            <a:avLst/>
          </a:prstGeom>
        </p:spPr>
      </p:pic>
      <p:sp>
        <p:nvSpPr>
          <p:cNvPr id="6" name="TextBox 5"/>
          <p:cNvSpPr txBox="1"/>
          <p:nvPr/>
        </p:nvSpPr>
        <p:spPr>
          <a:xfrm>
            <a:off x="1078992" y="6382512"/>
            <a:ext cx="5943600" cy="274320"/>
          </a:xfrm>
          <a:prstGeom prst="rect">
            <a:avLst/>
          </a:prstGeom>
          <a:noFill/>
        </p:spPr>
        <p:txBody>
          <a:bodyPr wrap="square" anchor="ctr" lIns="0" rIns="0" tIns="0" bIns="0"/>
          <a:lstStyle/>
          <a:p>
            <a:pPr algn="l">
              <a:spcAft>
                <a:spcPts val="400"/>
              </a:spcAft>
            </a:pPr>
            <a:r>
              <a:rPr sz="900" b="0" i="0">
                <a:solidFill>
                  <a:srgbClr val="5F6B76"/>
                </a:solidFill>
                <a:latin typeface="Arial"/>
              </a:rPr>
              <a:t>AI in Disaster Management   |   Vedika Dandade, B344</a:t>
            </a:r>
          </a:p>
        </p:txBody>
      </p:sp>
      <p:sp>
        <p:nvSpPr>
          <p:cNvPr id="7" name="Rectangle 6"/>
          <p:cNvSpPr/>
          <p:nvPr/>
        </p:nvSpPr>
        <p:spPr>
          <a:xfrm>
            <a:off x="8275320" y="6355080"/>
            <a:ext cx="329184" cy="329184"/>
          </a:xfrm>
          <a:prstGeom prst="rect">
            <a:avLst/>
          </a:prstGeom>
          <a:solidFill>
            <a:srgbClr val="F4A81D"/>
          </a:solidFill>
          <a:ln>
            <a:noFill/>
          </a:ln>
        </p:spPr>
        <p:txBody>
          <a:bodyPr rtlCol="0" anchor="ctr" wrap="square" lIns="0" rIns="0" tIns="0" bIns="0"/>
          <a:lstStyle/>
          <a:p>
            <a:pPr algn="ctr"/>
            <a:fld id="{3C1D2E4F-6A7B-4C8D-9E0F-1A2B3C4D5E6F}" type="slidenum">
              <a:rPr lang="en-US" sz="1000" b="1">
                <a:solidFill>
                  <a:srgbClr val="23272B"/>
                </a:solidFill>
                <a:latin typeface="Arial"/>
              </a:rPr>
              <a:t>7</a:t>
            </a:fld>
          </a:p>
        </p:txBody>
      </p:sp>
      <p:graphicFrame>
        <p:nvGraphicFramePr>
          <p:cNvPr id="8" name="Table 7"/>
          <p:cNvGraphicFramePr>
            <a:graphicFrameLocks noGrp="1"/>
          </p:cNvGraphicFramePr>
          <p:nvPr/>
        </p:nvGraphicFramePr>
        <p:xfrm>
          <a:off x="548640" y="1371600"/>
          <a:ext cx="8046719" cy="3566160"/>
        </p:xfrm>
        <a:graphic>
          <a:graphicData uri="http://schemas.openxmlformats.org/drawingml/2006/table">
            <a:tbl>
              <a:tblPr firstRow="0" bandRow="0">
                <a:tableStyleId>{5C22544A-7EE6-4342-B048-85BDC9FD1C3A}</a:tableStyleId>
              </a:tblPr>
              <a:tblGrid>
                <a:gridCol w="731520"/>
                <a:gridCol w="3749039"/>
                <a:gridCol w="3566160"/>
              </a:tblGrid>
              <a:tr h="411480">
                <a:tc>
                  <a:txBody>
                    <a:bodyPr wrap="square"/>
                    <a:lstStyle/>
                    <a:p>
                      <a:pPr algn="l">
                        <a:spcAft>
                          <a:spcPts val="400"/>
                        </a:spcAft>
                      </a:pPr>
                      <a:r>
                        <a:rPr sz="1200" b="1" i="0">
                          <a:solidFill>
                            <a:srgbClr val="23272B"/>
                          </a:solidFill>
                          <a:latin typeface="Arial"/>
                        </a:rPr>
                        <a:t>Sr. No</a:t>
                      </a:r>
                    </a:p>
                  </a:txBody>
                  <a:tcPr marL="91440" marR="91440" marT="45720" marB="45720" anchor="ctr">
                    <a:solidFill>
                      <a:srgbClr val="F4A81D"/>
                    </a:solidFill>
                  </a:tcPr>
                </a:tc>
                <a:tc>
                  <a:txBody>
                    <a:bodyPr wrap="square"/>
                    <a:lstStyle/>
                    <a:p>
                      <a:pPr algn="l">
                        <a:spcAft>
                          <a:spcPts val="400"/>
                        </a:spcAft>
                      </a:pPr>
                      <a:r>
                        <a:rPr sz="1200" b="1" i="0">
                          <a:solidFill>
                            <a:srgbClr val="23272B"/>
                          </a:solidFill>
                          <a:latin typeface="Arial"/>
                        </a:rPr>
                        <a:t>Details of paper</a:t>
                      </a:r>
                    </a:p>
                  </a:txBody>
                  <a:tcPr marL="91440" marR="91440" marT="45720" marB="45720" anchor="ctr">
                    <a:solidFill>
                      <a:srgbClr val="F4A81D"/>
                    </a:solidFill>
                  </a:tcPr>
                </a:tc>
                <a:tc>
                  <a:txBody>
                    <a:bodyPr wrap="square"/>
                    <a:lstStyle/>
                    <a:p>
                      <a:pPr algn="l">
                        <a:spcAft>
                          <a:spcPts val="400"/>
                        </a:spcAft>
                      </a:pPr>
                      <a:r>
                        <a:rPr sz="1200" b="1" i="0">
                          <a:solidFill>
                            <a:srgbClr val="23272B"/>
                          </a:solidFill>
                          <a:latin typeface="Arial"/>
                        </a:rPr>
                        <a:t>Work reported</a:t>
                      </a:r>
                    </a:p>
                  </a:txBody>
                  <a:tcPr marL="91440" marR="91440" marT="45720" marB="45720" anchor="ctr">
                    <a:solidFill>
                      <a:srgbClr val="F4A81D"/>
                    </a:solidFill>
                  </a:tcPr>
                </a:tc>
              </a:tr>
              <a:tr h="1051560">
                <a:tc>
                  <a:txBody>
                    <a:bodyPr wrap="square"/>
                    <a:lstStyle/>
                    <a:p>
                      <a:pPr algn="ctr">
                        <a:spcAft>
                          <a:spcPts val="400"/>
                        </a:spcAft>
                      </a:pPr>
                      <a:r>
                        <a:rPr sz="1400" b="1" i="0">
                          <a:solidFill>
                            <a:srgbClr val="23272B"/>
                          </a:solidFill>
                          <a:latin typeface="Arial"/>
                        </a:rPr>
                        <a:t>5</a:t>
                      </a:r>
                    </a:p>
                  </a:txBody>
                  <a:tcPr marL="91440" marR="91440" marT="45720" marB="45720" anchor="ctr">
                    <a:solidFill>
                      <a:srgbClr val="FFFFFF"/>
                    </a:solidFill>
                  </a:tcPr>
                </a:tc>
                <a:tc>
                  <a:txBody>
                    <a:bodyPr wrap="square"/>
                    <a:lstStyle/>
                    <a:p>
                      <a:pPr algn="l">
                        <a:spcAft>
                          <a:spcPts val="200"/>
                        </a:spcAft>
                      </a:pPr>
                      <a:r>
                        <a:rPr sz="1200" b="1" i="0">
                          <a:solidFill>
                            <a:srgbClr val="23272B"/>
                          </a:solidFill>
                          <a:latin typeface="Arial"/>
                        </a:rPr>
                        <a:t>Survey of AI-Enabled IoT for Wildfire Prediction, Detection, and Post-Operations</a:t>
                      </a:r>
                    </a:p>
                    <a:p>
                      <a:pPr algn="l">
                        <a:spcAft>
                          <a:spcPts val="200"/>
                        </a:spcAft>
                      </a:pPr>
                      <a:r>
                        <a:rPr sz="1050" b="0" i="0">
                          <a:solidFill>
                            <a:srgbClr val="5F6B76"/>
                          </a:solidFill>
                          <a:latin typeface="Arial"/>
                        </a:rPr>
                        <a:t>IEEE Access, 2026</a:t>
                      </a:r>
                    </a:p>
                  </a:txBody>
                  <a:tcPr marL="91440" marR="91440" marT="45720" marB="45720" anchor="ctr">
                    <a:solidFill>
                      <a:srgbClr val="FFFFFF"/>
                    </a:solidFill>
                  </a:tcPr>
                </a:tc>
                <a:tc>
                  <a:txBody>
                    <a:bodyPr wrap="square"/>
                    <a:lstStyle/>
                    <a:p>
                      <a:pPr algn="l">
                        <a:spcAft>
                          <a:spcPts val="200"/>
                        </a:spcAft>
                      </a:pPr>
                      <a:r>
                        <a:rPr sz="1200" b="0" i="0">
                          <a:solidFill>
                            <a:srgbClr val="23272B"/>
                          </a:solidFill>
                          <a:latin typeface="Arial"/>
                        </a:rPr>
                        <a:t>AIoT for wildfire prediction, real-time detection, damage assessment and recovery.</a:t>
                      </a:r>
                    </a:p>
                  </a:txBody>
                  <a:tcPr marL="91440" marR="91440" marT="45720" marB="45720" anchor="ctr">
                    <a:solidFill>
                      <a:srgbClr val="FFFFFF"/>
                    </a:solidFill>
                  </a:tcPr>
                </a:tc>
              </a:tr>
              <a:tr h="1051560">
                <a:tc>
                  <a:txBody>
                    <a:bodyPr wrap="square"/>
                    <a:lstStyle/>
                    <a:p>
                      <a:pPr algn="ctr">
                        <a:spcAft>
                          <a:spcPts val="400"/>
                        </a:spcAft>
                      </a:pPr>
                      <a:r>
                        <a:rPr sz="1400" b="1" i="0">
                          <a:solidFill>
                            <a:srgbClr val="23272B"/>
                          </a:solidFill>
                          <a:latin typeface="Arial"/>
                        </a:rPr>
                        <a:t>6</a:t>
                      </a:r>
                    </a:p>
                  </a:txBody>
                  <a:tcPr marL="91440" marR="91440" marT="45720" marB="45720" anchor="ctr">
                    <a:solidFill>
                      <a:srgbClr val="F0F2F4"/>
                    </a:solidFill>
                  </a:tcPr>
                </a:tc>
                <a:tc>
                  <a:txBody>
                    <a:bodyPr wrap="square"/>
                    <a:lstStyle/>
                    <a:p>
                      <a:pPr algn="l">
                        <a:spcAft>
                          <a:spcPts val="200"/>
                        </a:spcAft>
                      </a:pPr>
                      <a:r>
                        <a:rPr sz="1200" b="1" i="0">
                          <a:solidFill>
                            <a:srgbClr val="23272B"/>
                          </a:solidFill>
                          <a:latin typeface="Arial"/>
                        </a:rPr>
                        <a:t>Harnessing Large Language Models for Disaster Management: A Survey</a:t>
                      </a:r>
                    </a:p>
                    <a:p>
                      <a:pPr algn="l">
                        <a:spcAft>
                          <a:spcPts val="200"/>
                        </a:spcAft>
                      </a:pPr>
                      <a:r>
                        <a:rPr sz="1050" b="0" i="0">
                          <a:solidFill>
                            <a:srgbClr val="5F6B76"/>
                          </a:solidFill>
                          <a:latin typeface="Arial"/>
                        </a:rPr>
                        <a:t>Z. Lei et al., Findings of ACL, 2025</a:t>
                      </a:r>
                    </a:p>
                  </a:txBody>
                  <a:tcPr marL="91440" marR="91440" marT="45720" marB="45720" anchor="ctr">
                    <a:solidFill>
                      <a:srgbClr val="F0F2F4"/>
                    </a:solidFill>
                  </a:tcPr>
                </a:tc>
                <a:tc>
                  <a:txBody>
                    <a:bodyPr wrap="square"/>
                    <a:lstStyle/>
                    <a:p>
                      <a:pPr algn="l">
                        <a:spcAft>
                          <a:spcPts val="200"/>
                        </a:spcAft>
                      </a:pPr>
                      <a:r>
                        <a:rPr sz="1200" b="0" i="0">
                          <a:solidFill>
                            <a:srgbClr val="23272B"/>
                          </a:solidFill>
                          <a:latin typeface="Arial"/>
                        </a:rPr>
                        <a:t>Taxonomy of LLM uses across disaster phases; datasets, use cases and open challenges.</a:t>
                      </a:r>
                    </a:p>
                  </a:txBody>
                  <a:tcPr marL="91440" marR="91440" marT="45720" marB="45720" anchor="ctr">
                    <a:solidFill>
                      <a:srgbClr val="F0F2F4"/>
                    </a:solidFill>
                  </a:tcPr>
                </a:tc>
              </a:tr>
              <a:tr h="1051560">
                <a:tc>
                  <a:txBody>
                    <a:bodyPr wrap="square"/>
                    <a:lstStyle/>
                    <a:p>
                      <a:pPr algn="ctr">
                        <a:spcAft>
                          <a:spcPts val="400"/>
                        </a:spcAft>
                      </a:pPr>
                      <a:r>
                        <a:rPr sz="1400" b="1" i="0">
                          <a:solidFill>
                            <a:srgbClr val="23272B"/>
                          </a:solidFill>
                          <a:latin typeface="Arial"/>
                        </a:rPr>
                        <a:t>7</a:t>
                      </a:r>
                    </a:p>
                  </a:txBody>
                  <a:tcPr marL="91440" marR="91440" marT="45720" marB="45720" anchor="ctr">
                    <a:solidFill>
                      <a:srgbClr val="FFFFFF"/>
                    </a:solidFill>
                  </a:tcPr>
                </a:tc>
                <a:tc>
                  <a:txBody>
                    <a:bodyPr wrap="square"/>
                    <a:lstStyle/>
                    <a:p>
                      <a:pPr algn="l">
                        <a:spcAft>
                          <a:spcPts val="200"/>
                        </a:spcAft>
                      </a:pPr>
                      <a:r>
                        <a:rPr sz="1200" b="1" i="0">
                          <a:solidFill>
                            <a:srgbClr val="23272B"/>
                          </a:solidFill>
                          <a:latin typeface="Arial"/>
                        </a:rPr>
                        <a:t>Integration of large vision language models for post-disaster damage assessment and reporting</a:t>
                      </a:r>
                    </a:p>
                    <a:p>
                      <a:pPr algn="l">
                        <a:spcAft>
                          <a:spcPts val="200"/>
                        </a:spcAft>
                      </a:pPr>
                      <a:r>
                        <a:rPr sz="1050" b="0" i="0">
                          <a:solidFill>
                            <a:srgbClr val="5F6B76"/>
                          </a:solidFill>
                          <a:latin typeface="Arial"/>
                        </a:rPr>
                        <a:t>Z. Chen et al., Nature Communications, 2026</a:t>
                      </a:r>
                    </a:p>
                  </a:txBody>
                  <a:tcPr marL="91440" marR="91440" marT="45720" marB="45720" anchor="ctr">
                    <a:solidFill>
                      <a:srgbClr val="FFFFFF"/>
                    </a:solidFill>
                  </a:tcPr>
                </a:tc>
                <a:tc>
                  <a:txBody>
                    <a:bodyPr wrap="square"/>
                    <a:lstStyle/>
                    <a:p>
                      <a:pPr algn="l">
                        <a:spcAft>
                          <a:spcPts val="200"/>
                        </a:spcAft>
                      </a:pPr>
                      <a:r>
                        <a:rPr sz="1200" b="0" i="0">
                          <a:solidFill>
                            <a:srgbClr val="23272B"/>
                          </a:solidFill>
                          <a:latin typeface="Arial"/>
                        </a:rPr>
                        <a:t>DisasTeller: four vision-language agents for assessment, alerts, emergency reports, resource allocation and recovery planning.</a:t>
                      </a:r>
                    </a:p>
                  </a:txBody>
                  <a:tcPr marL="91440" marR="91440"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84048"/>
            <a:ext cx="566928" cy="566928"/>
          </a:xfrm>
          <a:prstGeom prst="rect">
            <a:avLst/>
          </a:prstGeom>
          <a:solidFill>
            <a:srgbClr val="F4A81D"/>
          </a:solidFill>
          <a:ln>
            <a:noFill/>
          </a:ln>
        </p:spPr>
        <p:txBody>
          <a:bodyPr rtlCol="0" anchor="ctr" wrap="square" lIns="0" rIns="0" tIns="0" bIns="0"/>
          <a:lstStyle/>
          <a:p>
            <a:pPr algn="ctr">
              <a:spcAft>
                <a:spcPts val="0"/>
              </a:spcAft>
            </a:pPr>
            <a:r>
              <a:rPr sz="1800" b="1" i="0">
                <a:solidFill>
                  <a:srgbClr val="23272B"/>
                </a:solidFill>
                <a:latin typeface="Arial"/>
              </a:rPr>
              <a:t>05</a:t>
            </a:r>
          </a:p>
        </p:txBody>
      </p:sp>
      <p:sp>
        <p:nvSpPr>
          <p:cNvPr id="3" name="TextBox 2"/>
          <p:cNvSpPr txBox="1"/>
          <p:nvPr/>
        </p:nvSpPr>
        <p:spPr>
          <a:xfrm>
            <a:off x="1280160" y="329184"/>
            <a:ext cx="7315200" cy="438912"/>
          </a:xfrm>
          <a:prstGeom prst="rect">
            <a:avLst/>
          </a:prstGeom>
          <a:noFill/>
        </p:spPr>
        <p:txBody>
          <a:bodyPr wrap="square" anchor="ctr" lIns="0" rIns="0" tIns="0" bIns="0"/>
          <a:lstStyle/>
          <a:p>
            <a:pPr algn="l">
              <a:spcAft>
                <a:spcPts val="400"/>
              </a:spcAft>
            </a:pPr>
            <a:r>
              <a:rPr sz="2400" b="1" i="0">
                <a:solidFill>
                  <a:srgbClr val="23272B"/>
                </a:solidFill>
                <a:latin typeface="Arial"/>
              </a:rPr>
              <a:t>Baseline Papers</a:t>
            </a:r>
          </a:p>
        </p:txBody>
      </p:sp>
      <p:sp>
        <p:nvSpPr>
          <p:cNvPr id="4" name="TextBox 3"/>
          <p:cNvSpPr txBox="1"/>
          <p:nvPr/>
        </p:nvSpPr>
        <p:spPr>
          <a:xfrm>
            <a:off x="1280160" y="749808"/>
            <a:ext cx="7315200" cy="292608"/>
          </a:xfrm>
          <a:prstGeom prst="rect">
            <a:avLst/>
          </a:prstGeom>
          <a:noFill/>
        </p:spPr>
        <p:txBody>
          <a:bodyPr wrap="square" anchor="t" lIns="0" rIns="0" tIns="0" bIns="0"/>
          <a:lstStyle/>
          <a:p>
            <a:pPr algn="l">
              <a:spcAft>
                <a:spcPts val="400"/>
              </a:spcAft>
            </a:pPr>
            <a:r>
              <a:rPr sz="1300" b="0" i="0">
                <a:solidFill>
                  <a:srgbClr val="5F6B76"/>
                </a:solidFill>
                <a:latin typeface="Arial"/>
              </a:rPr>
              <a:t>Three papers selected as the foundation of this seminar</a:t>
            </a:r>
          </a:p>
        </p:txBody>
      </p:sp>
      <p:pic>
        <p:nvPicPr>
          <p:cNvPr id="5" name="Picture 4" descr="image.jpg"/>
          <p:cNvPicPr>
            <a:picLocks noChangeAspect="1"/>
          </p:cNvPicPr>
          <p:nvPr/>
        </p:nvPicPr>
        <p:blipFill>
          <a:blip r:embed="rId2"/>
          <a:stretch>
            <a:fillRect/>
          </a:stretch>
        </p:blipFill>
        <p:spPr>
          <a:xfrm>
            <a:off x="548640" y="6336792"/>
            <a:ext cx="438912" cy="330572"/>
          </a:xfrm>
          <a:prstGeom prst="rect">
            <a:avLst/>
          </a:prstGeom>
        </p:spPr>
      </p:pic>
      <p:sp>
        <p:nvSpPr>
          <p:cNvPr id="6" name="TextBox 5"/>
          <p:cNvSpPr txBox="1"/>
          <p:nvPr/>
        </p:nvSpPr>
        <p:spPr>
          <a:xfrm>
            <a:off x="1078992" y="6382512"/>
            <a:ext cx="5943600" cy="274320"/>
          </a:xfrm>
          <a:prstGeom prst="rect">
            <a:avLst/>
          </a:prstGeom>
          <a:noFill/>
        </p:spPr>
        <p:txBody>
          <a:bodyPr wrap="square" anchor="ctr" lIns="0" rIns="0" tIns="0" bIns="0"/>
          <a:lstStyle/>
          <a:p>
            <a:pPr algn="l">
              <a:spcAft>
                <a:spcPts val="400"/>
              </a:spcAft>
            </a:pPr>
            <a:r>
              <a:rPr sz="900" b="0" i="0">
                <a:solidFill>
                  <a:srgbClr val="5F6B76"/>
                </a:solidFill>
                <a:latin typeface="Arial"/>
              </a:rPr>
              <a:t>AI in Disaster Management   |   Vedika Dandade, B344</a:t>
            </a:r>
          </a:p>
        </p:txBody>
      </p:sp>
      <p:sp>
        <p:nvSpPr>
          <p:cNvPr id="7" name="Rectangle 6"/>
          <p:cNvSpPr/>
          <p:nvPr/>
        </p:nvSpPr>
        <p:spPr>
          <a:xfrm>
            <a:off x="8275320" y="6355080"/>
            <a:ext cx="329184" cy="329184"/>
          </a:xfrm>
          <a:prstGeom prst="rect">
            <a:avLst/>
          </a:prstGeom>
          <a:solidFill>
            <a:srgbClr val="F4A81D"/>
          </a:solidFill>
          <a:ln>
            <a:noFill/>
          </a:ln>
        </p:spPr>
        <p:txBody>
          <a:bodyPr rtlCol="0" anchor="ctr" wrap="square" lIns="0" rIns="0" tIns="0" bIns="0"/>
          <a:lstStyle/>
          <a:p>
            <a:pPr algn="ctr"/>
            <a:fld id="{3C1D2E4F-6A7B-4C8D-9E0F-1A2B3C4D5E6F}" type="slidenum">
              <a:rPr lang="en-US" sz="1000" b="1">
                <a:solidFill>
                  <a:srgbClr val="23272B"/>
                </a:solidFill>
                <a:latin typeface="Arial"/>
              </a:rPr>
              <a:t>8</a:t>
            </a:fld>
          </a:p>
        </p:txBody>
      </p:sp>
      <p:sp>
        <p:nvSpPr>
          <p:cNvPr id="8" name="Rectangle 7"/>
          <p:cNvSpPr/>
          <p:nvPr/>
        </p:nvSpPr>
        <p:spPr>
          <a:xfrm>
            <a:off x="548640" y="1417320"/>
            <a:ext cx="2560320" cy="960120"/>
          </a:xfrm>
          <a:prstGeom prst="rect">
            <a:avLst/>
          </a:prstGeom>
          <a:solidFill>
            <a:srgbClr val="23272B"/>
          </a:solidFill>
          <a:ln>
            <a:noFill/>
          </a:ln>
        </p:spPr>
        <p:txBody>
          <a:bodyPr rtlCol="0" anchor="ctr" wrap="square" lIns="54864" rIns="54864" tIns="54864" bIns="54864"/>
          <a:lstStyle/>
          <a:p>
            <a:pPr algn="ctr"/>
          </a:p>
        </p:txBody>
      </p:sp>
      <p:sp>
        <p:nvSpPr>
          <p:cNvPr id="9" name="TextBox 8"/>
          <p:cNvSpPr txBox="1"/>
          <p:nvPr/>
        </p:nvSpPr>
        <p:spPr>
          <a:xfrm>
            <a:off x="731520" y="1481328"/>
            <a:ext cx="1097280" cy="548640"/>
          </a:xfrm>
          <a:prstGeom prst="rect">
            <a:avLst/>
          </a:prstGeom>
          <a:noFill/>
        </p:spPr>
        <p:txBody>
          <a:bodyPr wrap="square" anchor="t" lIns="0" rIns="0" tIns="0" bIns="0"/>
          <a:lstStyle/>
          <a:p>
            <a:pPr algn="l">
              <a:spcAft>
                <a:spcPts val="400"/>
              </a:spcAft>
            </a:pPr>
            <a:r>
              <a:rPr sz="2800" b="1" i="0">
                <a:solidFill>
                  <a:srgbClr val="F4A81D"/>
                </a:solidFill>
                <a:latin typeface="Arial"/>
              </a:rPr>
              <a:t>[1]</a:t>
            </a:r>
          </a:p>
        </p:txBody>
      </p:sp>
      <p:sp>
        <p:nvSpPr>
          <p:cNvPr id="10" name="TextBox 9"/>
          <p:cNvSpPr txBox="1"/>
          <p:nvPr/>
        </p:nvSpPr>
        <p:spPr>
          <a:xfrm>
            <a:off x="731520" y="2011680"/>
            <a:ext cx="2286000" cy="274320"/>
          </a:xfrm>
          <a:prstGeom prst="rect">
            <a:avLst/>
          </a:prstGeom>
          <a:noFill/>
        </p:spPr>
        <p:txBody>
          <a:bodyPr wrap="square" anchor="t" lIns="0" rIns="0" tIns="0" bIns="0"/>
          <a:lstStyle/>
          <a:p>
            <a:pPr algn="l">
              <a:spcAft>
                <a:spcPts val="400"/>
              </a:spcAft>
            </a:pPr>
            <a:r>
              <a:rPr sz="1000" b="1" i="0" spc="100">
                <a:solidFill>
                  <a:srgbClr val="FFFFFF"/>
                </a:solidFill>
                <a:latin typeface="Arial"/>
              </a:rPr>
              <a:t>PRIMARY BASELINE</a:t>
            </a:r>
          </a:p>
        </p:txBody>
      </p:sp>
      <p:sp>
        <p:nvSpPr>
          <p:cNvPr id="11" name="Rectangle 10"/>
          <p:cNvSpPr/>
          <p:nvPr/>
        </p:nvSpPr>
        <p:spPr>
          <a:xfrm>
            <a:off x="548640" y="2377440"/>
            <a:ext cx="2560320" cy="3794760"/>
          </a:xfrm>
          <a:prstGeom prst="rect">
            <a:avLst/>
          </a:prstGeom>
          <a:solidFill>
            <a:srgbClr val="F0F2F4"/>
          </a:solidFill>
          <a:ln>
            <a:noFill/>
          </a:ln>
        </p:spPr>
        <p:txBody>
          <a:bodyPr rtlCol="0" anchor="ctr" wrap="square" lIns="54864" rIns="54864" tIns="54864" bIns="54864"/>
          <a:lstStyle/>
          <a:p>
            <a:pPr algn="ctr"/>
          </a:p>
        </p:txBody>
      </p:sp>
      <p:sp>
        <p:nvSpPr>
          <p:cNvPr id="12" name="TextBox 11"/>
          <p:cNvSpPr txBox="1"/>
          <p:nvPr/>
        </p:nvSpPr>
        <p:spPr>
          <a:xfrm>
            <a:off x="731520" y="2514600"/>
            <a:ext cx="2240280" cy="1051560"/>
          </a:xfrm>
          <a:prstGeom prst="rect">
            <a:avLst/>
          </a:prstGeom>
          <a:noFill/>
        </p:spPr>
        <p:txBody>
          <a:bodyPr wrap="square" anchor="t" lIns="0" rIns="0" tIns="0" bIns="0"/>
          <a:lstStyle/>
          <a:p>
            <a:pPr algn="l">
              <a:spcAft>
                <a:spcPts val="400"/>
              </a:spcAft>
            </a:pPr>
            <a:r>
              <a:rPr sz="1350" b="1" i="0">
                <a:solidFill>
                  <a:srgbClr val="23272B"/>
                </a:solidFill>
                <a:latin typeface="Arial"/>
              </a:rPr>
              <a:t>A systematic review of AI frameworks for holistic disaster management</a:t>
            </a:r>
          </a:p>
        </p:txBody>
      </p:sp>
      <p:sp>
        <p:nvSpPr>
          <p:cNvPr id="13" name="TextBox 12"/>
          <p:cNvSpPr txBox="1"/>
          <p:nvPr/>
        </p:nvSpPr>
        <p:spPr>
          <a:xfrm>
            <a:off x="731520" y="3566160"/>
            <a:ext cx="2240280" cy="274320"/>
          </a:xfrm>
          <a:prstGeom prst="rect">
            <a:avLst/>
          </a:prstGeom>
          <a:noFill/>
        </p:spPr>
        <p:txBody>
          <a:bodyPr wrap="square" anchor="t" lIns="0" rIns="0" tIns="0" bIns="0"/>
          <a:lstStyle/>
          <a:p>
            <a:pPr algn="l">
              <a:spcAft>
                <a:spcPts val="400"/>
              </a:spcAft>
            </a:pPr>
            <a:r>
              <a:rPr sz="1100" b="0" i="1">
                <a:solidFill>
                  <a:srgbClr val="5F6B76"/>
                </a:solidFill>
                <a:latin typeface="Arial"/>
              </a:rPr>
              <a:t>Discover Artificial Intelligence, 2026</a:t>
            </a:r>
          </a:p>
        </p:txBody>
      </p:sp>
      <p:sp>
        <p:nvSpPr>
          <p:cNvPr id="14" name="TextBox 13"/>
          <p:cNvSpPr txBox="1"/>
          <p:nvPr/>
        </p:nvSpPr>
        <p:spPr>
          <a:xfrm>
            <a:off x="731520" y="3977639"/>
            <a:ext cx="2240280" cy="228600"/>
          </a:xfrm>
          <a:prstGeom prst="rect">
            <a:avLst/>
          </a:prstGeom>
          <a:noFill/>
        </p:spPr>
        <p:txBody>
          <a:bodyPr wrap="square" anchor="t" lIns="0" rIns="0" tIns="0" bIns="0"/>
          <a:lstStyle/>
          <a:p>
            <a:pPr algn="l">
              <a:spcAft>
                <a:spcPts val="400"/>
              </a:spcAft>
            </a:pPr>
            <a:r>
              <a:rPr sz="950" b="1" i="0" spc="100">
                <a:solidFill>
                  <a:srgbClr val="2C6E91"/>
                </a:solidFill>
                <a:latin typeface="Arial"/>
              </a:rPr>
              <a:t>WHY SELECTED</a:t>
            </a:r>
          </a:p>
        </p:txBody>
      </p:sp>
      <p:sp>
        <p:nvSpPr>
          <p:cNvPr id="15" name="TextBox 14"/>
          <p:cNvSpPr txBox="1"/>
          <p:nvPr/>
        </p:nvSpPr>
        <p:spPr>
          <a:xfrm>
            <a:off x="731520" y="4224528"/>
            <a:ext cx="2240280" cy="822960"/>
          </a:xfrm>
          <a:prstGeom prst="rect">
            <a:avLst/>
          </a:prstGeom>
          <a:noFill/>
        </p:spPr>
        <p:txBody>
          <a:bodyPr wrap="square" anchor="t" lIns="0" rIns="0" tIns="0" bIns="0"/>
          <a:lstStyle/>
          <a:p>
            <a:pPr algn="l">
              <a:spcAft>
                <a:spcPts val="400"/>
              </a:spcAft>
            </a:pPr>
            <a:r>
              <a:rPr sz="1250" b="0" i="0">
                <a:solidFill>
                  <a:srgbClr val="23272B"/>
                </a:solidFill>
                <a:latin typeface="Arial"/>
              </a:rPr>
              <a:t>Most comprehensive recent review: 96 studies across all phases.</a:t>
            </a:r>
          </a:p>
        </p:txBody>
      </p:sp>
      <p:sp>
        <p:nvSpPr>
          <p:cNvPr id="16" name="TextBox 15"/>
          <p:cNvSpPr txBox="1"/>
          <p:nvPr/>
        </p:nvSpPr>
        <p:spPr>
          <a:xfrm>
            <a:off x="731520" y="5029200"/>
            <a:ext cx="2240280" cy="228600"/>
          </a:xfrm>
          <a:prstGeom prst="rect">
            <a:avLst/>
          </a:prstGeom>
          <a:noFill/>
        </p:spPr>
        <p:txBody>
          <a:bodyPr wrap="square" anchor="t" lIns="0" rIns="0" tIns="0" bIns="0"/>
          <a:lstStyle/>
          <a:p>
            <a:pPr algn="l">
              <a:spcAft>
                <a:spcPts val="400"/>
              </a:spcAft>
            </a:pPr>
            <a:r>
              <a:rPr sz="950" b="1" i="0" spc="100">
                <a:solidFill>
                  <a:srgbClr val="2C6E91"/>
                </a:solidFill>
                <a:latin typeface="Arial"/>
              </a:rPr>
              <a:t>USED FOR</a:t>
            </a:r>
          </a:p>
        </p:txBody>
      </p:sp>
      <p:sp>
        <p:nvSpPr>
          <p:cNvPr id="17" name="TextBox 16"/>
          <p:cNvSpPr txBox="1"/>
          <p:nvPr/>
        </p:nvSpPr>
        <p:spPr>
          <a:xfrm>
            <a:off x="731520" y="5276088"/>
            <a:ext cx="2240280" cy="822960"/>
          </a:xfrm>
          <a:prstGeom prst="rect">
            <a:avLst/>
          </a:prstGeom>
          <a:noFill/>
        </p:spPr>
        <p:txBody>
          <a:bodyPr wrap="square" anchor="t" lIns="0" rIns="0" tIns="0" bIns="0"/>
          <a:lstStyle/>
          <a:p>
            <a:pPr algn="l">
              <a:spcAft>
                <a:spcPts val="400"/>
              </a:spcAft>
            </a:pPr>
            <a:r>
              <a:rPr sz="1250" b="0" i="0">
                <a:solidFill>
                  <a:srgbClr val="23272B"/>
                </a:solidFill>
                <a:latin typeface="Arial"/>
              </a:rPr>
              <a:t>Overall structure (phases × AI techniques) and the system pipeline.</a:t>
            </a:r>
          </a:p>
        </p:txBody>
      </p:sp>
      <p:sp>
        <p:nvSpPr>
          <p:cNvPr id="18" name="Rectangle 17"/>
          <p:cNvSpPr/>
          <p:nvPr/>
        </p:nvSpPr>
        <p:spPr>
          <a:xfrm>
            <a:off x="3291840" y="1417320"/>
            <a:ext cx="2560320" cy="960120"/>
          </a:xfrm>
          <a:prstGeom prst="rect">
            <a:avLst/>
          </a:prstGeom>
          <a:solidFill>
            <a:srgbClr val="F4A81D"/>
          </a:solidFill>
          <a:ln>
            <a:noFill/>
          </a:ln>
        </p:spPr>
        <p:txBody>
          <a:bodyPr rtlCol="0" anchor="ctr" wrap="square" lIns="54864" rIns="54864" tIns="54864" bIns="54864"/>
          <a:lstStyle/>
          <a:p>
            <a:pPr algn="ctr"/>
          </a:p>
        </p:txBody>
      </p:sp>
      <p:sp>
        <p:nvSpPr>
          <p:cNvPr id="19" name="TextBox 18"/>
          <p:cNvSpPr txBox="1"/>
          <p:nvPr/>
        </p:nvSpPr>
        <p:spPr>
          <a:xfrm>
            <a:off x="3474720" y="1481328"/>
            <a:ext cx="1097280" cy="548640"/>
          </a:xfrm>
          <a:prstGeom prst="rect">
            <a:avLst/>
          </a:prstGeom>
          <a:noFill/>
        </p:spPr>
        <p:txBody>
          <a:bodyPr wrap="square" anchor="t" lIns="0" rIns="0" tIns="0" bIns="0"/>
          <a:lstStyle/>
          <a:p>
            <a:pPr algn="l">
              <a:spcAft>
                <a:spcPts val="400"/>
              </a:spcAft>
            </a:pPr>
            <a:r>
              <a:rPr sz="2800" b="1" i="0">
                <a:solidFill>
                  <a:srgbClr val="23272B"/>
                </a:solidFill>
                <a:latin typeface="Arial"/>
              </a:rPr>
              <a:t>[6]</a:t>
            </a:r>
          </a:p>
        </p:txBody>
      </p:sp>
      <p:sp>
        <p:nvSpPr>
          <p:cNvPr id="20" name="TextBox 19"/>
          <p:cNvSpPr txBox="1"/>
          <p:nvPr/>
        </p:nvSpPr>
        <p:spPr>
          <a:xfrm>
            <a:off x="3474720" y="2011680"/>
            <a:ext cx="2286000" cy="274320"/>
          </a:xfrm>
          <a:prstGeom prst="rect">
            <a:avLst/>
          </a:prstGeom>
          <a:noFill/>
        </p:spPr>
        <p:txBody>
          <a:bodyPr wrap="square" anchor="t" lIns="0" rIns="0" tIns="0" bIns="0"/>
          <a:lstStyle/>
          <a:p>
            <a:pPr algn="l">
              <a:spcAft>
                <a:spcPts val="400"/>
              </a:spcAft>
            </a:pPr>
            <a:r>
              <a:rPr sz="1000" b="1" i="0" spc="100">
                <a:solidFill>
                  <a:srgbClr val="23272B"/>
                </a:solidFill>
                <a:latin typeface="Arial"/>
              </a:rPr>
              <a:t>SUPPORTING</a:t>
            </a:r>
          </a:p>
        </p:txBody>
      </p:sp>
      <p:sp>
        <p:nvSpPr>
          <p:cNvPr id="21" name="Rectangle 20"/>
          <p:cNvSpPr/>
          <p:nvPr/>
        </p:nvSpPr>
        <p:spPr>
          <a:xfrm>
            <a:off x="3291840" y="2377440"/>
            <a:ext cx="2560320" cy="3794760"/>
          </a:xfrm>
          <a:prstGeom prst="rect">
            <a:avLst/>
          </a:prstGeom>
          <a:solidFill>
            <a:srgbClr val="F0F2F4"/>
          </a:solidFill>
          <a:ln>
            <a:noFill/>
          </a:ln>
        </p:spPr>
        <p:txBody>
          <a:bodyPr rtlCol="0" anchor="ctr" wrap="square" lIns="54864" rIns="54864" tIns="54864" bIns="54864"/>
          <a:lstStyle/>
          <a:p>
            <a:pPr algn="ctr"/>
          </a:p>
        </p:txBody>
      </p:sp>
      <p:sp>
        <p:nvSpPr>
          <p:cNvPr id="22" name="TextBox 21"/>
          <p:cNvSpPr txBox="1"/>
          <p:nvPr/>
        </p:nvSpPr>
        <p:spPr>
          <a:xfrm>
            <a:off x="3474720" y="2514600"/>
            <a:ext cx="2240280" cy="1051560"/>
          </a:xfrm>
          <a:prstGeom prst="rect">
            <a:avLst/>
          </a:prstGeom>
          <a:noFill/>
        </p:spPr>
        <p:txBody>
          <a:bodyPr wrap="square" anchor="t" lIns="0" rIns="0" tIns="0" bIns="0"/>
          <a:lstStyle/>
          <a:p>
            <a:pPr algn="l">
              <a:spcAft>
                <a:spcPts val="400"/>
              </a:spcAft>
            </a:pPr>
            <a:r>
              <a:rPr sz="1350" b="1" i="0">
                <a:solidFill>
                  <a:srgbClr val="23272B"/>
                </a:solidFill>
                <a:latin typeface="Arial"/>
              </a:rPr>
              <a:t>Harnessing Large Language Models for Disaster Management: A Survey</a:t>
            </a:r>
          </a:p>
        </p:txBody>
      </p:sp>
      <p:sp>
        <p:nvSpPr>
          <p:cNvPr id="23" name="TextBox 22"/>
          <p:cNvSpPr txBox="1"/>
          <p:nvPr/>
        </p:nvSpPr>
        <p:spPr>
          <a:xfrm>
            <a:off x="3474720" y="3566160"/>
            <a:ext cx="2240280" cy="274320"/>
          </a:xfrm>
          <a:prstGeom prst="rect">
            <a:avLst/>
          </a:prstGeom>
          <a:noFill/>
        </p:spPr>
        <p:txBody>
          <a:bodyPr wrap="square" anchor="t" lIns="0" rIns="0" tIns="0" bIns="0"/>
          <a:lstStyle/>
          <a:p>
            <a:pPr algn="l">
              <a:spcAft>
                <a:spcPts val="400"/>
              </a:spcAft>
            </a:pPr>
            <a:r>
              <a:rPr sz="1100" b="0" i="1">
                <a:solidFill>
                  <a:srgbClr val="5F6B76"/>
                </a:solidFill>
                <a:latin typeface="Arial"/>
              </a:rPr>
              <a:t>Findings of ACL, 2025</a:t>
            </a:r>
          </a:p>
        </p:txBody>
      </p:sp>
      <p:sp>
        <p:nvSpPr>
          <p:cNvPr id="24" name="TextBox 23"/>
          <p:cNvSpPr txBox="1"/>
          <p:nvPr/>
        </p:nvSpPr>
        <p:spPr>
          <a:xfrm>
            <a:off x="3474720" y="3977639"/>
            <a:ext cx="2240280" cy="228600"/>
          </a:xfrm>
          <a:prstGeom prst="rect">
            <a:avLst/>
          </a:prstGeom>
          <a:noFill/>
        </p:spPr>
        <p:txBody>
          <a:bodyPr wrap="square" anchor="t" lIns="0" rIns="0" tIns="0" bIns="0"/>
          <a:lstStyle/>
          <a:p>
            <a:pPr algn="l">
              <a:spcAft>
                <a:spcPts val="400"/>
              </a:spcAft>
            </a:pPr>
            <a:r>
              <a:rPr sz="950" b="1" i="0" spc="100">
                <a:solidFill>
                  <a:srgbClr val="2C6E91"/>
                </a:solidFill>
                <a:latin typeface="Arial"/>
              </a:rPr>
              <a:t>WHY SELECTED</a:t>
            </a:r>
          </a:p>
        </p:txBody>
      </p:sp>
      <p:sp>
        <p:nvSpPr>
          <p:cNvPr id="25" name="TextBox 24"/>
          <p:cNvSpPr txBox="1"/>
          <p:nvPr/>
        </p:nvSpPr>
        <p:spPr>
          <a:xfrm>
            <a:off x="3474720" y="4224528"/>
            <a:ext cx="2240280" cy="822960"/>
          </a:xfrm>
          <a:prstGeom prst="rect">
            <a:avLst/>
          </a:prstGeom>
          <a:noFill/>
        </p:spPr>
        <p:txBody>
          <a:bodyPr wrap="square" anchor="t" lIns="0" rIns="0" tIns="0" bIns="0"/>
          <a:lstStyle/>
          <a:p>
            <a:pPr algn="l">
              <a:spcAft>
                <a:spcPts val="400"/>
              </a:spcAft>
            </a:pPr>
            <a:r>
              <a:rPr sz="1250" b="0" i="0">
                <a:solidFill>
                  <a:srgbClr val="23272B"/>
                </a:solidFill>
                <a:latin typeface="Arial"/>
              </a:rPr>
              <a:t>Broad survey of LLMs in disaster management.</a:t>
            </a:r>
          </a:p>
        </p:txBody>
      </p:sp>
      <p:sp>
        <p:nvSpPr>
          <p:cNvPr id="26" name="TextBox 25"/>
          <p:cNvSpPr txBox="1"/>
          <p:nvPr/>
        </p:nvSpPr>
        <p:spPr>
          <a:xfrm>
            <a:off x="3474720" y="5029200"/>
            <a:ext cx="2240280" cy="228600"/>
          </a:xfrm>
          <a:prstGeom prst="rect">
            <a:avLst/>
          </a:prstGeom>
          <a:noFill/>
        </p:spPr>
        <p:txBody>
          <a:bodyPr wrap="square" anchor="t" lIns="0" rIns="0" tIns="0" bIns="0"/>
          <a:lstStyle/>
          <a:p>
            <a:pPr algn="l">
              <a:spcAft>
                <a:spcPts val="400"/>
              </a:spcAft>
            </a:pPr>
            <a:r>
              <a:rPr sz="950" b="1" i="0" spc="100">
                <a:solidFill>
                  <a:srgbClr val="2C6E91"/>
                </a:solidFill>
                <a:latin typeface="Arial"/>
              </a:rPr>
              <a:t>USED FOR</a:t>
            </a:r>
          </a:p>
        </p:txBody>
      </p:sp>
      <p:sp>
        <p:nvSpPr>
          <p:cNvPr id="27" name="TextBox 26"/>
          <p:cNvSpPr txBox="1"/>
          <p:nvPr/>
        </p:nvSpPr>
        <p:spPr>
          <a:xfrm>
            <a:off x="3474720" y="5276088"/>
            <a:ext cx="2240280" cy="822960"/>
          </a:xfrm>
          <a:prstGeom prst="rect">
            <a:avLst/>
          </a:prstGeom>
          <a:noFill/>
        </p:spPr>
        <p:txBody>
          <a:bodyPr wrap="square" anchor="t" lIns="0" rIns="0" tIns="0" bIns="0"/>
          <a:lstStyle/>
          <a:p>
            <a:pPr algn="l">
              <a:spcAft>
                <a:spcPts val="400"/>
              </a:spcAft>
            </a:pPr>
            <a:r>
              <a:rPr sz="1250" b="0" i="0">
                <a:solidFill>
                  <a:srgbClr val="23272B"/>
                </a:solidFill>
                <a:latin typeface="Arial"/>
              </a:rPr>
              <a:t>The NLP / LLM information-extraction module.</a:t>
            </a:r>
          </a:p>
        </p:txBody>
      </p:sp>
      <p:sp>
        <p:nvSpPr>
          <p:cNvPr id="28" name="Rectangle 27"/>
          <p:cNvSpPr/>
          <p:nvPr/>
        </p:nvSpPr>
        <p:spPr>
          <a:xfrm>
            <a:off x="6035040" y="1417320"/>
            <a:ext cx="2560320" cy="960120"/>
          </a:xfrm>
          <a:prstGeom prst="rect">
            <a:avLst/>
          </a:prstGeom>
          <a:solidFill>
            <a:srgbClr val="F4A81D"/>
          </a:solidFill>
          <a:ln>
            <a:noFill/>
          </a:ln>
        </p:spPr>
        <p:txBody>
          <a:bodyPr rtlCol="0" anchor="ctr" wrap="square" lIns="54864" rIns="54864" tIns="54864" bIns="54864"/>
          <a:lstStyle/>
          <a:p>
            <a:pPr algn="ctr"/>
          </a:p>
        </p:txBody>
      </p:sp>
      <p:sp>
        <p:nvSpPr>
          <p:cNvPr id="29" name="TextBox 28"/>
          <p:cNvSpPr txBox="1"/>
          <p:nvPr/>
        </p:nvSpPr>
        <p:spPr>
          <a:xfrm>
            <a:off x="6217920" y="1481328"/>
            <a:ext cx="1097280" cy="548640"/>
          </a:xfrm>
          <a:prstGeom prst="rect">
            <a:avLst/>
          </a:prstGeom>
          <a:noFill/>
        </p:spPr>
        <p:txBody>
          <a:bodyPr wrap="square" anchor="t" lIns="0" rIns="0" tIns="0" bIns="0"/>
          <a:lstStyle/>
          <a:p>
            <a:pPr algn="l">
              <a:spcAft>
                <a:spcPts val="400"/>
              </a:spcAft>
            </a:pPr>
            <a:r>
              <a:rPr sz="2800" b="1" i="0">
                <a:solidFill>
                  <a:srgbClr val="23272B"/>
                </a:solidFill>
                <a:latin typeface="Arial"/>
              </a:rPr>
              <a:t>[7]</a:t>
            </a:r>
          </a:p>
        </p:txBody>
      </p:sp>
      <p:sp>
        <p:nvSpPr>
          <p:cNvPr id="30" name="TextBox 29"/>
          <p:cNvSpPr txBox="1"/>
          <p:nvPr/>
        </p:nvSpPr>
        <p:spPr>
          <a:xfrm>
            <a:off x="6217920" y="2011680"/>
            <a:ext cx="2286000" cy="274320"/>
          </a:xfrm>
          <a:prstGeom prst="rect">
            <a:avLst/>
          </a:prstGeom>
          <a:noFill/>
        </p:spPr>
        <p:txBody>
          <a:bodyPr wrap="square" anchor="t" lIns="0" rIns="0" tIns="0" bIns="0"/>
          <a:lstStyle/>
          <a:p>
            <a:pPr algn="l">
              <a:spcAft>
                <a:spcPts val="400"/>
              </a:spcAft>
            </a:pPr>
            <a:r>
              <a:rPr sz="1000" b="1" i="0" spc="100">
                <a:solidFill>
                  <a:srgbClr val="23272B"/>
                </a:solidFill>
                <a:latin typeface="Arial"/>
              </a:rPr>
              <a:t>SUPPORTING</a:t>
            </a:r>
          </a:p>
        </p:txBody>
      </p:sp>
      <p:sp>
        <p:nvSpPr>
          <p:cNvPr id="31" name="Rectangle 30"/>
          <p:cNvSpPr/>
          <p:nvPr/>
        </p:nvSpPr>
        <p:spPr>
          <a:xfrm>
            <a:off x="6035040" y="2377440"/>
            <a:ext cx="2560320" cy="3794760"/>
          </a:xfrm>
          <a:prstGeom prst="rect">
            <a:avLst/>
          </a:prstGeom>
          <a:solidFill>
            <a:srgbClr val="F0F2F4"/>
          </a:solidFill>
          <a:ln>
            <a:noFill/>
          </a:ln>
        </p:spPr>
        <p:txBody>
          <a:bodyPr rtlCol="0" anchor="ctr" wrap="square" lIns="54864" rIns="54864" tIns="54864" bIns="54864"/>
          <a:lstStyle/>
          <a:p>
            <a:pPr algn="ctr"/>
          </a:p>
        </p:txBody>
      </p:sp>
      <p:sp>
        <p:nvSpPr>
          <p:cNvPr id="32" name="TextBox 31"/>
          <p:cNvSpPr txBox="1"/>
          <p:nvPr/>
        </p:nvSpPr>
        <p:spPr>
          <a:xfrm>
            <a:off x="6217920" y="2514600"/>
            <a:ext cx="2240280" cy="1051560"/>
          </a:xfrm>
          <a:prstGeom prst="rect">
            <a:avLst/>
          </a:prstGeom>
          <a:noFill/>
        </p:spPr>
        <p:txBody>
          <a:bodyPr wrap="square" anchor="t" lIns="0" rIns="0" tIns="0" bIns="0"/>
          <a:lstStyle/>
          <a:p>
            <a:pPr algn="l">
              <a:spcAft>
                <a:spcPts val="400"/>
              </a:spcAft>
            </a:pPr>
            <a:r>
              <a:rPr sz="1350" b="1" i="0">
                <a:solidFill>
                  <a:srgbClr val="23272B"/>
                </a:solidFill>
                <a:latin typeface="Arial"/>
              </a:rPr>
              <a:t>Integration of large vision language models … (DisasTeller)</a:t>
            </a:r>
          </a:p>
        </p:txBody>
      </p:sp>
      <p:sp>
        <p:nvSpPr>
          <p:cNvPr id="33" name="TextBox 32"/>
          <p:cNvSpPr txBox="1"/>
          <p:nvPr/>
        </p:nvSpPr>
        <p:spPr>
          <a:xfrm>
            <a:off x="6217920" y="3566160"/>
            <a:ext cx="2240280" cy="274320"/>
          </a:xfrm>
          <a:prstGeom prst="rect">
            <a:avLst/>
          </a:prstGeom>
          <a:noFill/>
        </p:spPr>
        <p:txBody>
          <a:bodyPr wrap="square" anchor="t" lIns="0" rIns="0" tIns="0" bIns="0"/>
          <a:lstStyle/>
          <a:p>
            <a:pPr algn="l">
              <a:spcAft>
                <a:spcPts val="400"/>
              </a:spcAft>
            </a:pPr>
            <a:r>
              <a:rPr sz="1100" b="0" i="1">
                <a:solidFill>
                  <a:srgbClr val="5F6B76"/>
                </a:solidFill>
                <a:latin typeface="Arial"/>
              </a:rPr>
              <a:t>Nature Communications, 2026</a:t>
            </a:r>
          </a:p>
        </p:txBody>
      </p:sp>
      <p:sp>
        <p:nvSpPr>
          <p:cNvPr id="34" name="TextBox 33"/>
          <p:cNvSpPr txBox="1"/>
          <p:nvPr/>
        </p:nvSpPr>
        <p:spPr>
          <a:xfrm>
            <a:off x="6217920" y="3977639"/>
            <a:ext cx="2240280" cy="228600"/>
          </a:xfrm>
          <a:prstGeom prst="rect">
            <a:avLst/>
          </a:prstGeom>
          <a:noFill/>
        </p:spPr>
        <p:txBody>
          <a:bodyPr wrap="square" anchor="t" lIns="0" rIns="0" tIns="0" bIns="0"/>
          <a:lstStyle/>
          <a:p>
            <a:pPr algn="l">
              <a:spcAft>
                <a:spcPts val="400"/>
              </a:spcAft>
            </a:pPr>
            <a:r>
              <a:rPr sz="950" b="1" i="0" spc="100">
                <a:solidFill>
                  <a:srgbClr val="2C6E91"/>
                </a:solidFill>
                <a:latin typeface="Arial"/>
              </a:rPr>
              <a:t>WHY SELECTED</a:t>
            </a:r>
          </a:p>
        </p:txBody>
      </p:sp>
      <p:sp>
        <p:nvSpPr>
          <p:cNvPr id="35" name="TextBox 34"/>
          <p:cNvSpPr txBox="1"/>
          <p:nvPr/>
        </p:nvSpPr>
        <p:spPr>
          <a:xfrm>
            <a:off x="6217920" y="4224528"/>
            <a:ext cx="2240280" cy="822960"/>
          </a:xfrm>
          <a:prstGeom prst="rect">
            <a:avLst/>
          </a:prstGeom>
          <a:noFill/>
        </p:spPr>
        <p:txBody>
          <a:bodyPr wrap="square" anchor="t" lIns="0" rIns="0" tIns="0" bIns="0"/>
          <a:lstStyle/>
          <a:p>
            <a:pPr algn="l">
              <a:spcAft>
                <a:spcPts val="400"/>
              </a:spcAft>
            </a:pPr>
            <a:r>
              <a:rPr sz="1250" b="0" i="0">
                <a:solidFill>
                  <a:srgbClr val="23272B"/>
                </a:solidFill>
                <a:latin typeface="Arial"/>
              </a:rPr>
              <a:t>A working multi-agent vision-language system.</a:t>
            </a:r>
          </a:p>
        </p:txBody>
      </p:sp>
      <p:sp>
        <p:nvSpPr>
          <p:cNvPr id="36" name="TextBox 35"/>
          <p:cNvSpPr txBox="1"/>
          <p:nvPr/>
        </p:nvSpPr>
        <p:spPr>
          <a:xfrm>
            <a:off x="6217920" y="5029200"/>
            <a:ext cx="2240280" cy="228600"/>
          </a:xfrm>
          <a:prstGeom prst="rect">
            <a:avLst/>
          </a:prstGeom>
          <a:noFill/>
        </p:spPr>
        <p:txBody>
          <a:bodyPr wrap="square" anchor="t" lIns="0" rIns="0" tIns="0" bIns="0"/>
          <a:lstStyle/>
          <a:p>
            <a:pPr algn="l">
              <a:spcAft>
                <a:spcPts val="400"/>
              </a:spcAft>
            </a:pPr>
            <a:r>
              <a:rPr sz="950" b="1" i="0" spc="100">
                <a:solidFill>
                  <a:srgbClr val="2C6E91"/>
                </a:solidFill>
                <a:latin typeface="Arial"/>
              </a:rPr>
              <a:t>USED FOR</a:t>
            </a:r>
          </a:p>
        </p:txBody>
      </p:sp>
      <p:sp>
        <p:nvSpPr>
          <p:cNvPr id="37" name="TextBox 36"/>
          <p:cNvSpPr txBox="1"/>
          <p:nvPr/>
        </p:nvSpPr>
        <p:spPr>
          <a:xfrm>
            <a:off x="6217920" y="5276088"/>
            <a:ext cx="2240280" cy="822960"/>
          </a:xfrm>
          <a:prstGeom prst="rect">
            <a:avLst/>
          </a:prstGeom>
          <a:noFill/>
        </p:spPr>
        <p:txBody>
          <a:bodyPr wrap="square" anchor="t" lIns="0" rIns="0" tIns="0" bIns="0"/>
          <a:lstStyle/>
          <a:p>
            <a:pPr algn="l">
              <a:spcAft>
                <a:spcPts val="400"/>
              </a:spcAft>
            </a:pPr>
            <a:r>
              <a:rPr sz="1250" b="0" i="0">
                <a:solidFill>
                  <a:srgbClr val="23272B"/>
                </a:solidFill>
                <a:latin typeface="Arial"/>
              </a:rPr>
              <a:t>Damage assessment and automated reporting.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84048"/>
            <a:ext cx="566928" cy="566928"/>
          </a:xfrm>
          <a:prstGeom prst="rect">
            <a:avLst/>
          </a:prstGeom>
          <a:solidFill>
            <a:srgbClr val="F4A81D"/>
          </a:solidFill>
          <a:ln>
            <a:noFill/>
          </a:ln>
        </p:spPr>
        <p:txBody>
          <a:bodyPr rtlCol="0" anchor="ctr" wrap="square" lIns="0" rIns="0" tIns="0" bIns="0"/>
          <a:lstStyle/>
          <a:p>
            <a:pPr algn="ctr">
              <a:spcAft>
                <a:spcPts val="0"/>
              </a:spcAft>
            </a:pPr>
            <a:r>
              <a:rPr sz="1800" b="1" i="0">
                <a:solidFill>
                  <a:srgbClr val="23272B"/>
                </a:solidFill>
                <a:latin typeface="Arial"/>
              </a:rPr>
              <a:t>06</a:t>
            </a:r>
          </a:p>
        </p:txBody>
      </p:sp>
      <p:sp>
        <p:nvSpPr>
          <p:cNvPr id="3" name="TextBox 2"/>
          <p:cNvSpPr txBox="1"/>
          <p:nvPr/>
        </p:nvSpPr>
        <p:spPr>
          <a:xfrm>
            <a:off x="1280160" y="329184"/>
            <a:ext cx="7315200" cy="438912"/>
          </a:xfrm>
          <a:prstGeom prst="rect">
            <a:avLst/>
          </a:prstGeom>
          <a:noFill/>
        </p:spPr>
        <p:txBody>
          <a:bodyPr wrap="square" anchor="ctr" lIns="0" rIns="0" tIns="0" bIns="0"/>
          <a:lstStyle/>
          <a:p>
            <a:pPr algn="l">
              <a:spcAft>
                <a:spcPts val="400"/>
              </a:spcAft>
            </a:pPr>
            <a:r>
              <a:rPr sz="2400" b="1" i="0">
                <a:solidFill>
                  <a:srgbClr val="23272B"/>
                </a:solidFill>
                <a:latin typeface="Arial"/>
              </a:rPr>
              <a:t>System Architecture</a:t>
            </a:r>
          </a:p>
        </p:txBody>
      </p:sp>
      <p:sp>
        <p:nvSpPr>
          <p:cNvPr id="4" name="TextBox 3"/>
          <p:cNvSpPr txBox="1"/>
          <p:nvPr/>
        </p:nvSpPr>
        <p:spPr>
          <a:xfrm>
            <a:off x="1280160" y="749808"/>
            <a:ext cx="7315200" cy="292608"/>
          </a:xfrm>
          <a:prstGeom prst="rect">
            <a:avLst/>
          </a:prstGeom>
          <a:noFill/>
        </p:spPr>
        <p:txBody>
          <a:bodyPr wrap="square" anchor="t" lIns="0" rIns="0" tIns="0" bIns="0"/>
          <a:lstStyle/>
          <a:p>
            <a:pPr algn="l">
              <a:spcAft>
                <a:spcPts val="400"/>
              </a:spcAft>
            </a:pPr>
            <a:r>
              <a:rPr sz="1300" b="0" i="0">
                <a:solidFill>
                  <a:srgbClr val="5F6B76"/>
                </a:solidFill>
                <a:latin typeface="Arial"/>
              </a:rPr>
              <a:t>Four-layer AI pipeline from raw data to decisions, with continuous feedback [1]</a:t>
            </a:r>
          </a:p>
        </p:txBody>
      </p:sp>
      <p:pic>
        <p:nvPicPr>
          <p:cNvPr id="5" name="Picture 4" descr="image.jpg"/>
          <p:cNvPicPr>
            <a:picLocks noChangeAspect="1"/>
          </p:cNvPicPr>
          <p:nvPr/>
        </p:nvPicPr>
        <p:blipFill>
          <a:blip r:embed="rId2"/>
          <a:stretch>
            <a:fillRect/>
          </a:stretch>
        </p:blipFill>
        <p:spPr>
          <a:xfrm>
            <a:off x="548640" y="6336792"/>
            <a:ext cx="438912" cy="330572"/>
          </a:xfrm>
          <a:prstGeom prst="rect">
            <a:avLst/>
          </a:prstGeom>
        </p:spPr>
      </p:pic>
      <p:sp>
        <p:nvSpPr>
          <p:cNvPr id="6" name="TextBox 5"/>
          <p:cNvSpPr txBox="1"/>
          <p:nvPr/>
        </p:nvSpPr>
        <p:spPr>
          <a:xfrm>
            <a:off x="1078992" y="6382512"/>
            <a:ext cx="5943600" cy="274320"/>
          </a:xfrm>
          <a:prstGeom prst="rect">
            <a:avLst/>
          </a:prstGeom>
          <a:noFill/>
        </p:spPr>
        <p:txBody>
          <a:bodyPr wrap="square" anchor="ctr" lIns="0" rIns="0" tIns="0" bIns="0"/>
          <a:lstStyle/>
          <a:p>
            <a:pPr algn="l">
              <a:spcAft>
                <a:spcPts val="400"/>
              </a:spcAft>
            </a:pPr>
            <a:r>
              <a:rPr sz="900" b="0" i="0">
                <a:solidFill>
                  <a:srgbClr val="5F6B76"/>
                </a:solidFill>
                <a:latin typeface="Arial"/>
              </a:rPr>
              <a:t>AI in Disaster Management   |   Vedika Dandade, B344</a:t>
            </a:r>
          </a:p>
        </p:txBody>
      </p:sp>
      <p:sp>
        <p:nvSpPr>
          <p:cNvPr id="7" name="Rectangle 6"/>
          <p:cNvSpPr/>
          <p:nvPr/>
        </p:nvSpPr>
        <p:spPr>
          <a:xfrm>
            <a:off x="8275320" y="6355080"/>
            <a:ext cx="329184" cy="329184"/>
          </a:xfrm>
          <a:prstGeom prst="rect">
            <a:avLst/>
          </a:prstGeom>
          <a:solidFill>
            <a:srgbClr val="F4A81D"/>
          </a:solidFill>
          <a:ln>
            <a:noFill/>
          </a:ln>
        </p:spPr>
        <p:txBody>
          <a:bodyPr rtlCol="0" anchor="ctr" wrap="square" lIns="0" rIns="0" tIns="0" bIns="0"/>
          <a:lstStyle/>
          <a:p>
            <a:pPr algn="ctr"/>
            <a:fld id="{3C1D2E4F-6A7B-4C8D-9E0F-1A2B3C4D5E6F}" type="slidenum">
              <a:rPr lang="en-US" sz="1000" b="1">
                <a:solidFill>
                  <a:srgbClr val="23272B"/>
                </a:solidFill>
                <a:latin typeface="Arial"/>
              </a:rPr>
              <a:t>9</a:t>
            </a:fld>
          </a:p>
        </p:txBody>
      </p:sp>
      <p:sp>
        <p:nvSpPr>
          <p:cNvPr id="8" name="Rectangle 7"/>
          <p:cNvSpPr/>
          <p:nvPr/>
        </p:nvSpPr>
        <p:spPr>
          <a:xfrm>
            <a:off x="548640" y="1371600"/>
            <a:ext cx="1737360" cy="914400"/>
          </a:xfrm>
          <a:prstGeom prst="rect">
            <a:avLst/>
          </a:prstGeom>
          <a:solidFill>
            <a:srgbClr val="23272B"/>
          </a:solidFill>
          <a:ln>
            <a:noFill/>
          </a:ln>
        </p:spPr>
        <p:txBody>
          <a:bodyPr rtlCol="0" anchor="ctr" wrap="square" lIns="54864" rIns="54864" tIns="54864" bIns="54864"/>
          <a:lstStyle/>
          <a:p>
            <a:pPr algn="ctr"/>
          </a:p>
        </p:txBody>
      </p:sp>
      <p:sp>
        <p:nvSpPr>
          <p:cNvPr id="9" name="TextBox 8"/>
          <p:cNvSpPr txBox="1"/>
          <p:nvPr/>
        </p:nvSpPr>
        <p:spPr>
          <a:xfrm>
            <a:off x="685800" y="1463040"/>
            <a:ext cx="457200" cy="365760"/>
          </a:xfrm>
          <a:prstGeom prst="rect">
            <a:avLst/>
          </a:prstGeom>
          <a:noFill/>
        </p:spPr>
        <p:txBody>
          <a:bodyPr wrap="square" anchor="t" lIns="0" rIns="0" tIns="0" bIns="0"/>
          <a:lstStyle/>
          <a:p>
            <a:pPr algn="l">
              <a:spcAft>
                <a:spcPts val="400"/>
              </a:spcAft>
            </a:pPr>
            <a:r>
              <a:rPr sz="2000" b="1" i="0">
                <a:solidFill>
                  <a:srgbClr val="F4A81D"/>
                </a:solidFill>
                <a:latin typeface="Arial"/>
              </a:rPr>
              <a:t>1</a:t>
            </a:r>
          </a:p>
        </p:txBody>
      </p:sp>
      <p:sp>
        <p:nvSpPr>
          <p:cNvPr id="10" name="TextBox 9"/>
          <p:cNvSpPr txBox="1"/>
          <p:nvPr/>
        </p:nvSpPr>
        <p:spPr>
          <a:xfrm>
            <a:off x="685800" y="1847088"/>
            <a:ext cx="1554480" cy="365760"/>
          </a:xfrm>
          <a:prstGeom prst="rect">
            <a:avLst/>
          </a:prstGeom>
          <a:noFill/>
        </p:spPr>
        <p:txBody>
          <a:bodyPr wrap="square" anchor="t" lIns="0" rIns="0" tIns="0" bIns="0"/>
          <a:lstStyle/>
          <a:p>
            <a:pPr algn="l">
              <a:spcAft>
                <a:spcPts val="400"/>
              </a:spcAft>
            </a:pPr>
            <a:r>
              <a:rPr sz="1300" b="1" i="0">
                <a:solidFill>
                  <a:srgbClr val="FFFFFF"/>
                </a:solidFill>
                <a:latin typeface="Arial"/>
              </a:rPr>
              <a:t>Data sources</a:t>
            </a:r>
          </a:p>
        </p:txBody>
      </p:sp>
      <p:sp>
        <p:nvSpPr>
          <p:cNvPr id="11" name="Rectangle 10"/>
          <p:cNvSpPr/>
          <p:nvPr/>
        </p:nvSpPr>
        <p:spPr>
          <a:xfrm>
            <a:off x="2423160" y="1371600"/>
            <a:ext cx="1325880" cy="914400"/>
          </a:xfrm>
          <a:prstGeom prst="rect">
            <a:avLst/>
          </a:prstGeom>
          <a:solidFill>
            <a:srgbClr val="F0F2F4"/>
          </a:solidFill>
          <a:ln>
            <a:noFill/>
          </a:ln>
        </p:spPr>
        <p:txBody>
          <a:bodyPr rtlCol="0" anchor="ctr" wrap="square" lIns="54864" rIns="54864" tIns="54864" bIns="54864"/>
          <a:lstStyle/>
          <a:p>
            <a:pPr algn="ctr"/>
          </a:p>
        </p:txBody>
      </p:sp>
      <p:pic>
        <p:nvPicPr>
          <p:cNvPr id="12" name="Picture 11" descr="satellite_vc.png"/>
          <p:cNvPicPr>
            <a:picLocks noChangeAspect="1"/>
          </p:cNvPicPr>
          <p:nvPr/>
        </p:nvPicPr>
        <p:blipFill>
          <a:blip r:embed="rId3"/>
          <a:stretch>
            <a:fillRect/>
          </a:stretch>
        </p:blipFill>
        <p:spPr>
          <a:xfrm>
            <a:off x="2935224" y="1463040"/>
            <a:ext cx="301752" cy="301752"/>
          </a:xfrm>
          <a:prstGeom prst="rect">
            <a:avLst/>
          </a:prstGeom>
        </p:spPr>
      </p:pic>
      <p:sp>
        <p:nvSpPr>
          <p:cNvPr id="13" name="TextBox 12"/>
          <p:cNvSpPr txBox="1"/>
          <p:nvPr/>
        </p:nvSpPr>
        <p:spPr>
          <a:xfrm>
            <a:off x="2468879" y="1810512"/>
            <a:ext cx="1234440" cy="457200"/>
          </a:xfrm>
          <a:prstGeom prst="rect">
            <a:avLst/>
          </a:prstGeom>
          <a:noFill/>
        </p:spPr>
        <p:txBody>
          <a:bodyPr wrap="square" anchor="ctr" lIns="0" rIns="0" tIns="0" bIns="0"/>
          <a:lstStyle/>
          <a:p>
            <a:pPr algn="ctr">
              <a:spcAft>
                <a:spcPts val="400"/>
              </a:spcAft>
            </a:pPr>
            <a:r>
              <a:rPr sz="1050" b="0" i="0">
                <a:solidFill>
                  <a:srgbClr val="23272B"/>
                </a:solidFill>
                <a:latin typeface="Arial"/>
              </a:rPr>
              <a:t>Satellite / UAV imagery</a:t>
            </a:r>
          </a:p>
        </p:txBody>
      </p:sp>
      <p:sp>
        <p:nvSpPr>
          <p:cNvPr id="14" name="Rectangle 13"/>
          <p:cNvSpPr/>
          <p:nvPr/>
        </p:nvSpPr>
        <p:spPr>
          <a:xfrm>
            <a:off x="3840480" y="1371600"/>
            <a:ext cx="1325880" cy="914400"/>
          </a:xfrm>
          <a:prstGeom prst="rect">
            <a:avLst/>
          </a:prstGeom>
          <a:solidFill>
            <a:srgbClr val="F0F2F4"/>
          </a:solidFill>
          <a:ln>
            <a:noFill/>
          </a:ln>
        </p:spPr>
        <p:txBody>
          <a:bodyPr rtlCol="0" anchor="ctr" wrap="square" lIns="54864" rIns="54864" tIns="54864" bIns="54864"/>
          <a:lstStyle/>
          <a:p>
            <a:pPr algn="ctr"/>
          </a:p>
        </p:txBody>
      </p:sp>
      <p:pic>
        <p:nvPicPr>
          <p:cNvPr id="15" name="Picture 14" descr="sensor_vc.png"/>
          <p:cNvPicPr>
            <a:picLocks noChangeAspect="1"/>
          </p:cNvPicPr>
          <p:nvPr/>
        </p:nvPicPr>
        <p:blipFill>
          <a:blip r:embed="rId4"/>
          <a:stretch>
            <a:fillRect/>
          </a:stretch>
        </p:blipFill>
        <p:spPr>
          <a:xfrm>
            <a:off x="4352544" y="1463040"/>
            <a:ext cx="301752" cy="301752"/>
          </a:xfrm>
          <a:prstGeom prst="rect">
            <a:avLst/>
          </a:prstGeom>
        </p:spPr>
      </p:pic>
      <p:sp>
        <p:nvSpPr>
          <p:cNvPr id="16" name="TextBox 15"/>
          <p:cNvSpPr txBox="1"/>
          <p:nvPr/>
        </p:nvSpPr>
        <p:spPr>
          <a:xfrm>
            <a:off x="3886200" y="1810512"/>
            <a:ext cx="1234440" cy="457200"/>
          </a:xfrm>
          <a:prstGeom prst="rect">
            <a:avLst/>
          </a:prstGeom>
          <a:noFill/>
        </p:spPr>
        <p:txBody>
          <a:bodyPr wrap="square" anchor="ctr" lIns="0" rIns="0" tIns="0" bIns="0"/>
          <a:lstStyle/>
          <a:p>
            <a:pPr algn="ctr">
              <a:spcAft>
                <a:spcPts val="400"/>
              </a:spcAft>
            </a:pPr>
            <a:r>
              <a:rPr sz="1050" b="0" i="0">
                <a:solidFill>
                  <a:srgbClr val="23272B"/>
                </a:solidFill>
                <a:latin typeface="Arial"/>
              </a:rPr>
              <a:t>IoT sensors</a:t>
            </a:r>
          </a:p>
        </p:txBody>
      </p:sp>
      <p:sp>
        <p:nvSpPr>
          <p:cNvPr id="17" name="Rectangle 16"/>
          <p:cNvSpPr/>
          <p:nvPr/>
        </p:nvSpPr>
        <p:spPr>
          <a:xfrm>
            <a:off x="5257800" y="1371600"/>
            <a:ext cx="1325880" cy="914400"/>
          </a:xfrm>
          <a:prstGeom prst="rect">
            <a:avLst/>
          </a:prstGeom>
          <a:solidFill>
            <a:srgbClr val="F0F2F4"/>
          </a:solidFill>
          <a:ln>
            <a:noFill/>
          </a:ln>
        </p:spPr>
        <p:txBody>
          <a:bodyPr rtlCol="0" anchor="ctr" wrap="square" lIns="54864" rIns="54864" tIns="54864" bIns="54864"/>
          <a:lstStyle/>
          <a:p>
            <a:pPr algn="ctr"/>
          </a:p>
        </p:txBody>
      </p:sp>
      <p:pic>
        <p:nvPicPr>
          <p:cNvPr id="18" name="Picture 17" descr="comment_vc.png"/>
          <p:cNvPicPr>
            <a:picLocks noChangeAspect="1"/>
          </p:cNvPicPr>
          <p:nvPr/>
        </p:nvPicPr>
        <p:blipFill>
          <a:blip r:embed="rId5"/>
          <a:stretch>
            <a:fillRect/>
          </a:stretch>
        </p:blipFill>
        <p:spPr>
          <a:xfrm>
            <a:off x="5769864" y="1463040"/>
            <a:ext cx="301752" cy="301752"/>
          </a:xfrm>
          <a:prstGeom prst="rect">
            <a:avLst/>
          </a:prstGeom>
        </p:spPr>
      </p:pic>
      <p:sp>
        <p:nvSpPr>
          <p:cNvPr id="19" name="TextBox 18"/>
          <p:cNvSpPr txBox="1"/>
          <p:nvPr/>
        </p:nvSpPr>
        <p:spPr>
          <a:xfrm>
            <a:off x="5303520" y="1810512"/>
            <a:ext cx="1234440" cy="457200"/>
          </a:xfrm>
          <a:prstGeom prst="rect">
            <a:avLst/>
          </a:prstGeom>
          <a:noFill/>
        </p:spPr>
        <p:txBody>
          <a:bodyPr wrap="square" anchor="ctr" lIns="0" rIns="0" tIns="0" bIns="0"/>
          <a:lstStyle/>
          <a:p>
            <a:pPr algn="ctr">
              <a:spcAft>
                <a:spcPts val="400"/>
              </a:spcAft>
            </a:pPr>
            <a:r>
              <a:rPr sz="1050" b="0" i="0">
                <a:solidFill>
                  <a:srgbClr val="23272B"/>
                </a:solidFill>
                <a:latin typeface="Arial"/>
              </a:rPr>
              <a:t>Social media &amp; news</a:t>
            </a:r>
          </a:p>
        </p:txBody>
      </p:sp>
      <p:sp>
        <p:nvSpPr>
          <p:cNvPr id="20" name="Rectangle 19"/>
          <p:cNvSpPr/>
          <p:nvPr/>
        </p:nvSpPr>
        <p:spPr>
          <a:xfrm>
            <a:off x="6675120" y="1371600"/>
            <a:ext cx="1325880" cy="914400"/>
          </a:xfrm>
          <a:prstGeom prst="rect">
            <a:avLst/>
          </a:prstGeom>
          <a:solidFill>
            <a:srgbClr val="F0F2F4"/>
          </a:solidFill>
          <a:ln>
            <a:noFill/>
          </a:ln>
        </p:spPr>
        <p:txBody>
          <a:bodyPr rtlCol="0" anchor="ctr" wrap="square" lIns="54864" rIns="54864" tIns="54864" bIns="54864"/>
          <a:lstStyle/>
          <a:p>
            <a:pPr algn="ctr"/>
          </a:p>
        </p:txBody>
      </p:sp>
      <p:pic>
        <p:nvPicPr>
          <p:cNvPr id="21" name="Picture 20" descr="db_vc.png"/>
          <p:cNvPicPr>
            <a:picLocks noChangeAspect="1"/>
          </p:cNvPicPr>
          <p:nvPr/>
        </p:nvPicPr>
        <p:blipFill>
          <a:blip r:embed="rId6"/>
          <a:stretch>
            <a:fillRect/>
          </a:stretch>
        </p:blipFill>
        <p:spPr>
          <a:xfrm>
            <a:off x="7187184" y="1463040"/>
            <a:ext cx="301752" cy="301752"/>
          </a:xfrm>
          <a:prstGeom prst="rect">
            <a:avLst/>
          </a:prstGeom>
        </p:spPr>
      </p:pic>
      <p:sp>
        <p:nvSpPr>
          <p:cNvPr id="22" name="TextBox 21"/>
          <p:cNvSpPr txBox="1"/>
          <p:nvPr/>
        </p:nvSpPr>
        <p:spPr>
          <a:xfrm>
            <a:off x="6720840" y="1810512"/>
            <a:ext cx="1234440" cy="457200"/>
          </a:xfrm>
          <a:prstGeom prst="rect">
            <a:avLst/>
          </a:prstGeom>
          <a:noFill/>
        </p:spPr>
        <p:txBody>
          <a:bodyPr wrap="square" anchor="ctr" lIns="0" rIns="0" tIns="0" bIns="0"/>
          <a:lstStyle/>
          <a:p>
            <a:pPr algn="ctr">
              <a:spcAft>
                <a:spcPts val="400"/>
              </a:spcAft>
            </a:pPr>
            <a:r>
              <a:rPr sz="1050" b="0" i="0">
                <a:solidFill>
                  <a:srgbClr val="23272B"/>
                </a:solidFill>
                <a:latin typeface="Arial"/>
              </a:rPr>
              <a:t>Government data</a:t>
            </a:r>
          </a:p>
        </p:txBody>
      </p:sp>
      <p:cxnSp>
        <p:nvCxnSpPr>
          <p:cNvPr id="23" name="Connector 22"/>
          <p:cNvCxnSpPr/>
          <p:nvPr/>
        </p:nvCxnSpPr>
        <p:spPr>
          <a:xfrm>
            <a:off x="1417320" y="2286000"/>
            <a:ext cx="0" cy="182880"/>
          </a:xfrm>
          <a:prstGeom prst="line">
            <a:avLst/>
          </a:prstGeom>
          <a:ln w="22225">
            <a:solidFill>
              <a:srgbClr val="5F6B76"/>
            </a:solidFill>
            <a:tailEnd type="triangle" w="med" len="med"/>
          </a:ln>
        </p:spPr>
      </p:cxnSp>
      <p:sp>
        <p:nvSpPr>
          <p:cNvPr id="24" name="Rectangle 23"/>
          <p:cNvSpPr/>
          <p:nvPr/>
        </p:nvSpPr>
        <p:spPr>
          <a:xfrm>
            <a:off x="548640" y="2468880"/>
            <a:ext cx="1737360" cy="914400"/>
          </a:xfrm>
          <a:prstGeom prst="rect">
            <a:avLst/>
          </a:prstGeom>
          <a:solidFill>
            <a:srgbClr val="2C6E91"/>
          </a:solidFill>
          <a:ln>
            <a:noFill/>
          </a:ln>
        </p:spPr>
        <p:txBody>
          <a:bodyPr rtlCol="0" anchor="ctr" wrap="square" lIns="54864" rIns="54864" tIns="54864" bIns="54864"/>
          <a:lstStyle/>
          <a:p>
            <a:pPr algn="ctr"/>
          </a:p>
        </p:txBody>
      </p:sp>
      <p:sp>
        <p:nvSpPr>
          <p:cNvPr id="25" name="TextBox 24"/>
          <p:cNvSpPr txBox="1"/>
          <p:nvPr/>
        </p:nvSpPr>
        <p:spPr>
          <a:xfrm>
            <a:off x="685800" y="2560320"/>
            <a:ext cx="457200" cy="365760"/>
          </a:xfrm>
          <a:prstGeom prst="rect">
            <a:avLst/>
          </a:prstGeom>
          <a:noFill/>
        </p:spPr>
        <p:txBody>
          <a:bodyPr wrap="square" anchor="t" lIns="0" rIns="0" tIns="0" bIns="0"/>
          <a:lstStyle/>
          <a:p>
            <a:pPr algn="l">
              <a:spcAft>
                <a:spcPts val="400"/>
              </a:spcAft>
            </a:pPr>
            <a:r>
              <a:rPr sz="2000" b="1" i="0">
                <a:solidFill>
                  <a:srgbClr val="FFFFFF"/>
                </a:solidFill>
                <a:latin typeface="Arial"/>
              </a:rPr>
              <a:t>2</a:t>
            </a:r>
          </a:p>
        </p:txBody>
      </p:sp>
      <p:sp>
        <p:nvSpPr>
          <p:cNvPr id="26" name="TextBox 25"/>
          <p:cNvSpPr txBox="1"/>
          <p:nvPr/>
        </p:nvSpPr>
        <p:spPr>
          <a:xfrm>
            <a:off x="685800" y="2944368"/>
            <a:ext cx="1554480" cy="365760"/>
          </a:xfrm>
          <a:prstGeom prst="rect">
            <a:avLst/>
          </a:prstGeom>
          <a:noFill/>
        </p:spPr>
        <p:txBody>
          <a:bodyPr wrap="square" anchor="t" lIns="0" rIns="0" tIns="0" bIns="0"/>
          <a:lstStyle/>
          <a:p>
            <a:pPr algn="l">
              <a:spcAft>
                <a:spcPts val="400"/>
              </a:spcAft>
            </a:pPr>
            <a:r>
              <a:rPr sz="1300" b="1" i="0">
                <a:solidFill>
                  <a:srgbClr val="FFFFFF"/>
                </a:solidFill>
                <a:latin typeface="Arial"/>
              </a:rPr>
              <a:t>AI processing</a:t>
            </a:r>
          </a:p>
        </p:txBody>
      </p:sp>
      <p:sp>
        <p:nvSpPr>
          <p:cNvPr id="27" name="Rectangle 26"/>
          <p:cNvSpPr/>
          <p:nvPr/>
        </p:nvSpPr>
        <p:spPr>
          <a:xfrm>
            <a:off x="2423160" y="2468880"/>
            <a:ext cx="1325880" cy="914400"/>
          </a:xfrm>
          <a:prstGeom prst="rect">
            <a:avLst/>
          </a:prstGeom>
          <a:solidFill>
            <a:srgbClr val="F0F2F4"/>
          </a:solidFill>
          <a:ln>
            <a:noFill/>
          </a:ln>
        </p:spPr>
        <p:txBody>
          <a:bodyPr rtlCol="0" anchor="ctr" wrap="square" lIns="54864" rIns="54864" tIns="54864" bIns="54864"/>
          <a:lstStyle/>
          <a:p>
            <a:pPr algn="ctr"/>
          </a:p>
        </p:txBody>
      </p:sp>
      <p:pic>
        <p:nvPicPr>
          <p:cNvPr id="28" name="Picture 27" descr="cogs_vb.png"/>
          <p:cNvPicPr>
            <a:picLocks noChangeAspect="1"/>
          </p:cNvPicPr>
          <p:nvPr/>
        </p:nvPicPr>
        <p:blipFill>
          <a:blip r:embed="rId7"/>
          <a:stretch>
            <a:fillRect/>
          </a:stretch>
        </p:blipFill>
        <p:spPr>
          <a:xfrm>
            <a:off x="2935224" y="2560320"/>
            <a:ext cx="301752" cy="301752"/>
          </a:xfrm>
          <a:prstGeom prst="rect">
            <a:avLst/>
          </a:prstGeom>
        </p:spPr>
      </p:pic>
      <p:sp>
        <p:nvSpPr>
          <p:cNvPr id="29" name="TextBox 28"/>
          <p:cNvSpPr txBox="1"/>
          <p:nvPr/>
        </p:nvSpPr>
        <p:spPr>
          <a:xfrm>
            <a:off x="2468879" y="2907792"/>
            <a:ext cx="1234440" cy="457200"/>
          </a:xfrm>
          <a:prstGeom prst="rect">
            <a:avLst/>
          </a:prstGeom>
          <a:noFill/>
        </p:spPr>
        <p:txBody>
          <a:bodyPr wrap="square" anchor="ctr" lIns="0" rIns="0" tIns="0" bIns="0"/>
          <a:lstStyle/>
          <a:p>
            <a:pPr algn="ctr">
              <a:spcAft>
                <a:spcPts val="400"/>
              </a:spcAft>
            </a:pPr>
            <a:r>
              <a:rPr sz="1050" b="0" i="0">
                <a:solidFill>
                  <a:srgbClr val="23272B"/>
                </a:solidFill>
                <a:latin typeface="Arial"/>
              </a:rPr>
              <a:t>Cleaning &amp; fusion</a:t>
            </a:r>
          </a:p>
        </p:txBody>
      </p:sp>
      <p:sp>
        <p:nvSpPr>
          <p:cNvPr id="30" name="Rectangle 29"/>
          <p:cNvSpPr/>
          <p:nvPr/>
        </p:nvSpPr>
        <p:spPr>
          <a:xfrm>
            <a:off x="3840480" y="2468880"/>
            <a:ext cx="1325880" cy="914400"/>
          </a:xfrm>
          <a:prstGeom prst="rect">
            <a:avLst/>
          </a:prstGeom>
          <a:solidFill>
            <a:srgbClr val="F0F2F4"/>
          </a:solidFill>
          <a:ln>
            <a:noFill/>
          </a:ln>
        </p:spPr>
        <p:txBody>
          <a:bodyPr rtlCol="0" anchor="ctr" wrap="square" lIns="54864" rIns="54864" tIns="54864" bIns="54864"/>
          <a:lstStyle/>
          <a:p>
            <a:pPr algn="ctr"/>
          </a:p>
        </p:txBody>
      </p:sp>
      <p:pic>
        <p:nvPicPr>
          <p:cNvPr id="31" name="Picture 30" descr="brain_vb.png"/>
          <p:cNvPicPr>
            <a:picLocks noChangeAspect="1"/>
          </p:cNvPicPr>
          <p:nvPr/>
        </p:nvPicPr>
        <p:blipFill>
          <a:blip r:embed="rId8"/>
          <a:stretch>
            <a:fillRect/>
          </a:stretch>
        </p:blipFill>
        <p:spPr>
          <a:xfrm>
            <a:off x="4352544" y="2560320"/>
            <a:ext cx="301752" cy="301752"/>
          </a:xfrm>
          <a:prstGeom prst="rect">
            <a:avLst/>
          </a:prstGeom>
        </p:spPr>
      </p:pic>
      <p:sp>
        <p:nvSpPr>
          <p:cNvPr id="32" name="TextBox 31"/>
          <p:cNvSpPr txBox="1"/>
          <p:nvPr/>
        </p:nvSpPr>
        <p:spPr>
          <a:xfrm>
            <a:off x="3886200" y="2907792"/>
            <a:ext cx="1234440" cy="457200"/>
          </a:xfrm>
          <a:prstGeom prst="rect">
            <a:avLst/>
          </a:prstGeom>
          <a:noFill/>
        </p:spPr>
        <p:txBody>
          <a:bodyPr wrap="square" anchor="ctr" lIns="0" rIns="0" tIns="0" bIns="0"/>
          <a:lstStyle/>
          <a:p>
            <a:pPr algn="ctr">
              <a:spcAft>
                <a:spcPts val="400"/>
              </a:spcAft>
            </a:pPr>
            <a:r>
              <a:rPr sz="1050" b="0" i="0">
                <a:solidFill>
                  <a:srgbClr val="23272B"/>
                </a:solidFill>
                <a:latin typeface="Arial"/>
              </a:rPr>
              <a:t>CNN / LSTM / ViT</a:t>
            </a:r>
          </a:p>
        </p:txBody>
      </p:sp>
      <p:sp>
        <p:nvSpPr>
          <p:cNvPr id="33" name="Rectangle 32"/>
          <p:cNvSpPr/>
          <p:nvPr/>
        </p:nvSpPr>
        <p:spPr>
          <a:xfrm>
            <a:off x="5257800" y="2468880"/>
            <a:ext cx="1325880" cy="914400"/>
          </a:xfrm>
          <a:prstGeom prst="rect">
            <a:avLst/>
          </a:prstGeom>
          <a:solidFill>
            <a:srgbClr val="F0F2F4"/>
          </a:solidFill>
          <a:ln>
            <a:noFill/>
          </a:ln>
        </p:spPr>
        <p:txBody>
          <a:bodyPr rtlCol="0" anchor="ctr" wrap="square" lIns="54864" rIns="54864" tIns="54864" bIns="54864"/>
          <a:lstStyle/>
          <a:p>
            <a:pPr algn="ctr"/>
          </a:p>
        </p:txBody>
      </p:sp>
      <p:pic>
        <p:nvPicPr>
          <p:cNvPr id="34" name="Picture 33" descr="comment_vb.png"/>
          <p:cNvPicPr>
            <a:picLocks noChangeAspect="1"/>
          </p:cNvPicPr>
          <p:nvPr/>
        </p:nvPicPr>
        <p:blipFill>
          <a:blip r:embed="rId9"/>
          <a:stretch>
            <a:fillRect/>
          </a:stretch>
        </p:blipFill>
        <p:spPr>
          <a:xfrm>
            <a:off x="5769864" y="2560320"/>
            <a:ext cx="301752" cy="301752"/>
          </a:xfrm>
          <a:prstGeom prst="rect">
            <a:avLst/>
          </a:prstGeom>
        </p:spPr>
      </p:pic>
      <p:sp>
        <p:nvSpPr>
          <p:cNvPr id="35" name="TextBox 34"/>
          <p:cNvSpPr txBox="1"/>
          <p:nvPr/>
        </p:nvSpPr>
        <p:spPr>
          <a:xfrm>
            <a:off x="5303520" y="2907792"/>
            <a:ext cx="1234440" cy="457200"/>
          </a:xfrm>
          <a:prstGeom prst="rect">
            <a:avLst/>
          </a:prstGeom>
          <a:noFill/>
        </p:spPr>
        <p:txBody>
          <a:bodyPr wrap="square" anchor="ctr" lIns="0" rIns="0" tIns="0" bIns="0"/>
          <a:lstStyle/>
          <a:p>
            <a:pPr algn="ctr">
              <a:spcAft>
                <a:spcPts val="400"/>
              </a:spcAft>
            </a:pPr>
            <a:r>
              <a:rPr sz="1050" b="0" i="0">
                <a:solidFill>
                  <a:srgbClr val="23272B"/>
                </a:solidFill>
                <a:latin typeface="Arial"/>
              </a:rPr>
              <a:t>NLP / LLM, NER</a:t>
            </a:r>
          </a:p>
        </p:txBody>
      </p:sp>
      <p:sp>
        <p:nvSpPr>
          <p:cNvPr id="36" name="Rectangle 35"/>
          <p:cNvSpPr/>
          <p:nvPr/>
        </p:nvSpPr>
        <p:spPr>
          <a:xfrm>
            <a:off x="6675120" y="2468880"/>
            <a:ext cx="1325880" cy="914400"/>
          </a:xfrm>
          <a:prstGeom prst="rect">
            <a:avLst/>
          </a:prstGeom>
          <a:solidFill>
            <a:srgbClr val="F0F2F4"/>
          </a:solidFill>
          <a:ln>
            <a:noFill/>
          </a:ln>
        </p:spPr>
        <p:txBody>
          <a:bodyPr rtlCol="0" anchor="ctr" wrap="square" lIns="54864" rIns="54864" tIns="54864" bIns="54864"/>
          <a:lstStyle/>
          <a:p>
            <a:pPr algn="ctr"/>
          </a:p>
        </p:txBody>
      </p:sp>
      <p:pic>
        <p:nvPicPr>
          <p:cNvPr id="37" name="Picture 36" descr="route_vb.png"/>
          <p:cNvPicPr>
            <a:picLocks noChangeAspect="1"/>
          </p:cNvPicPr>
          <p:nvPr/>
        </p:nvPicPr>
        <p:blipFill>
          <a:blip r:embed="rId10"/>
          <a:stretch>
            <a:fillRect/>
          </a:stretch>
        </p:blipFill>
        <p:spPr>
          <a:xfrm>
            <a:off x="7187184" y="2560320"/>
            <a:ext cx="301752" cy="301752"/>
          </a:xfrm>
          <a:prstGeom prst="rect">
            <a:avLst/>
          </a:prstGeom>
        </p:spPr>
      </p:pic>
      <p:sp>
        <p:nvSpPr>
          <p:cNvPr id="38" name="TextBox 37"/>
          <p:cNvSpPr txBox="1"/>
          <p:nvPr/>
        </p:nvSpPr>
        <p:spPr>
          <a:xfrm>
            <a:off x="6720840" y="2907792"/>
            <a:ext cx="1234440" cy="457200"/>
          </a:xfrm>
          <a:prstGeom prst="rect">
            <a:avLst/>
          </a:prstGeom>
          <a:noFill/>
        </p:spPr>
        <p:txBody>
          <a:bodyPr wrap="square" anchor="ctr" lIns="0" rIns="0" tIns="0" bIns="0"/>
          <a:lstStyle/>
          <a:p>
            <a:pPr algn="ctr">
              <a:spcAft>
                <a:spcPts val="400"/>
              </a:spcAft>
            </a:pPr>
            <a:r>
              <a:rPr sz="1050" b="0" i="0">
                <a:solidFill>
                  <a:srgbClr val="23272B"/>
                </a:solidFill>
                <a:latin typeface="Arial"/>
              </a:rPr>
              <a:t>Optimization / RL</a:t>
            </a:r>
          </a:p>
        </p:txBody>
      </p:sp>
      <p:cxnSp>
        <p:nvCxnSpPr>
          <p:cNvPr id="39" name="Connector 38"/>
          <p:cNvCxnSpPr/>
          <p:nvPr/>
        </p:nvCxnSpPr>
        <p:spPr>
          <a:xfrm>
            <a:off x="1417320" y="3383280"/>
            <a:ext cx="0" cy="182880"/>
          </a:xfrm>
          <a:prstGeom prst="line">
            <a:avLst/>
          </a:prstGeom>
          <a:ln w="22225">
            <a:solidFill>
              <a:srgbClr val="5F6B76"/>
            </a:solidFill>
            <a:tailEnd type="triangle" w="med" len="med"/>
          </a:ln>
        </p:spPr>
      </p:cxnSp>
      <p:sp>
        <p:nvSpPr>
          <p:cNvPr id="40" name="Rectangle 39"/>
          <p:cNvSpPr/>
          <p:nvPr/>
        </p:nvSpPr>
        <p:spPr>
          <a:xfrm>
            <a:off x="548640" y="3566160"/>
            <a:ext cx="1737360" cy="914400"/>
          </a:xfrm>
          <a:prstGeom prst="rect">
            <a:avLst/>
          </a:prstGeom>
          <a:solidFill>
            <a:srgbClr val="F4A81D"/>
          </a:solidFill>
          <a:ln>
            <a:noFill/>
          </a:ln>
        </p:spPr>
        <p:txBody>
          <a:bodyPr rtlCol="0" anchor="ctr" wrap="square" lIns="54864" rIns="54864" tIns="54864" bIns="54864"/>
          <a:lstStyle/>
          <a:p>
            <a:pPr algn="ctr"/>
          </a:p>
        </p:txBody>
      </p:sp>
      <p:sp>
        <p:nvSpPr>
          <p:cNvPr id="41" name="TextBox 40"/>
          <p:cNvSpPr txBox="1"/>
          <p:nvPr/>
        </p:nvSpPr>
        <p:spPr>
          <a:xfrm>
            <a:off x="685800" y="3657600"/>
            <a:ext cx="457200" cy="365760"/>
          </a:xfrm>
          <a:prstGeom prst="rect">
            <a:avLst/>
          </a:prstGeom>
          <a:noFill/>
        </p:spPr>
        <p:txBody>
          <a:bodyPr wrap="square" anchor="t" lIns="0" rIns="0" tIns="0" bIns="0"/>
          <a:lstStyle/>
          <a:p>
            <a:pPr algn="l">
              <a:spcAft>
                <a:spcPts val="400"/>
              </a:spcAft>
            </a:pPr>
            <a:r>
              <a:rPr sz="2000" b="1" i="0">
                <a:solidFill>
                  <a:srgbClr val="23272B"/>
                </a:solidFill>
                <a:latin typeface="Arial"/>
              </a:rPr>
              <a:t>3</a:t>
            </a:r>
          </a:p>
        </p:txBody>
      </p:sp>
      <p:sp>
        <p:nvSpPr>
          <p:cNvPr id="42" name="TextBox 41"/>
          <p:cNvSpPr txBox="1"/>
          <p:nvPr/>
        </p:nvSpPr>
        <p:spPr>
          <a:xfrm>
            <a:off x="685800" y="4041648"/>
            <a:ext cx="1554480" cy="365760"/>
          </a:xfrm>
          <a:prstGeom prst="rect">
            <a:avLst/>
          </a:prstGeom>
          <a:noFill/>
        </p:spPr>
        <p:txBody>
          <a:bodyPr wrap="square" anchor="t" lIns="0" rIns="0" tIns="0" bIns="0"/>
          <a:lstStyle/>
          <a:p>
            <a:pPr algn="l">
              <a:spcAft>
                <a:spcPts val="400"/>
              </a:spcAft>
            </a:pPr>
            <a:r>
              <a:rPr sz="1300" b="1" i="0">
                <a:solidFill>
                  <a:srgbClr val="23272B"/>
                </a:solidFill>
                <a:latin typeface="Arial"/>
              </a:rPr>
              <a:t>Decisions</a:t>
            </a:r>
          </a:p>
        </p:txBody>
      </p:sp>
      <p:sp>
        <p:nvSpPr>
          <p:cNvPr id="43" name="Rectangle 42"/>
          <p:cNvSpPr/>
          <p:nvPr/>
        </p:nvSpPr>
        <p:spPr>
          <a:xfrm>
            <a:off x="2423160" y="3566160"/>
            <a:ext cx="1325880" cy="914400"/>
          </a:xfrm>
          <a:prstGeom prst="rect">
            <a:avLst/>
          </a:prstGeom>
          <a:solidFill>
            <a:srgbClr val="F0F2F4"/>
          </a:solidFill>
          <a:ln>
            <a:noFill/>
          </a:ln>
        </p:spPr>
        <p:txBody>
          <a:bodyPr rtlCol="0" anchor="ctr" wrap="square" lIns="54864" rIns="54864" tIns="54864" bIns="54864"/>
          <a:lstStyle/>
          <a:p>
            <a:pPr algn="ctr"/>
          </a:p>
        </p:txBody>
      </p:sp>
      <p:pic>
        <p:nvPicPr>
          <p:cNvPr id="44" name="Picture 43" descr="chart_vc.png"/>
          <p:cNvPicPr>
            <a:picLocks noChangeAspect="1"/>
          </p:cNvPicPr>
          <p:nvPr/>
        </p:nvPicPr>
        <p:blipFill>
          <a:blip r:embed="rId11"/>
          <a:stretch>
            <a:fillRect/>
          </a:stretch>
        </p:blipFill>
        <p:spPr>
          <a:xfrm>
            <a:off x="2935224" y="3657600"/>
            <a:ext cx="301752" cy="301752"/>
          </a:xfrm>
          <a:prstGeom prst="rect">
            <a:avLst/>
          </a:prstGeom>
        </p:spPr>
      </p:pic>
      <p:sp>
        <p:nvSpPr>
          <p:cNvPr id="45" name="TextBox 44"/>
          <p:cNvSpPr txBox="1"/>
          <p:nvPr/>
        </p:nvSpPr>
        <p:spPr>
          <a:xfrm>
            <a:off x="2468879" y="4005072"/>
            <a:ext cx="1234440" cy="457200"/>
          </a:xfrm>
          <a:prstGeom prst="rect">
            <a:avLst/>
          </a:prstGeom>
          <a:noFill/>
        </p:spPr>
        <p:txBody>
          <a:bodyPr wrap="square" anchor="ctr" lIns="0" rIns="0" tIns="0" bIns="0"/>
          <a:lstStyle/>
          <a:p>
            <a:pPr algn="ctr">
              <a:spcAft>
                <a:spcPts val="400"/>
              </a:spcAft>
            </a:pPr>
            <a:r>
              <a:rPr sz="1050" b="0" i="0">
                <a:solidFill>
                  <a:srgbClr val="23272B"/>
                </a:solidFill>
                <a:latin typeface="Arial"/>
              </a:rPr>
              <a:t>Risk prediction</a:t>
            </a:r>
          </a:p>
        </p:txBody>
      </p:sp>
      <p:sp>
        <p:nvSpPr>
          <p:cNvPr id="46" name="Rectangle 45"/>
          <p:cNvSpPr/>
          <p:nvPr/>
        </p:nvSpPr>
        <p:spPr>
          <a:xfrm>
            <a:off x="3840480" y="3566160"/>
            <a:ext cx="1325880" cy="914400"/>
          </a:xfrm>
          <a:prstGeom prst="rect">
            <a:avLst/>
          </a:prstGeom>
          <a:solidFill>
            <a:srgbClr val="F0F2F4"/>
          </a:solidFill>
          <a:ln>
            <a:noFill/>
          </a:ln>
        </p:spPr>
        <p:txBody>
          <a:bodyPr rtlCol="0" anchor="ctr" wrap="square" lIns="54864" rIns="54864" tIns="54864" bIns="54864"/>
          <a:lstStyle/>
          <a:p>
            <a:pPr algn="ctr"/>
          </a:p>
        </p:txBody>
      </p:sp>
      <p:pic>
        <p:nvPicPr>
          <p:cNvPr id="47" name="Picture 46" descr="house_vc.png"/>
          <p:cNvPicPr>
            <a:picLocks noChangeAspect="1"/>
          </p:cNvPicPr>
          <p:nvPr/>
        </p:nvPicPr>
        <p:blipFill>
          <a:blip r:embed="rId12"/>
          <a:stretch>
            <a:fillRect/>
          </a:stretch>
        </p:blipFill>
        <p:spPr>
          <a:xfrm>
            <a:off x="4352544" y="3657600"/>
            <a:ext cx="301752" cy="301752"/>
          </a:xfrm>
          <a:prstGeom prst="rect">
            <a:avLst/>
          </a:prstGeom>
        </p:spPr>
      </p:pic>
      <p:sp>
        <p:nvSpPr>
          <p:cNvPr id="48" name="TextBox 47"/>
          <p:cNvSpPr txBox="1"/>
          <p:nvPr/>
        </p:nvSpPr>
        <p:spPr>
          <a:xfrm>
            <a:off x="3886200" y="4005072"/>
            <a:ext cx="1234440" cy="457200"/>
          </a:xfrm>
          <a:prstGeom prst="rect">
            <a:avLst/>
          </a:prstGeom>
          <a:noFill/>
        </p:spPr>
        <p:txBody>
          <a:bodyPr wrap="square" anchor="ctr" lIns="0" rIns="0" tIns="0" bIns="0"/>
          <a:lstStyle/>
          <a:p>
            <a:pPr algn="ctr">
              <a:spcAft>
                <a:spcPts val="400"/>
              </a:spcAft>
            </a:pPr>
            <a:r>
              <a:rPr sz="1050" b="0" i="0">
                <a:solidFill>
                  <a:srgbClr val="23272B"/>
                </a:solidFill>
                <a:latin typeface="Arial"/>
              </a:rPr>
              <a:t>Damage assessment</a:t>
            </a:r>
          </a:p>
        </p:txBody>
      </p:sp>
      <p:sp>
        <p:nvSpPr>
          <p:cNvPr id="49" name="Rectangle 48"/>
          <p:cNvSpPr/>
          <p:nvPr/>
        </p:nvSpPr>
        <p:spPr>
          <a:xfrm>
            <a:off x="5257800" y="3566160"/>
            <a:ext cx="1325880" cy="914400"/>
          </a:xfrm>
          <a:prstGeom prst="rect">
            <a:avLst/>
          </a:prstGeom>
          <a:solidFill>
            <a:srgbClr val="F0F2F4"/>
          </a:solidFill>
          <a:ln>
            <a:noFill/>
          </a:ln>
        </p:spPr>
        <p:txBody>
          <a:bodyPr rtlCol="0" anchor="ctr" wrap="square" lIns="54864" rIns="54864" tIns="54864" bIns="54864"/>
          <a:lstStyle/>
          <a:p>
            <a:pPr algn="ctr"/>
          </a:p>
        </p:txBody>
      </p:sp>
      <p:pic>
        <p:nvPicPr>
          <p:cNvPr id="50" name="Picture 49" descr="search_vc.png"/>
          <p:cNvPicPr>
            <a:picLocks noChangeAspect="1"/>
          </p:cNvPicPr>
          <p:nvPr/>
        </p:nvPicPr>
        <p:blipFill>
          <a:blip r:embed="rId13"/>
          <a:stretch>
            <a:fillRect/>
          </a:stretch>
        </p:blipFill>
        <p:spPr>
          <a:xfrm>
            <a:off x="5769864" y="3657600"/>
            <a:ext cx="301752" cy="301752"/>
          </a:xfrm>
          <a:prstGeom prst="rect">
            <a:avLst/>
          </a:prstGeom>
        </p:spPr>
      </p:pic>
      <p:sp>
        <p:nvSpPr>
          <p:cNvPr id="51" name="TextBox 50"/>
          <p:cNvSpPr txBox="1"/>
          <p:nvPr/>
        </p:nvSpPr>
        <p:spPr>
          <a:xfrm>
            <a:off x="5303520" y="4005072"/>
            <a:ext cx="1234440" cy="457200"/>
          </a:xfrm>
          <a:prstGeom prst="rect">
            <a:avLst/>
          </a:prstGeom>
          <a:noFill/>
        </p:spPr>
        <p:txBody>
          <a:bodyPr wrap="square" anchor="ctr" lIns="0" rIns="0" tIns="0" bIns="0"/>
          <a:lstStyle/>
          <a:p>
            <a:pPr algn="ctr">
              <a:spcAft>
                <a:spcPts val="400"/>
              </a:spcAft>
            </a:pPr>
            <a:r>
              <a:rPr sz="1050" b="0" i="0">
                <a:solidFill>
                  <a:srgbClr val="23272B"/>
                </a:solidFill>
                <a:latin typeface="Arial"/>
              </a:rPr>
              <a:t>Info extraction</a:t>
            </a:r>
          </a:p>
        </p:txBody>
      </p:sp>
      <p:sp>
        <p:nvSpPr>
          <p:cNvPr id="52" name="Rectangle 51"/>
          <p:cNvSpPr/>
          <p:nvPr/>
        </p:nvSpPr>
        <p:spPr>
          <a:xfrm>
            <a:off x="6675120" y="3566160"/>
            <a:ext cx="1325880" cy="914400"/>
          </a:xfrm>
          <a:prstGeom prst="rect">
            <a:avLst/>
          </a:prstGeom>
          <a:solidFill>
            <a:srgbClr val="F0F2F4"/>
          </a:solidFill>
          <a:ln>
            <a:noFill/>
          </a:ln>
        </p:spPr>
        <p:txBody>
          <a:bodyPr rtlCol="0" anchor="ctr" wrap="square" lIns="54864" rIns="54864" tIns="54864" bIns="54864"/>
          <a:lstStyle/>
          <a:p>
            <a:pPr algn="ctr"/>
          </a:p>
        </p:txBody>
      </p:sp>
      <p:pic>
        <p:nvPicPr>
          <p:cNvPr id="53" name="Picture 52" descr="truck_vc.png"/>
          <p:cNvPicPr>
            <a:picLocks noChangeAspect="1"/>
          </p:cNvPicPr>
          <p:nvPr/>
        </p:nvPicPr>
        <p:blipFill>
          <a:blip r:embed="rId14"/>
          <a:stretch>
            <a:fillRect/>
          </a:stretch>
        </p:blipFill>
        <p:spPr>
          <a:xfrm>
            <a:off x="7187184" y="3657600"/>
            <a:ext cx="301752" cy="301752"/>
          </a:xfrm>
          <a:prstGeom prst="rect">
            <a:avLst/>
          </a:prstGeom>
        </p:spPr>
      </p:pic>
      <p:sp>
        <p:nvSpPr>
          <p:cNvPr id="54" name="TextBox 53"/>
          <p:cNvSpPr txBox="1"/>
          <p:nvPr/>
        </p:nvSpPr>
        <p:spPr>
          <a:xfrm>
            <a:off x="6720840" y="4005072"/>
            <a:ext cx="1234440" cy="457200"/>
          </a:xfrm>
          <a:prstGeom prst="rect">
            <a:avLst/>
          </a:prstGeom>
          <a:noFill/>
        </p:spPr>
        <p:txBody>
          <a:bodyPr wrap="square" anchor="ctr" lIns="0" rIns="0" tIns="0" bIns="0"/>
          <a:lstStyle/>
          <a:p>
            <a:pPr algn="ctr">
              <a:spcAft>
                <a:spcPts val="400"/>
              </a:spcAft>
            </a:pPr>
            <a:r>
              <a:rPr sz="1050" b="0" i="0">
                <a:solidFill>
                  <a:srgbClr val="23272B"/>
                </a:solidFill>
                <a:latin typeface="Arial"/>
              </a:rPr>
              <a:t>Resource allocation</a:t>
            </a:r>
          </a:p>
        </p:txBody>
      </p:sp>
      <p:cxnSp>
        <p:nvCxnSpPr>
          <p:cNvPr id="55" name="Connector 54"/>
          <p:cNvCxnSpPr/>
          <p:nvPr/>
        </p:nvCxnSpPr>
        <p:spPr>
          <a:xfrm>
            <a:off x="1417320" y="4480560"/>
            <a:ext cx="0" cy="182880"/>
          </a:xfrm>
          <a:prstGeom prst="line">
            <a:avLst/>
          </a:prstGeom>
          <a:ln w="22225">
            <a:solidFill>
              <a:srgbClr val="5F6B76"/>
            </a:solidFill>
            <a:tailEnd type="triangle" w="med" len="med"/>
          </a:ln>
        </p:spPr>
      </p:cxnSp>
      <p:sp>
        <p:nvSpPr>
          <p:cNvPr id="56" name="Rectangle 55"/>
          <p:cNvSpPr/>
          <p:nvPr/>
        </p:nvSpPr>
        <p:spPr>
          <a:xfrm>
            <a:off x="548640" y="4663440"/>
            <a:ext cx="1737360" cy="914400"/>
          </a:xfrm>
          <a:prstGeom prst="rect">
            <a:avLst/>
          </a:prstGeom>
          <a:solidFill>
            <a:srgbClr val="3C9D5D"/>
          </a:solidFill>
          <a:ln>
            <a:noFill/>
          </a:ln>
        </p:spPr>
        <p:txBody>
          <a:bodyPr rtlCol="0" anchor="ctr" wrap="square" lIns="54864" rIns="54864" tIns="54864" bIns="54864"/>
          <a:lstStyle/>
          <a:p>
            <a:pPr algn="ctr"/>
          </a:p>
        </p:txBody>
      </p:sp>
      <p:sp>
        <p:nvSpPr>
          <p:cNvPr id="57" name="TextBox 56"/>
          <p:cNvSpPr txBox="1"/>
          <p:nvPr/>
        </p:nvSpPr>
        <p:spPr>
          <a:xfrm>
            <a:off x="685800" y="4754879"/>
            <a:ext cx="457200" cy="365760"/>
          </a:xfrm>
          <a:prstGeom prst="rect">
            <a:avLst/>
          </a:prstGeom>
          <a:noFill/>
        </p:spPr>
        <p:txBody>
          <a:bodyPr wrap="square" anchor="t" lIns="0" rIns="0" tIns="0" bIns="0"/>
          <a:lstStyle/>
          <a:p>
            <a:pPr algn="l">
              <a:spcAft>
                <a:spcPts val="400"/>
              </a:spcAft>
            </a:pPr>
            <a:r>
              <a:rPr sz="2000" b="1" i="0">
                <a:solidFill>
                  <a:srgbClr val="FFFFFF"/>
                </a:solidFill>
                <a:latin typeface="Arial"/>
              </a:rPr>
              <a:t>4</a:t>
            </a:r>
          </a:p>
        </p:txBody>
      </p:sp>
      <p:sp>
        <p:nvSpPr>
          <p:cNvPr id="58" name="TextBox 57"/>
          <p:cNvSpPr txBox="1"/>
          <p:nvPr/>
        </p:nvSpPr>
        <p:spPr>
          <a:xfrm>
            <a:off x="685800" y="5138927"/>
            <a:ext cx="1554480" cy="365760"/>
          </a:xfrm>
          <a:prstGeom prst="rect">
            <a:avLst/>
          </a:prstGeom>
          <a:noFill/>
        </p:spPr>
        <p:txBody>
          <a:bodyPr wrap="square" anchor="t" lIns="0" rIns="0" tIns="0" bIns="0"/>
          <a:lstStyle/>
          <a:p>
            <a:pPr algn="l">
              <a:spcAft>
                <a:spcPts val="400"/>
              </a:spcAft>
            </a:pPr>
            <a:r>
              <a:rPr sz="1300" b="1" i="0">
                <a:solidFill>
                  <a:srgbClr val="FFFFFF"/>
                </a:solidFill>
                <a:latin typeface="Arial"/>
              </a:rPr>
              <a:t>Outputs</a:t>
            </a:r>
          </a:p>
        </p:txBody>
      </p:sp>
      <p:sp>
        <p:nvSpPr>
          <p:cNvPr id="59" name="Rectangle 58"/>
          <p:cNvSpPr/>
          <p:nvPr/>
        </p:nvSpPr>
        <p:spPr>
          <a:xfrm>
            <a:off x="2423160" y="4663440"/>
            <a:ext cx="1325880" cy="914400"/>
          </a:xfrm>
          <a:prstGeom prst="rect">
            <a:avLst/>
          </a:prstGeom>
          <a:solidFill>
            <a:srgbClr val="F0F2F4"/>
          </a:solidFill>
          <a:ln>
            <a:noFill/>
          </a:ln>
        </p:spPr>
        <p:txBody>
          <a:bodyPr rtlCol="0" anchor="ctr" wrap="square" lIns="54864" rIns="54864" tIns="54864" bIns="54864"/>
          <a:lstStyle/>
          <a:p>
            <a:pPr algn="ctr"/>
          </a:p>
        </p:txBody>
      </p:sp>
      <p:pic>
        <p:nvPicPr>
          <p:cNvPr id="60" name="Picture 59" descr="bell_vg.png"/>
          <p:cNvPicPr>
            <a:picLocks noChangeAspect="1"/>
          </p:cNvPicPr>
          <p:nvPr/>
        </p:nvPicPr>
        <p:blipFill>
          <a:blip r:embed="rId15"/>
          <a:stretch>
            <a:fillRect/>
          </a:stretch>
        </p:blipFill>
        <p:spPr>
          <a:xfrm>
            <a:off x="2935224" y="4754879"/>
            <a:ext cx="301752" cy="301752"/>
          </a:xfrm>
          <a:prstGeom prst="rect">
            <a:avLst/>
          </a:prstGeom>
        </p:spPr>
      </p:pic>
      <p:sp>
        <p:nvSpPr>
          <p:cNvPr id="61" name="TextBox 60"/>
          <p:cNvSpPr txBox="1"/>
          <p:nvPr/>
        </p:nvSpPr>
        <p:spPr>
          <a:xfrm>
            <a:off x="2468879" y="5102352"/>
            <a:ext cx="1234440" cy="457200"/>
          </a:xfrm>
          <a:prstGeom prst="rect">
            <a:avLst/>
          </a:prstGeom>
          <a:noFill/>
        </p:spPr>
        <p:txBody>
          <a:bodyPr wrap="square" anchor="ctr" lIns="0" rIns="0" tIns="0" bIns="0"/>
          <a:lstStyle/>
          <a:p>
            <a:pPr algn="ctr">
              <a:spcAft>
                <a:spcPts val="400"/>
              </a:spcAft>
            </a:pPr>
            <a:r>
              <a:rPr sz="1050" b="0" i="0">
                <a:solidFill>
                  <a:srgbClr val="23272B"/>
                </a:solidFill>
                <a:latin typeface="Arial"/>
              </a:rPr>
              <a:t>Early warnings</a:t>
            </a:r>
          </a:p>
        </p:txBody>
      </p:sp>
      <p:sp>
        <p:nvSpPr>
          <p:cNvPr id="62" name="Rectangle 61"/>
          <p:cNvSpPr/>
          <p:nvPr/>
        </p:nvSpPr>
        <p:spPr>
          <a:xfrm>
            <a:off x="3840480" y="4663440"/>
            <a:ext cx="1325880" cy="914400"/>
          </a:xfrm>
          <a:prstGeom prst="rect">
            <a:avLst/>
          </a:prstGeom>
          <a:solidFill>
            <a:srgbClr val="F0F2F4"/>
          </a:solidFill>
          <a:ln>
            <a:noFill/>
          </a:ln>
        </p:spPr>
        <p:txBody>
          <a:bodyPr rtlCol="0" anchor="ctr" wrap="square" lIns="54864" rIns="54864" tIns="54864" bIns="54864"/>
          <a:lstStyle/>
          <a:p>
            <a:pPr algn="ctr"/>
          </a:p>
        </p:txBody>
      </p:sp>
      <p:pic>
        <p:nvPicPr>
          <p:cNvPr id="63" name="Picture 62" descr="map_vg.png"/>
          <p:cNvPicPr>
            <a:picLocks noChangeAspect="1"/>
          </p:cNvPicPr>
          <p:nvPr/>
        </p:nvPicPr>
        <p:blipFill>
          <a:blip r:embed="rId16"/>
          <a:stretch>
            <a:fillRect/>
          </a:stretch>
        </p:blipFill>
        <p:spPr>
          <a:xfrm>
            <a:off x="4352544" y="4754879"/>
            <a:ext cx="301752" cy="301752"/>
          </a:xfrm>
          <a:prstGeom prst="rect">
            <a:avLst/>
          </a:prstGeom>
        </p:spPr>
      </p:pic>
      <p:sp>
        <p:nvSpPr>
          <p:cNvPr id="64" name="TextBox 63"/>
          <p:cNvSpPr txBox="1"/>
          <p:nvPr/>
        </p:nvSpPr>
        <p:spPr>
          <a:xfrm>
            <a:off x="3886200" y="5102352"/>
            <a:ext cx="1234440" cy="457200"/>
          </a:xfrm>
          <a:prstGeom prst="rect">
            <a:avLst/>
          </a:prstGeom>
          <a:noFill/>
        </p:spPr>
        <p:txBody>
          <a:bodyPr wrap="square" anchor="ctr" lIns="0" rIns="0" tIns="0" bIns="0"/>
          <a:lstStyle/>
          <a:p>
            <a:pPr algn="ctr">
              <a:spcAft>
                <a:spcPts val="400"/>
              </a:spcAft>
            </a:pPr>
            <a:r>
              <a:rPr sz="1050" b="0" i="0">
                <a:solidFill>
                  <a:srgbClr val="23272B"/>
                </a:solidFill>
                <a:latin typeface="Arial"/>
              </a:rPr>
              <a:t>Damage maps</a:t>
            </a:r>
          </a:p>
        </p:txBody>
      </p:sp>
      <p:sp>
        <p:nvSpPr>
          <p:cNvPr id="65" name="Rectangle 64"/>
          <p:cNvSpPr/>
          <p:nvPr/>
        </p:nvSpPr>
        <p:spPr>
          <a:xfrm>
            <a:off x="5257800" y="4663440"/>
            <a:ext cx="1325880" cy="914400"/>
          </a:xfrm>
          <a:prstGeom prst="rect">
            <a:avLst/>
          </a:prstGeom>
          <a:solidFill>
            <a:srgbClr val="F0F2F4"/>
          </a:solidFill>
          <a:ln>
            <a:noFill/>
          </a:ln>
        </p:spPr>
        <p:txBody>
          <a:bodyPr rtlCol="0" anchor="ctr" wrap="square" lIns="54864" rIns="54864" tIns="54864" bIns="54864"/>
          <a:lstStyle/>
          <a:p>
            <a:pPr algn="ctr"/>
          </a:p>
        </p:txBody>
      </p:sp>
      <p:pic>
        <p:nvPicPr>
          <p:cNvPr id="66" name="Picture 65" descr="route_vg.png"/>
          <p:cNvPicPr>
            <a:picLocks noChangeAspect="1"/>
          </p:cNvPicPr>
          <p:nvPr/>
        </p:nvPicPr>
        <p:blipFill>
          <a:blip r:embed="rId17"/>
          <a:stretch>
            <a:fillRect/>
          </a:stretch>
        </p:blipFill>
        <p:spPr>
          <a:xfrm>
            <a:off x="5769864" y="4754879"/>
            <a:ext cx="301752" cy="301752"/>
          </a:xfrm>
          <a:prstGeom prst="rect">
            <a:avLst/>
          </a:prstGeom>
        </p:spPr>
      </p:pic>
      <p:sp>
        <p:nvSpPr>
          <p:cNvPr id="67" name="TextBox 66"/>
          <p:cNvSpPr txBox="1"/>
          <p:nvPr/>
        </p:nvSpPr>
        <p:spPr>
          <a:xfrm>
            <a:off x="5303520" y="5102352"/>
            <a:ext cx="1234440" cy="457200"/>
          </a:xfrm>
          <a:prstGeom prst="rect">
            <a:avLst/>
          </a:prstGeom>
          <a:noFill/>
        </p:spPr>
        <p:txBody>
          <a:bodyPr wrap="square" anchor="ctr" lIns="0" rIns="0" tIns="0" bIns="0"/>
          <a:lstStyle/>
          <a:p>
            <a:pPr algn="ctr">
              <a:spcAft>
                <a:spcPts val="400"/>
              </a:spcAft>
            </a:pPr>
            <a:r>
              <a:rPr sz="1050" b="0" i="0">
                <a:solidFill>
                  <a:srgbClr val="23272B"/>
                </a:solidFill>
                <a:latin typeface="Arial"/>
              </a:rPr>
              <a:t>Evacuation routes</a:t>
            </a:r>
          </a:p>
        </p:txBody>
      </p:sp>
      <p:sp>
        <p:nvSpPr>
          <p:cNvPr id="68" name="Rectangle 67"/>
          <p:cNvSpPr/>
          <p:nvPr/>
        </p:nvSpPr>
        <p:spPr>
          <a:xfrm>
            <a:off x="6675120" y="4663440"/>
            <a:ext cx="1325880" cy="914400"/>
          </a:xfrm>
          <a:prstGeom prst="rect">
            <a:avLst/>
          </a:prstGeom>
          <a:solidFill>
            <a:srgbClr val="F0F2F4"/>
          </a:solidFill>
          <a:ln>
            <a:noFill/>
          </a:ln>
        </p:spPr>
        <p:txBody>
          <a:bodyPr rtlCol="0" anchor="ctr" wrap="square" lIns="54864" rIns="54864" tIns="54864" bIns="54864"/>
          <a:lstStyle/>
          <a:p>
            <a:pPr algn="ctr"/>
          </a:p>
        </p:txBody>
      </p:sp>
      <p:pic>
        <p:nvPicPr>
          <p:cNvPr id="69" name="Picture 68" descr="file_vg.png"/>
          <p:cNvPicPr>
            <a:picLocks noChangeAspect="1"/>
          </p:cNvPicPr>
          <p:nvPr/>
        </p:nvPicPr>
        <p:blipFill>
          <a:blip r:embed="rId18"/>
          <a:stretch>
            <a:fillRect/>
          </a:stretch>
        </p:blipFill>
        <p:spPr>
          <a:xfrm>
            <a:off x="7187184" y="4754879"/>
            <a:ext cx="301752" cy="301752"/>
          </a:xfrm>
          <a:prstGeom prst="rect">
            <a:avLst/>
          </a:prstGeom>
        </p:spPr>
      </p:pic>
      <p:sp>
        <p:nvSpPr>
          <p:cNvPr id="70" name="TextBox 69"/>
          <p:cNvSpPr txBox="1"/>
          <p:nvPr/>
        </p:nvSpPr>
        <p:spPr>
          <a:xfrm>
            <a:off x="6720840" y="5102352"/>
            <a:ext cx="1234440" cy="457200"/>
          </a:xfrm>
          <a:prstGeom prst="rect">
            <a:avLst/>
          </a:prstGeom>
          <a:noFill/>
        </p:spPr>
        <p:txBody>
          <a:bodyPr wrap="square" anchor="ctr" lIns="0" rIns="0" tIns="0" bIns="0"/>
          <a:lstStyle/>
          <a:p>
            <a:pPr algn="ctr">
              <a:spcAft>
                <a:spcPts val="400"/>
              </a:spcAft>
            </a:pPr>
            <a:r>
              <a:rPr sz="1050" b="0" i="0">
                <a:solidFill>
                  <a:srgbClr val="23272B"/>
                </a:solidFill>
                <a:latin typeface="Arial"/>
              </a:rPr>
              <a:t>Situation reports</a:t>
            </a:r>
          </a:p>
        </p:txBody>
      </p:sp>
      <p:cxnSp>
        <p:nvCxnSpPr>
          <p:cNvPr id="71" name="Connector 70"/>
          <p:cNvCxnSpPr/>
          <p:nvPr/>
        </p:nvCxnSpPr>
        <p:spPr>
          <a:xfrm>
            <a:off x="8092440" y="5120640"/>
            <a:ext cx="365760" cy="0"/>
          </a:xfrm>
          <a:prstGeom prst="line">
            <a:avLst/>
          </a:prstGeom>
          <a:ln w="22225">
            <a:solidFill>
              <a:srgbClr val="D9472B"/>
            </a:solidFill>
            <a:prstDash val="lgDash"/>
          </a:ln>
        </p:spPr>
      </p:cxnSp>
      <p:cxnSp>
        <p:nvCxnSpPr>
          <p:cNvPr id="72" name="Connector 71"/>
          <p:cNvCxnSpPr/>
          <p:nvPr/>
        </p:nvCxnSpPr>
        <p:spPr>
          <a:xfrm flipV="1">
            <a:off x="8458200" y="1828800"/>
            <a:ext cx="0" cy="3291840"/>
          </a:xfrm>
          <a:prstGeom prst="line">
            <a:avLst/>
          </a:prstGeom>
          <a:ln w="22225">
            <a:solidFill>
              <a:srgbClr val="D9472B"/>
            </a:solidFill>
            <a:prstDash val="lgDash"/>
          </a:ln>
        </p:spPr>
      </p:cxnSp>
      <p:cxnSp>
        <p:nvCxnSpPr>
          <p:cNvPr id="73" name="Connector 72"/>
          <p:cNvCxnSpPr/>
          <p:nvPr/>
        </p:nvCxnSpPr>
        <p:spPr>
          <a:xfrm flipH="1">
            <a:off x="8092440" y="1828800"/>
            <a:ext cx="365760" cy="0"/>
          </a:xfrm>
          <a:prstGeom prst="line">
            <a:avLst/>
          </a:prstGeom>
          <a:ln w="22225">
            <a:solidFill>
              <a:srgbClr val="D9472B"/>
            </a:solidFill>
            <a:prstDash val="lgDash"/>
            <a:tailEnd type="triangle" w="med" len="med"/>
          </a:ln>
        </p:spPr>
      </p:cxnSp>
      <p:pic>
        <p:nvPicPr>
          <p:cNvPr id="74" name="Picture 73" descr="sync_vr.png"/>
          <p:cNvPicPr>
            <a:picLocks noChangeAspect="1"/>
          </p:cNvPicPr>
          <p:nvPr/>
        </p:nvPicPr>
        <p:blipFill>
          <a:blip r:embed="rId19"/>
          <a:stretch>
            <a:fillRect/>
          </a:stretch>
        </p:blipFill>
        <p:spPr>
          <a:xfrm>
            <a:off x="548640" y="5788152"/>
            <a:ext cx="274320" cy="274320"/>
          </a:xfrm>
          <a:prstGeom prst="rect">
            <a:avLst/>
          </a:prstGeom>
        </p:spPr>
      </p:pic>
      <p:sp>
        <p:nvSpPr>
          <p:cNvPr id="75" name="TextBox 74"/>
          <p:cNvSpPr txBox="1"/>
          <p:nvPr/>
        </p:nvSpPr>
        <p:spPr>
          <a:xfrm>
            <a:off x="914400" y="5760720"/>
            <a:ext cx="7680960" cy="329184"/>
          </a:xfrm>
          <a:prstGeom prst="rect">
            <a:avLst/>
          </a:prstGeom>
          <a:noFill/>
        </p:spPr>
        <p:txBody>
          <a:bodyPr wrap="square" anchor="ctr" lIns="0" rIns="0" tIns="0" bIns="0"/>
          <a:lstStyle/>
          <a:p>
            <a:pPr algn="l">
              <a:spcAft>
                <a:spcPts val="400"/>
              </a:spcAft>
            </a:pPr>
            <a:r>
              <a:rPr sz="1200" b="1" i="0">
                <a:solidFill>
                  <a:srgbClr val="D9472B"/>
                </a:solidFill>
                <a:latin typeface="Arial"/>
              </a:rPr>
              <a:t>Feedback &amp; continuous learning: </a:t>
            </a:r>
            <a:r>
              <a:rPr sz="1200" b="0" i="0">
                <a:solidFill>
                  <a:srgbClr val="23272B"/>
                </a:solidFill>
                <a:latin typeface="Arial"/>
              </a:rPr>
              <a:t>model updates and human validation flow back into data collection.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84048"/>
            <a:ext cx="566928" cy="566928"/>
          </a:xfrm>
          <a:prstGeom prst="rect">
            <a:avLst/>
          </a:prstGeom>
          <a:solidFill>
            <a:srgbClr val="F4A81D"/>
          </a:solidFill>
          <a:ln>
            <a:noFill/>
          </a:ln>
        </p:spPr>
        <p:txBody>
          <a:bodyPr rtlCol="0" anchor="ctr" wrap="square" lIns="0" rIns="0" tIns="0" bIns="0"/>
          <a:lstStyle/>
          <a:p>
            <a:pPr algn="ctr">
              <a:spcAft>
                <a:spcPts val="0"/>
              </a:spcAft>
            </a:pPr>
            <a:r>
              <a:rPr sz="1800" b="1" i="0">
                <a:solidFill>
                  <a:srgbClr val="23272B"/>
                </a:solidFill>
                <a:latin typeface="Arial"/>
              </a:rPr>
              <a:t>07</a:t>
            </a:r>
          </a:p>
        </p:txBody>
      </p:sp>
      <p:sp>
        <p:nvSpPr>
          <p:cNvPr id="3" name="TextBox 2"/>
          <p:cNvSpPr txBox="1"/>
          <p:nvPr/>
        </p:nvSpPr>
        <p:spPr>
          <a:xfrm>
            <a:off x="1280160" y="329184"/>
            <a:ext cx="7315200" cy="438912"/>
          </a:xfrm>
          <a:prstGeom prst="rect">
            <a:avLst/>
          </a:prstGeom>
          <a:noFill/>
        </p:spPr>
        <p:txBody>
          <a:bodyPr wrap="square" anchor="ctr" lIns="0" rIns="0" tIns="0" bIns="0"/>
          <a:lstStyle/>
          <a:p>
            <a:pPr algn="l">
              <a:spcAft>
                <a:spcPts val="400"/>
              </a:spcAft>
            </a:pPr>
            <a:r>
              <a:rPr sz="2400" b="1" i="0">
                <a:solidFill>
                  <a:srgbClr val="23272B"/>
                </a:solidFill>
                <a:latin typeface="Arial"/>
              </a:rPr>
              <a:t>Algorithm 1: Early Warning (LSTM)</a:t>
            </a:r>
          </a:p>
        </p:txBody>
      </p:sp>
      <p:sp>
        <p:nvSpPr>
          <p:cNvPr id="4" name="TextBox 3"/>
          <p:cNvSpPr txBox="1"/>
          <p:nvPr/>
        </p:nvSpPr>
        <p:spPr>
          <a:xfrm>
            <a:off x="1280160" y="749808"/>
            <a:ext cx="7315200" cy="292608"/>
          </a:xfrm>
          <a:prstGeom prst="rect">
            <a:avLst/>
          </a:prstGeom>
          <a:noFill/>
        </p:spPr>
        <p:txBody>
          <a:bodyPr wrap="square" anchor="t" lIns="0" rIns="0" tIns="0" bIns="0"/>
          <a:lstStyle/>
          <a:p>
            <a:pPr algn="l">
              <a:spcAft>
                <a:spcPts val="400"/>
              </a:spcAft>
            </a:pPr>
            <a:r>
              <a:rPr sz="1300" b="0" i="0">
                <a:solidFill>
                  <a:srgbClr val="5F6B76"/>
                </a:solidFill>
                <a:latin typeface="Arial"/>
              </a:rPr>
              <a:t>Forecasting floods from historical and real-time time-series data [4], [8]</a:t>
            </a:r>
          </a:p>
        </p:txBody>
      </p:sp>
      <p:pic>
        <p:nvPicPr>
          <p:cNvPr id="5" name="Picture 4" descr="image.jpg"/>
          <p:cNvPicPr>
            <a:picLocks noChangeAspect="1"/>
          </p:cNvPicPr>
          <p:nvPr/>
        </p:nvPicPr>
        <p:blipFill>
          <a:blip r:embed="rId2"/>
          <a:stretch>
            <a:fillRect/>
          </a:stretch>
        </p:blipFill>
        <p:spPr>
          <a:xfrm>
            <a:off x="548640" y="6336792"/>
            <a:ext cx="438912" cy="330572"/>
          </a:xfrm>
          <a:prstGeom prst="rect">
            <a:avLst/>
          </a:prstGeom>
        </p:spPr>
      </p:pic>
      <p:sp>
        <p:nvSpPr>
          <p:cNvPr id="6" name="TextBox 5"/>
          <p:cNvSpPr txBox="1"/>
          <p:nvPr/>
        </p:nvSpPr>
        <p:spPr>
          <a:xfrm>
            <a:off x="1078992" y="6382512"/>
            <a:ext cx="5943600" cy="274320"/>
          </a:xfrm>
          <a:prstGeom prst="rect">
            <a:avLst/>
          </a:prstGeom>
          <a:noFill/>
        </p:spPr>
        <p:txBody>
          <a:bodyPr wrap="square" anchor="ctr" lIns="0" rIns="0" tIns="0" bIns="0"/>
          <a:lstStyle/>
          <a:p>
            <a:pPr algn="l">
              <a:spcAft>
                <a:spcPts val="400"/>
              </a:spcAft>
            </a:pPr>
            <a:r>
              <a:rPr sz="900" b="0" i="0">
                <a:solidFill>
                  <a:srgbClr val="5F6B76"/>
                </a:solidFill>
                <a:latin typeface="Arial"/>
              </a:rPr>
              <a:t>AI in Disaster Management   |   Vedika Dandade, B344</a:t>
            </a:r>
          </a:p>
        </p:txBody>
      </p:sp>
      <p:sp>
        <p:nvSpPr>
          <p:cNvPr id="7" name="Rectangle 6"/>
          <p:cNvSpPr/>
          <p:nvPr/>
        </p:nvSpPr>
        <p:spPr>
          <a:xfrm>
            <a:off x="8275320" y="6355080"/>
            <a:ext cx="329184" cy="329184"/>
          </a:xfrm>
          <a:prstGeom prst="rect">
            <a:avLst/>
          </a:prstGeom>
          <a:solidFill>
            <a:srgbClr val="F4A81D"/>
          </a:solidFill>
          <a:ln>
            <a:noFill/>
          </a:ln>
        </p:spPr>
        <p:txBody>
          <a:bodyPr rtlCol="0" anchor="ctr" wrap="square" lIns="0" rIns="0" tIns="0" bIns="0"/>
          <a:lstStyle/>
          <a:p>
            <a:pPr algn="ctr"/>
            <a:fld id="{3C1D2E4F-6A7B-4C8D-9E0F-1A2B3C4D5E6F}" type="slidenum">
              <a:rPr lang="en-US" sz="1000" b="1">
                <a:solidFill>
                  <a:srgbClr val="23272B"/>
                </a:solidFill>
                <a:latin typeface="Arial"/>
              </a:rPr>
              <a:t>10</a:t>
            </a:fld>
          </a:p>
        </p:txBody>
      </p:sp>
      <p:sp>
        <p:nvSpPr>
          <p:cNvPr id="8" name="Rectangle 7"/>
          <p:cNvSpPr/>
          <p:nvPr/>
        </p:nvSpPr>
        <p:spPr>
          <a:xfrm>
            <a:off x="548640" y="1371600"/>
            <a:ext cx="1325880" cy="640080"/>
          </a:xfrm>
          <a:prstGeom prst="rect">
            <a:avLst/>
          </a:prstGeom>
          <a:solidFill>
            <a:srgbClr val="F0F2F4"/>
          </a:solidFill>
          <a:ln>
            <a:noFill/>
          </a:ln>
        </p:spPr>
        <p:txBody>
          <a:bodyPr rtlCol="0" anchor="ctr" wrap="square" lIns="54864" rIns="54864" tIns="54864" bIns="54864"/>
          <a:lstStyle/>
          <a:p>
            <a:pPr algn="ctr">
              <a:spcAft>
                <a:spcPts val="0"/>
              </a:spcAft>
            </a:pPr>
            <a:r>
              <a:rPr sz="1050" b="1" i="0">
                <a:solidFill>
                  <a:srgbClr val="23272B"/>
                </a:solidFill>
                <a:latin typeface="Arial"/>
              </a:rPr>
              <a:t>Historical</a:t>
            </a:r>
          </a:p>
          <a:p>
            <a:pPr algn="ctr">
              <a:spcAft>
                <a:spcPts val="0"/>
              </a:spcAft>
            </a:pPr>
            <a:r>
              <a:rPr sz="1050" b="0" i="0">
                <a:solidFill>
                  <a:srgbClr val="23272B"/>
                </a:solidFill>
                <a:latin typeface="Arial"/>
              </a:rPr>
              <a:t>rainfall, river level</a:t>
            </a:r>
          </a:p>
        </p:txBody>
      </p:sp>
      <p:sp>
        <p:nvSpPr>
          <p:cNvPr id="9" name="Rectangle 8"/>
          <p:cNvSpPr/>
          <p:nvPr/>
        </p:nvSpPr>
        <p:spPr>
          <a:xfrm>
            <a:off x="1965960" y="1371600"/>
            <a:ext cx="1325880" cy="640080"/>
          </a:xfrm>
          <a:prstGeom prst="rect">
            <a:avLst/>
          </a:prstGeom>
          <a:solidFill>
            <a:srgbClr val="F0F2F4"/>
          </a:solidFill>
          <a:ln>
            <a:noFill/>
          </a:ln>
        </p:spPr>
        <p:txBody>
          <a:bodyPr rtlCol="0" anchor="ctr" wrap="square" lIns="54864" rIns="54864" tIns="54864" bIns="54864"/>
          <a:lstStyle/>
          <a:p>
            <a:pPr algn="ctr">
              <a:spcAft>
                <a:spcPts val="0"/>
              </a:spcAft>
            </a:pPr>
            <a:r>
              <a:rPr sz="1050" b="1" i="0">
                <a:solidFill>
                  <a:srgbClr val="23272B"/>
                </a:solidFill>
                <a:latin typeface="Arial"/>
              </a:rPr>
              <a:t>Live IoT</a:t>
            </a:r>
          </a:p>
          <a:p>
            <a:pPr algn="ctr">
              <a:spcAft>
                <a:spcPts val="0"/>
              </a:spcAft>
            </a:pPr>
            <a:r>
              <a:rPr sz="1050" b="0" i="0">
                <a:solidFill>
                  <a:srgbClr val="23272B"/>
                </a:solidFill>
                <a:latin typeface="Arial"/>
              </a:rPr>
              <a:t>sensors, weather</a:t>
            </a:r>
          </a:p>
        </p:txBody>
      </p:sp>
      <p:sp>
        <p:nvSpPr>
          <p:cNvPr id="10" name="Rectangle 9"/>
          <p:cNvSpPr/>
          <p:nvPr/>
        </p:nvSpPr>
        <p:spPr>
          <a:xfrm>
            <a:off x="548640" y="2240280"/>
            <a:ext cx="2743200" cy="457200"/>
          </a:xfrm>
          <a:prstGeom prst="rect">
            <a:avLst/>
          </a:prstGeom>
          <a:solidFill>
            <a:srgbClr val="FFFFFF"/>
          </a:solidFill>
          <a:ln w="15875">
            <a:solidFill>
              <a:srgbClr val="D5DADF"/>
            </a:solidFill>
          </a:ln>
        </p:spPr>
        <p:txBody>
          <a:bodyPr rtlCol="0" anchor="ctr" wrap="square" lIns="54864" rIns="54864" tIns="54864" bIns="54864"/>
          <a:lstStyle/>
          <a:p>
            <a:pPr algn="ctr">
              <a:spcAft>
                <a:spcPts val="0"/>
              </a:spcAft>
            </a:pPr>
            <a:r>
              <a:rPr sz="1150" b="0" i="0">
                <a:solidFill>
                  <a:srgbClr val="23272B"/>
                </a:solidFill>
                <a:latin typeface="Arial"/>
              </a:rPr>
              <a:t>Preprocess: normalize, sliding windows</a:t>
            </a:r>
          </a:p>
        </p:txBody>
      </p:sp>
      <p:sp>
        <p:nvSpPr>
          <p:cNvPr id="11" name="Rectangle 10"/>
          <p:cNvSpPr/>
          <p:nvPr/>
        </p:nvSpPr>
        <p:spPr>
          <a:xfrm>
            <a:off x="548640" y="2926080"/>
            <a:ext cx="2743200" cy="685800"/>
          </a:xfrm>
          <a:prstGeom prst="rect">
            <a:avLst/>
          </a:prstGeom>
          <a:solidFill>
            <a:srgbClr val="23272B"/>
          </a:solidFill>
          <a:ln>
            <a:noFill/>
          </a:ln>
        </p:spPr>
        <p:txBody>
          <a:bodyPr rtlCol="0" anchor="ctr" wrap="square" lIns="54864" rIns="54864" tIns="54864" bIns="54864"/>
          <a:lstStyle/>
          <a:p>
            <a:pPr algn="ctr">
              <a:spcAft>
                <a:spcPts val="0"/>
              </a:spcAft>
            </a:pPr>
            <a:r>
              <a:rPr sz="1400" b="1" i="0">
                <a:solidFill>
                  <a:srgbClr val="FFFFFF"/>
                </a:solidFill>
                <a:latin typeface="Arial"/>
              </a:rPr>
              <a:t>LSTM / Transformer</a:t>
            </a:r>
          </a:p>
          <a:p>
            <a:pPr algn="ctr">
              <a:spcAft>
                <a:spcPts val="0"/>
              </a:spcAft>
            </a:pPr>
            <a:r>
              <a:rPr sz="1050" b="0" i="0">
                <a:solidFill>
                  <a:srgbClr val="FFFFFF"/>
                </a:solidFill>
                <a:latin typeface="Arial"/>
              </a:rPr>
              <a:t>sequence model</a:t>
            </a:r>
          </a:p>
        </p:txBody>
      </p:sp>
      <p:sp>
        <p:nvSpPr>
          <p:cNvPr id="12" name="Rectangle 11"/>
          <p:cNvSpPr/>
          <p:nvPr/>
        </p:nvSpPr>
        <p:spPr>
          <a:xfrm>
            <a:off x="548640" y="3840480"/>
            <a:ext cx="2743200" cy="457200"/>
          </a:xfrm>
          <a:prstGeom prst="rect">
            <a:avLst/>
          </a:prstGeom>
          <a:solidFill>
            <a:srgbClr val="FFFFFF"/>
          </a:solidFill>
          <a:ln w="15875">
            <a:solidFill>
              <a:srgbClr val="D5DADF"/>
            </a:solidFill>
          </a:ln>
        </p:spPr>
        <p:txBody>
          <a:bodyPr rtlCol="0" anchor="ctr" wrap="square" lIns="54864" rIns="54864" tIns="54864" bIns="54864"/>
          <a:lstStyle/>
          <a:p>
            <a:pPr algn="ctr">
              <a:spcAft>
                <a:spcPts val="0"/>
              </a:spcAft>
            </a:pPr>
            <a:r>
              <a:rPr sz="1150" b="0" i="0">
                <a:solidFill>
                  <a:srgbClr val="23272B"/>
                </a:solidFill>
                <a:latin typeface="Arial"/>
              </a:rPr>
              <a:t>Flood risk ŷ for the next 6–24 h</a:t>
            </a:r>
          </a:p>
        </p:txBody>
      </p:sp>
      <p:sp>
        <p:nvSpPr>
          <p:cNvPr id="13" name="Diamond 12"/>
          <p:cNvSpPr/>
          <p:nvPr/>
        </p:nvSpPr>
        <p:spPr>
          <a:xfrm>
            <a:off x="1234440" y="4526280"/>
            <a:ext cx="1371600" cy="731520"/>
          </a:xfrm>
          <a:prstGeom prst="diamond">
            <a:avLst/>
          </a:prstGeom>
          <a:solidFill>
            <a:srgbClr val="F4A81D"/>
          </a:solidFill>
          <a:ln>
            <a:noFill/>
          </a:ln>
        </p:spPr>
        <p:txBody>
          <a:bodyPr rtlCol="0" anchor="ctr" wrap="square" lIns="54864" rIns="54864" tIns="54864" bIns="54864"/>
          <a:lstStyle/>
          <a:p>
            <a:pPr algn="ctr">
              <a:spcAft>
                <a:spcPts val="0"/>
              </a:spcAft>
            </a:pPr>
            <a:r>
              <a:rPr sz="1300" b="1" i="0">
                <a:solidFill>
                  <a:srgbClr val="23272B"/>
                </a:solidFill>
                <a:latin typeface="Arial"/>
              </a:rPr>
              <a:t>ŷ &gt; τ ?</a:t>
            </a:r>
          </a:p>
        </p:txBody>
      </p:sp>
      <p:sp>
        <p:nvSpPr>
          <p:cNvPr id="14" name="Rectangle 13"/>
          <p:cNvSpPr/>
          <p:nvPr/>
        </p:nvSpPr>
        <p:spPr>
          <a:xfrm>
            <a:off x="548640" y="5532120"/>
            <a:ext cx="2743200" cy="502920"/>
          </a:xfrm>
          <a:prstGeom prst="rect">
            <a:avLst/>
          </a:prstGeom>
          <a:solidFill>
            <a:srgbClr val="D9472B"/>
          </a:solidFill>
          <a:ln>
            <a:noFill/>
          </a:ln>
        </p:spPr>
        <p:txBody>
          <a:bodyPr rtlCol="0" anchor="ctr" wrap="square" lIns="54864" rIns="54864" tIns="54864" bIns="54864"/>
          <a:lstStyle/>
          <a:p>
            <a:pPr algn="ctr">
              <a:spcAft>
                <a:spcPts val="0"/>
              </a:spcAft>
            </a:pPr>
            <a:r>
              <a:rPr sz="1250" b="1" i="0">
                <a:solidFill>
                  <a:srgbClr val="FFFFFF"/>
                </a:solidFill>
                <a:latin typeface="Arial"/>
              </a:rPr>
              <a:t>Issue alert to the region</a:t>
            </a:r>
          </a:p>
        </p:txBody>
      </p:sp>
      <p:cxnSp>
        <p:nvCxnSpPr>
          <p:cNvPr id="15" name="Connector 14"/>
          <p:cNvCxnSpPr/>
          <p:nvPr/>
        </p:nvCxnSpPr>
        <p:spPr>
          <a:xfrm>
            <a:off x="1211580" y="2011680"/>
            <a:ext cx="251460" cy="228600"/>
          </a:xfrm>
          <a:prstGeom prst="line">
            <a:avLst/>
          </a:prstGeom>
          <a:ln w="19050">
            <a:solidFill>
              <a:srgbClr val="5F6B76"/>
            </a:solidFill>
            <a:tailEnd type="triangle" w="med" len="med"/>
          </a:ln>
        </p:spPr>
      </p:cxnSp>
      <p:cxnSp>
        <p:nvCxnSpPr>
          <p:cNvPr id="16" name="Connector 15"/>
          <p:cNvCxnSpPr/>
          <p:nvPr/>
        </p:nvCxnSpPr>
        <p:spPr>
          <a:xfrm flipH="1">
            <a:off x="2377440" y="2011680"/>
            <a:ext cx="251460" cy="228600"/>
          </a:xfrm>
          <a:prstGeom prst="line">
            <a:avLst/>
          </a:prstGeom>
          <a:ln w="19050">
            <a:solidFill>
              <a:srgbClr val="5F6B76"/>
            </a:solidFill>
            <a:tailEnd type="triangle" w="med" len="med"/>
          </a:ln>
        </p:spPr>
      </p:cxnSp>
      <p:cxnSp>
        <p:nvCxnSpPr>
          <p:cNvPr id="17" name="Connector 16"/>
          <p:cNvCxnSpPr/>
          <p:nvPr/>
        </p:nvCxnSpPr>
        <p:spPr>
          <a:xfrm>
            <a:off x="1920240" y="2697480"/>
            <a:ext cx="0" cy="228600"/>
          </a:xfrm>
          <a:prstGeom prst="line">
            <a:avLst/>
          </a:prstGeom>
          <a:ln w="19050">
            <a:solidFill>
              <a:srgbClr val="5F6B76"/>
            </a:solidFill>
            <a:tailEnd type="triangle" w="med" len="med"/>
          </a:ln>
        </p:spPr>
      </p:cxnSp>
      <p:cxnSp>
        <p:nvCxnSpPr>
          <p:cNvPr id="18" name="Connector 17"/>
          <p:cNvCxnSpPr/>
          <p:nvPr/>
        </p:nvCxnSpPr>
        <p:spPr>
          <a:xfrm>
            <a:off x="1920240" y="3611880"/>
            <a:ext cx="0" cy="228600"/>
          </a:xfrm>
          <a:prstGeom prst="line">
            <a:avLst/>
          </a:prstGeom>
          <a:ln w="19050">
            <a:solidFill>
              <a:srgbClr val="5F6B76"/>
            </a:solidFill>
            <a:tailEnd type="triangle" w="med" len="med"/>
          </a:ln>
        </p:spPr>
      </p:cxnSp>
      <p:cxnSp>
        <p:nvCxnSpPr>
          <p:cNvPr id="19" name="Connector 18"/>
          <p:cNvCxnSpPr/>
          <p:nvPr/>
        </p:nvCxnSpPr>
        <p:spPr>
          <a:xfrm>
            <a:off x="1920240" y="4297680"/>
            <a:ext cx="0" cy="228600"/>
          </a:xfrm>
          <a:prstGeom prst="line">
            <a:avLst/>
          </a:prstGeom>
          <a:ln w="19050">
            <a:solidFill>
              <a:srgbClr val="5F6B76"/>
            </a:solidFill>
            <a:tailEnd type="triangle" w="med" len="med"/>
          </a:ln>
        </p:spPr>
      </p:cxnSp>
      <p:cxnSp>
        <p:nvCxnSpPr>
          <p:cNvPr id="20" name="Connector 19"/>
          <p:cNvCxnSpPr/>
          <p:nvPr/>
        </p:nvCxnSpPr>
        <p:spPr>
          <a:xfrm>
            <a:off x="1920240" y="5257800"/>
            <a:ext cx="0" cy="274320"/>
          </a:xfrm>
          <a:prstGeom prst="line">
            <a:avLst/>
          </a:prstGeom>
          <a:ln w="19050">
            <a:solidFill>
              <a:srgbClr val="5F6B76"/>
            </a:solidFill>
            <a:tailEnd type="triangle" w="med" len="med"/>
          </a:ln>
        </p:spPr>
      </p:cxnSp>
      <p:sp>
        <p:nvSpPr>
          <p:cNvPr id="21" name="TextBox 20"/>
          <p:cNvSpPr txBox="1"/>
          <p:nvPr/>
        </p:nvSpPr>
        <p:spPr>
          <a:xfrm>
            <a:off x="2011680" y="5257800"/>
            <a:ext cx="457200" cy="256032"/>
          </a:xfrm>
          <a:prstGeom prst="rect">
            <a:avLst/>
          </a:prstGeom>
          <a:noFill/>
        </p:spPr>
        <p:txBody>
          <a:bodyPr wrap="square" anchor="t" lIns="0" rIns="0" tIns="0" bIns="0"/>
          <a:lstStyle/>
          <a:p>
            <a:pPr algn="l">
              <a:spcAft>
                <a:spcPts val="400"/>
              </a:spcAft>
            </a:pPr>
            <a:r>
              <a:rPr sz="1000" b="0" i="0">
                <a:solidFill>
                  <a:srgbClr val="5F6B76"/>
                </a:solidFill>
                <a:latin typeface="Arial"/>
              </a:rPr>
              <a:t>yes</a:t>
            </a:r>
          </a:p>
        </p:txBody>
      </p:sp>
      <p:cxnSp>
        <p:nvCxnSpPr>
          <p:cNvPr id="22" name="Connector 21"/>
          <p:cNvCxnSpPr/>
          <p:nvPr/>
        </p:nvCxnSpPr>
        <p:spPr>
          <a:xfrm>
            <a:off x="2606040" y="4892040"/>
            <a:ext cx="548640" cy="0"/>
          </a:xfrm>
          <a:prstGeom prst="line">
            <a:avLst/>
          </a:prstGeom>
          <a:ln w="15875">
            <a:solidFill>
              <a:srgbClr val="5F6B76"/>
            </a:solidFill>
          </a:ln>
        </p:spPr>
      </p:cxnSp>
      <p:cxnSp>
        <p:nvCxnSpPr>
          <p:cNvPr id="23" name="Connector 22"/>
          <p:cNvCxnSpPr/>
          <p:nvPr/>
        </p:nvCxnSpPr>
        <p:spPr>
          <a:xfrm flipV="1">
            <a:off x="3154680" y="4069080"/>
            <a:ext cx="0" cy="822960"/>
          </a:xfrm>
          <a:prstGeom prst="line">
            <a:avLst/>
          </a:prstGeom>
          <a:ln w="15875">
            <a:solidFill>
              <a:srgbClr val="5F6B76"/>
            </a:solidFill>
          </a:ln>
        </p:spPr>
      </p:cxnSp>
      <p:cxnSp>
        <p:nvCxnSpPr>
          <p:cNvPr id="24" name="Connector 23"/>
          <p:cNvCxnSpPr/>
          <p:nvPr/>
        </p:nvCxnSpPr>
        <p:spPr>
          <a:xfrm>
            <a:off x="3154680" y="4069080"/>
            <a:ext cx="137160" cy="0"/>
          </a:xfrm>
          <a:prstGeom prst="line">
            <a:avLst/>
          </a:prstGeom>
          <a:ln w="15875">
            <a:solidFill>
              <a:srgbClr val="5F6B76"/>
            </a:solidFill>
          </a:ln>
        </p:spPr>
      </p:cxnSp>
      <p:sp>
        <p:nvSpPr>
          <p:cNvPr id="25" name="TextBox 24"/>
          <p:cNvSpPr txBox="1"/>
          <p:nvPr/>
        </p:nvSpPr>
        <p:spPr>
          <a:xfrm>
            <a:off x="2697480" y="4919472"/>
            <a:ext cx="731520" cy="256032"/>
          </a:xfrm>
          <a:prstGeom prst="rect">
            <a:avLst/>
          </a:prstGeom>
          <a:noFill/>
        </p:spPr>
        <p:txBody>
          <a:bodyPr wrap="square" anchor="t" lIns="0" rIns="0" tIns="0" bIns="0"/>
          <a:lstStyle/>
          <a:p>
            <a:pPr algn="l">
              <a:spcAft>
                <a:spcPts val="400"/>
              </a:spcAft>
            </a:pPr>
            <a:r>
              <a:rPr sz="900" b="0" i="0">
                <a:solidFill>
                  <a:srgbClr val="5F6B76"/>
                </a:solidFill>
                <a:latin typeface="Arial"/>
              </a:rPr>
              <a:t>no: keep monitoring</a:t>
            </a:r>
          </a:p>
        </p:txBody>
      </p:sp>
      <p:sp>
        <p:nvSpPr>
          <p:cNvPr id="26" name="Rectangle 25"/>
          <p:cNvSpPr/>
          <p:nvPr/>
        </p:nvSpPr>
        <p:spPr>
          <a:xfrm>
            <a:off x="3657600" y="1371600"/>
            <a:ext cx="4937760" cy="2240280"/>
          </a:xfrm>
          <a:prstGeom prst="rect">
            <a:avLst/>
          </a:prstGeom>
          <a:solidFill>
            <a:srgbClr val="F0F2F4"/>
          </a:solidFill>
          <a:ln>
            <a:noFill/>
          </a:ln>
        </p:spPr>
        <p:txBody>
          <a:bodyPr rtlCol="0" anchor="ctr" wrap="square" lIns="54864" rIns="54864" tIns="54864" bIns="54864"/>
          <a:lstStyle/>
          <a:p>
            <a:pPr algn="ctr"/>
          </a:p>
        </p:txBody>
      </p:sp>
      <p:sp>
        <p:nvSpPr>
          <p:cNvPr id="27" name="TextBox 26"/>
          <p:cNvSpPr txBox="1"/>
          <p:nvPr/>
        </p:nvSpPr>
        <p:spPr>
          <a:xfrm>
            <a:off x="3840480" y="1481328"/>
            <a:ext cx="4572000" cy="320040"/>
          </a:xfrm>
          <a:prstGeom prst="rect">
            <a:avLst/>
          </a:prstGeom>
          <a:noFill/>
        </p:spPr>
        <p:txBody>
          <a:bodyPr wrap="square" anchor="t" lIns="0" rIns="0" tIns="0" bIns="0"/>
          <a:lstStyle/>
          <a:p>
            <a:pPr algn="l">
              <a:spcAft>
                <a:spcPts val="400"/>
              </a:spcAft>
            </a:pPr>
            <a:r>
              <a:rPr sz="1500" b="1" i="0">
                <a:solidFill>
                  <a:srgbClr val="23272B"/>
                </a:solidFill>
                <a:latin typeface="Arial"/>
              </a:rPr>
              <a:t>Why LSTM?</a:t>
            </a:r>
          </a:p>
        </p:txBody>
      </p:sp>
      <p:sp>
        <p:nvSpPr>
          <p:cNvPr id="28" name="TextBox 27"/>
          <p:cNvSpPr txBox="1"/>
          <p:nvPr/>
        </p:nvSpPr>
        <p:spPr>
          <a:xfrm>
            <a:off x="3840480" y="1847088"/>
            <a:ext cx="4572000" cy="1691640"/>
          </a:xfrm>
          <a:prstGeom prst="rect">
            <a:avLst/>
          </a:prstGeom>
          <a:noFill/>
        </p:spPr>
        <p:txBody>
          <a:bodyPr wrap="square" anchor="t" lIns="0" rIns="0" tIns="0" bIns="0"/>
          <a:lstStyle/>
          <a:p>
            <a:pPr algn="l" marL="182880" indent="-182880">
              <a:spcAft>
                <a:spcPts val="500"/>
              </a:spcAft>
              <a:buClr>
                <a:srgbClr val="F4A81D"/>
              </a:buClr>
              <a:buFont typeface="Arial"/>
              <a:buChar char="■"/>
            </a:pPr>
            <a:r>
              <a:rPr sz="1300" b="0" i="0">
                <a:solidFill>
                  <a:srgbClr val="23272B"/>
                </a:solidFill>
                <a:latin typeface="Arial"/>
              </a:rPr>
              <a:t>Gated memory cells keep long-term patterns, e.g. days of rainfall [8]</a:t>
            </a:r>
          </a:p>
          <a:p>
            <a:pPr algn="l" marL="182880" indent="-182880">
              <a:spcAft>
                <a:spcPts val="500"/>
              </a:spcAft>
              <a:buClr>
                <a:srgbClr val="F4A81D"/>
              </a:buClr>
              <a:buFont typeface="Arial"/>
              <a:buChar char="■"/>
            </a:pPr>
            <a:r>
              <a:rPr sz="1300" b="0" i="0">
                <a:solidFill>
                  <a:srgbClr val="23272B"/>
                </a:solidFill>
                <a:latin typeface="Arial"/>
              </a:rPr>
              <a:t>Forget, input and output gates decide what to keep</a:t>
            </a:r>
          </a:p>
          <a:p>
            <a:pPr algn="l" marL="182880" indent="-182880">
              <a:spcAft>
                <a:spcPts val="500"/>
              </a:spcAft>
              <a:buClr>
                <a:srgbClr val="F4A81D"/>
              </a:buClr>
              <a:buFont typeface="Arial"/>
              <a:buChar char="■"/>
            </a:pPr>
            <a:r>
              <a:rPr sz="1300" b="0" i="0">
                <a:solidFill>
                  <a:srgbClr val="23272B"/>
                </a:solidFill>
                <a:latin typeface="Arial"/>
              </a:rPr>
              <a:t>Robust to noisy, irregular sensor sequences</a:t>
            </a:r>
          </a:p>
          <a:p>
            <a:pPr algn="l" marL="182880" indent="-182880">
              <a:spcAft>
                <a:spcPts val="500"/>
              </a:spcAft>
              <a:buClr>
                <a:srgbClr val="F4A81D"/>
              </a:buClr>
              <a:buFont typeface="Arial"/>
              <a:buChar char="■"/>
            </a:pPr>
            <a:r>
              <a:rPr sz="1300" b="0" i="0">
                <a:solidFill>
                  <a:srgbClr val="23272B"/>
                </a:solidFill>
                <a:latin typeface="Arial"/>
              </a:rPr>
              <a:t>Transformers use attention for long-range links</a:t>
            </a:r>
          </a:p>
        </p:txBody>
      </p:sp>
      <p:sp>
        <p:nvSpPr>
          <p:cNvPr id="29" name="Rectangle 28"/>
          <p:cNvSpPr/>
          <p:nvPr/>
        </p:nvSpPr>
        <p:spPr>
          <a:xfrm>
            <a:off x="3657600" y="3794760"/>
            <a:ext cx="4937760" cy="2377440"/>
          </a:xfrm>
          <a:prstGeom prst="rect">
            <a:avLst/>
          </a:prstGeom>
          <a:solidFill>
            <a:srgbClr val="F0F2F4"/>
          </a:solidFill>
          <a:ln>
            <a:noFill/>
          </a:ln>
        </p:spPr>
        <p:txBody>
          <a:bodyPr rtlCol="0" anchor="ctr" wrap="square" lIns="54864" rIns="54864" tIns="54864" bIns="54864"/>
          <a:lstStyle/>
          <a:p>
            <a:pPr algn="ctr"/>
          </a:p>
        </p:txBody>
      </p:sp>
      <p:sp>
        <p:nvSpPr>
          <p:cNvPr id="30" name="Rectangle 29"/>
          <p:cNvSpPr/>
          <p:nvPr/>
        </p:nvSpPr>
        <p:spPr>
          <a:xfrm>
            <a:off x="3657600" y="3794760"/>
            <a:ext cx="1188720" cy="274320"/>
          </a:xfrm>
          <a:prstGeom prst="rect">
            <a:avLst/>
          </a:prstGeom>
          <a:solidFill>
            <a:srgbClr val="23272B"/>
          </a:solidFill>
          <a:ln>
            <a:noFill/>
          </a:ln>
        </p:spPr>
        <p:txBody>
          <a:bodyPr rtlCol="0" anchor="ctr" wrap="square" lIns="0" rIns="0" tIns="0" bIns="0"/>
          <a:lstStyle/>
          <a:p>
            <a:pPr algn="ctr">
              <a:spcAft>
                <a:spcPts val="0"/>
              </a:spcAft>
            </a:pPr>
            <a:r>
              <a:rPr sz="900" b="1" i="0" spc="100">
                <a:solidFill>
                  <a:srgbClr val="F4A81D"/>
                </a:solidFill>
                <a:latin typeface="Arial"/>
              </a:rPr>
              <a:t>PSEUDOCODE</a:t>
            </a:r>
          </a:p>
        </p:txBody>
      </p:sp>
      <p:sp>
        <p:nvSpPr>
          <p:cNvPr id="31" name="TextBox 30"/>
          <p:cNvSpPr txBox="1"/>
          <p:nvPr/>
        </p:nvSpPr>
        <p:spPr>
          <a:xfrm>
            <a:off x="3840480" y="4206240"/>
            <a:ext cx="4663440" cy="1920240"/>
          </a:xfrm>
          <a:prstGeom prst="rect">
            <a:avLst/>
          </a:prstGeom>
          <a:noFill/>
        </p:spPr>
        <p:txBody>
          <a:bodyPr wrap="square" anchor="t" lIns="0" rIns="0" tIns="0" bIns="0"/>
          <a:lstStyle/>
          <a:p>
            <a:pPr algn="l">
              <a:spcAft>
                <a:spcPts val="200"/>
              </a:spcAft>
            </a:pPr>
            <a:r>
              <a:rPr sz="1150" b="0" i="0">
                <a:solidFill>
                  <a:srgbClr val="8B96A0"/>
                </a:solidFill>
                <a:latin typeface="Consolas"/>
              </a:rPr>
              <a:t> 1  </a:t>
            </a:r>
            <a:r>
              <a:rPr sz="1150" b="0" i="0">
                <a:solidFill>
                  <a:srgbClr val="23272B"/>
                </a:solidFill>
                <a:latin typeface="Consolas"/>
              </a:rPr>
              <a:t>Input: series X_t, threshold τ</a:t>
            </a:r>
          </a:p>
          <a:p>
            <a:pPr algn="l">
              <a:spcAft>
                <a:spcPts val="200"/>
              </a:spcAft>
            </a:pPr>
            <a:r>
              <a:rPr sz="1150" b="0" i="0">
                <a:solidFill>
                  <a:srgbClr val="8B96A0"/>
                </a:solidFill>
                <a:latin typeface="Consolas"/>
              </a:rPr>
              <a:t> 2  </a:t>
            </a:r>
            <a:r>
              <a:rPr sz="1150" b="0" i="0">
                <a:solidFill>
                  <a:srgbClr val="23272B"/>
                </a:solidFill>
                <a:latin typeface="Consolas"/>
              </a:rPr>
              <a:t>X ← Normalize(X_t); make windows</a:t>
            </a:r>
          </a:p>
          <a:p>
            <a:pPr algn="l">
              <a:spcAft>
                <a:spcPts val="200"/>
              </a:spcAft>
            </a:pPr>
            <a:r>
              <a:rPr sz="1150" b="0" i="0">
                <a:solidFill>
                  <a:srgbClr val="8B96A0"/>
                </a:solidFill>
                <a:latin typeface="Consolas"/>
              </a:rPr>
              <a:t> 3  </a:t>
            </a:r>
            <a:r>
              <a:rPr sz="1150" b="0" i="0">
                <a:solidFill>
                  <a:srgbClr val="23272B"/>
                </a:solidFill>
                <a:latin typeface="Consolas"/>
              </a:rPr>
              <a:t>h_t ← LSTM(X, h_(t-1))</a:t>
            </a:r>
          </a:p>
          <a:p>
            <a:pPr algn="l">
              <a:spcAft>
                <a:spcPts val="200"/>
              </a:spcAft>
            </a:pPr>
            <a:r>
              <a:rPr sz="1150" b="0" i="0">
                <a:solidFill>
                  <a:srgbClr val="8B96A0"/>
                </a:solidFill>
                <a:latin typeface="Consolas"/>
              </a:rPr>
              <a:t> 4  </a:t>
            </a:r>
            <a:r>
              <a:rPr sz="1150" b="0" i="0">
                <a:solidFill>
                  <a:srgbClr val="23272B"/>
                </a:solidFill>
                <a:latin typeface="Consolas"/>
              </a:rPr>
              <a:t>ŷ_(t+1) ← Predict(h_t)        </a:t>
            </a:r>
            <a:r>
              <a:rPr sz="1150" b="0" i="1">
                <a:solidFill>
                  <a:srgbClr val="2C6E91"/>
                </a:solidFill>
                <a:latin typeface="Consolas"/>
              </a:rPr>
              <a:t># risk</a:t>
            </a:r>
          </a:p>
          <a:p>
            <a:pPr algn="l">
              <a:spcAft>
                <a:spcPts val="200"/>
              </a:spcAft>
            </a:pPr>
            <a:r>
              <a:rPr sz="1150" b="0" i="0">
                <a:solidFill>
                  <a:srgbClr val="8B96A0"/>
                </a:solidFill>
                <a:latin typeface="Consolas"/>
              </a:rPr>
              <a:t> 5  </a:t>
            </a:r>
            <a:r>
              <a:rPr sz="1150" b="0" i="0">
                <a:solidFill>
                  <a:srgbClr val="23272B"/>
                </a:solidFill>
                <a:latin typeface="Consolas"/>
              </a:rPr>
              <a:t>if ŷ_(t+1) &gt; τ then</a:t>
            </a:r>
          </a:p>
          <a:p>
            <a:pPr algn="l">
              <a:spcAft>
                <a:spcPts val="200"/>
              </a:spcAft>
            </a:pPr>
            <a:r>
              <a:rPr sz="1150" b="0" i="0">
                <a:solidFill>
                  <a:srgbClr val="8B96A0"/>
                </a:solidFill>
                <a:latin typeface="Consolas"/>
              </a:rPr>
              <a:t> 6  </a:t>
            </a:r>
            <a:r>
              <a:rPr sz="1150" b="0" i="0">
                <a:solidFill>
                  <a:srgbClr val="23272B"/>
                </a:solidFill>
                <a:latin typeface="Consolas"/>
              </a:rPr>
              <a:t>    IssueAlert(region, ŷ_(t+1))</a:t>
            </a:r>
          </a:p>
          <a:p>
            <a:pPr algn="l">
              <a:spcAft>
                <a:spcPts val="200"/>
              </a:spcAft>
            </a:pPr>
            <a:r>
              <a:rPr sz="1150" b="0" i="0">
                <a:solidFill>
                  <a:srgbClr val="8B96A0"/>
                </a:solidFill>
                <a:latin typeface="Consolas"/>
              </a:rPr>
              <a:t> 7  </a:t>
            </a:r>
            <a:r>
              <a:rPr sz="1150" b="0" i="0">
                <a:solidFill>
                  <a:srgbClr val="23272B"/>
                </a:solidFill>
                <a:latin typeface="Consolas"/>
              </a:rPr>
              <a:t>return ŷ_(t+1), alert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84048"/>
            <a:ext cx="566928" cy="566928"/>
          </a:xfrm>
          <a:prstGeom prst="rect">
            <a:avLst/>
          </a:prstGeom>
          <a:solidFill>
            <a:srgbClr val="F4A81D"/>
          </a:solidFill>
          <a:ln>
            <a:noFill/>
          </a:ln>
        </p:spPr>
        <p:txBody>
          <a:bodyPr rtlCol="0" anchor="ctr" wrap="square" lIns="0" rIns="0" tIns="0" bIns="0"/>
          <a:lstStyle/>
          <a:p>
            <a:pPr algn="ctr">
              <a:spcAft>
                <a:spcPts val="0"/>
              </a:spcAft>
            </a:pPr>
            <a:r>
              <a:rPr sz="1800" b="1" i="0">
                <a:solidFill>
                  <a:srgbClr val="23272B"/>
                </a:solidFill>
                <a:latin typeface="Arial"/>
              </a:rPr>
              <a:t>07</a:t>
            </a:r>
          </a:p>
        </p:txBody>
      </p:sp>
      <p:sp>
        <p:nvSpPr>
          <p:cNvPr id="3" name="TextBox 2"/>
          <p:cNvSpPr txBox="1"/>
          <p:nvPr/>
        </p:nvSpPr>
        <p:spPr>
          <a:xfrm>
            <a:off x="1280160" y="329184"/>
            <a:ext cx="7315200" cy="438912"/>
          </a:xfrm>
          <a:prstGeom prst="rect">
            <a:avLst/>
          </a:prstGeom>
          <a:noFill/>
        </p:spPr>
        <p:txBody>
          <a:bodyPr wrap="square" anchor="ctr" lIns="0" rIns="0" tIns="0" bIns="0"/>
          <a:lstStyle/>
          <a:p>
            <a:pPr algn="l">
              <a:spcAft>
                <a:spcPts val="400"/>
              </a:spcAft>
            </a:pPr>
            <a:r>
              <a:rPr sz="2400" b="1" i="0">
                <a:solidFill>
                  <a:srgbClr val="23272B"/>
                </a:solidFill>
                <a:latin typeface="Arial"/>
              </a:rPr>
              <a:t>Algorithm 2: Damage Assessment</a:t>
            </a:r>
          </a:p>
        </p:txBody>
      </p:sp>
      <p:sp>
        <p:nvSpPr>
          <p:cNvPr id="4" name="TextBox 3"/>
          <p:cNvSpPr txBox="1"/>
          <p:nvPr/>
        </p:nvSpPr>
        <p:spPr>
          <a:xfrm>
            <a:off x="1280160" y="749808"/>
            <a:ext cx="7315200" cy="292608"/>
          </a:xfrm>
          <a:prstGeom prst="rect">
            <a:avLst/>
          </a:prstGeom>
          <a:noFill/>
        </p:spPr>
        <p:txBody>
          <a:bodyPr wrap="square" anchor="t" lIns="0" rIns="0" tIns="0" bIns="0"/>
          <a:lstStyle/>
          <a:p>
            <a:pPr algn="l">
              <a:spcAft>
                <a:spcPts val="400"/>
              </a:spcAft>
            </a:pPr>
            <a:r>
              <a:rPr sz="1300" b="0" i="0">
                <a:solidFill>
                  <a:srgbClr val="5F6B76"/>
                </a:solidFill>
                <a:latin typeface="Arial"/>
              </a:rPr>
              <a:t>CNN / ViT segmentation of pre- and post-disaster satellite and UAV images [3], [7]</a:t>
            </a:r>
          </a:p>
        </p:txBody>
      </p:sp>
      <p:pic>
        <p:nvPicPr>
          <p:cNvPr id="5" name="Picture 4" descr="image.jpg"/>
          <p:cNvPicPr>
            <a:picLocks noChangeAspect="1"/>
          </p:cNvPicPr>
          <p:nvPr/>
        </p:nvPicPr>
        <p:blipFill>
          <a:blip r:embed="rId2"/>
          <a:stretch>
            <a:fillRect/>
          </a:stretch>
        </p:blipFill>
        <p:spPr>
          <a:xfrm>
            <a:off x="548640" y="6336792"/>
            <a:ext cx="438912" cy="330572"/>
          </a:xfrm>
          <a:prstGeom prst="rect">
            <a:avLst/>
          </a:prstGeom>
        </p:spPr>
      </p:pic>
      <p:sp>
        <p:nvSpPr>
          <p:cNvPr id="6" name="TextBox 5"/>
          <p:cNvSpPr txBox="1"/>
          <p:nvPr/>
        </p:nvSpPr>
        <p:spPr>
          <a:xfrm>
            <a:off x="1078992" y="6382512"/>
            <a:ext cx="5943600" cy="274320"/>
          </a:xfrm>
          <a:prstGeom prst="rect">
            <a:avLst/>
          </a:prstGeom>
          <a:noFill/>
        </p:spPr>
        <p:txBody>
          <a:bodyPr wrap="square" anchor="ctr" lIns="0" rIns="0" tIns="0" bIns="0"/>
          <a:lstStyle/>
          <a:p>
            <a:pPr algn="l">
              <a:spcAft>
                <a:spcPts val="400"/>
              </a:spcAft>
            </a:pPr>
            <a:r>
              <a:rPr sz="900" b="0" i="0">
                <a:solidFill>
                  <a:srgbClr val="5F6B76"/>
                </a:solidFill>
                <a:latin typeface="Arial"/>
              </a:rPr>
              <a:t>AI in Disaster Management   |   Vedika Dandade, B344</a:t>
            </a:r>
          </a:p>
        </p:txBody>
      </p:sp>
      <p:sp>
        <p:nvSpPr>
          <p:cNvPr id="7" name="Rectangle 6"/>
          <p:cNvSpPr/>
          <p:nvPr/>
        </p:nvSpPr>
        <p:spPr>
          <a:xfrm>
            <a:off x="8275320" y="6355080"/>
            <a:ext cx="329184" cy="329184"/>
          </a:xfrm>
          <a:prstGeom prst="rect">
            <a:avLst/>
          </a:prstGeom>
          <a:solidFill>
            <a:srgbClr val="F4A81D"/>
          </a:solidFill>
          <a:ln>
            <a:noFill/>
          </a:ln>
        </p:spPr>
        <p:txBody>
          <a:bodyPr rtlCol="0" anchor="ctr" wrap="square" lIns="0" rIns="0" tIns="0" bIns="0"/>
          <a:lstStyle/>
          <a:p>
            <a:pPr algn="ctr"/>
            <a:fld id="{3C1D2E4F-6A7B-4C8D-9E0F-1A2B3C4D5E6F}" type="slidenum">
              <a:rPr lang="en-US" sz="1000" b="1">
                <a:solidFill>
                  <a:srgbClr val="23272B"/>
                </a:solidFill>
                <a:latin typeface="Arial"/>
              </a:rPr>
              <a:t>11</a:t>
            </a:fld>
          </a:p>
        </p:txBody>
      </p:sp>
      <p:sp>
        <p:nvSpPr>
          <p:cNvPr id="8" name="Rectangle 7"/>
          <p:cNvSpPr/>
          <p:nvPr/>
        </p:nvSpPr>
        <p:spPr>
          <a:xfrm>
            <a:off x="548640" y="1417320"/>
            <a:ext cx="1508760" cy="777240"/>
          </a:xfrm>
          <a:prstGeom prst="rect">
            <a:avLst/>
          </a:prstGeom>
          <a:solidFill>
            <a:srgbClr val="F0F2F4"/>
          </a:solidFill>
          <a:ln>
            <a:noFill/>
          </a:ln>
        </p:spPr>
        <p:txBody>
          <a:bodyPr rtlCol="0" anchor="ctr" wrap="square" lIns="54864" rIns="54864" tIns="54864" bIns="54864"/>
          <a:lstStyle/>
          <a:p>
            <a:pPr algn="ctr"/>
          </a:p>
        </p:txBody>
      </p:sp>
      <p:pic>
        <p:nvPicPr>
          <p:cNvPr id="9" name="Picture 8" descr="house_vb.png"/>
          <p:cNvPicPr>
            <a:picLocks noChangeAspect="1"/>
          </p:cNvPicPr>
          <p:nvPr/>
        </p:nvPicPr>
        <p:blipFill>
          <a:blip r:embed="rId3"/>
          <a:stretch>
            <a:fillRect/>
          </a:stretch>
        </p:blipFill>
        <p:spPr>
          <a:xfrm>
            <a:off x="658368" y="1581912"/>
            <a:ext cx="438912" cy="438912"/>
          </a:xfrm>
          <a:prstGeom prst="rect">
            <a:avLst/>
          </a:prstGeom>
        </p:spPr>
      </p:pic>
      <p:sp>
        <p:nvSpPr>
          <p:cNvPr id="10" name="TextBox 9"/>
          <p:cNvSpPr txBox="1"/>
          <p:nvPr/>
        </p:nvSpPr>
        <p:spPr>
          <a:xfrm>
            <a:off x="1161288" y="1417320"/>
            <a:ext cx="868680" cy="777240"/>
          </a:xfrm>
          <a:prstGeom prst="rect">
            <a:avLst/>
          </a:prstGeom>
          <a:noFill/>
        </p:spPr>
        <p:txBody>
          <a:bodyPr wrap="square" anchor="ctr" lIns="0" rIns="0" tIns="0" bIns="0"/>
          <a:lstStyle/>
          <a:p>
            <a:pPr algn="l">
              <a:spcAft>
                <a:spcPts val="400"/>
              </a:spcAft>
            </a:pPr>
            <a:r>
              <a:rPr sz="1050" b="1" i="0">
                <a:solidFill>
                  <a:srgbClr val="23272B"/>
                </a:solidFill>
                <a:latin typeface="Arial"/>
              </a:rPr>
              <a:t>Pre-disaster image</a:t>
            </a:r>
          </a:p>
        </p:txBody>
      </p:sp>
      <p:sp>
        <p:nvSpPr>
          <p:cNvPr id="11" name="Rectangle 10"/>
          <p:cNvSpPr/>
          <p:nvPr/>
        </p:nvSpPr>
        <p:spPr>
          <a:xfrm>
            <a:off x="548640" y="2331720"/>
            <a:ext cx="1508760" cy="777240"/>
          </a:xfrm>
          <a:prstGeom prst="rect">
            <a:avLst/>
          </a:prstGeom>
          <a:solidFill>
            <a:srgbClr val="F0F2F4"/>
          </a:solidFill>
          <a:ln>
            <a:noFill/>
          </a:ln>
        </p:spPr>
        <p:txBody>
          <a:bodyPr rtlCol="0" anchor="ctr" wrap="square" lIns="54864" rIns="54864" tIns="54864" bIns="54864"/>
          <a:lstStyle/>
          <a:p>
            <a:pPr algn="ctr"/>
          </a:p>
        </p:txBody>
      </p:sp>
      <p:pic>
        <p:nvPicPr>
          <p:cNvPr id="12" name="Picture 11" descr="house_vr.png"/>
          <p:cNvPicPr>
            <a:picLocks noChangeAspect="1"/>
          </p:cNvPicPr>
          <p:nvPr/>
        </p:nvPicPr>
        <p:blipFill>
          <a:blip r:embed="rId4"/>
          <a:stretch>
            <a:fillRect/>
          </a:stretch>
        </p:blipFill>
        <p:spPr>
          <a:xfrm>
            <a:off x="658368" y="2496312"/>
            <a:ext cx="438912" cy="438912"/>
          </a:xfrm>
          <a:prstGeom prst="rect">
            <a:avLst/>
          </a:prstGeom>
        </p:spPr>
      </p:pic>
      <p:sp>
        <p:nvSpPr>
          <p:cNvPr id="13" name="TextBox 12"/>
          <p:cNvSpPr txBox="1"/>
          <p:nvPr/>
        </p:nvSpPr>
        <p:spPr>
          <a:xfrm>
            <a:off x="1161288" y="2331720"/>
            <a:ext cx="868680" cy="777240"/>
          </a:xfrm>
          <a:prstGeom prst="rect">
            <a:avLst/>
          </a:prstGeom>
          <a:noFill/>
        </p:spPr>
        <p:txBody>
          <a:bodyPr wrap="square" anchor="ctr" lIns="0" rIns="0" tIns="0" bIns="0"/>
          <a:lstStyle/>
          <a:p>
            <a:pPr algn="l">
              <a:spcAft>
                <a:spcPts val="400"/>
              </a:spcAft>
            </a:pPr>
            <a:r>
              <a:rPr sz="1050" b="1" i="0">
                <a:solidFill>
                  <a:srgbClr val="23272B"/>
                </a:solidFill>
                <a:latin typeface="Arial"/>
              </a:rPr>
              <a:t>Post-disaster image</a:t>
            </a:r>
          </a:p>
        </p:txBody>
      </p:sp>
      <p:sp>
        <p:nvSpPr>
          <p:cNvPr id="14" name="Rectangle 13"/>
          <p:cNvSpPr/>
          <p:nvPr/>
        </p:nvSpPr>
        <p:spPr>
          <a:xfrm>
            <a:off x="2286000" y="1783080"/>
            <a:ext cx="1234440" cy="960120"/>
          </a:xfrm>
          <a:prstGeom prst="rect">
            <a:avLst/>
          </a:prstGeom>
          <a:solidFill>
            <a:srgbClr val="FFFFFF"/>
          </a:solidFill>
          <a:ln w="15875">
            <a:solidFill>
              <a:srgbClr val="D5DADF"/>
            </a:solidFill>
          </a:ln>
        </p:spPr>
        <p:txBody>
          <a:bodyPr rtlCol="0" anchor="ctr" wrap="square" lIns="54864" rIns="54864" tIns="54864" bIns="54864"/>
          <a:lstStyle/>
          <a:p>
            <a:pPr algn="ctr">
              <a:spcAft>
                <a:spcPts val="0"/>
              </a:spcAft>
            </a:pPr>
            <a:r>
              <a:rPr sz="1050" b="1" i="0">
                <a:solidFill>
                  <a:srgbClr val="23272B"/>
                </a:solidFill>
                <a:latin typeface="Arial"/>
              </a:rPr>
              <a:t>Align &amp;</a:t>
            </a:r>
          </a:p>
          <a:p>
            <a:pPr algn="ctr">
              <a:spcAft>
                <a:spcPts val="0"/>
              </a:spcAft>
            </a:pPr>
            <a:r>
              <a:rPr sz="1050" b="1" i="0">
                <a:solidFill>
                  <a:srgbClr val="23272B"/>
                </a:solidFill>
                <a:latin typeface="Arial"/>
              </a:rPr>
              <a:t>preprocess</a:t>
            </a:r>
          </a:p>
          <a:p>
            <a:pPr algn="ctr">
              <a:spcAft>
                <a:spcPts val="0"/>
              </a:spcAft>
            </a:pPr>
            <a:r>
              <a:rPr sz="1050" b="0" i="0">
                <a:solidFill>
                  <a:srgbClr val="23272B"/>
                </a:solidFill>
                <a:latin typeface="Arial"/>
              </a:rPr>
              <a:t>co-registration</a:t>
            </a:r>
          </a:p>
        </p:txBody>
      </p:sp>
      <p:sp>
        <p:nvSpPr>
          <p:cNvPr id="15" name="Rectangle 14"/>
          <p:cNvSpPr/>
          <p:nvPr/>
        </p:nvSpPr>
        <p:spPr>
          <a:xfrm>
            <a:off x="3749039" y="1691640"/>
            <a:ext cx="1325880" cy="1143000"/>
          </a:xfrm>
          <a:prstGeom prst="rect">
            <a:avLst/>
          </a:prstGeom>
          <a:solidFill>
            <a:srgbClr val="23272B"/>
          </a:solidFill>
          <a:ln>
            <a:noFill/>
          </a:ln>
        </p:spPr>
        <p:txBody>
          <a:bodyPr rtlCol="0" anchor="ctr" wrap="square" lIns="54864" rIns="54864" tIns="54864" bIns="54864"/>
          <a:lstStyle/>
          <a:p>
            <a:pPr algn="ctr">
              <a:spcAft>
                <a:spcPts val="0"/>
              </a:spcAft>
            </a:pPr>
            <a:r>
              <a:rPr sz="1400" b="1" i="0">
                <a:solidFill>
                  <a:srgbClr val="FFFFFF"/>
                </a:solidFill>
                <a:latin typeface="Arial"/>
              </a:rPr>
              <a:t>CNN / ViT</a:t>
            </a:r>
          </a:p>
          <a:p>
            <a:pPr algn="ctr">
              <a:spcAft>
                <a:spcPts val="0"/>
              </a:spcAft>
            </a:pPr>
            <a:r>
              <a:rPr sz="1050" b="0" i="0">
                <a:solidFill>
                  <a:srgbClr val="FFFFFF"/>
                </a:solidFill>
                <a:latin typeface="Arial"/>
              </a:rPr>
              <a:t>semantic segmentation</a:t>
            </a:r>
          </a:p>
        </p:txBody>
      </p:sp>
      <p:cxnSp>
        <p:nvCxnSpPr>
          <p:cNvPr id="16" name="Connector 15"/>
          <p:cNvCxnSpPr/>
          <p:nvPr/>
        </p:nvCxnSpPr>
        <p:spPr>
          <a:xfrm>
            <a:off x="2057400" y="1810512"/>
            <a:ext cx="228600" cy="292608"/>
          </a:xfrm>
          <a:prstGeom prst="line">
            <a:avLst/>
          </a:prstGeom>
          <a:ln w="19050">
            <a:solidFill>
              <a:srgbClr val="5F6B76"/>
            </a:solidFill>
            <a:tailEnd type="triangle" w="med" len="med"/>
          </a:ln>
        </p:spPr>
      </p:cxnSp>
      <p:cxnSp>
        <p:nvCxnSpPr>
          <p:cNvPr id="17" name="Connector 16"/>
          <p:cNvCxnSpPr/>
          <p:nvPr/>
        </p:nvCxnSpPr>
        <p:spPr>
          <a:xfrm flipV="1">
            <a:off x="2057400" y="2423160"/>
            <a:ext cx="228600" cy="301752"/>
          </a:xfrm>
          <a:prstGeom prst="line">
            <a:avLst/>
          </a:prstGeom>
          <a:ln w="19050">
            <a:solidFill>
              <a:srgbClr val="5F6B76"/>
            </a:solidFill>
            <a:tailEnd type="triangle" w="med" len="med"/>
          </a:ln>
        </p:spPr>
      </p:cxnSp>
      <p:cxnSp>
        <p:nvCxnSpPr>
          <p:cNvPr id="18" name="Connector 17"/>
          <p:cNvCxnSpPr/>
          <p:nvPr/>
        </p:nvCxnSpPr>
        <p:spPr>
          <a:xfrm>
            <a:off x="3520440" y="2258568"/>
            <a:ext cx="228599" cy="0"/>
          </a:xfrm>
          <a:prstGeom prst="line">
            <a:avLst/>
          </a:prstGeom>
          <a:ln w="22225">
            <a:solidFill>
              <a:srgbClr val="5F6B76"/>
            </a:solidFill>
            <a:tailEnd type="triangle" w="med" len="med"/>
          </a:ln>
        </p:spPr>
      </p:cxnSp>
      <p:cxnSp>
        <p:nvCxnSpPr>
          <p:cNvPr id="19" name="Connector 18"/>
          <p:cNvCxnSpPr/>
          <p:nvPr/>
        </p:nvCxnSpPr>
        <p:spPr>
          <a:xfrm>
            <a:off x="5074920" y="2258568"/>
            <a:ext cx="228600" cy="0"/>
          </a:xfrm>
          <a:prstGeom prst="line">
            <a:avLst/>
          </a:prstGeom>
          <a:ln w="22225">
            <a:solidFill>
              <a:srgbClr val="5F6B76"/>
            </a:solidFill>
            <a:tailEnd type="triangle" w="med" len="med"/>
          </a:ln>
        </p:spPr>
      </p:cxnSp>
      <p:sp>
        <p:nvSpPr>
          <p:cNvPr id="20" name="Rectangle 19"/>
          <p:cNvSpPr/>
          <p:nvPr/>
        </p:nvSpPr>
        <p:spPr>
          <a:xfrm>
            <a:off x="5321808" y="1417320"/>
            <a:ext cx="246888" cy="246888"/>
          </a:xfrm>
          <a:prstGeom prst="rect">
            <a:avLst/>
          </a:prstGeom>
          <a:solidFill>
            <a:srgbClr val="3C9D5D"/>
          </a:solidFill>
          <a:ln>
            <a:noFill/>
          </a:ln>
        </p:spPr>
        <p:txBody>
          <a:bodyPr rtlCol="0" anchor="ctr" wrap="square" lIns="54864" rIns="54864" tIns="54864" bIns="54864"/>
          <a:lstStyle/>
          <a:p>
            <a:pPr algn="ctr"/>
          </a:p>
        </p:txBody>
      </p:sp>
      <p:sp>
        <p:nvSpPr>
          <p:cNvPr id="21" name="Rectangle 20"/>
          <p:cNvSpPr/>
          <p:nvPr/>
        </p:nvSpPr>
        <p:spPr>
          <a:xfrm>
            <a:off x="5586984" y="1417320"/>
            <a:ext cx="246888" cy="246888"/>
          </a:xfrm>
          <a:prstGeom prst="rect">
            <a:avLst/>
          </a:prstGeom>
          <a:solidFill>
            <a:srgbClr val="3C9D5D"/>
          </a:solidFill>
          <a:ln>
            <a:noFill/>
          </a:ln>
        </p:spPr>
        <p:txBody>
          <a:bodyPr rtlCol="0" anchor="ctr" wrap="square" lIns="54864" rIns="54864" tIns="54864" bIns="54864"/>
          <a:lstStyle/>
          <a:p>
            <a:pPr algn="ctr"/>
          </a:p>
        </p:txBody>
      </p:sp>
      <p:sp>
        <p:nvSpPr>
          <p:cNvPr id="22" name="Rectangle 21"/>
          <p:cNvSpPr/>
          <p:nvPr/>
        </p:nvSpPr>
        <p:spPr>
          <a:xfrm>
            <a:off x="5852160" y="1417320"/>
            <a:ext cx="246888" cy="246888"/>
          </a:xfrm>
          <a:prstGeom prst="rect">
            <a:avLst/>
          </a:prstGeom>
          <a:solidFill>
            <a:srgbClr val="3C9D5D"/>
          </a:solidFill>
          <a:ln>
            <a:noFill/>
          </a:ln>
        </p:spPr>
        <p:txBody>
          <a:bodyPr rtlCol="0" anchor="ctr" wrap="square" lIns="54864" rIns="54864" tIns="54864" bIns="54864"/>
          <a:lstStyle/>
          <a:p>
            <a:pPr algn="ctr"/>
          </a:p>
        </p:txBody>
      </p:sp>
      <p:sp>
        <p:nvSpPr>
          <p:cNvPr id="23" name="Rectangle 22"/>
          <p:cNvSpPr/>
          <p:nvPr/>
        </p:nvSpPr>
        <p:spPr>
          <a:xfrm>
            <a:off x="6117336" y="1417320"/>
            <a:ext cx="246888" cy="246888"/>
          </a:xfrm>
          <a:prstGeom prst="rect">
            <a:avLst/>
          </a:prstGeom>
          <a:solidFill>
            <a:srgbClr val="F6D365"/>
          </a:solidFill>
          <a:ln>
            <a:noFill/>
          </a:ln>
        </p:spPr>
        <p:txBody>
          <a:bodyPr rtlCol="0" anchor="ctr" wrap="square" lIns="54864" rIns="54864" tIns="54864" bIns="54864"/>
          <a:lstStyle/>
          <a:p>
            <a:pPr algn="ctr"/>
          </a:p>
        </p:txBody>
      </p:sp>
      <p:sp>
        <p:nvSpPr>
          <p:cNvPr id="24" name="Rectangle 23"/>
          <p:cNvSpPr/>
          <p:nvPr/>
        </p:nvSpPr>
        <p:spPr>
          <a:xfrm>
            <a:off x="6382512" y="1417320"/>
            <a:ext cx="246888" cy="246888"/>
          </a:xfrm>
          <a:prstGeom prst="rect">
            <a:avLst/>
          </a:prstGeom>
          <a:solidFill>
            <a:srgbClr val="F4A81D"/>
          </a:solidFill>
          <a:ln>
            <a:noFill/>
          </a:ln>
        </p:spPr>
        <p:txBody>
          <a:bodyPr rtlCol="0" anchor="ctr" wrap="square" lIns="54864" rIns="54864" tIns="54864" bIns="54864"/>
          <a:lstStyle/>
          <a:p>
            <a:pPr algn="ctr"/>
          </a:p>
        </p:txBody>
      </p:sp>
      <p:sp>
        <p:nvSpPr>
          <p:cNvPr id="25" name="Rectangle 24"/>
          <p:cNvSpPr/>
          <p:nvPr/>
        </p:nvSpPr>
        <p:spPr>
          <a:xfrm>
            <a:off x="5321808" y="1682496"/>
            <a:ext cx="246888" cy="246888"/>
          </a:xfrm>
          <a:prstGeom prst="rect">
            <a:avLst/>
          </a:prstGeom>
          <a:solidFill>
            <a:srgbClr val="3C9D5D"/>
          </a:solidFill>
          <a:ln>
            <a:noFill/>
          </a:ln>
        </p:spPr>
        <p:txBody>
          <a:bodyPr rtlCol="0" anchor="ctr" wrap="square" lIns="54864" rIns="54864" tIns="54864" bIns="54864"/>
          <a:lstStyle/>
          <a:p>
            <a:pPr algn="ctr"/>
          </a:p>
        </p:txBody>
      </p:sp>
      <p:sp>
        <p:nvSpPr>
          <p:cNvPr id="26" name="Rectangle 25"/>
          <p:cNvSpPr/>
          <p:nvPr/>
        </p:nvSpPr>
        <p:spPr>
          <a:xfrm>
            <a:off x="5586984" y="1682496"/>
            <a:ext cx="246888" cy="246888"/>
          </a:xfrm>
          <a:prstGeom prst="rect">
            <a:avLst/>
          </a:prstGeom>
          <a:solidFill>
            <a:srgbClr val="F6D365"/>
          </a:solidFill>
          <a:ln>
            <a:noFill/>
          </a:ln>
        </p:spPr>
        <p:txBody>
          <a:bodyPr rtlCol="0" anchor="ctr" wrap="square" lIns="54864" rIns="54864" tIns="54864" bIns="54864"/>
          <a:lstStyle/>
          <a:p>
            <a:pPr algn="ctr"/>
          </a:p>
        </p:txBody>
      </p:sp>
      <p:sp>
        <p:nvSpPr>
          <p:cNvPr id="27" name="Rectangle 26"/>
          <p:cNvSpPr/>
          <p:nvPr/>
        </p:nvSpPr>
        <p:spPr>
          <a:xfrm>
            <a:off x="5852160" y="1682496"/>
            <a:ext cx="246888" cy="246888"/>
          </a:xfrm>
          <a:prstGeom prst="rect">
            <a:avLst/>
          </a:prstGeom>
          <a:solidFill>
            <a:srgbClr val="F6D365"/>
          </a:solidFill>
          <a:ln>
            <a:noFill/>
          </a:ln>
        </p:spPr>
        <p:txBody>
          <a:bodyPr rtlCol="0" anchor="ctr" wrap="square" lIns="54864" rIns="54864" tIns="54864" bIns="54864"/>
          <a:lstStyle/>
          <a:p>
            <a:pPr algn="ctr"/>
          </a:p>
        </p:txBody>
      </p:sp>
      <p:sp>
        <p:nvSpPr>
          <p:cNvPr id="28" name="Rectangle 27"/>
          <p:cNvSpPr/>
          <p:nvPr/>
        </p:nvSpPr>
        <p:spPr>
          <a:xfrm>
            <a:off x="6117336" y="1682496"/>
            <a:ext cx="246888" cy="246888"/>
          </a:xfrm>
          <a:prstGeom prst="rect">
            <a:avLst/>
          </a:prstGeom>
          <a:solidFill>
            <a:srgbClr val="F4A81D"/>
          </a:solidFill>
          <a:ln>
            <a:noFill/>
          </a:ln>
        </p:spPr>
        <p:txBody>
          <a:bodyPr rtlCol="0" anchor="ctr" wrap="square" lIns="54864" rIns="54864" tIns="54864" bIns="54864"/>
          <a:lstStyle/>
          <a:p>
            <a:pPr algn="ctr"/>
          </a:p>
        </p:txBody>
      </p:sp>
      <p:sp>
        <p:nvSpPr>
          <p:cNvPr id="29" name="Rectangle 28"/>
          <p:cNvSpPr/>
          <p:nvPr/>
        </p:nvSpPr>
        <p:spPr>
          <a:xfrm>
            <a:off x="6382512" y="1682496"/>
            <a:ext cx="246888" cy="246888"/>
          </a:xfrm>
          <a:prstGeom prst="rect">
            <a:avLst/>
          </a:prstGeom>
          <a:solidFill>
            <a:srgbClr val="D9472B"/>
          </a:solidFill>
          <a:ln>
            <a:noFill/>
          </a:ln>
        </p:spPr>
        <p:txBody>
          <a:bodyPr rtlCol="0" anchor="ctr" wrap="square" lIns="54864" rIns="54864" tIns="54864" bIns="54864"/>
          <a:lstStyle/>
          <a:p>
            <a:pPr algn="ctr"/>
          </a:p>
        </p:txBody>
      </p:sp>
      <p:sp>
        <p:nvSpPr>
          <p:cNvPr id="30" name="Rectangle 29"/>
          <p:cNvSpPr/>
          <p:nvPr/>
        </p:nvSpPr>
        <p:spPr>
          <a:xfrm>
            <a:off x="5321808" y="1947672"/>
            <a:ext cx="246888" cy="246888"/>
          </a:xfrm>
          <a:prstGeom prst="rect">
            <a:avLst/>
          </a:prstGeom>
          <a:solidFill>
            <a:srgbClr val="3C9D5D"/>
          </a:solidFill>
          <a:ln>
            <a:noFill/>
          </a:ln>
        </p:spPr>
        <p:txBody>
          <a:bodyPr rtlCol="0" anchor="ctr" wrap="square" lIns="54864" rIns="54864" tIns="54864" bIns="54864"/>
          <a:lstStyle/>
          <a:p>
            <a:pPr algn="ctr"/>
          </a:p>
        </p:txBody>
      </p:sp>
      <p:sp>
        <p:nvSpPr>
          <p:cNvPr id="31" name="Rectangle 30"/>
          <p:cNvSpPr/>
          <p:nvPr/>
        </p:nvSpPr>
        <p:spPr>
          <a:xfrm>
            <a:off x="5586984" y="1947672"/>
            <a:ext cx="246888" cy="246888"/>
          </a:xfrm>
          <a:prstGeom prst="rect">
            <a:avLst/>
          </a:prstGeom>
          <a:solidFill>
            <a:srgbClr val="F6D365"/>
          </a:solidFill>
          <a:ln>
            <a:noFill/>
          </a:ln>
        </p:spPr>
        <p:txBody>
          <a:bodyPr rtlCol="0" anchor="ctr" wrap="square" lIns="54864" rIns="54864" tIns="54864" bIns="54864"/>
          <a:lstStyle/>
          <a:p>
            <a:pPr algn="ctr"/>
          </a:p>
        </p:txBody>
      </p:sp>
      <p:sp>
        <p:nvSpPr>
          <p:cNvPr id="32" name="Rectangle 31"/>
          <p:cNvSpPr/>
          <p:nvPr/>
        </p:nvSpPr>
        <p:spPr>
          <a:xfrm>
            <a:off x="5852160" y="1947672"/>
            <a:ext cx="246888" cy="246888"/>
          </a:xfrm>
          <a:prstGeom prst="rect">
            <a:avLst/>
          </a:prstGeom>
          <a:solidFill>
            <a:srgbClr val="F4A81D"/>
          </a:solidFill>
          <a:ln>
            <a:noFill/>
          </a:ln>
        </p:spPr>
        <p:txBody>
          <a:bodyPr rtlCol="0" anchor="ctr" wrap="square" lIns="54864" rIns="54864" tIns="54864" bIns="54864"/>
          <a:lstStyle/>
          <a:p>
            <a:pPr algn="ctr"/>
          </a:p>
        </p:txBody>
      </p:sp>
      <p:sp>
        <p:nvSpPr>
          <p:cNvPr id="33" name="Rectangle 32"/>
          <p:cNvSpPr/>
          <p:nvPr/>
        </p:nvSpPr>
        <p:spPr>
          <a:xfrm>
            <a:off x="6117336" y="1947672"/>
            <a:ext cx="246888" cy="246888"/>
          </a:xfrm>
          <a:prstGeom prst="rect">
            <a:avLst/>
          </a:prstGeom>
          <a:solidFill>
            <a:srgbClr val="D9472B"/>
          </a:solidFill>
          <a:ln>
            <a:noFill/>
          </a:ln>
        </p:spPr>
        <p:txBody>
          <a:bodyPr rtlCol="0" anchor="ctr" wrap="square" lIns="54864" rIns="54864" tIns="54864" bIns="54864"/>
          <a:lstStyle/>
          <a:p>
            <a:pPr algn="ctr"/>
          </a:p>
        </p:txBody>
      </p:sp>
      <p:sp>
        <p:nvSpPr>
          <p:cNvPr id="34" name="Rectangle 33"/>
          <p:cNvSpPr/>
          <p:nvPr/>
        </p:nvSpPr>
        <p:spPr>
          <a:xfrm>
            <a:off x="6382512" y="1947672"/>
            <a:ext cx="246888" cy="246888"/>
          </a:xfrm>
          <a:prstGeom prst="rect">
            <a:avLst/>
          </a:prstGeom>
          <a:solidFill>
            <a:srgbClr val="D9472B"/>
          </a:solidFill>
          <a:ln>
            <a:noFill/>
          </a:ln>
        </p:spPr>
        <p:txBody>
          <a:bodyPr rtlCol="0" anchor="ctr" wrap="square" lIns="54864" rIns="54864" tIns="54864" bIns="54864"/>
          <a:lstStyle/>
          <a:p>
            <a:pPr algn="ctr"/>
          </a:p>
        </p:txBody>
      </p:sp>
      <p:sp>
        <p:nvSpPr>
          <p:cNvPr id="35" name="Rectangle 34"/>
          <p:cNvSpPr/>
          <p:nvPr/>
        </p:nvSpPr>
        <p:spPr>
          <a:xfrm>
            <a:off x="5321808" y="2212848"/>
            <a:ext cx="246888" cy="246888"/>
          </a:xfrm>
          <a:prstGeom prst="rect">
            <a:avLst/>
          </a:prstGeom>
          <a:solidFill>
            <a:srgbClr val="3C9D5D"/>
          </a:solidFill>
          <a:ln>
            <a:noFill/>
          </a:ln>
        </p:spPr>
        <p:txBody>
          <a:bodyPr rtlCol="0" anchor="ctr" wrap="square" lIns="54864" rIns="54864" tIns="54864" bIns="54864"/>
          <a:lstStyle/>
          <a:p>
            <a:pPr algn="ctr"/>
          </a:p>
        </p:txBody>
      </p:sp>
      <p:sp>
        <p:nvSpPr>
          <p:cNvPr id="36" name="Rectangle 35"/>
          <p:cNvSpPr/>
          <p:nvPr/>
        </p:nvSpPr>
        <p:spPr>
          <a:xfrm>
            <a:off x="5586984" y="2212848"/>
            <a:ext cx="246888" cy="246888"/>
          </a:xfrm>
          <a:prstGeom prst="rect">
            <a:avLst/>
          </a:prstGeom>
          <a:solidFill>
            <a:srgbClr val="3C9D5D"/>
          </a:solidFill>
          <a:ln>
            <a:noFill/>
          </a:ln>
        </p:spPr>
        <p:txBody>
          <a:bodyPr rtlCol="0" anchor="ctr" wrap="square" lIns="54864" rIns="54864" tIns="54864" bIns="54864"/>
          <a:lstStyle/>
          <a:p>
            <a:pPr algn="ctr"/>
          </a:p>
        </p:txBody>
      </p:sp>
      <p:sp>
        <p:nvSpPr>
          <p:cNvPr id="37" name="Rectangle 36"/>
          <p:cNvSpPr/>
          <p:nvPr/>
        </p:nvSpPr>
        <p:spPr>
          <a:xfrm>
            <a:off x="5852160" y="2212848"/>
            <a:ext cx="246888" cy="246888"/>
          </a:xfrm>
          <a:prstGeom prst="rect">
            <a:avLst/>
          </a:prstGeom>
          <a:solidFill>
            <a:srgbClr val="F6D365"/>
          </a:solidFill>
          <a:ln>
            <a:noFill/>
          </a:ln>
        </p:spPr>
        <p:txBody>
          <a:bodyPr rtlCol="0" anchor="ctr" wrap="square" lIns="54864" rIns="54864" tIns="54864" bIns="54864"/>
          <a:lstStyle/>
          <a:p>
            <a:pPr algn="ctr"/>
          </a:p>
        </p:txBody>
      </p:sp>
      <p:sp>
        <p:nvSpPr>
          <p:cNvPr id="38" name="Rectangle 37"/>
          <p:cNvSpPr/>
          <p:nvPr/>
        </p:nvSpPr>
        <p:spPr>
          <a:xfrm>
            <a:off x="6117336" y="2212848"/>
            <a:ext cx="246888" cy="246888"/>
          </a:xfrm>
          <a:prstGeom prst="rect">
            <a:avLst/>
          </a:prstGeom>
          <a:solidFill>
            <a:srgbClr val="F4A81D"/>
          </a:solidFill>
          <a:ln>
            <a:noFill/>
          </a:ln>
        </p:spPr>
        <p:txBody>
          <a:bodyPr rtlCol="0" anchor="ctr" wrap="square" lIns="54864" rIns="54864" tIns="54864" bIns="54864"/>
          <a:lstStyle/>
          <a:p>
            <a:pPr algn="ctr"/>
          </a:p>
        </p:txBody>
      </p:sp>
      <p:sp>
        <p:nvSpPr>
          <p:cNvPr id="39" name="Rectangle 38"/>
          <p:cNvSpPr/>
          <p:nvPr/>
        </p:nvSpPr>
        <p:spPr>
          <a:xfrm>
            <a:off x="6382512" y="2212848"/>
            <a:ext cx="246888" cy="246888"/>
          </a:xfrm>
          <a:prstGeom prst="rect">
            <a:avLst/>
          </a:prstGeom>
          <a:solidFill>
            <a:srgbClr val="F4A81D"/>
          </a:solidFill>
          <a:ln>
            <a:noFill/>
          </a:ln>
        </p:spPr>
        <p:txBody>
          <a:bodyPr rtlCol="0" anchor="ctr" wrap="square" lIns="54864" rIns="54864" tIns="54864" bIns="54864"/>
          <a:lstStyle/>
          <a:p>
            <a:pPr algn="ctr"/>
          </a:p>
        </p:txBody>
      </p:sp>
      <p:sp>
        <p:nvSpPr>
          <p:cNvPr id="40" name="Rectangle 39"/>
          <p:cNvSpPr/>
          <p:nvPr/>
        </p:nvSpPr>
        <p:spPr>
          <a:xfrm>
            <a:off x="5321808" y="2478024"/>
            <a:ext cx="246888" cy="246888"/>
          </a:xfrm>
          <a:prstGeom prst="rect">
            <a:avLst/>
          </a:prstGeom>
          <a:solidFill>
            <a:srgbClr val="3C9D5D"/>
          </a:solidFill>
          <a:ln>
            <a:noFill/>
          </a:ln>
        </p:spPr>
        <p:txBody>
          <a:bodyPr rtlCol="0" anchor="ctr" wrap="square" lIns="54864" rIns="54864" tIns="54864" bIns="54864"/>
          <a:lstStyle/>
          <a:p>
            <a:pPr algn="ctr"/>
          </a:p>
        </p:txBody>
      </p:sp>
      <p:sp>
        <p:nvSpPr>
          <p:cNvPr id="41" name="Rectangle 40"/>
          <p:cNvSpPr/>
          <p:nvPr/>
        </p:nvSpPr>
        <p:spPr>
          <a:xfrm>
            <a:off x="5586984" y="2478024"/>
            <a:ext cx="246888" cy="246888"/>
          </a:xfrm>
          <a:prstGeom prst="rect">
            <a:avLst/>
          </a:prstGeom>
          <a:solidFill>
            <a:srgbClr val="3C9D5D"/>
          </a:solidFill>
          <a:ln>
            <a:noFill/>
          </a:ln>
        </p:spPr>
        <p:txBody>
          <a:bodyPr rtlCol="0" anchor="ctr" wrap="square" lIns="54864" rIns="54864" tIns="54864" bIns="54864"/>
          <a:lstStyle/>
          <a:p>
            <a:pPr algn="ctr"/>
          </a:p>
        </p:txBody>
      </p:sp>
      <p:sp>
        <p:nvSpPr>
          <p:cNvPr id="42" name="Rectangle 41"/>
          <p:cNvSpPr/>
          <p:nvPr/>
        </p:nvSpPr>
        <p:spPr>
          <a:xfrm>
            <a:off x="5852160" y="2478024"/>
            <a:ext cx="246888" cy="246888"/>
          </a:xfrm>
          <a:prstGeom prst="rect">
            <a:avLst/>
          </a:prstGeom>
          <a:solidFill>
            <a:srgbClr val="3C9D5D"/>
          </a:solidFill>
          <a:ln>
            <a:noFill/>
          </a:ln>
        </p:spPr>
        <p:txBody>
          <a:bodyPr rtlCol="0" anchor="ctr" wrap="square" lIns="54864" rIns="54864" tIns="54864" bIns="54864"/>
          <a:lstStyle/>
          <a:p>
            <a:pPr algn="ctr"/>
          </a:p>
        </p:txBody>
      </p:sp>
      <p:sp>
        <p:nvSpPr>
          <p:cNvPr id="43" name="Rectangle 42"/>
          <p:cNvSpPr/>
          <p:nvPr/>
        </p:nvSpPr>
        <p:spPr>
          <a:xfrm>
            <a:off x="6117336" y="2478024"/>
            <a:ext cx="246888" cy="246888"/>
          </a:xfrm>
          <a:prstGeom prst="rect">
            <a:avLst/>
          </a:prstGeom>
          <a:solidFill>
            <a:srgbClr val="F6D365"/>
          </a:solidFill>
          <a:ln>
            <a:noFill/>
          </a:ln>
        </p:spPr>
        <p:txBody>
          <a:bodyPr rtlCol="0" anchor="ctr" wrap="square" lIns="54864" rIns="54864" tIns="54864" bIns="54864"/>
          <a:lstStyle/>
          <a:p>
            <a:pPr algn="ctr"/>
          </a:p>
        </p:txBody>
      </p:sp>
      <p:sp>
        <p:nvSpPr>
          <p:cNvPr id="44" name="Rectangle 43"/>
          <p:cNvSpPr/>
          <p:nvPr/>
        </p:nvSpPr>
        <p:spPr>
          <a:xfrm>
            <a:off x="6382512" y="2478024"/>
            <a:ext cx="246888" cy="246888"/>
          </a:xfrm>
          <a:prstGeom prst="rect">
            <a:avLst/>
          </a:prstGeom>
          <a:solidFill>
            <a:srgbClr val="F6D365"/>
          </a:solidFill>
          <a:ln>
            <a:noFill/>
          </a:ln>
        </p:spPr>
        <p:txBody>
          <a:bodyPr rtlCol="0" anchor="ctr" wrap="square" lIns="54864" rIns="54864" tIns="54864" bIns="54864"/>
          <a:lstStyle/>
          <a:p>
            <a:pPr algn="ctr"/>
          </a:p>
        </p:txBody>
      </p:sp>
      <p:sp>
        <p:nvSpPr>
          <p:cNvPr id="45" name="TextBox 44"/>
          <p:cNvSpPr txBox="1"/>
          <p:nvPr/>
        </p:nvSpPr>
        <p:spPr>
          <a:xfrm>
            <a:off x="5321808" y="2770632"/>
            <a:ext cx="1307592" cy="256032"/>
          </a:xfrm>
          <a:prstGeom prst="rect">
            <a:avLst/>
          </a:prstGeom>
          <a:noFill/>
        </p:spPr>
        <p:txBody>
          <a:bodyPr wrap="square" anchor="t" lIns="0" rIns="0" tIns="0" bIns="0"/>
          <a:lstStyle/>
          <a:p>
            <a:pPr algn="ctr">
              <a:spcAft>
                <a:spcPts val="400"/>
              </a:spcAft>
            </a:pPr>
            <a:r>
              <a:rPr sz="1100" b="1" i="0">
                <a:solidFill>
                  <a:srgbClr val="23272B"/>
                </a:solidFill>
                <a:latin typeface="Arial"/>
              </a:rPr>
              <a:t>Damage map</a:t>
            </a:r>
          </a:p>
        </p:txBody>
      </p:sp>
      <p:sp>
        <p:nvSpPr>
          <p:cNvPr id="46" name="Rectangle 45"/>
          <p:cNvSpPr/>
          <p:nvPr/>
        </p:nvSpPr>
        <p:spPr>
          <a:xfrm>
            <a:off x="6949440" y="1508760"/>
            <a:ext cx="219456" cy="219456"/>
          </a:xfrm>
          <a:prstGeom prst="rect">
            <a:avLst/>
          </a:prstGeom>
          <a:solidFill>
            <a:srgbClr val="3C9D5D"/>
          </a:solidFill>
          <a:ln>
            <a:noFill/>
          </a:ln>
        </p:spPr>
        <p:txBody>
          <a:bodyPr rtlCol="0" anchor="ctr" wrap="square" lIns="54864" rIns="54864" tIns="54864" bIns="54864"/>
          <a:lstStyle/>
          <a:p>
            <a:pPr algn="ctr"/>
          </a:p>
        </p:txBody>
      </p:sp>
      <p:sp>
        <p:nvSpPr>
          <p:cNvPr id="47" name="TextBox 46"/>
          <p:cNvSpPr txBox="1"/>
          <p:nvPr/>
        </p:nvSpPr>
        <p:spPr>
          <a:xfrm>
            <a:off x="7269480" y="1463040"/>
            <a:ext cx="1325880" cy="310896"/>
          </a:xfrm>
          <a:prstGeom prst="rect">
            <a:avLst/>
          </a:prstGeom>
          <a:noFill/>
        </p:spPr>
        <p:txBody>
          <a:bodyPr wrap="square" anchor="ctr" lIns="0" rIns="0" tIns="0" bIns="0"/>
          <a:lstStyle/>
          <a:p>
            <a:pPr algn="l">
              <a:spcAft>
                <a:spcPts val="400"/>
              </a:spcAft>
            </a:pPr>
            <a:r>
              <a:rPr sz="1150" b="0" i="0">
                <a:solidFill>
                  <a:srgbClr val="23272B"/>
                </a:solidFill>
                <a:latin typeface="Arial"/>
              </a:rPr>
              <a:t>No damage</a:t>
            </a:r>
          </a:p>
        </p:txBody>
      </p:sp>
      <p:sp>
        <p:nvSpPr>
          <p:cNvPr id="48" name="Rectangle 47"/>
          <p:cNvSpPr/>
          <p:nvPr/>
        </p:nvSpPr>
        <p:spPr>
          <a:xfrm>
            <a:off x="6949440" y="1856231"/>
            <a:ext cx="219456" cy="219456"/>
          </a:xfrm>
          <a:prstGeom prst="rect">
            <a:avLst/>
          </a:prstGeom>
          <a:solidFill>
            <a:srgbClr val="F6D365"/>
          </a:solidFill>
          <a:ln>
            <a:noFill/>
          </a:ln>
        </p:spPr>
        <p:txBody>
          <a:bodyPr rtlCol="0" anchor="ctr" wrap="square" lIns="54864" rIns="54864" tIns="54864" bIns="54864"/>
          <a:lstStyle/>
          <a:p>
            <a:pPr algn="ctr"/>
          </a:p>
        </p:txBody>
      </p:sp>
      <p:sp>
        <p:nvSpPr>
          <p:cNvPr id="49" name="TextBox 48"/>
          <p:cNvSpPr txBox="1"/>
          <p:nvPr/>
        </p:nvSpPr>
        <p:spPr>
          <a:xfrm>
            <a:off x="7269480" y="1810512"/>
            <a:ext cx="1325880" cy="310896"/>
          </a:xfrm>
          <a:prstGeom prst="rect">
            <a:avLst/>
          </a:prstGeom>
          <a:noFill/>
        </p:spPr>
        <p:txBody>
          <a:bodyPr wrap="square" anchor="ctr" lIns="0" rIns="0" tIns="0" bIns="0"/>
          <a:lstStyle/>
          <a:p>
            <a:pPr algn="l">
              <a:spcAft>
                <a:spcPts val="400"/>
              </a:spcAft>
            </a:pPr>
            <a:r>
              <a:rPr sz="1150" b="0" i="0">
                <a:solidFill>
                  <a:srgbClr val="23272B"/>
                </a:solidFill>
                <a:latin typeface="Arial"/>
              </a:rPr>
              <a:t>Minor</a:t>
            </a:r>
          </a:p>
        </p:txBody>
      </p:sp>
      <p:sp>
        <p:nvSpPr>
          <p:cNvPr id="50" name="Rectangle 49"/>
          <p:cNvSpPr/>
          <p:nvPr/>
        </p:nvSpPr>
        <p:spPr>
          <a:xfrm>
            <a:off x="6949440" y="2203704"/>
            <a:ext cx="219456" cy="219456"/>
          </a:xfrm>
          <a:prstGeom prst="rect">
            <a:avLst/>
          </a:prstGeom>
          <a:solidFill>
            <a:srgbClr val="F4A81D"/>
          </a:solidFill>
          <a:ln>
            <a:noFill/>
          </a:ln>
        </p:spPr>
        <p:txBody>
          <a:bodyPr rtlCol="0" anchor="ctr" wrap="square" lIns="54864" rIns="54864" tIns="54864" bIns="54864"/>
          <a:lstStyle/>
          <a:p>
            <a:pPr algn="ctr"/>
          </a:p>
        </p:txBody>
      </p:sp>
      <p:sp>
        <p:nvSpPr>
          <p:cNvPr id="51" name="TextBox 50"/>
          <p:cNvSpPr txBox="1"/>
          <p:nvPr/>
        </p:nvSpPr>
        <p:spPr>
          <a:xfrm>
            <a:off x="7269480" y="2157984"/>
            <a:ext cx="1325880" cy="310896"/>
          </a:xfrm>
          <a:prstGeom prst="rect">
            <a:avLst/>
          </a:prstGeom>
          <a:noFill/>
        </p:spPr>
        <p:txBody>
          <a:bodyPr wrap="square" anchor="ctr" lIns="0" rIns="0" tIns="0" bIns="0"/>
          <a:lstStyle/>
          <a:p>
            <a:pPr algn="l">
              <a:spcAft>
                <a:spcPts val="400"/>
              </a:spcAft>
            </a:pPr>
            <a:r>
              <a:rPr sz="1150" b="0" i="0">
                <a:solidFill>
                  <a:srgbClr val="23272B"/>
                </a:solidFill>
                <a:latin typeface="Arial"/>
              </a:rPr>
              <a:t>Major</a:t>
            </a:r>
          </a:p>
        </p:txBody>
      </p:sp>
      <p:sp>
        <p:nvSpPr>
          <p:cNvPr id="52" name="Rectangle 51"/>
          <p:cNvSpPr/>
          <p:nvPr/>
        </p:nvSpPr>
        <p:spPr>
          <a:xfrm>
            <a:off x="6949440" y="2551176"/>
            <a:ext cx="219456" cy="219456"/>
          </a:xfrm>
          <a:prstGeom prst="rect">
            <a:avLst/>
          </a:prstGeom>
          <a:solidFill>
            <a:srgbClr val="D9472B"/>
          </a:solidFill>
          <a:ln>
            <a:noFill/>
          </a:ln>
        </p:spPr>
        <p:txBody>
          <a:bodyPr rtlCol="0" anchor="ctr" wrap="square" lIns="54864" rIns="54864" tIns="54864" bIns="54864"/>
          <a:lstStyle/>
          <a:p>
            <a:pPr algn="ctr"/>
          </a:p>
        </p:txBody>
      </p:sp>
      <p:sp>
        <p:nvSpPr>
          <p:cNvPr id="53" name="TextBox 52"/>
          <p:cNvSpPr txBox="1"/>
          <p:nvPr/>
        </p:nvSpPr>
        <p:spPr>
          <a:xfrm>
            <a:off x="7269480" y="2505456"/>
            <a:ext cx="1325880" cy="310896"/>
          </a:xfrm>
          <a:prstGeom prst="rect">
            <a:avLst/>
          </a:prstGeom>
          <a:noFill/>
        </p:spPr>
        <p:txBody>
          <a:bodyPr wrap="square" anchor="ctr" lIns="0" rIns="0" tIns="0" bIns="0"/>
          <a:lstStyle/>
          <a:p>
            <a:pPr algn="l">
              <a:spcAft>
                <a:spcPts val="400"/>
              </a:spcAft>
            </a:pPr>
            <a:r>
              <a:rPr sz="1150" b="0" i="0">
                <a:solidFill>
                  <a:srgbClr val="23272B"/>
                </a:solidFill>
                <a:latin typeface="Arial"/>
              </a:rPr>
              <a:t>Destroyed</a:t>
            </a:r>
          </a:p>
        </p:txBody>
      </p:sp>
      <p:sp>
        <p:nvSpPr>
          <p:cNvPr id="54" name="TextBox 53"/>
          <p:cNvSpPr txBox="1"/>
          <p:nvPr/>
        </p:nvSpPr>
        <p:spPr>
          <a:xfrm>
            <a:off x="548640" y="3291840"/>
            <a:ext cx="3931920" cy="274320"/>
          </a:xfrm>
          <a:prstGeom prst="rect">
            <a:avLst/>
          </a:prstGeom>
          <a:noFill/>
        </p:spPr>
        <p:txBody>
          <a:bodyPr wrap="square" anchor="t" lIns="0" rIns="0" tIns="0" bIns="0"/>
          <a:lstStyle/>
          <a:p>
            <a:pPr algn="l">
              <a:spcAft>
                <a:spcPts val="400"/>
              </a:spcAft>
            </a:pPr>
            <a:r>
              <a:rPr sz="1050" b="1" i="0" spc="100">
                <a:solidFill>
                  <a:srgbClr val="2C6E91"/>
                </a:solidFill>
                <a:latin typeface="Arial"/>
              </a:rPr>
              <a:t>STEPS</a:t>
            </a:r>
          </a:p>
        </p:txBody>
      </p:sp>
      <p:sp>
        <p:nvSpPr>
          <p:cNvPr id="55" name="Rectangle 54"/>
          <p:cNvSpPr/>
          <p:nvPr/>
        </p:nvSpPr>
        <p:spPr>
          <a:xfrm>
            <a:off x="548640" y="3639312"/>
            <a:ext cx="365760" cy="365760"/>
          </a:xfrm>
          <a:prstGeom prst="rect">
            <a:avLst/>
          </a:prstGeom>
          <a:solidFill>
            <a:srgbClr val="F4A81D"/>
          </a:solidFill>
          <a:ln>
            <a:noFill/>
          </a:ln>
        </p:spPr>
        <p:txBody>
          <a:bodyPr rtlCol="0" anchor="ctr" wrap="square" lIns="0" rIns="0" tIns="0" bIns="0"/>
          <a:lstStyle/>
          <a:p>
            <a:pPr algn="ctr">
              <a:spcAft>
                <a:spcPts val="0"/>
              </a:spcAft>
            </a:pPr>
            <a:r>
              <a:rPr sz="1200" b="1" i="0">
                <a:solidFill>
                  <a:srgbClr val="23272B"/>
                </a:solidFill>
                <a:latin typeface="Arial"/>
              </a:rPr>
              <a:t>1</a:t>
            </a:r>
          </a:p>
        </p:txBody>
      </p:sp>
      <p:sp>
        <p:nvSpPr>
          <p:cNvPr id="56" name="TextBox 55"/>
          <p:cNvSpPr txBox="1"/>
          <p:nvPr/>
        </p:nvSpPr>
        <p:spPr>
          <a:xfrm>
            <a:off x="1051560" y="3611880"/>
            <a:ext cx="3383280" cy="420624"/>
          </a:xfrm>
          <a:prstGeom prst="rect">
            <a:avLst/>
          </a:prstGeom>
          <a:noFill/>
        </p:spPr>
        <p:txBody>
          <a:bodyPr wrap="square" anchor="ctr" lIns="0" rIns="0" tIns="0" bIns="0"/>
          <a:lstStyle/>
          <a:p>
            <a:pPr algn="l">
              <a:spcAft>
                <a:spcPts val="400"/>
              </a:spcAft>
            </a:pPr>
            <a:r>
              <a:rPr sz="1300" b="0" i="0">
                <a:solidFill>
                  <a:srgbClr val="23272B"/>
                </a:solidFill>
                <a:latin typeface="Arial"/>
              </a:rPr>
              <a:t>Input pre- and post-event images</a:t>
            </a:r>
          </a:p>
        </p:txBody>
      </p:sp>
      <p:sp>
        <p:nvSpPr>
          <p:cNvPr id="57" name="Rectangle 56"/>
          <p:cNvSpPr/>
          <p:nvPr/>
        </p:nvSpPr>
        <p:spPr>
          <a:xfrm>
            <a:off x="548640" y="4142232"/>
            <a:ext cx="365760" cy="365760"/>
          </a:xfrm>
          <a:prstGeom prst="rect">
            <a:avLst/>
          </a:prstGeom>
          <a:solidFill>
            <a:srgbClr val="F4A81D"/>
          </a:solidFill>
          <a:ln>
            <a:noFill/>
          </a:ln>
        </p:spPr>
        <p:txBody>
          <a:bodyPr rtlCol="0" anchor="ctr" wrap="square" lIns="0" rIns="0" tIns="0" bIns="0"/>
          <a:lstStyle/>
          <a:p>
            <a:pPr algn="ctr">
              <a:spcAft>
                <a:spcPts val="0"/>
              </a:spcAft>
            </a:pPr>
            <a:r>
              <a:rPr sz="1200" b="1" i="0">
                <a:solidFill>
                  <a:srgbClr val="23272B"/>
                </a:solidFill>
                <a:latin typeface="Arial"/>
              </a:rPr>
              <a:t>2</a:t>
            </a:r>
          </a:p>
        </p:txBody>
      </p:sp>
      <p:sp>
        <p:nvSpPr>
          <p:cNvPr id="58" name="TextBox 57"/>
          <p:cNvSpPr txBox="1"/>
          <p:nvPr/>
        </p:nvSpPr>
        <p:spPr>
          <a:xfrm>
            <a:off x="1051560" y="4114800"/>
            <a:ext cx="3383280" cy="420624"/>
          </a:xfrm>
          <a:prstGeom prst="rect">
            <a:avLst/>
          </a:prstGeom>
          <a:noFill/>
        </p:spPr>
        <p:txBody>
          <a:bodyPr wrap="square" anchor="ctr" lIns="0" rIns="0" tIns="0" bIns="0"/>
          <a:lstStyle/>
          <a:p>
            <a:pPr algn="l">
              <a:spcAft>
                <a:spcPts val="400"/>
              </a:spcAft>
            </a:pPr>
            <a:r>
              <a:rPr sz="1300" b="0" i="0">
                <a:solidFill>
                  <a:srgbClr val="23272B"/>
                </a:solidFill>
                <a:latin typeface="Arial"/>
              </a:rPr>
              <a:t>Align and normalise both images</a:t>
            </a:r>
          </a:p>
        </p:txBody>
      </p:sp>
      <p:sp>
        <p:nvSpPr>
          <p:cNvPr id="59" name="Rectangle 58"/>
          <p:cNvSpPr/>
          <p:nvPr/>
        </p:nvSpPr>
        <p:spPr>
          <a:xfrm>
            <a:off x="548640" y="4645152"/>
            <a:ext cx="365760" cy="365760"/>
          </a:xfrm>
          <a:prstGeom prst="rect">
            <a:avLst/>
          </a:prstGeom>
          <a:solidFill>
            <a:srgbClr val="F4A81D"/>
          </a:solidFill>
          <a:ln>
            <a:noFill/>
          </a:ln>
        </p:spPr>
        <p:txBody>
          <a:bodyPr rtlCol="0" anchor="ctr" wrap="square" lIns="0" rIns="0" tIns="0" bIns="0"/>
          <a:lstStyle/>
          <a:p>
            <a:pPr algn="ctr">
              <a:spcAft>
                <a:spcPts val="0"/>
              </a:spcAft>
            </a:pPr>
            <a:r>
              <a:rPr sz="1200" b="1" i="0">
                <a:solidFill>
                  <a:srgbClr val="23272B"/>
                </a:solidFill>
                <a:latin typeface="Arial"/>
              </a:rPr>
              <a:t>3</a:t>
            </a:r>
          </a:p>
        </p:txBody>
      </p:sp>
      <p:sp>
        <p:nvSpPr>
          <p:cNvPr id="60" name="TextBox 59"/>
          <p:cNvSpPr txBox="1"/>
          <p:nvPr/>
        </p:nvSpPr>
        <p:spPr>
          <a:xfrm>
            <a:off x="1051560" y="4617720"/>
            <a:ext cx="3383280" cy="420624"/>
          </a:xfrm>
          <a:prstGeom prst="rect">
            <a:avLst/>
          </a:prstGeom>
          <a:noFill/>
        </p:spPr>
        <p:txBody>
          <a:bodyPr wrap="square" anchor="ctr" lIns="0" rIns="0" tIns="0" bIns="0"/>
          <a:lstStyle/>
          <a:p>
            <a:pPr algn="l">
              <a:spcAft>
                <a:spcPts val="400"/>
              </a:spcAft>
            </a:pPr>
            <a:r>
              <a:rPr sz="1300" b="0" i="0">
                <a:solidFill>
                  <a:srgbClr val="23272B"/>
                </a:solidFill>
                <a:latin typeface="Arial"/>
              </a:rPr>
              <a:t>CNN/ViT labels each pixel or building</a:t>
            </a:r>
          </a:p>
        </p:txBody>
      </p:sp>
      <p:sp>
        <p:nvSpPr>
          <p:cNvPr id="61" name="Rectangle 60"/>
          <p:cNvSpPr/>
          <p:nvPr/>
        </p:nvSpPr>
        <p:spPr>
          <a:xfrm>
            <a:off x="548640" y="5148072"/>
            <a:ext cx="365760" cy="365760"/>
          </a:xfrm>
          <a:prstGeom prst="rect">
            <a:avLst/>
          </a:prstGeom>
          <a:solidFill>
            <a:srgbClr val="F4A81D"/>
          </a:solidFill>
          <a:ln>
            <a:noFill/>
          </a:ln>
        </p:spPr>
        <p:txBody>
          <a:bodyPr rtlCol="0" anchor="ctr" wrap="square" lIns="0" rIns="0" tIns="0" bIns="0"/>
          <a:lstStyle/>
          <a:p>
            <a:pPr algn="ctr">
              <a:spcAft>
                <a:spcPts val="0"/>
              </a:spcAft>
            </a:pPr>
            <a:r>
              <a:rPr sz="1200" b="1" i="0">
                <a:solidFill>
                  <a:srgbClr val="23272B"/>
                </a:solidFill>
                <a:latin typeface="Arial"/>
              </a:rPr>
              <a:t>4</a:t>
            </a:r>
          </a:p>
        </p:txBody>
      </p:sp>
      <p:sp>
        <p:nvSpPr>
          <p:cNvPr id="62" name="TextBox 61"/>
          <p:cNvSpPr txBox="1"/>
          <p:nvPr/>
        </p:nvSpPr>
        <p:spPr>
          <a:xfrm>
            <a:off x="1051560" y="5120640"/>
            <a:ext cx="3383280" cy="420624"/>
          </a:xfrm>
          <a:prstGeom prst="rect">
            <a:avLst/>
          </a:prstGeom>
          <a:noFill/>
        </p:spPr>
        <p:txBody>
          <a:bodyPr wrap="square" anchor="ctr" lIns="0" rIns="0" tIns="0" bIns="0"/>
          <a:lstStyle/>
          <a:p>
            <a:pPr algn="l">
              <a:spcAft>
                <a:spcPts val="400"/>
              </a:spcAft>
            </a:pPr>
            <a:r>
              <a:rPr sz="1300" b="0" i="0">
                <a:solidFill>
                  <a:srgbClr val="23272B"/>
                </a:solidFill>
                <a:latin typeface="Arial"/>
              </a:rPr>
              <a:t>Generate the damage map</a:t>
            </a:r>
          </a:p>
        </p:txBody>
      </p:sp>
      <p:sp>
        <p:nvSpPr>
          <p:cNvPr id="63" name="Rectangle 62"/>
          <p:cNvSpPr/>
          <p:nvPr/>
        </p:nvSpPr>
        <p:spPr>
          <a:xfrm>
            <a:off x="548640" y="5650992"/>
            <a:ext cx="365760" cy="365760"/>
          </a:xfrm>
          <a:prstGeom prst="rect">
            <a:avLst/>
          </a:prstGeom>
          <a:solidFill>
            <a:srgbClr val="F4A81D"/>
          </a:solidFill>
          <a:ln>
            <a:noFill/>
          </a:ln>
        </p:spPr>
        <p:txBody>
          <a:bodyPr rtlCol="0" anchor="ctr" wrap="square" lIns="0" rIns="0" tIns="0" bIns="0"/>
          <a:lstStyle/>
          <a:p>
            <a:pPr algn="ctr">
              <a:spcAft>
                <a:spcPts val="0"/>
              </a:spcAft>
            </a:pPr>
            <a:r>
              <a:rPr sz="1200" b="1" i="0">
                <a:solidFill>
                  <a:srgbClr val="23272B"/>
                </a:solidFill>
                <a:latin typeface="Arial"/>
              </a:rPr>
              <a:t>5</a:t>
            </a:r>
          </a:p>
        </p:txBody>
      </p:sp>
      <p:sp>
        <p:nvSpPr>
          <p:cNvPr id="64" name="TextBox 63"/>
          <p:cNvSpPr txBox="1"/>
          <p:nvPr/>
        </p:nvSpPr>
        <p:spPr>
          <a:xfrm>
            <a:off x="1051560" y="5623559"/>
            <a:ext cx="3383280" cy="420624"/>
          </a:xfrm>
          <a:prstGeom prst="rect">
            <a:avLst/>
          </a:prstGeom>
          <a:noFill/>
        </p:spPr>
        <p:txBody>
          <a:bodyPr wrap="square" anchor="ctr" lIns="0" rIns="0" tIns="0" bIns="0"/>
          <a:lstStyle/>
          <a:p>
            <a:pPr algn="l">
              <a:spcAft>
                <a:spcPts val="400"/>
              </a:spcAft>
            </a:pPr>
            <a:r>
              <a:rPr sz="1300" b="0" i="0">
                <a:solidFill>
                  <a:srgbClr val="23272B"/>
                </a:solidFill>
                <a:latin typeface="Arial"/>
              </a:rPr>
              <a:t>Overlay on GIS maps for responders</a:t>
            </a:r>
          </a:p>
        </p:txBody>
      </p:sp>
      <p:sp>
        <p:nvSpPr>
          <p:cNvPr id="65" name="Rectangle 64"/>
          <p:cNvSpPr/>
          <p:nvPr/>
        </p:nvSpPr>
        <p:spPr>
          <a:xfrm>
            <a:off x="4663440" y="3291840"/>
            <a:ext cx="3931920" cy="2880360"/>
          </a:xfrm>
          <a:prstGeom prst="rect">
            <a:avLst/>
          </a:prstGeom>
          <a:solidFill>
            <a:srgbClr val="23272B"/>
          </a:solidFill>
          <a:ln>
            <a:noFill/>
          </a:ln>
        </p:spPr>
        <p:txBody>
          <a:bodyPr rtlCol="0" anchor="ctr" wrap="square" lIns="54864" rIns="54864" tIns="54864" bIns="54864"/>
          <a:lstStyle/>
          <a:p>
            <a:pPr algn="ctr"/>
          </a:p>
        </p:txBody>
      </p:sp>
      <p:sp>
        <p:nvSpPr>
          <p:cNvPr id="66" name="TextBox 65"/>
          <p:cNvSpPr txBox="1"/>
          <p:nvPr/>
        </p:nvSpPr>
        <p:spPr>
          <a:xfrm>
            <a:off x="4846320" y="3429000"/>
            <a:ext cx="3566160" cy="274320"/>
          </a:xfrm>
          <a:prstGeom prst="rect">
            <a:avLst/>
          </a:prstGeom>
          <a:noFill/>
        </p:spPr>
        <p:txBody>
          <a:bodyPr wrap="square" anchor="t" lIns="0" rIns="0" tIns="0" bIns="0"/>
          <a:lstStyle/>
          <a:p>
            <a:pPr algn="l">
              <a:spcAft>
                <a:spcPts val="400"/>
              </a:spcAft>
            </a:pPr>
            <a:r>
              <a:rPr sz="1050" b="1" i="0" spc="100">
                <a:solidFill>
                  <a:srgbClr val="F4A81D"/>
                </a:solidFill>
                <a:latin typeface="Arial"/>
              </a:rPr>
              <a:t>EXTENSION: DISASTELLER [7]</a:t>
            </a:r>
          </a:p>
        </p:txBody>
      </p:sp>
      <p:sp>
        <p:nvSpPr>
          <p:cNvPr id="67" name="TextBox 66"/>
          <p:cNvSpPr txBox="1"/>
          <p:nvPr/>
        </p:nvSpPr>
        <p:spPr>
          <a:xfrm>
            <a:off x="4846320" y="3730752"/>
            <a:ext cx="3566160" cy="502920"/>
          </a:xfrm>
          <a:prstGeom prst="rect">
            <a:avLst/>
          </a:prstGeom>
          <a:noFill/>
        </p:spPr>
        <p:txBody>
          <a:bodyPr wrap="square" anchor="t" lIns="0" rIns="0" tIns="0" bIns="0"/>
          <a:lstStyle/>
          <a:p>
            <a:pPr algn="l">
              <a:spcAft>
                <a:spcPts val="400"/>
              </a:spcAft>
            </a:pPr>
            <a:r>
              <a:rPr sz="1250" b="0" i="0">
                <a:solidFill>
                  <a:srgbClr val="FFFFFF"/>
                </a:solidFill>
                <a:latin typeface="Arial"/>
              </a:rPr>
              <a:t>Four specialised vision-language agents work together on post-disaster images.</a:t>
            </a:r>
          </a:p>
        </p:txBody>
      </p:sp>
      <p:sp>
        <p:nvSpPr>
          <p:cNvPr id="68" name="Rectangle 67"/>
          <p:cNvSpPr/>
          <p:nvPr/>
        </p:nvSpPr>
        <p:spPr>
          <a:xfrm>
            <a:off x="4892040" y="4343400"/>
            <a:ext cx="502920" cy="502920"/>
          </a:xfrm>
          <a:prstGeom prst="rect">
            <a:avLst/>
          </a:prstGeom>
          <a:solidFill>
            <a:srgbClr val="F4A81D"/>
          </a:solidFill>
          <a:ln>
            <a:noFill/>
          </a:ln>
        </p:spPr>
        <p:txBody>
          <a:bodyPr rtlCol="0" anchor="ctr" wrap="square" lIns="54864" rIns="54864" tIns="54864" bIns="54864"/>
          <a:lstStyle/>
          <a:p>
            <a:pPr algn="ctr"/>
          </a:p>
        </p:txBody>
      </p:sp>
      <p:pic>
        <p:nvPicPr>
          <p:cNvPr id="69" name="Picture 68" descr="robot_vc.png"/>
          <p:cNvPicPr>
            <a:picLocks noChangeAspect="1"/>
          </p:cNvPicPr>
          <p:nvPr/>
        </p:nvPicPr>
        <p:blipFill>
          <a:blip r:embed="rId5"/>
          <a:stretch>
            <a:fillRect/>
          </a:stretch>
        </p:blipFill>
        <p:spPr>
          <a:xfrm>
            <a:off x="5002682" y="4454042"/>
            <a:ext cx="281635" cy="281635"/>
          </a:xfrm>
          <a:prstGeom prst="rect">
            <a:avLst/>
          </a:prstGeom>
        </p:spPr>
      </p:pic>
      <p:sp>
        <p:nvSpPr>
          <p:cNvPr id="70" name="Rectangle 69"/>
          <p:cNvSpPr/>
          <p:nvPr/>
        </p:nvSpPr>
        <p:spPr>
          <a:xfrm>
            <a:off x="5788152" y="4343400"/>
            <a:ext cx="502920" cy="502920"/>
          </a:xfrm>
          <a:prstGeom prst="rect">
            <a:avLst/>
          </a:prstGeom>
          <a:solidFill>
            <a:srgbClr val="F4A81D"/>
          </a:solidFill>
          <a:ln>
            <a:noFill/>
          </a:ln>
        </p:spPr>
        <p:txBody>
          <a:bodyPr rtlCol="0" anchor="ctr" wrap="square" lIns="54864" rIns="54864" tIns="54864" bIns="54864"/>
          <a:lstStyle/>
          <a:p>
            <a:pPr algn="ctr"/>
          </a:p>
        </p:txBody>
      </p:sp>
      <p:pic>
        <p:nvPicPr>
          <p:cNvPr id="71" name="Picture 70" descr="robot_vc.png"/>
          <p:cNvPicPr>
            <a:picLocks noChangeAspect="1"/>
          </p:cNvPicPr>
          <p:nvPr/>
        </p:nvPicPr>
        <p:blipFill>
          <a:blip r:embed="rId5"/>
          <a:stretch>
            <a:fillRect/>
          </a:stretch>
        </p:blipFill>
        <p:spPr>
          <a:xfrm>
            <a:off x="5898794" y="4454042"/>
            <a:ext cx="281635" cy="281635"/>
          </a:xfrm>
          <a:prstGeom prst="rect">
            <a:avLst/>
          </a:prstGeom>
        </p:spPr>
      </p:pic>
      <p:sp>
        <p:nvSpPr>
          <p:cNvPr id="72" name="Rectangle 71"/>
          <p:cNvSpPr/>
          <p:nvPr/>
        </p:nvSpPr>
        <p:spPr>
          <a:xfrm>
            <a:off x="6684264" y="4343400"/>
            <a:ext cx="502920" cy="502920"/>
          </a:xfrm>
          <a:prstGeom prst="rect">
            <a:avLst/>
          </a:prstGeom>
          <a:solidFill>
            <a:srgbClr val="F4A81D"/>
          </a:solidFill>
          <a:ln>
            <a:noFill/>
          </a:ln>
        </p:spPr>
        <p:txBody>
          <a:bodyPr rtlCol="0" anchor="ctr" wrap="square" lIns="54864" rIns="54864" tIns="54864" bIns="54864"/>
          <a:lstStyle/>
          <a:p>
            <a:pPr algn="ctr"/>
          </a:p>
        </p:txBody>
      </p:sp>
      <p:pic>
        <p:nvPicPr>
          <p:cNvPr id="73" name="Picture 72" descr="robot_vc.png"/>
          <p:cNvPicPr>
            <a:picLocks noChangeAspect="1"/>
          </p:cNvPicPr>
          <p:nvPr/>
        </p:nvPicPr>
        <p:blipFill>
          <a:blip r:embed="rId5"/>
          <a:stretch>
            <a:fillRect/>
          </a:stretch>
        </p:blipFill>
        <p:spPr>
          <a:xfrm>
            <a:off x="6794906" y="4454042"/>
            <a:ext cx="281635" cy="281635"/>
          </a:xfrm>
          <a:prstGeom prst="rect">
            <a:avLst/>
          </a:prstGeom>
        </p:spPr>
      </p:pic>
      <p:sp>
        <p:nvSpPr>
          <p:cNvPr id="74" name="Rectangle 73"/>
          <p:cNvSpPr/>
          <p:nvPr/>
        </p:nvSpPr>
        <p:spPr>
          <a:xfrm>
            <a:off x="7580375" y="4343400"/>
            <a:ext cx="502920" cy="502920"/>
          </a:xfrm>
          <a:prstGeom prst="rect">
            <a:avLst/>
          </a:prstGeom>
          <a:solidFill>
            <a:srgbClr val="F4A81D"/>
          </a:solidFill>
          <a:ln>
            <a:noFill/>
          </a:ln>
        </p:spPr>
        <p:txBody>
          <a:bodyPr rtlCol="0" anchor="ctr" wrap="square" lIns="54864" rIns="54864" tIns="54864" bIns="54864"/>
          <a:lstStyle/>
          <a:p>
            <a:pPr algn="ctr"/>
          </a:p>
        </p:txBody>
      </p:sp>
      <p:pic>
        <p:nvPicPr>
          <p:cNvPr id="75" name="Picture 74" descr="robot_vc.png"/>
          <p:cNvPicPr>
            <a:picLocks noChangeAspect="1"/>
          </p:cNvPicPr>
          <p:nvPr/>
        </p:nvPicPr>
        <p:blipFill>
          <a:blip r:embed="rId5"/>
          <a:stretch>
            <a:fillRect/>
          </a:stretch>
        </p:blipFill>
        <p:spPr>
          <a:xfrm>
            <a:off x="7691018" y="4454042"/>
            <a:ext cx="281635" cy="281635"/>
          </a:xfrm>
          <a:prstGeom prst="rect">
            <a:avLst/>
          </a:prstGeom>
        </p:spPr>
      </p:pic>
      <p:sp>
        <p:nvSpPr>
          <p:cNvPr id="76" name="Rectangle 75"/>
          <p:cNvSpPr/>
          <p:nvPr/>
        </p:nvSpPr>
        <p:spPr>
          <a:xfrm>
            <a:off x="4846320" y="5074920"/>
            <a:ext cx="1737360" cy="411480"/>
          </a:xfrm>
          <a:prstGeom prst="rect">
            <a:avLst/>
          </a:prstGeom>
          <a:solidFill>
            <a:srgbClr val="3A4046"/>
          </a:solidFill>
          <a:ln>
            <a:noFill/>
          </a:ln>
        </p:spPr>
        <p:txBody>
          <a:bodyPr rtlCol="0" anchor="ctr" wrap="square" lIns="18288" rIns="18288" tIns="18288" bIns="18288"/>
          <a:lstStyle/>
          <a:p>
            <a:pPr algn="ctr">
              <a:spcAft>
                <a:spcPts val="0"/>
              </a:spcAft>
            </a:pPr>
            <a:r>
              <a:rPr sz="1050" b="0" i="0">
                <a:solidFill>
                  <a:srgbClr val="FFFFFF"/>
                </a:solidFill>
                <a:latin typeface="Arial"/>
              </a:rPr>
              <a:t>Damage assessment</a:t>
            </a:r>
          </a:p>
        </p:txBody>
      </p:sp>
      <p:sp>
        <p:nvSpPr>
          <p:cNvPr id="77" name="Rectangle 76"/>
          <p:cNvSpPr/>
          <p:nvPr/>
        </p:nvSpPr>
        <p:spPr>
          <a:xfrm>
            <a:off x="6675120" y="5074920"/>
            <a:ext cx="1737360" cy="411480"/>
          </a:xfrm>
          <a:prstGeom prst="rect">
            <a:avLst/>
          </a:prstGeom>
          <a:solidFill>
            <a:srgbClr val="3A4046"/>
          </a:solidFill>
          <a:ln>
            <a:noFill/>
          </a:ln>
        </p:spPr>
        <p:txBody>
          <a:bodyPr rtlCol="0" anchor="ctr" wrap="square" lIns="18288" rIns="18288" tIns="18288" bIns="18288"/>
          <a:lstStyle/>
          <a:p>
            <a:pPr algn="ctr">
              <a:spcAft>
                <a:spcPts val="0"/>
              </a:spcAft>
            </a:pPr>
            <a:r>
              <a:rPr sz="1050" b="0" i="0">
                <a:solidFill>
                  <a:srgbClr val="FFFFFF"/>
                </a:solidFill>
                <a:latin typeface="Arial"/>
              </a:rPr>
              <a:t>Alerts</a:t>
            </a:r>
          </a:p>
        </p:txBody>
      </p:sp>
      <p:sp>
        <p:nvSpPr>
          <p:cNvPr id="78" name="Rectangle 77"/>
          <p:cNvSpPr/>
          <p:nvPr/>
        </p:nvSpPr>
        <p:spPr>
          <a:xfrm>
            <a:off x="4846320" y="5577840"/>
            <a:ext cx="1737360" cy="411480"/>
          </a:xfrm>
          <a:prstGeom prst="rect">
            <a:avLst/>
          </a:prstGeom>
          <a:solidFill>
            <a:srgbClr val="3A4046"/>
          </a:solidFill>
          <a:ln>
            <a:noFill/>
          </a:ln>
        </p:spPr>
        <p:txBody>
          <a:bodyPr rtlCol="0" anchor="ctr" wrap="square" lIns="18288" rIns="18288" tIns="18288" bIns="18288"/>
          <a:lstStyle/>
          <a:p>
            <a:pPr algn="ctr">
              <a:spcAft>
                <a:spcPts val="0"/>
              </a:spcAft>
            </a:pPr>
            <a:r>
              <a:rPr sz="1050" b="0" i="0">
                <a:solidFill>
                  <a:srgbClr val="FFFFFF"/>
                </a:solidFill>
                <a:latin typeface="Arial"/>
              </a:rPr>
              <a:t>Emergency reports</a:t>
            </a:r>
          </a:p>
        </p:txBody>
      </p:sp>
      <p:sp>
        <p:nvSpPr>
          <p:cNvPr id="79" name="Rectangle 78"/>
          <p:cNvSpPr/>
          <p:nvPr/>
        </p:nvSpPr>
        <p:spPr>
          <a:xfrm>
            <a:off x="6675120" y="5577840"/>
            <a:ext cx="1737360" cy="411480"/>
          </a:xfrm>
          <a:prstGeom prst="rect">
            <a:avLst/>
          </a:prstGeom>
          <a:solidFill>
            <a:srgbClr val="3A4046"/>
          </a:solidFill>
          <a:ln>
            <a:noFill/>
          </a:ln>
        </p:spPr>
        <p:txBody>
          <a:bodyPr rtlCol="0" anchor="ctr" wrap="square" lIns="18288" rIns="18288" tIns="18288" bIns="18288"/>
          <a:lstStyle/>
          <a:p>
            <a:pPr algn="ctr">
              <a:spcAft>
                <a:spcPts val="0"/>
              </a:spcAft>
            </a:pPr>
            <a:r>
              <a:rPr sz="1050" b="0" i="0">
                <a:solidFill>
                  <a:srgbClr val="FFFFFF"/>
                </a:solidFill>
                <a:latin typeface="Arial"/>
              </a:rPr>
              <a:t>Resource &amp; recovery plans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84048"/>
            <a:ext cx="566928" cy="566928"/>
          </a:xfrm>
          <a:prstGeom prst="rect">
            <a:avLst/>
          </a:prstGeom>
          <a:solidFill>
            <a:srgbClr val="F4A81D"/>
          </a:solidFill>
          <a:ln>
            <a:noFill/>
          </a:ln>
        </p:spPr>
        <p:txBody>
          <a:bodyPr rtlCol="0" anchor="ctr" wrap="square" lIns="0" rIns="0" tIns="0" bIns="0"/>
          <a:lstStyle/>
          <a:p>
            <a:pPr algn="ctr">
              <a:spcAft>
                <a:spcPts val="0"/>
              </a:spcAft>
            </a:pPr>
            <a:r>
              <a:rPr sz="1800" b="1" i="0">
                <a:solidFill>
                  <a:srgbClr val="23272B"/>
                </a:solidFill>
                <a:latin typeface="Arial"/>
              </a:rPr>
              <a:t>07</a:t>
            </a:r>
          </a:p>
        </p:txBody>
      </p:sp>
      <p:sp>
        <p:nvSpPr>
          <p:cNvPr id="3" name="TextBox 2"/>
          <p:cNvSpPr txBox="1"/>
          <p:nvPr/>
        </p:nvSpPr>
        <p:spPr>
          <a:xfrm>
            <a:off x="1280160" y="329184"/>
            <a:ext cx="7315200" cy="438912"/>
          </a:xfrm>
          <a:prstGeom prst="rect">
            <a:avLst/>
          </a:prstGeom>
          <a:noFill/>
        </p:spPr>
        <p:txBody>
          <a:bodyPr wrap="square" anchor="ctr" lIns="0" rIns="0" tIns="0" bIns="0"/>
          <a:lstStyle/>
          <a:p>
            <a:pPr algn="l">
              <a:spcAft>
                <a:spcPts val="400"/>
              </a:spcAft>
            </a:pPr>
            <a:r>
              <a:rPr sz="2400" b="1" i="0">
                <a:solidFill>
                  <a:srgbClr val="23272B"/>
                </a:solidFill>
                <a:latin typeface="Arial"/>
              </a:rPr>
              <a:t>Algorithm 3: Crisis Info &amp; Evacuation</a:t>
            </a:r>
          </a:p>
        </p:txBody>
      </p:sp>
      <p:sp>
        <p:nvSpPr>
          <p:cNvPr id="4" name="TextBox 3"/>
          <p:cNvSpPr txBox="1"/>
          <p:nvPr/>
        </p:nvSpPr>
        <p:spPr>
          <a:xfrm>
            <a:off x="1280160" y="749808"/>
            <a:ext cx="7315200" cy="292608"/>
          </a:xfrm>
          <a:prstGeom prst="rect">
            <a:avLst/>
          </a:prstGeom>
          <a:noFill/>
        </p:spPr>
        <p:txBody>
          <a:bodyPr wrap="square" anchor="t" lIns="0" rIns="0" tIns="0" bIns="0"/>
          <a:lstStyle/>
          <a:p>
            <a:pPr algn="l">
              <a:spcAft>
                <a:spcPts val="400"/>
              </a:spcAft>
            </a:pPr>
            <a:r>
              <a:rPr sz="1300" b="0" i="0">
                <a:solidFill>
                  <a:srgbClr val="5F6B76"/>
                </a:solidFill>
                <a:latin typeface="Arial"/>
              </a:rPr>
              <a:t>NLP extraction of crisis messages [6] and reinforcement-learning evacuation routing</a:t>
            </a:r>
          </a:p>
        </p:txBody>
      </p:sp>
      <p:pic>
        <p:nvPicPr>
          <p:cNvPr id="5" name="Picture 4" descr="image.jpg"/>
          <p:cNvPicPr>
            <a:picLocks noChangeAspect="1"/>
          </p:cNvPicPr>
          <p:nvPr/>
        </p:nvPicPr>
        <p:blipFill>
          <a:blip r:embed="rId2"/>
          <a:stretch>
            <a:fillRect/>
          </a:stretch>
        </p:blipFill>
        <p:spPr>
          <a:xfrm>
            <a:off x="548640" y="6336792"/>
            <a:ext cx="438912" cy="330572"/>
          </a:xfrm>
          <a:prstGeom prst="rect">
            <a:avLst/>
          </a:prstGeom>
        </p:spPr>
      </p:pic>
      <p:sp>
        <p:nvSpPr>
          <p:cNvPr id="6" name="TextBox 5"/>
          <p:cNvSpPr txBox="1"/>
          <p:nvPr/>
        </p:nvSpPr>
        <p:spPr>
          <a:xfrm>
            <a:off x="1078992" y="6382512"/>
            <a:ext cx="5943600" cy="274320"/>
          </a:xfrm>
          <a:prstGeom prst="rect">
            <a:avLst/>
          </a:prstGeom>
          <a:noFill/>
        </p:spPr>
        <p:txBody>
          <a:bodyPr wrap="square" anchor="ctr" lIns="0" rIns="0" tIns="0" bIns="0"/>
          <a:lstStyle/>
          <a:p>
            <a:pPr algn="l">
              <a:spcAft>
                <a:spcPts val="400"/>
              </a:spcAft>
            </a:pPr>
            <a:r>
              <a:rPr sz="900" b="0" i="0">
                <a:solidFill>
                  <a:srgbClr val="5F6B76"/>
                </a:solidFill>
                <a:latin typeface="Arial"/>
              </a:rPr>
              <a:t>AI in Disaster Management   |   Vedika Dandade, B344</a:t>
            </a:r>
          </a:p>
        </p:txBody>
      </p:sp>
      <p:sp>
        <p:nvSpPr>
          <p:cNvPr id="7" name="Rectangle 6"/>
          <p:cNvSpPr/>
          <p:nvPr/>
        </p:nvSpPr>
        <p:spPr>
          <a:xfrm>
            <a:off x="8275320" y="6355080"/>
            <a:ext cx="329184" cy="329184"/>
          </a:xfrm>
          <a:prstGeom prst="rect">
            <a:avLst/>
          </a:prstGeom>
          <a:solidFill>
            <a:srgbClr val="F4A81D"/>
          </a:solidFill>
          <a:ln>
            <a:noFill/>
          </a:ln>
        </p:spPr>
        <p:txBody>
          <a:bodyPr rtlCol="0" anchor="ctr" wrap="square" lIns="0" rIns="0" tIns="0" bIns="0"/>
          <a:lstStyle/>
          <a:p>
            <a:pPr algn="ctr"/>
            <a:fld id="{3C1D2E4F-6A7B-4C8D-9E0F-1A2B3C4D5E6F}" type="slidenum">
              <a:rPr lang="en-US" sz="1000" b="1">
                <a:solidFill>
                  <a:srgbClr val="23272B"/>
                </a:solidFill>
                <a:latin typeface="Arial"/>
              </a:rPr>
              <a:t>12</a:t>
            </a:fld>
          </a:p>
        </p:txBody>
      </p:sp>
      <p:sp>
        <p:nvSpPr>
          <p:cNvPr id="8" name="TextBox 7"/>
          <p:cNvSpPr txBox="1"/>
          <p:nvPr/>
        </p:nvSpPr>
        <p:spPr>
          <a:xfrm>
            <a:off x="548640" y="1371600"/>
            <a:ext cx="3931920" cy="274320"/>
          </a:xfrm>
          <a:prstGeom prst="rect">
            <a:avLst/>
          </a:prstGeom>
          <a:noFill/>
        </p:spPr>
        <p:txBody>
          <a:bodyPr wrap="square" anchor="t" lIns="0" rIns="0" tIns="0" bIns="0"/>
          <a:lstStyle/>
          <a:p>
            <a:pPr algn="l">
              <a:spcAft>
                <a:spcPts val="400"/>
              </a:spcAft>
            </a:pPr>
            <a:r>
              <a:rPr sz="1050" b="1" i="0" spc="100">
                <a:solidFill>
                  <a:srgbClr val="2C6E91"/>
                </a:solidFill>
                <a:latin typeface="Arial"/>
              </a:rPr>
              <a:t>CRISIS INFORMATION EXTRACTION</a:t>
            </a:r>
          </a:p>
        </p:txBody>
      </p:sp>
      <p:sp>
        <p:nvSpPr>
          <p:cNvPr id="9" name="Rounded Rectangular Callout 8"/>
          <p:cNvSpPr/>
          <p:nvPr/>
        </p:nvSpPr>
        <p:spPr>
          <a:xfrm>
            <a:off x="548640" y="1737360"/>
            <a:ext cx="3611880" cy="502920"/>
          </a:xfrm>
          <a:prstGeom prst="wedgeRoundRectCallout">
            <a:avLst/>
          </a:prstGeom>
          <a:solidFill>
            <a:srgbClr val="F0F2F4"/>
          </a:solidFill>
          <a:ln>
            <a:noFill/>
          </a:ln>
        </p:spPr>
        <p:txBody>
          <a:bodyPr rtlCol="0" anchor="ctr" wrap="square" lIns="109728" rIns="109728" tIns="109728" bIns="109728"/>
          <a:lstStyle/>
          <a:p>
            <a:pPr algn="l">
              <a:spcAft>
                <a:spcPts val="0"/>
              </a:spcAft>
            </a:pPr>
            <a:r>
              <a:rPr sz="1200" b="0" i="1">
                <a:solidFill>
                  <a:srgbClr val="23272B"/>
                </a:solidFill>
                <a:latin typeface="Arial"/>
              </a:rPr>
              <a:t>“Road blocked near the bridge, need rescue!”</a:t>
            </a:r>
          </a:p>
        </p:txBody>
      </p:sp>
      <p:sp>
        <p:nvSpPr>
          <p:cNvPr id="10" name="Rounded Rectangular Callout 9"/>
          <p:cNvSpPr/>
          <p:nvPr/>
        </p:nvSpPr>
        <p:spPr>
          <a:xfrm>
            <a:off x="822959" y="2377439"/>
            <a:ext cx="3611880" cy="502920"/>
          </a:xfrm>
          <a:prstGeom prst="wedgeRoundRectCallout">
            <a:avLst/>
          </a:prstGeom>
          <a:solidFill>
            <a:srgbClr val="F0F2F4"/>
          </a:solidFill>
          <a:ln>
            <a:noFill/>
          </a:ln>
        </p:spPr>
        <p:txBody>
          <a:bodyPr rtlCol="0" anchor="ctr" wrap="square" lIns="109728" rIns="109728" tIns="109728" bIns="109728"/>
          <a:lstStyle/>
          <a:p>
            <a:pPr algn="l">
              <a:spcAft>
                <a:spcPts val="0"/>
              </a:spcAft>
            </a:pPr>
            <a:r>
              <a:rPr sz="1200" b="0" i="1">
                <a:solidFill>
                  <a:srgbClr val="23272B"/>
                </a:solidFill>
                <a:latin typeface="Arial"/>
              </a:rPr>
              <a:t>“Help needed in Wardha, water rising”</a:t>
            </a:r>
          </a:p>
        </p:txBody>
      </p:sp>
      <p:sp>
        <p:nvSpPr>
          <p:cNvPr id="11" name="Rectangle 10"/>
          <p:cNvSpPr/>
          <p:nvPr/>
        </p:nvSpPr>
        <p:spPr>
          <a:xfrm>
            <a:off x="1325880" y="3154680"/>
            <a:ext cx="2377440" cy="640080"/>
          </a:xfrm>
          <a:prstGeom prst="rect">
            <a:avLst/>
          </a:prstGeom>
          <a:solidFill>
            <a:srgbClr val="23272B"/>
          </a:solidFill>
          <a:ln>
            <a:noFill/>
          </a:ln>
        </p:spPr>
        <p:txBody>
          <a:bodyPr rtlCol="0" anchor="ctr" wrap="square" lIns="54864" rIns="54864" tIns="54864" bIns="54864"/>
          <a:lstStyle/>
          <a:p>
            <a:pPr algn="ctr">
              <a:spcAft>
                <a:spcPts val="0"/>
              </a:spcAft>
            </a:pPr>
            <a:r>
              <a:rPr sz="1400" b="1" i="0">
                <a:solidFill>
                  <a:srgbClr val="FFFFFF"/>
                </a:solidFill>
                <a:latin typeface="Arial"/>
              </a:rPr>
              <a:t>NLP model</a:t>
            </a:r>
          </a:p>
          <a:p>
            <a:pPr algn="ctr">
              <a:spcAft>
                <a:spcPts val="0"/>
              </a:spcAft>
            </a:pPr>
            <a:r>
              <a:rPr sz="1050" b="0" i="0">
                <a:solidFill>
                  <a:srgbClr val="FFFFFF"/>
                </a:solidFill>
                <a:latin typeface="Arial"/>
              </a:rPr>
              <a:t>BERT / LLM + NER</a:t>
            </a:r>
          </a:p>
        </p:txBody>
      </p:sp>
      <p:cxnSp>
        <p:nvCxnSpPr>
          <p:cNvPr id="12" name="Connector 11"/>
          <p:cNvCxnSpPr/>
          <p:nvPr/>
        </p:nvCxnSpPr>
        <p:spPr>
          <a:xfrm>
            <a:off x="2514600" y="2926080"/>
            <a:ext cx="0" cy="228600"/>
          </a:xfrm>
          <a:prstGeom prst="line">
            <a:avLst/>
          </a:prstGeom>
          <a:ln w="19050">
            <a:solidFill>
              <a:srgbClr val="5F6B76"/>
            </a:solidFill>
            <a:tailEnd type="triangle" w="med" len="med"/>
          </a:ln>
        </p:spPr>
      </p:cxnSp>
      <p:cxnSp>
        <p:nvCxnSpPr>
          <p:cNvPr id="13" name="Connector 12"/>
          <p:cNvCxnSpPr/>
          <p:nvPr/>
        </p:nvCxnSpPr>
        <p:spPr>
          <a:xfrm>
            <a:off x="2514600" y="3794760"/>
            <a:ext cx="0" cy="228600"/>
          </a:xfrm>
          <a:prstGeom prst="line">
            <a:avLst/>
          </a:prstGeom>
          <a:ln w="19050">
            <a:solidFill>
              <a:srgbClr val="5F6B76"/>
            </a:solidFill>
            <a:tailEnd type="triangle" w="med" len="med"/>
          </a:ln>
        </p:spPr>
      </p:cxnSp>
      <p:graphicFrame>
        <p:nvGraphicFramePr>
          <p:cNvPr id="14" name="Table 13"/>
          <p:cNvGraphicFramePr>
            <a:graphicFrameLocks noGrp="1"/>
          </p:cNvGraphicFramePr>
          <p:nvPr/>
        </p:nvGraphicFramePr>
        <p:xfrm>
          <a:off x="548640" y="4023360"/>
          <a:ext cx="3931920" cy="1645920"/>
        </p:xfrm>
        <a:graphic>
          <a:graphicData uri="http://schemas.openxmlformats.org/drawingml/2006/table">
            <a:tbl>
              <a:tblPr firstRow="0" bandRow="0">
                <a:tableStyleId>{5C22544A-7EE6-4342-B048-85BDC9FD1C3A}</a:tableStyleId>
              </a:tblPr>
              <a:tblGrid>
                <a:gridCol w="1554480"/>
                <a:gridCol w="2377440"/>
              </a:tblGrid>
              <a:tr h="329184">
                <a:tc>
                  <a:txBody>
                    <a:bodyPr wrap="square"/>
                    <a:lstStyle/>
                    <a:p>
                      <a:pPr algn="l">
                        <a:spcAft>
                          <a:spcPts val="400"/>
                        </a:spcAft>
                      </a:pPr>
                      <a:r>
                        <a:rPr sz="1200" b="1" i="0">
                          <a:solidFill>
                            <a:srgbClr val="23272B"/>
                          </a:solidFill>
                          <a:latin typeface="Arial"/>
                        </a:rPr>
                        <a:t>Field</a:t>
                      </a:r>
                    </a:p>
                  </a:txBody>
                  <a:tcPr marL="91440" marR="91440" marT="45720" marB="45720" anchor="ctr">
                    <a:solidFill>
                      <a:srgbClr val="F4A81D"/>
                    </a:solidFill>
                  </a:tcPr>
                </a:tc>
                <a:tc>
                  <a:txBody>
                    <a:bodyPr wrap="square"/>
                    <a:lstStyle/>
                    <a:p>
                      <a:pPr algn="l">
                        <a:spcAft>
                          <a:spcPts val="400"/>
                        </a:spcAft>
                      </a:pPr>
                      <a:r>
                        <a:rPr sz="1200" b="1" i="0">
                          <a:solidFill>
                            <a:srgbClr val="23272B"/>
                          </a:solidFill>
                          <a:latin typeface="Arial"/>
                        </a:rPr>
                        <a:t>Extracted value</a:t>
                      </a:r>
                    </a:p>
                  </a:txBody>
                  <a:tcPr marL="91440" marR="91440" marT="45720" marB="45720" anchor="ctr">
                    <a:solidFill>
                      <a:srgbClr val="F4A81D"/>
                    </a:solidFill>
                  </a:tcPr>
                </a:tc>
              </a:tr>
              <a:tr h="329184">
                <a:tc>
                  <a:txBody>
                    <a:bodyPr wrap="square"/>
                    <a:lstStyle/>
                    <a:p>
                      <a:pPr algn="l">
                        <a:spcAft>
                          <a:spcPts val="200"/>
                        </a:spcAft>
                      </a:pPr>
                      <a:r>
                        <a:rPr sz="1200" b="1" i="0">
                          <a:solidFill>
                            <a:srgbClr val="23272B"/>
                          </a:solidFill>
                          <a:latin typeface="Arial"/>
                        </a:rPr>
                        <a:t>Location</a:t>
                      </a:r>
                    </a:p>
                  </a:txBody>
                  <a:tcPr marL="91440" marR="91440" marT="45720" marB="45720" anchor="ctr">
                    <a:solidFill>
                      <a:srgbClr val="FFFFFF"/>
                    </a:solidFill>
                  </a:tcPr>
                </a:tc>
                <a:tc>
                  <a:txBody>
                    <a:bodyPr wrap="square"/>
                    <a:lstStyle/>
                    <a:p>
                      <a:pPr algn="l">
                        <a:spcAft>
                          <a:spcPts val="200"/>
                        </a:spcAft>
                      </a:pPr>
                      <a:r>
                        <a:rPr sz="1200" b="0" i="0">
                          <a:solidFill>
                            <a:srgbClr val="23272B"/>
                          </a:solidFill>
                          <a:latin typeface="Arial"/>
                        </a:rPr>
                        <a:t>Wardha</a:t>
                      </a:r>
                    </a:p>
                  </a:txBody>
                  <a:tcPr marL="91440" marR="91440" marT="45720" marB="45720" anchor="ctr">
                    <a:solidFill>
                      <a:srgbClr val="FFFFFF"/>
                    </a:solidFill>
                  </a:tcPr>
                </a:tc>
              </a:tr>
              <a:tr h="329184">
                <a:tc>
                  <a:txBody>
                    <a:bodyPr wrap="square"/>
                    <a:lstStyle/>
                    <a:p>
                      <a:pPr algn="l">
                        <a:spcAft>
                          <a:spcPts val="200"/>
                        </a:spcAft>
                      </a:pPr>
                      <a:r>
                        <a:rPr sz="1200" b="1" i="0">
                          <a:solidFill>
                            <a:srgbClr val="23272B"/>
                          </a:solidFill>
                          <a:latin typeface="Arial"/>
                        </a:rPr>
                        <a:t>Event</a:t>
                      </a:r>
                    </a:p>
                  </a:txBody>
                  <a:tcPr marL="91440" marR="91440" marT="45720" marB="45720" anchor="ctr">
                    <a:solidFill>
                      <a:srgbClr val="F0F2F4"/>
                    </a:solidFill>
                  </a:tcPr>
                </a:tc>
                <a:tc>
                  <a:txBody>
                    <a:bodyPr wrap="square"/>
                    <a:lstStyle/>
                    <a:p>
                      <a:pPr algn="l">
                        <a:spcAft>
                          <a:spcPts val="200"/>
                        </a:spcAft>
                      </a:pPr>
                      <a:r>
                        <a:rPr sz="1200" b="0" i="0">
                          <a:solidFill>
                            <a:srgbClr val="23272B"/>
                          </a:solidFill>
                          <a:latin typeface="Arial"/>
                        </a:rPr>
                        <a:t>Flood</a:t>
                      </a:r>
                    </a:p>
                  </a:txBody>
                  <a:tcPr marL="91440" marR="91440" marT="45720" marB="45720" anchor="ctr">
                    <a:solidFill>
                      <a:srgbClr val="F0F2F4"/>
                    </a:solidFill>
                  </a:tcPr>
                </a:tc>
              </a:tr>
              <a:tr h="329184">
                <a:tc>
                  <a:txBody>
                    <a:bodyPr wrap="square"/>
                    <a:lstStyle/>
                    <a:p>
                      <a:pPr algn="l">
                        <a:spcAft>
                          <a:spcPts val="200"/>
                        </a:spcAft>
                      </a:pPr>
                      <a:r>
                        <a:rPr sz="1200" b="1" i="0">
                          <a:solidFill>
                            <a:srgbClr val="23272B"/>
                          </a:solidFill>
                          <a:latin typeface="Arial"/>
                        </a:rPr>
                        <a:t>Need</a:t>
                      </a:r>
                    </a:p>
                  </a:txBody>
                  <a:tcPr marL="91440" marR="91440" marT="45720" marB="45720" anchor="ctr">
                    <a:solidFill>
                      <a:srgbClr val="FFFFFF"/>
                    </a:solidFill>
                  </a:tcPr>
                </a:tc>
                <a:tc>
                  <a:txBody>
                    <a:bodyPr wrap="square"/>
                    <a:lstStyle/>
                    <a:p>
                      <a:pPr algn="l">
                        <a:spcAft>
                          <a:spcPts val="200"/>
                        </a:spcAft>
                      </a:pPr>
                      <a:r>
                        <a:rPr sz="1200" b="0" i="0">
                          <a:solidFill>
                            <a:srgbClr val="23272B"/>
                          </a:solidFill>
                          <a:latin typeface="Arial"/>
                        </a:rPr>
                        <a:t>Rescue</a:t>
                      </a:r>
                    </a:p>
                  </a:txBody>
                  <a:tcPr marL="91440" marR="91440" marT="45720" marB="45720" anchor="ctr">
                    <a:solidFill>
                      <a:srgbClr val="FFFFFF"/>
                    </a:solidFill>
                  </a:tcPr>
                </a:tc>
              </a:tr>
              <a:tr h="329184">
                <a:tc>
                  <a:txBody>
                    <a:bodyPr wrap="square"/>
                    <a:lstStyle/>
                    <a:p>
                      <a:pPr algn="l">
                        <a:spcAft>
                          <a:spcPts val="200"/>
                        </a:spcAft>
                      </a:pPr>
                      <a:r>
                        <a:rPr sz="1200" b="1" i="0">
                          <a:solidFill>
                            <a:srgbClr val="23272B"/>
                          </a:solidFill>
                          <a:latin typeface="Arial"/>
                        </a:rPr>
                        <a:t>Severity</a:t>
                      </a:r>
                    </a:p>
                  </a:txBody>
                  <a:tcPr marL="91440" marR="91440" marT="45720" marB="45720" anchor="ctr">
                    <a:solidFill>
                      <a:srgbClr val="F0F2F4"/>
                    </a:solidFill>
                  </a:tcPr>
                </a:tc>
                <a:tc>
                  <a:txBody>
                    <a:bodyPr wrap="square"/>
                    <a:lstStyle/>
                    <a:p>
                      <a:pPr algn="l">
                        <a:spcAft>
                          <a:spcPts val="200"/>
                        </a:spcAft>
                      </a:pPr>
                      <a:r>
                        <a:rPr sz="1200" b="1" i="0">
                          <a:solidFill>
                            <a:srgbClr val="D9472B"/>
                          </a:solidFill>
                          <a:latin typeface="Arial"/>
                        </a:rPr>
                        <a:t>High</a:t>
                      </a:r>
                    </a:p>
                  </a:txBody>
                  <a:tcPr marL="91440" marR="91440" marT="45720" marB="45720" anchor="ctr">
                    <a:solidFill>
                      <a:srgbClr val="F0F2F4"/>
                    </a:solidFill>
                  </a:tcPr>
                </a:tc>
              </a:tr>
            </a:tbl>
          </a:graphicData>
        </a:graphic>
      </p:graphicFrame>
      <p:cxnSp>
        <p:nvCxnSpPr>
          <p:cNvPr id="15" name="Connector 14"/>
          <p:cNvCxnSpPr/>
          <p:nvPr/>
        </p:nvCxnSpPr>
        <p:spPr>
          <a:xfrm>
            <a:off x="4526280" y="1371600"/>
            <a:ext cx="0" cy="4800600"/>
          </a:xfrm>
          <a:prstGeom prst="line">
            <a:avLst/>
          </a:prstGeom>
          <a:ln w="12700">
            <a:solidFill>
              <a:srgbClr val="D5DADF"/>
            </a:solidFill>
          </a:ln>
        </p:spPr>
      </p:cxnSp>
      <p:sp>
        <p:nvSpPr>
          <p:cNvPr id="16" name="TextBox 15"/>
          <p:cNvSpPr txBox="1"/>
          <p:nvPr/>
        </p:nvSpPr>
        <p:spPr>
          <a:xfrm>
            <a:off x="4754880" y="1371600"/>
            <a:ext cx="3840480" cy="274320"/>
          </a:xfrm>
          <a:prstGeom prst="rect">
            <a:avLst/>
          </a:prstGeom>
          <a:noFill/>
        </p:spPr>
        <p:txBody>
          <a:bodyPr wrap="square" anchor="t" lIns="0" rIns="0" tIns="0" bIns="0"/>
          <a:lstStyle/>
          <a:p>
            <a:pPr algn="l">
              <a:spcAft>
                <a:spcPts val="400"/>
              </a:spcAft>
            </a:pPr>
            <a:r>
              <a:rPr sz="1050" b="1" i="0" spc="100">
                <a:solidFill>
                  <a:srgbClr val="2C6E91"/>
                </a:solidFill>
                <a:latin typeface="Arial"/>
              </a:rPr>
              <a:t>EVACUATION ROUTING (RL)</a:t>
            </a:r>
          </a:p>
        </p:txBody>
      </p:sp>
      <p:sp>
        <p:nvSpPr>
          <p:cNvPr id="17" name="Rectangle 16"/>
          <p:cNvSpPr/>
          <p:nvPr/>
        </p:nvSpPr>
        <p:spPr>
          <a:xfrm>
            <a:off x="4754880" y="2011680"/>
            <a:ext cx="1645920" cy="914400"/>
          </a:xfrm>
          <a:prstGeom prst="rect">
            <a:avLst/>
          </a:prstGeom>
          <a:solidFill>
            <a:srgbClr val="F4A81D"/>
          </a:solidFill>
          <a:ln>
            <a:noFill/>
          </a:ln>
        </p:spPr>
        <p:txBody>
          <a:bodyPr rtlCol="0" anchor="ctr" wrap="square" lIns="54864" rIns="54864" tIns="54864" bIns="54864"/>
          <a:lstStyle/>
          <a:p>
            <a:pPr algn="ctr">
              <a:spcAft>
                <a:spcPts val="0"/>
              </a:spcAft>
            </a:pPr>
            <a:r>
              <a:rPr sz="1500" b="1" i="0">
                <a:solidFill>
                  <a:srgbClr val="23272B"/>
                </a:solidFill>
                <a:latin typeface="Arial"/>
              </a:rPr>
              <a:t>Agent</a:t>
            </a:r>
          </a:p>
          <a:p>
            <a:pPr algn="ctr">
              <a:spcAft>
                <a:spcPts val="0"/>
              </a:spcAft>
            </a:pPr>
            <a:r>
              <a:rPr sz="1050" b="0" i="0">
                <a:solidFill>
                  <a:srgbClr val="23272B"/>
                </a:solidFill>
                <a:latin typeface="Arial"/>
              </a:rPr>
              <a:t>policy π (PPO / DQN)</a:t>
            </a:r>
          </a:p>
        </p:txBody>
      </p:sp>
      <p:sp>
        <p:nvSpPr>
          <p:cNvPr id="18" name="Rectangle 17"/>
          <p:cNvSpPr/>
          <p:nvPr/>
        </p:nvSpPr>
        <p:spPr>
          <a:xfrm>
            <a:off x="6949440" y="2011680"/>
            <a:ext cx="1645920" cy="914400"/>
          </a:xfrm>
          <a:prstGeom prst="rect">
            <a:avLst/>
          </a:prstGeom>
          <a:solidFill>
            <a:srgbClr val="2C6E91"/>
          </a:solidFill>
          <a:ln>
            <a:noFill/>
          </a:ln>
        </p:spPr>
        <p:txBody>
          <a:bodyPr rtlCol="0" anchor="ctr" wrap="square" lIns="54864" rIns="54864" tIns="54864" bIns="54864"/>
          <a:lstStyle/>
          <a:p>
            <a:pPr algn="ctr">
              <a:spcAft>
                <a:spcPts val="0"/>
              </a:spcAft>
            </a:pPr>
            <a:r>
              <a:rPr sz="1400" b="1" i="0">
                <a:solidFill>
                  <a:srgbClr val="FFFFFF"/>
                </a:solidFill>
                <a:latin typeface="Arial"/>
              </a:rPr>
              <a:t>Environment</a:t>
            </a:r>
          </a:p>
          <a:p>
            <a:pPr algn="ctr">
              <a:spcAft>
                <a:spcPts val="0"/>
              </a:spcAft>
            </a:pPr>
            <a:r>
              <a:rPr sz="1050" b="0" i="0">
                <a:solidFill>
                  <a:srgbClr val="FFFFFF"/>
                </a:solidFill>
                <a:latin typeface="Arial"/>
              </a:rPr>
              <a:t>roads + hazard map</a:t>
            </a:r>
          </a:p>
        </p:txBody>
      </p:sp>
      <p:cxnSp>
        <p:nvCxnSpPr>
          <p:cNvPr id="19" name="Connector 18"/>
          <p:cNvCxnSpPr/>
          <p:nvPr/>
        </p:nvCxnSpPr>
        <p:spPr>
          <a:xfrm>
            <a:off x="6400800" y="2240280"/>
            <a:ext cx="548640" cy="0"/>
          </a:xfrm>
          <a:prstGeom prst="line">
            <a:avLst/>
          </a:prstGeom>
          <a:ln w="19050">
            <a:solidFill>
              <a:srgbClr val="23272B"/>
            </a:solidFill>
            <a:tailEnd type="triangle" w="med" len="med"/>
          </a:ln>
        </p:spPr>
      </p:cxnSp>
      <p:cxnSp>
        <p:nvCxnSpPr>
          <p:cNvPr id="20" name="Connector 19"/>
          <p:cNvCxnSpPr/>
          <p:nvPr/>
        </p:nvCxnSpPr>
        <p:spPr>
          <a:xfrm flipH="1">
            <a:off x="6400800" y="2697480"/>
            <a:ext cx="548640" cy="0"/>
          </a:xfrm>
          <a:prstGeom prst="line">
            <a:avLst/>
          </a:prstGeom>
          <a:ln w="19050">
            <a:solidFill>
              <a:srgbClr val="3C9D5D"/>
            </a:solidFill>
            <a:tailEnd type="triangle" w="med" len="med"/>
          </a:ln>
        </p:spPr>
      </p:cxnSp>
      <p:sp>
        <p:nvSpPr>
          <p:cNvPr id="21" name="TextBox 20"/>
          <p:cNvSpPr txBox="1"/>
          <p:nvPr/>
        </p:nvSpPr>
        <p:spPr>
          <a:xfrm>
            <a:off x="4754880" y="1737360"/>
            <a:ext cx="3840480" cy="256032"/>
          </a:xfrm>
          <a:prstGeom prst="rect">
            <a:avLst/>
          </a:prstGeom>
          <a:noFill/>
        </p:spPr>
        <p:txBody>
          <a:bodyPr wrap="square" anchor="t" lIns="0" rIns="0" tIns="0" bIns="0"/>
          <a:lstStyle/>
          <a:p>
            <a:pPr algn="r">
              <a:spcAft>
                <a:spcPts val="400"/>
              </a:spcAft>
            </a:pPr>
            <a:r>
              <a:rPr sz="1050" b="0" i="0">
                <a:solidFill>
                  <a:srgbClr val="23272B"/>
                </a:solidFill>
                <a:latin typeface="Arial"/>
              </a:rPr>
              <a:t>action a: choose the next road →</a:t>
            </a:r>
          </a:p>
        </p:txBody>
      </p:sp>
      <p:sp>
        <p:nvSpPr>
          <p:cNvPr id="22" name="TextBox 21"/>
          <p:cNvSpPr txBox="1"/>
          <p:nvPr/>
        </p:nvSpPr>
        <p:spPr>
          <a:xfrm>
            <a:off x="4754880" y="2971800"/>
            <a:ext cx="3840480" cy="457200"/>
          </a:xfrm>
          <a:prstGeom prst="rect">
            <a:avLst/>
          </a:prstGeom>
          <a:noFill/>
        </p:spPr>
        <p:txBody>
          <a:bodyPr wrap="square" anchor="t" lIns="0" rIns="0" tIns="0" bIns="0"/>
          <a:lstStyle/>
          <a:p>
            <a:pPr algn="l">
              <a:spcAft>
                <a:spcPts val="0"/>
              </a:spcAft>
            </a:pPr>
            <a:r>
              <a:rPr sz="1050" b="1" i="0">
                <a:solidFill>
                  <a:srgbClr val="3C9D5D"/>
                </a:solidFill>
                <a:latin typeface="Arial"/>
              </a:rPr>
              <a:t>← state s: </a:t>
            </a:r>
            <a:r>
              <a:rPr sz="1050" b="0" i="0">
                <a:solidFill>
                  <a:srgbClr val="3C9D5D"/>
                </a:solidFill>
                <a:latin typeface="Arial"/>
              </a:rPr>
              <a:t>location, congestion, hazard</a:t>
            </a:r>
          </a:p>
          <a:p>
            <a:pPr algn="l">
              <a:spcAft>
                <a:spcPts val="0"/>
              </a:spcAft>
            </a:pPr>
            <a:r>
              <a:rPr sz="1050" b="1" i="0">
                <a:solidFill>
                  <a:srgbClr val="3C9D5D"/>
                </a:solidFill>
                <a:latin typeface="Arial"/>
              </a:rPr>
              <a:t>← reward r: </a:t>
            </a:r>
            <a:r>
              <a:rPr sz="1050" b="0" i="0">
                <a:solidFill>
                  <a:srgbClr val="3C9D5D"/>
                </a:solidFill>
                <a:latin typeface="Arial"/>
              </a:rPr>
              <a:t>+ safety, − travel time</a:t>
            </a:r>
          </a:p>
        </p:txBody>
      </p:sp>
      <p:sp>
        <p:nvSpPr>
          <p:cNvPr id="23" name="Rectangle 22"/>
          <p:cNvSpPr/>
          <p:nvPr/>
        </p:nvSpPr>
        <p:spPr>
          <a:xfrm>
            <a:off x="4754880" y="3657600"/>
            <a:ext cx="3840480" cy="2514600"/>
          </a:xfrm>
          <a:prstGeom prst="rect">
            <a:avLst/>
          </a:prstGeom>
          <a:solidFill>
            <a:srgbClr val="F0F2F4"/>
          </a:solidFill>
          <a:ln>
            <a:noFill/>
          </a:ln>
        </p:spPr>
        <p:txBody>
          <a:bodyPr rtlCol="0" anchor="ctr" wrap="square" lIns="54864" rIns="54864" tIns="54864" bIns="54864"/>
          <a:lstStyle/>
          <a:p>
            <a:pPr algn="ctr"/>
          </a:p>
        </p:txBody>
      </p:sp>
      <p:sp>
        <p:nvSpPr>
          <p:cNvPr id="24" name="Rectangle 23"/>
          <p:cNvSpPr/>
          <p:nvPr/>
        </p:nvSpPr>
        <p:spPr>
          <a:xfrm>
            <a:off x="4754880" y="3657600"/>
            <a:ext cx="1188720" cy="274320"/>
          </a:xfrm>
          <a:prstGeom prst="rect">
            <a:avLst/>
          </a:prstGeom>
          <a:solidFill>
            <a:srgbClr val="23272B"/>
          </a:solidFill>
          <a:ln>
            <a:noFill/>
          </a:ln>
        </p:spPr>
        <p:txBody>
          <a:bodyPr rtlCol="0" anchor="ctr" wrap="square" lIns="0" rIns="0" tIns="0" bIns="0"/>
          <a:lstStyle/>
          <a:p>
            <a:pPr algn="ctr">
              <a:spcAft>
                <a:spcPts val="0"/>
              </a:spcAft>
            </a:pPr>
            <a:r>
              <a:rPr sz="900" b="1" i="0" spc="100">
                <a:solidFill>
                  <a:srgbClr val="F4A81D"/>
                </a:solidFill>
                <a:latin typeface="Arial"/>
              </a:rPr>
              <a:t>PSEUDOCODE</a:t>
            </a:r>
          </a:p>
        </p:txBody>
      </p:sp>
      <p:sp>
        <p:nvSpPr>
          <p:cNvPr id="25" name="TextBox 24"/>
          <p:cNvSpPr txBox="1"/>
          <p:nvPr/>
        </p:nvSpPr>
        <p:spPr>
          <a:xfrm>
            <a:off x="4937760" y="4069080"/>
            <a:ext cx="3566160" cy="2057400"/>
          </a:xfrm>
          <a:prstGeom prst="rect">
            <a:avLst/>
          </a:prstGeom>
          <a:noFill/>
        </p:spPr>
        <p:txBody>
          <a:bodyPr wrap="square" anchor="t" lIns="0" rIns="0" tIns="0" bIns="0"/>
          <a:lstStyle/>
          <a:p>
            <a:pPr algn="l">
              <a:spcAft>
                <a:spcPts val="200"/>
              </a:spcAft>
            </a:pPr>
            <a:r>
              <a:rPr sz="1100" b="0" i="0">
                <a:solidFill>
                  <a:srgbClr val="8B96A0"/>
                </a:solidFill>
                <a:latin typeface="Consolas"/>
              </a:rPr>
              <a:t> 1  </a:t>
            </a:r>
            <a:r>
              <a:rPr sz="1100" b="0" i="0">
                <a:solidFill>
                  <a:srgbClr val="23272B"/>
                </a:solidFill>
                <a:latin typeface="Consolas"/>
              </a:rPr>
              <a:t>Input: road graph G, hazard map H</a:t>
            </a:r>
          </a:p>
          <a:p>
            <a:pPr algn="l">
              <a:spcAft>
                <a:spcPts val="200"/>
              </a:spcAft>
            </a:pPr>
            <a:r>
              <a:rPr sz="1100" b="0" i="0">
                <a:solidFill>
                  <a:srgbClr val="8B96A0"/>
                </a:solidFill>
                <a:latin typeface="Consolas"/>
              </a:rPr>
              <a:t> 2  </a:t>
            </a:r>
            <a:r>
              <a:rPr sz="1100" b="0" i="0">
                <a:solidFill>
                  <a:srgbClr val="23272B"/>
                </a:solidFill>
                <a:latin typeface="Consolas"/>
              </a:rPr>
              <a:t>s ← (loc, congestion, hazard)</a:t>
            </a:r>
          </a:p>
          <a:p>
            <a:pPr algn="l">
              <a:spcAft>
                <a:spcPts val="200"/>
              </a:spcAft>
            </a:pPr>
            <a:r>
              <a:rPr sz="1100" b="0" i="0">
                <a:solidFill>
                  <a:srgbClr val="8B96A0"/>
                </a:solidFill>
                <a:latin typeface="Consolas"/>
              </a:rPr>
              <a:t> 3  </a:t>
            </a:r>
            <a:r>
              <a:rPr sz="1100" b="0" i="0">
                <a:solidFill>
                  <a:srgbClr val="23272B"/>
                </a:solidFill>
                <a:latin typeface="Consolas"/>
              </a:rPr>
              <a:t>a ← π(s)          </a:t>
            </a:r>
            <a:r>
              <a:rPr sz="1100" b="0" i="1">
                <a:solidFill>
                  <a:srgbClr val="2C6E91"/>
                </a:solidFill>
                <a:latin typeface="Consolas"/>
              </a:rPr>
              <a:t># next road</a:t>
            </a:r>
          </a:p>
          <a:p>
            <a:pPr algn="l">
              <a:spcAft>
                <a:spcPts val="200"/>
              </a:spcAft>
            </a:pPr>
            <a:r>
              <a:rPr sz="1100" b="0" i="0">
                <a:solidFill>
                  <a:srgbClr val="8B96A0"/>
                </a:solidFill>
                <a:latin typeface="Consolas"/>
              </a:rPr>
              <a:t> 4  </a:t>
            </a:r>
            <a:r>
              <a:rPr sz="1100" b="0" i="0">
                <a:solidFill>
                  <a:srgbClr val="23272B"/>
                </a:solidFill>
                <a:latin typeface="Consolas"/>
              </a:rPr>
              <a:t>r ← R(safety, time)</a:t>
            </a:r>
          </a:p>
          <a:p>
            <a:pPr algn="l">
              <a:spcAft>
                <a:spcPts val="200"/>
              </a:spcAft>
            </a:pPr>
            <a:r>
              <a:rPr sz="1100" b="0" i="0">
                <a:solidFill>
                  <a:srgbClr val="8B96A0"/>
                </a:solidFill>
                <a:latin typeface="Consolas"/>
              </a:rPr>
              <a:t> 5  </a:t>
            </a:r>
            <a:r>
              <a:rPr sz="1100" b="0" i="0">
                <a:solidFill>
                  <a:srgbClr val="23272B"/>
                </a:solidFill>
                <a:latin typeface="Consolas"/>
              </a:rPr>
              <a:t>update π with PPO / DQN</a:t>
            </a:r>
          </a:p>
          <a:p>
            <a:pPr algn="l">
              <a:spcAft>
                <a:spcPts val="200"/>
              </a:spcAft>
            </a:pPr>
            <a:r>
              <a:rPr sz="1100" b="0" i="0">
                <a:solidFill>
                  <a:srgbClr val="8B96A0"/>
                </a:solidFill>
                <a:latin typeface="Consolas"/>
              </a:rPr>
              <a:t> 6  </a:t>
            </a:r>
            <a:r>
              <a:rPr sz="1100" b="0" i="0">
                <a:solidFill>
                  <a:srgbClr val="23272B"/>
                </a:solidFill>
                <a:latin typeface="Consolas"/>
              </a:rPr>
              <a:t>return safest route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84048"/>
            <a:ext cx="566928" cy="566928"/>
          </a:xfrm>
          <a:prstGeom prst="rect">
            <a:avLst/>
          </a:prstGeom>
          <a:solidFill>
            <a:srgbClr val="F4A81D"/>
          </a:solidFill>
          <a:ln>
            <a:noFill/>
          </a:ln>
        </p:spPr>
        <p:txBody>
          <a:bodyPr rtlCol="0" anchor="ctr" wrap="square" lIns="0" rIns="0" tIns="0" bIns="0"/>
          <a:lstStyle/>
          <a:p>
            <a:pPr algn="ctr">
              <a:spcAft>
                <a:spcPts val="0"/>
              </a:spcAft>
            </a:pPr>
            <a:r>
              <a:rPr sz="1800" b="1" i="0">
                <a:solidFill>
                  <a:srgbClr val="23272B"/>
                </a:solidFill>
                <a:latin typeface="Arial"/>
              </a:rPr>
              <a:t>08</a:t>
            </a:r>
          </a:p>
        </p:txBody>
      </p:sp>
      <p:sp>
        <p:nvSpPr>
          <p:cNvPr id="3" name="TextBox 2"/>
          <p:cNvSpPr txBox="1"/>
          <p:nvPr/>
        </p:nvSpPr>
        <p:spPr>
          <a:xfrm>
            <a:off x="1280160" y="329184"/>
            <a:ext cx="7315200" cy="438912"/>
          </a:xfrm>
          <a:prstGeom prst="rect">
            <a:avLst/>
          </a:prstGeom>
          <a:noFill/>
        </p:spPr>
        <p:txBody>
          <a:bodyPr wrap="square" anchor="ctr" lIns="0" rIns="0" tIns="0" bIns="0"/>
          <a:lstStyle/>
          <a:p>
            <a:pPr algn="l">
              <a:spcAft>
                <a:spcPts val="400"/>
              </a:spcAft>
            </a:pPr>
            <a:r>
              <a:rPr sz="2400" b="1" i="0">
                <a:solidFill>
                  <a:srgbClr val="23272B"/>
                </a:solidFill>
                <a:latin typeface="Arial"/>
              </a:rPr>
              <a:t>Features, Advantages &amp; Disadvantages</a:t>
            </a:r>
          </a:p>
        </p:txBody>
      </p:sp>
      <p:sp>
        <p:nvSpPr>
          <p:cNvPr id="4" name="TextBox 3"/>
          <p:cNvSpPr txBox="1"/>
          <p:nvPr/>
        </p:nvSpPr>
        <p:spPr>
          <a:xfrm>
            <a:off x="1280160" y="749808"/>
            <a:ext cx="7315200" cy="292608"/>
          </a:xfrm>
          <a:prstGeom prst="rect">
            <a:avLst/>
          </a:prstGeom>
          <a:noFill/>
        </p:spPr>
        <p:txBody>
          <a:bodyPr wrap="square" anchor="t" lIns="0" rIns="0" tIns="0" bIns="0"/>
          <a:lstStyle/>
          <a:p>
            <a:pPr algn="l">
              <a:spcAft>
                <a:spcPts val="400"/>
              </a:spcAft>
            </a:pPr>
            <a:r>
              <a:rPr sz="1300" b="0" i="0">
                <a:solidFill>
                  <a:srgbClr val="5F6B76"/>
                </a:solidFill>
                <a:latin typeface="Arial"/>
              </a:rPr>
              <a:t>Faster and wider — but only as good as its data</a:t>
            </a:r>
          </a:p>
        </p:txBody>
      </p:sp>
      <p:pic>
        <p:nvPicPr>
          <p:cNvPr id="5" name="Picture 4" descr="image.jpg"/>
          <p:cNvPicPr>
            <a:picLocks noChangeAspect="1"/>
          </p:cNvPicPr>
          <p:nvPr/>
        </p:nvPicPr>
        <p:blipFill>
          <a:blip r:embed="rId2"/>
          <a:stretch>
            <a:fillRect/>
          </a:stretch>
        </p:blipFill>
        <p:spPr>
          <a:xfrm>
            <a:off x="548640" y="6336792"/>
            <a:ext cx="438912" cy="330572"/>
          </a:xfrm>
          <a:prstGeom prst="rect">
            <a:avLst/>
          </a:prstGeom>
        </p:spPr>
      </p:pic>
      <p:sp>
        <p:nvSpPr>
          <p:cNvPr id="6" name="TextBox 5"/>
          <p:cNvSpPr txBox="1"/>
          <p:nvPr/>
        </p:nvSpPr>
        <p:spPr>
          <a:xfrm>
            <a:off x="1078992" y="6382512"/>
            <a:ext cx="5943600" cy="274320"/>
          </a:xfrm>
          <a:prstGeom prst="rect">
            <a:avLst/>
          </a:prstGeom>
          <a:noFill/>
        </p:spPr>
        <p:txBody>
          <a:bodyPr wrap="square" anchor="ctr" lIns="0" rIns="0" tIns="0" bIns="0"/>
          <a:lstStyle/>
          <a:p>
            <a:pPr algn="l">
              <a:spcAft>
                <a:spcPts val="400"/>
              </a:spcAft>
            </a:pPr>
            <a:r>
              <a:rPr sz="900" b="0" i="0">
                <a:solidFill>
                  <a:srgbClr val="5F6B76"/>
                </a:solidFill>
                <a:latin typeface="Arial"/>
              </a:rPr>
              <a:t>AI in Disaster Management   |   Vedika Dandade, B344</a:t>
            </a:r>
          </a:p>
        </p:txBody>
      </p:sp>
      <p:sp>
        <p:nvSpPr>
          <p:cNvPr id="7" name="Rectangle 6"/>
          <p:cNvSpPr/>
          <p:nvPr/>
        </p:nvSpPr>
        <p:spPr>
          <a:xfrm>
            <a:off x="8275320" y="6355080"/>
            <a:ext cx="329184" cy="329184"/>
          </a:xfrm>
          <a:prstGeom prst="rect">
            <a:avLst/>
          </a:prstGeom>
          <a:solidFill>
            <a:srgbClr val="F4A81D"/>
          </a:solidFill>
          <a:ln>
            <a:noFill/>
          </a:ln>
        </p:spPr>
        <p:txBody>
          <a:bodyPr rtlCol="0" anchor="ctr" wrap="square" lIns="0" rIns="0" tIns="0" bIns="0"/>
          <a:lstStyle/>
          <a:p>
            <a:pPr algn="ctr"/>
            <a:fld id="{3C1D2E4F-6A7B-4C8D-9E0F-1A2B3C4D5E6F}" type="slidenum">
              <a:rPr lang="en-US" sz="1000" b="1">
                <a:solidFill>
                  <a:srgbClr val="23272B"/>
                </a:solidFill>
                <a:latin typeface="Arial"/>
              </a:rPr>
              <a:t>13</a:t>
            </a:fld>
          </a:p>
        </p:txBody>
      </p:sp>
      <p:sp>
        <p:nvSpPr>
          <p:cNvPr id="8" name="TextBox 7"/>
          <p:cNvSpPr txBox="1"/>
          <p:nvPr/>
        </p:nvSpPr>
        <p:spPr>
          <a:xfrm>
            <a:off x="548640" y="1325880"/>
            <a:ext cx="3657600" cy="274320"/>
          </a:xfrm>
          <a:prstGeom prst="rect">
            <a:avLst/>
          </a:prstGeom>
          <a:noFill/>
        </p:spPr>
        <p:txBody>
          <a:bodyPr wrap="square" anchor="t" lIns="0" rIns="0" tIns="0" bIns="0"/>
          <a:lstStyle/>
          <a:p>
            <a:pPr algn="l">
              <a:spcAft>
                <a:spcPts val="400"/>
              </a:spcAft>
            </a:pPr>
            <a:r>
              <a:rPr sz="1050" b="1" i="0" spc="100">
                <a:solidFill>
                  <a:srgbClr val="2C6E91"/>
                </a:solidFill>
                <a:latin typeface="Arial"/>
              </a:rPr>
              <a:t>KEY FEATURES</a:t>
            </a:r>
          </a:p>
        </p:txBody>
      </p:sp>
      <p:sp>
        <p:nvSpPr>
          <p:cNvPr id="9" name="Rectangle 8"/>
          <p:cNvSpPr/>
          <p:nvPr/>
        </p:nvSpPr>
        <p:spPr>
          <a:xfrm>
            <a:off x="548640" y="1645920"/>
            <a:ext cx="1517904" cy="1234440"/>
          </a:xfrm>
          <a:prstGeom prst="rect">
            <a:avLst/>
          </a:prstGeom>
          <a:solidFill>
            <a:srgbClr val="F0F2F4"/>
          </a:solidFill>
          <a:ln>
            <a:noFill/>
          </a:ln>
        </p:spPr>
        <p:txBody>
          <a:bodyPr rtlCol="0" anchor="ctr" wrap="square" lIns="54864" rIns="54864" tIns="54864" bIns="54864"/>
          <a:lstStyle/>
          <a:p>
            <a:pPr algn="ctr"/>
          </a:p>
        </p:txBody>
      </p:sp>
      <p:sp>
        <p:nvSpPr>
          <p:cNvPr id="10" name="Rectangle 9"/>
          <p:cNvSpPr/>
          <p:nvPr/>
        </p:nvSpPr>
        <p:spPr>
          <a:xfrm>
            <a:off x="685800" y="1755648"/>
            <a:ext cx="384048" cy="384048"/>
          </a:xfrm>
          <a:prstGeom prst="rect">
            <a:avLst/>
          </a:prstGeom>
          <a:solidFill>
            <a:srgbClr val="F4A81D"/>
          </a:solidFill>
          <a:ln>
            <a:noFill/>
          </a:ln>
        </p:spPr>
        <p:txBody>
          <a:bodyPr rtlCol="0" anchor="ctr" wrap="square" lIns="54864" rIns="54864" tIns="54864" bIns="54864"/>
          <a:lstStyle/>
          <a:p>
            <a:pPr algn="ctr"/>
          </a:p>
        </p:txBody>
      </p:sp>
      <p:pic>
        <p:nvPicPr>
          <p:cNvPr id="11" name="Picture 10" descr="layers_vc.png"/>
          <p:cNvPicPr>
            <a:picLocks noChangeAspect="1"/>
          </p:cNvPicPr>
          <p:nvPr/>
        </p:nvPicPr>
        <p:blipFill>
          <a:blip r:embed="rId3"/>
          <a:stretch>
            <a:fillRect/>
          </a:stretch>
        </p:blipFill>
        <p:spPr>
          <a:xfrm>
            <a:off x="770290" y="1840138"/>
            <a:ext cx="215066" cy="215066"/>
          </a:xfrm>
          <a:prstGeom prst="rect">
            <a:avLst/>
          </a:prstGeom>
        </p:spPr>
      </p:pic>
      <p:sp>
        <p:nvSpPr>
          <p:cNvPr id="12" name="TextBox 11"/>
          <p:cNvSpPr txBox="1"/>
          <p:nvPr/>
        </p:nvSpPr>
        <p:spPr>
          <a:xfrm>
            <a:off x="685800" y="2212848"/>
            <a:ext cx="1325880" cy="640080"/>
          </a:xfrm>
          <a:prstGeom prst="rect">
            <a:avLst/>
          </a:prstGeom>
          <a:noFill/>
        </p:spPr>
        <p:txBody>
          <a:bodyPr wrap="square" anchor="t" lIns="0" rIns="0" tIns="0" bIns="0"/>
          <a:lstStyle/>
          <a:p>
            <a:pPr algn="l">
              <a:spcAft>
                <a:spcPts val="0"/>
              </a:spcAft>
            </a:pPr>
            <a:r>
              <a:rPr sz="1250" b="1" i="0">
                <a:solidFill>
                  <a:srgbClr val="23272B"/>
                </a:solidFill>
                <a:latin typeface="Arial"/>
              </a:rPr>
              <a:t>Data fusion</a:t>
            </a:r>
          </a:p>
          <a:p>
            <a:pPr algn="l">
              <a:spcAft>
                <a:spcPts val="0"/>
              </a:spcAft>
            </a:pPr>
            <a:r>
              <a:rPr sz="1050" b="0" i="0">
                <a:solidFill>
                  <a:srgbClr val="5F6B76"/>
                </a:solidFill>
                <a:latin typeface="Arial"/>
              </a:rPr>
              <a:t>satellite, sensor, text</a:t>
            </a:r>
          </a:p>
        </p:txBody>
      </p:sp>
      <p:sp>
        <p:nvSpPr>
          <p:cNvPr id="13" name="Rectangle 12"/>
          <p:cNvSpPr/>
          <p:nvPr/>
        </p:nvSpPr>
        <p:spPr>
          <a:xfrm>
            <a:off x="2180844" y="1645920"/>
            <a:ext cx="1517904" cy="1234440"/>
          </a:xfrm>
          <a:prstGeom prst="rect">
            <a:avLst/>
          </a:prstGeom>
          <a:solidFill>
            <a:srgbClr val="F0F2F4"/>
          </a:solidFill>
          <a:ln>
            <a:noFill/>
          </a:ln>
        </p:spPr>
        <p:txBody>
          <a:bodyPr rtlCol="0" anchor="ctr" wrap="square" lIns="54864" rIns="54864" tIns="54864" bIns="54864"/>
          <a:lstStyle/>
          <a:p>
            <a:pPr algn="ctr"/>
          </a:p>
        </p:txBody>
      </p:sp>
      <p:sp>
        <p:nvSpPr>
          <p:cNvPr id="14" name="Rectangle 13"/>
          <p:cNvSpPr/>
          <p:nvPr/>
        </p:nvSpPr>
        <p:spPr>
          <a:xfrm>
            <a:off x="2318003" y="1755648"/>
            <a:ext cx="384048" cy="384048"/>
          </a:xfrm>
          <a:prstGeom prst="rect">
            <a:avLst/>
          </a:prstGeom>
          <a:solidFill>
            <a:srgbClr val="F4A81D"/>
          </a:solidFill>
          <a:ln>
            <a:noFill/>
          </a:ln>
        </p:spPr>
        <p:txBody>
          <a:bodyPr rtlCol="0" anchor="ctr" wrap="square" lIns="54864" rIns="54864" tIns="54864" bIns="54864"/>
          <a:lstStyle/>
          <a:p>
            <a:pPr algn="ctr"/>
          </a:p>
        </p:txBody>
      </p:sp>
      <p:pic>
        <p:nvPicPr>
          <p:cNvPr id="15" name="Picture 14" descr="clock_vc.png"/>
          <p:cNvPicPr>
            <a:picLocks noChangeAspect="1"/>
          </p:cNvPicPr>
          <p:nvPr/>
        </p:nvPicPr>
        <p:blipFill>
          <a:blip r:embed="rId4"/>
          <a:stretch>
            <a:fillRect/>
          </a:stretch>
        </p:blipFill>
        <p:spPr>
          <a:xfrm>
            <a:off x="2402494" y="1840138"/>
            <a:ext cx="215066" cy="215066"/>
          </a:xfrm>
          <a:prstGeom prst="rect">
            <a:avLst/>
          </a:prstGeom>
        </p:spPr>
      </p:pic>
      <p:sp>
        <p:nvSpPr>
          <p:cNvPr id="16" name="TextBox 15"/>
          <p:cNvSpPr txBox="1"/>
          <p:nvPr/>
        </p:nvSpPr>
        <p:spPr>
          <a:xfrm>
            <a:off x="2318003" y="2212848"/>
            <a:ext cx="1325880" cy="640080"/>
          </a:xfrm>
          <a:prstGeom prst="rect">
            <a:avLst/>
          </a:prstGeom>
          <a:noFill/>
        </p:spPr>
        <p:txBody>
          <a:bodyPr wrap="square" anchor="t" lIns="0" rIns="0" tIns="0" bIns="0"/>
          <a:lstStyle/>
          <a:p>
            <a:pPr algn="l">
              <a:spcAft>
                <a:spcPts val="0"/>
              </a:spcAft>
            </a:pPr>
            <a:r>
              <a:rPr sz="1250" b="1" i="0">
                <a:solidFill>
                  <a:srgbClr val="23272B"/>
                </a:solidFill>
                <a:latin typeface="Arial"/>
              </a:rPr>
              <a:t>Real-time</a:t>
            </a:r>
          </a:p>
          <a:p>
            <a:pPr algn="l">
              <a:spcAft>
                <a:spcPts val="0"/>
              </a:spcAft>
            </a:pPr>
            <a:r>
              <a:rPr sz="1050" b="0" i="0">
                <a:solidFill>
                  <a:srgbClr val="5F6B76"/>
                </a:solidFill>
                <a:latin typeface="Arial"/>
              </a:rPr>
              <a:t>continuous monitoring</a:t>
            </a:r>
          </a:p>
        </p:txBody>
      </p:sp>
      <p:sp>
        <p:nvSpPr>
          <p:cNvPr id="17" name="Rectangle 16"/>
          <p:cNvSpPr/>
          <p:nvPr/>
        </p:nvSpPr>
        <p:spPr>
          <a:xfrm>
            <a:off x="3813048" y="1645920"/>
            <a:ext cx="1517904" cy="1234440"/>
          </a:xfrm>
          <a:prstGeom prst="rect">
            <a:avLst/>
          </a:prstGeom>
          <a:solidFill>
            <a:srgbClr val="F0F2F4"/>
          </a:solidFill>
          <a:ln>
            <a:noFill/>
          </a:ln>
        </p:spPr>
        <p:txBody>
          <a:bodyPr rtlCol="0" anchor="ctr" wrap="square" lIns="54864" rIns="54864" tIns="54864" bIns="54864"/>
          <a:lstStyle/>
          <a:p>
            <a:pPr algn="ctr"/>
          </a:p>
        </p:txBody>
      </p:sp>
      <p:sp>
        <p:nvSpPr>
          <p:cNvPr id="18" name="Rectangle 17"/>
          <p:cNvSpPr/>
          <p:nvPr/>
        </p:nvSpPr>
        <p:spPr>
          <a:xfrm>
            <a:off x="3950208" y="1755648"/>
            <a:ext cx="384048" cy="384048"/>
          </a:xfrm>
          <a:prstGeom prst="rect">
            <a:avLst/>
          </a:prstGeom>
          <a:solidFill>
            <a:srgbClr val="F4A81D"/>
          </a:solidFill>
          <a:ln>
            <a:noFill/>
          </a:ln>
        </p:spPr>
        <p:txBody>
          <a:bodyPr rtlCol="0" anchor="ctr" wrap="square" lIns="54864" rIns="54864" tIns="54864" bIns="54864"/>
          <a:lstStyle/>
          <a:p>
            <a:pPr algn="ctr"/>
          </a:p>
        </p:txBody>
      </p:sp>
      <p:pic>
        <p:nvPicPr>
          <p:cNvPr id="19" name="Picture 18" descr="chart_vc.png"/>
          <p:cNvPicPr>
            <a:picLocks noChangeAspect="1"/>
          </p:cNvPicPr>
          <p:nvPr/>
        </p:nvPicPr>
        <p:blipFill>
          <a:blip r:embed="rId5"/>
          <a:stretch>
            <a:fillRect/>
          </a:stretch>
        </p:blipFill>
        <p:spPr>
          <a:xfrm>
            <a:off x="4034698" y="1840138"/>
            <a:ext cx="215066" cy="215066"/>
          </a:xfrm>
          <a:prstGeom prst="rect">
            <a:avLst/>
          </a:prstGeom>
        </p:spPr>
      </p:pic>
      <p:sp>
        <p:nvSpPr>
          <p:cNvPr id="20" name="TextBox 19"/>
          <p:cNvSpPr txBox="1"/>
          <p:nvPr/>
        </p:nvSpPr>
        <p:spPr>
          <a:xfrm>
            <a:off x="3950208" y="2212848"/>
            <a:ext cx="1325880" cy="640080"/>
          </a:xfrm>
          <a:prstGeom prst="rect">
            <a:avLst/>
          </a:prstGeom>
          <a:noFill/>
        </p:spPr>
        <p:txBody>
          <a:bodyPr wrap="square" anchor="t" lIns="0" rIns="0" tIns="0" bIns="0"/>
          <a:lstStyle/>
          <a:p>
            <a:pPr algn="l">
              <a:spcAft>
                <a:spcPts val="0"/>
              </a:spcAft>
            </a:pPr>
            <a:r>
              <a:rPr sz="1250" b="1" i="0">
                <a:solidFill>
                  <a:srgbClr val="23272B"/>
                </a:solidFill>
                <a:latin typeface="Arial"/>
              </a:rPr>
              <a:t>Prediction</a:t>
            </a:r>
          </a:p>
          <a:p>
            <a:pPr algn="l">
              <a:spcAft>
                <a:spcPts val="0"/>
              </a:spcAft>
            </a:pPr>
            <a:r>
              <a:rPr sz="1050" b="0" i="0">
                <a:solidFill>
                  <a:srgbClr val="5F6B76"/>
                </a:solidFill>
                <a:latin typeface="Arial"/>
              </a:rPr>
              <a:t>forecasts risk early</a:t>
            </a:r>
          </a:p>
        </p:txBody>
      </p:sp>
      <p:sp>
        <p:nvSpPr>
          <p:cNvPr id="21" name="Rectangle 20"/>
          <p:cNvSpPr/>
          <p:nvPr/>
        </p:nvSpPr>
        <p:spPr>
          <a:xfrm>
            <a:off x="5445251" y="1645920"/>
            <a:ext cx="1517904" cy="1234440"/>
          </a:xfrm>
          <a:prstGeom prst="rect">
            <a:avLst/>
          </a:prstGeom>
          <a:solidFill>
            <a:srgbClr val="F0F2F4"/>
          </a:solidFill>
          <a:ln>
            <a:noFill/>
          </a:ln>
        </p:spPr>
        <p:txBody>
          <a:bodyPr rtlCol="0" anchor="ctr" wrap="square" lIns="54864" rIns="54864" tIns="54864" bIns="54864"/>
          <a:lstStyle/>
          <a:p>
            <a:pPr algn="ctr"/>
          </a:p>
        </p:txBody>
      </p:sp>
      <p:sp>
        <p:nvSpPr>
          <p:cNvPr id="22" name="Rectangle 21"/>
          <p:cNvSpPr/>
          <p:nvPr/>
        </p:nvSpPr>
        <p:spPr>
          <a:xfrm>
            <a:off x="5582412" y="1755648"/>
            <a:ext cx="384048" cy="384048"/>
          </a:xfrm>
          <a:prstGeom prst="rect">
            <a:avLst/>
          </a:prstGeom>
          <a:solidFill>
            <a:srgbClr val="F4A81D"/>
          </a:solidFill>
          <a:ln>
            <a:noFill/>
          </a:ln>
        </p:spPr>
        <p:txBody>
          <a:bodyPr rtlCol="0" anchor="ctr" wrap="square" lIns="54864" rIns="54864" tIns="54864" bIns="54864"/>
          <a:lstStyle/>
          <a:p>
            <a:pPr algn="ctr"/>
          </a:p>
        </p:txBody>
      </p:sp>
      <p:pic>
        <p:nvPicPr>
          <p:cNvPr id="23" name="Picture 22" descr="map_vc.png"/>
          <p:cNvPicPr>
            <a:picLocks noChangeAspect="1"/>
          </p:cNvPicPr>
          <p:nvPr/>
        </p:nvPicPr>
        <p:blipFill>
          <a:blip r:embed="rId6"/>
          <a:stretch>
            <a:fillRect/>
          </a:stretch>
        </p:blipFill>
        <p:spPr>
          <a:xfrm>
            <a:off x="5666902" y="1840138"/>
            <a:ext cx="215066" cy="215066"/>
          </a:xfrm>
          <a:prstGeom prst="rect">
            <a:avLst/>
          </a:prstGeom>
        </p:spPr>
      </p:pic>
      <p:sp>
        <p:nvSpPr>
          <p:cNvPr id="24" name="TextBox 23"/>
          <p:cNvSpPr txBox="1"/>
          <p:nvPr/>
        </p:nvSpPr>
        <p:spPr>
          <a:xfrm>
            <a:off x="5582412" y="2212848"/>
            <a:ext cx="1325880" cy="640080"/>
          </a:xfrm>
          <a:prstGeom prst="rect">
            <a:avLst/>
          </a:prstGeom>
          <a:noFill/>
        </p:spPr>
        <p:txBody>
          <a:bodyPr wrap="square" anchor="t" lIns="0" rIns="0" tIns="0" bIns="0"/>
          <a:lstStyle/>
          <a:p>
            <a:pPr algn="l">
              <a:spcAft>
                <a:spcPts val="0"/>
              </a:spcAft>
            </a:pPr>
            <a:r>
              <a:rPr sz="1250" b="1" i="0">
                <a:solidFill>
                  <a:srgbClr val="23272B"/>
                </a:solidFill>
                <a:latin typeface="Arial"/>
              </a:rPr>
              <a:t>Auto mapping</a:t>
            </a:r>
          </a:p>
          <a:p>
            <a:pPr algn="l">
              <a:spcAft>
                <a:spcPts val="0"/>
              </a:spcAft>
            </a:pPr>
            <a:r>
              <a:rPr sz="1050" b="0" i="0">
                <a:solidFill>
                  <a:srgbClr val="5F6B76"/>
                </a:solidFill>
                <a:latin typeface="Arial"/>
              </a:rPr>
              <a:t>damage from imagery</a:t>
            </a:r>
          </a:p>
        </p:txBody>
      </p:sp>
      <p:sp>
        <p:nvSpPr>
          <p:cNvPr id="25" name="Rectangle 24"/>
          <p:cNvSpPr/>
          <p:nvPr/>
        </p:nvSpPr>
        <p:spPr>
          <a:xfrm>
            <a:off x="7077455" y="1645920"/>
            <a:ext cx="1517904" cy="1234440"/>
          </a:xfrm>
          <a:prstGeom prst="rect">
            <a:avLst/>
          </a:prstGeom>
          <a:solidFill>
            <a:srgbClr val="F0F2F4"/>
          </a:solidFill>
          <a:ln>
            <a:noFill/>
          </a:ln>
        </p:spPr>
        <p:txBody>
          <a:bodyPr rtlCol="0" anchor="ctr" wrap="square" lIns="54864" rIns="54864" tIns="54864" bIns="54864"/>
          <a:lstStyle/>
          <a:p>
            <a:pPr algn="ctr"/>
          </a:p>
        </p:txBody>
      </p:sp>
      <p:sp>
        <p:nvSpPr>
          <p:cNvPr id="26" name="Rectangle 25"/>
          <p:cNvSpPr/>
          <p:nvPr/>
        </p:nvSpPr>
        <p:spPr>
          <a:xfrm>
            <a:off x="7214616" y="1755648"/>
            <a:ext cx="384048" cy="384048"/>
          </a:xfrm>
          <a:prstGeom prst="rect">
            <a:avLst/>
          </a:prstGeom>
          <a:solidFill>
            <a:srgbClr val="F4A81D"/>
          </a:solidFill>
          <a:ln>
            <a:noFill/>
          </a:ln>
        </p:spPr>
        <p:txBody>
          <a:bodyPr rtlCol="0" anchor="ctr" wrap="square" lIns="54864" rIns="54864" tIns="54864" bIns="54864"/>
          <a:lstStyle/>
          <a:p>
            <a:pPr algn="ctr"/>
          </a:p>
        </p:txBody>
      </p:sp>
      <p:pic>
        <p:nvPicPr>
          <p:cNvPr id="27" name="Picture 26" descr="sitemap_vc.png"/>
          <p:cNvPicPr>
            <a:picLocks noChangeAspect="1"/>
          </p:cNvPicPr>
          <p:nvPr/>
        </p:nvPicPr>
        <p:blipFill>
          <a:blip r:embed="rId7"/>
          <a:stretch>
            <a:fillRect/>
          </a:stretch>
        </p:blipFill>
        <p:spPr>
          <a:xfrm>
            <a:off x="7299106" y="1840138"/>
            <a:ext cx="215066" cy="215066"/>
          </a:xfrm>
          <a:prstGeom prst="rect">
            <a:avLst/>
          </a:prstGeom>
        </p:spPr>
      </p:pic>
      <p:sp>
        <p:nvSpPr>
          <p:cNvPr id="28" name="TextBox 27"/>
          <p:cNvSpPr txBox="1"/>
          <p:nvPr/>
        </p:nvSpPr>
        <p:spPr>
          <a:xfrm>
            <a:off x="7214616" y="2212848"/>
            <a:ext cx="1325880" cy="640080"/>
          </a:xfrm>
          <a:prstGeom prst="rect">
            <a:avLst/>
          </a:prstGeom>
          <a:noFill/>
        </p:spPr>
        <p:txBody>
          <a:bodyPr wrap="square" anchor="t" lIns="0" rIns="0" tIns="0" bIns="0"/>
          <a:lstStyle/>
          <a:p>
            <a:pPr algn="l">
              <a:spcAft>
                <a:spcPts val="0"/>
              </a:spcAft>
            </a:pPr>
            <a:r>
              <a:rPr sz="1250" b="1" i="0">
                <a:solidFill>
                  <a:srgbClr val="23272B"/>
                </a:solidFill>
                <a:latin typeface="Arial"/>
              </a:rPr>
              <a:t>Decision support</a:t>
            </a:r>
          </a:p>
          <a:p>
            <a:pPr algn="l">
              <a:spcAft>
                <a:spcPts val="0"/>
              </a:spcAft>
            </a:pPr>
            <a:r>
              <a:rPr sz="1050" b="0" i="0">
                <a:solidFill>
                  <a:srgbClr val="5F6B76"/>
                </a:solidFill>
                <a:latin typeface="Arial"/>
              </a:rPr>
              <a:t>routes, resources</a:t>
            </a:r>
          </a:p>
        </p:txBody>
      </p:sp>
      <p:sp>
        <p:nvSpPr>
          <p:cNvPr id="29" name="Rectangle 28"/>
          <p:cNvSpPr/>
          <p:nvPr/>
        </p:nvSpPr>
        <p:spPr>
          <a:xfrm>
            <a:off x="548640" y="3108960"/>
            <a:ext cx="3931920" cy="457200"/>
          </a:xfrm>
          <a:prstGeom prst="rect">
            <a:avLst/>
          </a:prstGeom>
          <a:solidFill>
            <a:srgbClr val="3C9D5D"/>
          </a:solidFill>
          <a:ln>
            <a:noFill/>
          </a:ln>
        </p:spPr>
        <p:txBody>
          <a:bodyPr rtlCol="0" anchor="ctr" wrap="square" lIns="137160" rIns="137160" tIns="137160" bIns="137160"/>
          <a:lstStyle/>
          <a:p>
            <a:pPr algn="l">
              <a:spcAft>
                <a:spcPts val="0"/>
              </a:spcAft>
            </a:pPr>
            <a:r>
              <a:rPr sz="1400" b="1" i="0">
                <a:solidFill>
                  <a:srgbClr val="FFFFFF"/>
                </a:solidFill>
                <a:latin typeface="Arial"/>
              </a:rPr>
              <a:t>Advantages</a:t>
            </a:r>
          </a:p>
        </p:txBody>
      </p:sp>
      <p:pic>
        <p:nvPicPr>
          <p:cNvPr id="30" name="Picture 29" descr="check_vg.png"/>
          <p:cNvPicPr>
            <a:picLocks noChangeAspect="1"/>
          </p:cNvPicPr>
          <p:nvPr/>
        </p:nvPicPr>
        <p:blipFill>
          <a:blip r:embed="rId8"/>
          <a:stretch>
            <a:fillRect/>
          </a:stretch>
        </p:blipFill>
        <p:spPr>
          <a:xfrm>
            <a:off x="594360" y="3749039"/>
            <a:ext cx="246888" cy="246888"/>
          </a:xfrm>
          <a:prstGeom prst="rect">
            <a:avLst/>
          </a:prstGeom>
        </p:spPr>
      </p:pic>
      <p:sp>
        <p:nvSpPr>
          <p:cNvPr id="31" name="TextBox 30"/>
          <p:cNvSpPr txBox="1"/>
          <p:nvPr/>
        </p:nvSpPr>
        <p:spPr>
          <a:xfrm>
            <a:off x="960120" y="3657600"/>
            <a:ext cx="3520440" cy="438912"/>
          </a:xfrm>
          <a:prstGeom prst="rect">
            <a:avLst/>
          </a:prstGeom>
          <a:noFill/>
        </p:spPr>
        <p:txBody>
          <a:bodyPr wrap="square" anchor="ctr" lIns="0" rIns="0" tIns="0" bIns="0"/>
          <a:lstStyle/>
          <a:p>
            <a:pPr algn="l">
              <a:spcAft>
                <a:spcPts val="400"/>
              </a:spcAft>
            </a:pPr>
            <a:r>
              <a:rPr sz="1250" b="1" i="0">
                <a:solidFill>
                  <a:srgbClr val="23272B"/>
                </a:solidFill>
                <a:latin typeface="Arial"/>
              </a:rPr>
              <a:t>Earlier warnings  </a:t>
            </a:r>
            <a:r>
              <a:rPr sz="1250" b="0" i="0">
                <a:solidFill>
                  <a:srgbClr val="5F6B76"/>
                </a:solidFill>
                <a:latin typeface="Arial"/>
              </a:rPr>
              <a:t>more lead time to evacuate</a:t>
            </a:r>
          </a:p>
        </p:txBody>
      </p:sp>
      <p:pic>
        <p:nvPicPr>
          <p:cNvPr id="32" name="Picture 31" descr="check_vg.png"/>
          <p:cNvPicPr>
            <a:picLocks noChangeAspect="1"/>
          </p:cNvPicPr>
          <p:nvPr/>
        </p:nvPicPr>
        <p:blipFill>
          <a:blip r:embed="rId8"/>
          <a:stretch>
            <a:fillRect/>
          </a:stretch>
        </p:blipFill>
        <p:spPr>
          <a:xfrm>
            <a:off x="594360" y="4251959"/>
            <a:ext cx="246888" cy="246888"/>
          </a:xfrm>
          <a:prstGeom prst="rect">
            <a:avLst/>
          </a:prstGeom>
        </p:spPr>
      </p:pic>
      <p:sp>
        <p:nvSpPr>
          <p:cNvPr id="33" name="TextBox 32"/>
          <p:cNvSpPr txBox="1"/>
          <p:nvPr/>
        </p:nvSpPr>
        <p:spPr>
          <a:xfrm>
            <a:off x="960120" y="4160520"/>
            <a:ext cx="3520440" cy="438912"/>
          </a:xfrm>
          <a:prstGeom prst="rect">
            <a:avLst/>
          </a:prstGeom>
          <a:noFill/>
        </p:spPr>
        <p:txBody>
          <a:bodyPr wrap="square" anchor="ctr" lIns="0" rIns="0" tIns="0" bIns="0"/>
          <a:lstStyle/>
          <a:p>
            <a:pPr algn="l">
              <a:spcAft>
                <a:spcPts val="400"/>
              </a:spcAft>
            </a:pPr>
            <a:r>
              <a:rPr sz="1250" b="1" i="0">
                <a:solidFill>
                  <a:srgbClr val="23272B"/>
                </a:solidFill>
                <a:latin typeface="Arial"/>
              </a:rPr>
              <a:t>Faster assessment  </a:t>
            </a:r>
            <a:r>
              <a:rPr sz="1250" b="0" i="0">
                <a:solidFill>
                  <a:srgbClr val="5F6B76"/>
                </a:solidFill>
                <a:latin typeface="Arial"/>
              </a:rPr>
              <a:t>quicker than ground surveys</a:t>
            </a:r>
          </a:p>
        </p:txBody>
      </p:sp>
      <p:pic>
        <p:nvPicPr>
          <p:cNvPr id="34" name="Picture 33" descr="check_vg.png"/>
          <p:cNvPicPr>
            <a:picLocks noChangeAspect="1"/>
          </p:cNvPicPr>
          <p:nvPr/>
        </p:nvPicPr>
        <p:blipFill>
          <a:blip r:embed="rId8"/>
          <a:stretch>
            <a:fillRect/>
          </a:stretch>
        </p:blipFill>
        <p:spPr>
          <a:xfrm>
            <a:off x="594360" y="4754879"/>
            <a:ext cx="246888" cy="246888"/>
          </a:xfrm>
          <a:prstGeom prst="rect">
            <a:avLst/>
          </a:prstGeom>
        </p:spPr>
      </p:pic>
      <p:sp>
        <p:nvSpPr>
          <p:cNvPr id="35" name="TextBox 34"/>
          <p:cNvSpPr txBox="1"/>
          <p:nvPr/>
        </p:nvSpPr>
        <p:spPr>
          <a:xfrm>
            <a:off x="960120" y="4663440"/>
            <a:ext cx="3520440" cy="438912"/>
          </a:xfrm>
          <a:prstGeom prst="rect">
            <a:avLst/>
          </a:prstGeom>
          <a:noFill/>
        </p:spPr>
        <p:txBody>
          <a:bodyPr wrap="square" anchor="ctr" lIns="0" rIns="0" tIns="0" bIns="0"/>
          <a:lstStyle/>
          <a:p>
            <a:pPr algn="l">
              <a:spcAft>
                <a:spcPts val="400"/>
              </a:spcAft>
            </a:pPr>
            <a:r>
              <a:rPr sz="1250" b="1" i="0">
                <a:solidFill>
                  <a:srgbClr val="23272B"/>
                </a:solidFill>
                <a:latin typeface="Arial"/>
              </a:rPr>
              <a:t>Better allocation  </a:t>
            </a:r>
            <a:r>
              <a:rPr sz="1250" b="0" i="0">
                <a:solidFill>
                  <a:srgbClr val="5F6B76"/>
                </a:solidFill>
                <a:latin typeface="Arial"/>
              </a:rPr>
              <a:t>relief reaches need first</a:t>
            </a:r>
          </a:p>
        </p:txBody>
      </p:sp>
      <p:pic>
        <p:nvPicPr>
          <p:cNvPr id="36" name="Picture 35" descr="check_vg.png"/>
          <p:cNvPicPr>
            <a:picLocks noChangeAspect="1"/>
          </p:cNvPicPr>
          <p:nvPr/>
        </p:nvPicPr>
        <p:blipFill>
          <a:blip r:embed="rId8"/>
          <a:stretch>
            <a:fillRect/>
          </a:stretch>
        </p:blipFill>
        <p:spPr>
          <a:xfrm>
            <a:off x="594360" y="5257800"/>
            <a:ext cx="246888" cy="246888"/>
          </a:xfrm>
          <a:prstGeom prst="rect">
            <a:avLst/>
          </a:prstGeom>
        </p:spPr>
      </p:pic>
      <p:sp>
        <p:nvSpPr>
          <p:cNvPr id="37" name="TextBox 36"/>
          <p:cNvSpPr txBox="1"/>
          <p:nvPr/>
        </p:nvSpPr>
        <p:spPr>
          <a:xfrm>
            <a:off x="960120" y="5166360"/>
            <a:ext cx="3520440" cy="438912"/>
          </a:xfrm>
          <a:prstGeom prst="rect">
            <a:avLst/>
          </a:prstGeom>
          <a:noFill/>
        </p:spPr>
        <p:txBody>
          <a:bodyPr wrap="square" anchor="ctr" lIns="0" rIns="0" tIns="0" bIns="0"/>
          <a:lstStyle/>
          <a:p>
            <a:pPr algn="l">
              <a:spcAft>
                <a:spcPts val="400"/>
              </a:spcAft>
            </a:pPr>
            <a:r>
              <a:rPr sz="1250" b="1" i="0">
                <a:solidFill>
                  <a:srgbClr val="23272B"/>
                </a:solidFill>
                <a:latin typeface="Arial"/>
              </a:rPr>
              <a:t>Wide coverage  </a:t>
            </a:r>
            <a:r>
              <a:rPr sz="1250" b="0" i="0">
                <a:solidFill>
                  <a:srgbClr val="5F6B76"/>
                </a:solidFill>
                <a:latin typeface="Arial"/>
              </a:rPr>
              <a:t>large or unreachable areas</a:t>
            </a:r>
          </a:p>
        </p:txBody>
      </p:sp>
      <p:pic>
        <p:nvPicPr>
          <p:cNvPr id="38" name="Picture 37" descr="check_vg.png"/>
          <p:cNvPicPr>
            <a:picLocks noChangeAspect="1"/>
          </p:cNvPicPr>
          <p:nvPr/>
        </p:nvPicPr>
        <p:blipFill>
          <a:blip r:embed="rId8"/>
          <a:stretch>
            <a:fillRect/>
          </a:stretch>
        </p:blipFill>
        <p:spPr>
          <a:xfrm>
            <a:off x="594360" y="5760720"/>
            <a:ext cx="246888" cy="246888"/>
          </a:xfrm>
          <a:prstGeom prst="rect">
            <a:avLst/>
          </a:prstGeom>
        </p:spPr>
      </p:pic>
      <p:sp>
        <p:nvSpPr>
          <p:cNvPr id="39" name="TextBox 38"/>
          <p:cNvSpPr txBox="1"/>
          <p:nvPr/>
        </p:nvSpPr>
        <p:spPr>
          <a:xfrm>
            <a:off x="960120" y="5669280"/>
            <a:ext cx="3520440" cy="438912"/>
          </a:xfrm>
          <a:prstGeom prst="rect">
            <a:avLst/>
          </a:prstGeom>
          <a:noFill/>
        </p:spPr>
        <p:txBody>
          <a:bodyPr wrap="square" anchor="ctr" lIns="0" rIns="0" tIns="0" bIns="0"/>
          <a:lstStyle/>
          <a:p>
            <a:pPr algn="l">
              <a:spcAft>
                <a:spcPts val="400"/>
              </a:spcAft>
            </a:pPr>
            <a:r>
              <a:rPr sz="1250" b="1" i="0">
                <a:solidFill>
                  <a:srgbClr val="23272B"/>
                </a:solidFill>
                <a:latin typeface="Arial"/>
              </a:rPr>
              <a:t>Scalable  </a:t>
            </a:r>
            <a:r>
              <a:rPr sz="1250" b="0" i="0">
                <a:solidFill>
                  <a:srgbClr val="5F6B76"/>
                </a:solidFill>
                <a:latin typeface="Arial"/>
              </a:rPr>
              <a:t>works 24×7 at scale</a:t>
            </a:r>
          </a:p>
        </p:txBody>
      </p:sp>
      <p:sp>
        <p:nvSpPr>
          <p:cNvPr id="40" name="Rectangle 39"/>
          <p:cNvSpPr/>
          <p:nvPr/>
        </p:nvSpPr>
        <p:spPr>
          <a:xfrm>
            <a:off x="4663440" y="3108960"/>
            <a:ext cx="3931920" cy="457200"/>
          </a:xfrm>
          <a:prstGeom prst="rect">
            <a:avLst/>
          </a:prstGeom>
          <a:solidFill>
            <a:srgbClr val="D9472B"/>
          </a:solidFill>
          <a:ln>
            <a:noFill/>
          </a:ln>
        </p:spPr>
        <p:txBody>
          <a:bodyPr rtlCol="0" anchor="ctr" wrap="square" lIns="137160" rIns="137160" tIns="137160" bIns="137160"/>
          <a:lstStyle/>
          <a:p>
            <a:pPr algn="l">
              <a:spcAft>
                <a:spcPts val="0"/>
              </a:spcAft>
            </a:pPr>
            <a:r>
              <a:rPr sz="1400" b="1" i="0">
                <a:solidFill>
                  <a:srgbClr val="FFFFFF"/>
                </a:solidFill>
                <a:latin typeface="Arial"/>
              </a:rPr>
              <a:t>Disadvantages</a:t>
            </a:r>
          </a:p>
        </p:txBody>
      </p:sp>
      <p:pic>
        <p:nvPicPr>
          <p:cNvPr id="41" name="Picture 40" descr="times_vr.png"/>
          <p:cNvPicPr>
            <a:picLocks noChangeAspect="1"/>
          </p:cNvPicPr>
          <p:nvPr/>
        </p:nvPicPr>
        <p:blipFill>
          <a:blip r:embed="rId9"/>
          <a:stretch>
            <a:fillRect/>
          </a:stretch>
        </p:blipFill>
        <p:spPr>
          <a:xfrm>
            <a:off x="4709159" y="3749039"/>
            <a:ext cx="246888" cy="246888"/>
          </a:xfrm>
          <a:prstGeom prst="rect">
            <a:avLst/>
          </a:prstGeom>
        </p:spPr>
      </p:pic>
      <p:sp>
        <p:nvSpPr>
          <p:cNvPr id="42" name="TextBox 41"/>
          <p:cNvSpPr txBox="1"/>
          <p:nvPr/>
        </p:nvSpPr>
        <p:spPr>
          <a:xfrm>
            <a:off x="5074920" y="3657600"/>
            <a:ext cx="3520440" cy="438912"/>
          </a:xfrm>
          <a:prstGeom prst="rect">
            <a:avLst/>
          </a:prstGeom>
          <a:noFill/>
        </p:spPr>
        <p:txBody>
          <a:bodyPr wrap="square" anchor="ctr" lIns="0" rIns="0" tIns="0" bIns="0"/>
          <a:lstStyle/>
          <a:p>
            <a:pPr algn="l">
              <a:spcAft>
                <a:spcPts val="400"/>
              </a:spcAft>
            </a:pPr>
            <a:r>
              <a:rPr sz="1250" b="1" i="0">
                <a:solidFill>
                  <a:srgbClr val="23272B"/>
                </a:solidFill>
                <a:latin typeface="Arial"/>
              </a:rPr>
              <a:t>Data scarcity  </a:t>
            </a:r>
            <a:r>
              <a:rPr sz="1250" b="0" i="0">
                <a:solidFill>
                  <a:srgbClr val="5F6B76"/>
                </a:solidFill>
                <a:latin typeface="Arial"/>
              </a:rPr>
              <a:t>rare events, imbalanced data</a:t>
            </a:r>
          </a:p>
        </p:txBody>
      </p:sp>
      <p:pic>
        <p:nvPicPr>
          <p:cNvPr id="43" name="Picture 42" descr="times_vr.png"/>
          <p:cNvPicPr>
            <a:picLocks noChangeAspect="1"/>
          </p:cNvPicPr>
          <p:nvPr/>
        </p:nvPicPr>
        <p:blipFill>
          <a:blip r:embed="rId9"/>
          <a:stretch>
            <a:fillRect/>
          </a:stretch>
        </p:blipFill>
        <p:spPr>
          <a:xfrm>
            <a:off x="4709159" y="4251959"/>
            <a:ext cx="246888" cy="246888"/>
          </a:xfrm>
          <a:prstGeom prst="rect">
            <a:avLst/>
          </a:prstGeom>
        </p:spPr>
      </p:pic>
      <p:sp>
        <p:nvSpPr>
          <p:cNvPr id="44" name="TextBox 43"/>
          <p:cNvSpPr txBox="1"/>
          <p:nvPr/>
        </p:nvSpPr>
        <p:spPr>
          <a:xfrm>
            <a:off x="5074920" y="4160520"/>
            <a:ext cx="3520440" cy="438912"/>
          </a:xfrm>
          <a:prstGeom prst="rect">
            <a:avLst/>
          </a:prstGeom>
          <a:noFill/>
        </p:spPr>
        <p:txBody>
          <a:bodyPr wrap="square" anchor="ctr" lIns="0" rIns="0" tIns="0" bIns="0"/>
          <a:lstStyle/>
          <a:p>
            <a:pPr algn="l">
              <a:spcAft>
                <a:spcPts val="400"/>
              </a:spcAft>
            </a:pPr>
            <a:r>
              <a:rPr sz="1250" b="1" i="0">
                <a:solidFill>
                  <a:srgbClr val="23272B"/>
                </a:solidFill>
                <a:latin typeface="Arial"/>
              </a:rPr>
              <a:t>Generalization  </a:t>
            </a:r>
            <a:r>
              <a:rPr sz="1250" b="0" i="0">
                <a:solidFill>
                  <a:srgbClr val="5F6B76"/>
                </a:solidFill>
                <a:latin typeface="Arial"/>
              </a:rPr>
              <a:t>may fail in new regions</a:t>
            </a:r>
          </a:p>
        </p:txBody>
      </p:sp>
      <p:pic>
        <p:nvPicPr>
          <p:cNvPr id="45" name="Picture 44" descr="times_vr.png"/>
          <p:cNvPicPr>
            <a:picLocks noChangeAspect="1"/>
          </p:cNvPicPr>
          <p:nvPr/>
        </p:nvPicPr>
        <p:blipFill>
          <a:blip r:embed="rId9"/>
          <a:stretch>
            <a:fillRect/>
          </a:stretch>
        </p:blipFill>
        <p:spPr>
          <a:xfrm>
            <a:off x="4709159" y="4754879"/>
            <a:ext cx="246888" cy="246888"/>
          </a:xfrm>
          <a:prstGeom prst="rect">
            <a:avLst/>
          </a:prstGeom>
        </p:spPr>
      </p:pic>
      <p:sp>
        <p:nvSpPr>
          <p:cNvPr id="46" name="TextBox 45"/>
          <p:cNvSpPr txBox="1"/>
          <p:nvPr/>
        </p:nvSpPr>
        <p:spPr>
          <a:xfrm>
            <a:off x="5074920" y="4663440"/>
            <a:ext cx="3520440" cy="438912"/>
          </a:xfrm>
          <a:prstGeom prst="rect">
            <a:avLst/>
          </a:prstGeom>
          <a:noFill/>
        </p:spPr>
        <p:txBody>
          <a:bodyPr wrap="square" anchor="ctr" lIns="0" rIns="0" tIns="0" bIns="0"/>
          <a:lstStyle/>
          <a:p>
            <a:pPr algn="l">
              <a:spcAft>
                <a:spcPts val="400"/>
              </a:spcAft>
            </a:pPr>
            <a:r>
              <a:rPr sz="1250" b="1" i="0">
                <a:solidFill>
                  <a:srgbClr val="23272B"/>
                </a:solidFill>
                <a:latin typeface="Arial"/>
              </a:rPr>
              <a:t>Black box  </a:t>
            </a:r>
            <a:r>
              <a:rPr sz="1250" b="0" i="0">
                <a:solidFill>
                  <a:srgbClr val="5F6B76"/>
                </a:solidFill>
                <a:latin typeface="Arial"/>
              </a:rPr>
              <a:t>low trust without explanation [2]</a:t>
            </a:r>
          </a:p>
        </p:txBody>
      </p:sp>
      <p:pic>
        <p:nvPicPr>
          <p:cNvPr id="47" name="Picture 46" descr="times_vr.png"/>
          <p:cNvPicPr>
            <a:picLocks noChangeAspect="1"/>
          </p:cNvPicPr>
          <p:nvPr/>
        </p:nvPicPr>
        <p:blipFill>
          <a:blip r:embed="rId9"/>
          <a:stretch>
            <a:fillRect/>
          </a:stretch>
        </p:blipFill>
        <p:spPr>
          <a:xfrm>
            <a:off x="4709159" y="5257800"/>
            <a:ext cx="246888" cy="246888"/>
          </a:xfrm>
          <a:prstGeom prst="rect">
            <a:avLst/>
          </a:prstGeom>
        </p:spPr>
      </p:pic>
      <p:sp>
        <p:nvSpPr>
          <p:cNvPr id="48" name="TextBox 47"/>
          <p:cNvSpPr txBox="1"/>
          <p:nvPr/>
        </p:nvSpPr>
        <p:spPr>
          <a:xfrm>
            <a:off x="5074920" y="5166360"/>
            <a:ext cx="3520440" cy="438912"/>
          </a:xfrm>
          <a:prstGeom prst="rect">
            <a:avLst/>
          </a:prstGeom>
          <a:noFill/>
        </p:spPr>
        <p:txBody>
          <a:bodyPr wrap="square" anchor="ctr" lIns="0" rIns="0" tIns="0" bIns="0"/>
          <a:lstStyle/>
          <a:p>
            <a:pPr algn="l">
              <a:spcAft>
                <a:spcPts val="400"/>
              </a:spcAft>
            </a:pPr>
            <a:r>
              <a:rPr sz="1250" b="1" i="0">
                <a:solidFill>
                  <a:srgbClr val="23272B"/>
                </a:solidFill>
                <a:latin typeface="Arial"/>
              </a:rPr>
              <a:t>Infrastructure  </a:t>
            </a:r>
            <a:r>
              <a:rPr sz="1250" b="0" i="0">
                <a:solidFill>
                  <a:srgbClr val="5F6B76"/>
                </a:solidFill>
                <a:latin typeface="Arial"/>
              </a:rPr>
              <a:t>power / network may fail</a:t>
            </a:r>
          </a:p>
        </p:txBody>
      </p:sp>
      <p:pic>
        <p:nvPicPr>
          <p:cNvPr id="49" name="Picture 48" descr="times_vr.png"/>
          <p:cNvPicPr>
            <a:picLocks noChangeAspect="1"/>
          </p:cNvPicPr>
          <p:nvPr/>
        </p:nvPicPr>
        <p:blipFill>
          <a:blip r:embed="rId9"/>
          <a:stretch>
            <a:fillRect/>
          </a:stretch>
        </p:blipFill>
        <p:spPr>
          <a:xfrm>
            <a:off x="4709159" y="5760720"/>
            <a:ext cx="246888" cy="246888"/>
          </a:xfrm>
          <a:prstGeom prst="rect">
            <a:avLst/>
          </a:prstGeom>
        </p:spPr>
      </p:pic>
      <p:sp>
        <p:nvSpPr>
          <p:cNvPr id="50" name="TextBox 49"/>
          <p:cNvSpPr txBox="1"/>
          <p:nvPr/>
        </p:nvSpPr>
        <p:spPr>
          <a:xfrm>
            <a:off x="5074920" y="5669280"/>
            <a:ext cx="3520440" cy="438912"/>
          </a:xfrm>
          <a:prstGeom prst="rect">
            <a:avLst/>
          </a:prstGeom>
          <a:noFill/>
        </p:spPr>
        <p:txBody>
          <a:bodyPr wrap="square" anchor="ctr" lIns="0" rIns="0" tIns="0" bIns="0"/>
          <a:lstStyle/>
          <a:p>
            <a:pPr algn="l">
              <a:spcAft>
                <a:spcPts val="400"/>
              </a:spcAft>
            </a:pPr>
            <a:r>
              <a:rPr sz="1250" b="1" i="0">
                <a:solidFill>
                  <a:srgbClr val="23272B"/>
                </a:solidFill>
                <a:latin typeface="Arial"/>
              </a:rPr>
              <a:t>Misinformation  </a:t>
            </a:r>
            <a:r>
              <a:rPr sz="1250" b="0" i="0">
                <a:solidFill>
                  <a:srgbClr val="5F6B76"/>
                </a:solidFill>
                <a:latin typeface="Arial"/>
              </a:rPr>
              <a:t>false posts; privacy risks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84048"/>
            <a:ext cx="566928" cy="566928"/>
          </a:xfrm>
          <a:prstGeom prst="rect">
            <a:avLst/>
          </a:prstGeom>
          <a:solidFill>
            <a:srgbClr val="F4A81D"/>
          </a:solidFill>
          <a:ln>
            <a:noFill/>
          </a:ln>
        </p:spPr>
        <p:txBody>
          <a:bodyPr rtlCol="0" anchor="ctr" wrap="square" lIns="0" rIns="0" tIns="0" bIns="0"/>
          <a:lstStyle/>
          <a:p>
            <a:pPr algn="ctr">
              <a:spcAft>
                <a:spcPts val="0"/>
              </a:spcAft>
            </a:pPr>
            <a:r>
              <a:rPr sz="1800" b="1" i="0">
                <a:solidFill>
                  <a:srgbClr val="23272B"/>
                </a:solidFill>
                <a:latin typeface="Arial"/>
              </a:rPr>
              <a:t>09</a:t>
            </a:r>
          </a:p>
        </p:txBody>
      </p:sp>
      <p:sp>
        <p:nvSpPr>
          <p:cNvPr id="3" name="TextBox 2"/>
          <p:cNvSpPr txBox="1"/>
          <p:nvPr/>
        </p:nvSpPr>
        <p:spPr>
          <a:xfrm>
            <a:off x="1280160" y="329184"/>
            <a:ext cx="7315200" cy="438912"/>
          </a:xfrm>
          <a:prstGeom prst="rect">
            <a:avLst/>
          </a:prstGeom>
          <a:noFill/>
        </p:spPr>
        <p:txBody>
          <a:bodyPr wrap="square" anchor="ctr" lIns="0" rIns="0" tIns="0" bIns="0"/>
          <a:lstStyle/>
          <a:p>
            <a:pPr algn="l">
              <a:spcAft>
                <a:spcPts val="400"/>
              </a:spcAft>
            </a:pPr>
            <a:r>
              <a:rPr sz="2400" b="1" i="0">
                <a:solidFill>
                  <a:srgbClr val="23272B"/>
                </a:solidFill>
                <a:latin typeface="Arial"/>
              </a:rPr>
              <a:t>Applications</a:t>
            </a:r>
          </a:p>
        </p:txBody>
      </p:sp>
      <p:sp>
        <p:nvSpPr>
          <p:cNvPr id="4" name="TextBox 3"/>
          <p:cNvSpPr txBox="1"/>
          <p:nvPr/>
        </p:nvSpPr>
        <p:spPr>
          <a:xfrm>
            <a:off x="1280160" y="749808"/>
            <a:ext cx="7315200" cy="292608"/>
          </a:xfrm>
          <a:prstGeom prst="rect">
            <a:avLst/>
          </a:prstGeom>
          <a:noFill/>
        </p:spPr>
        <p:txBody>
          <a:bodyPr wrap="square" anchor="t" lIns="0" rIns="0" tIns="0" bIns="0"/>
          <a:lstStyle/>
          <a:p>
            <a:pPr algn="l">
              <a:spcAft>
                <a:spcPts val="400"/>
              </a:spcAft>
            </a:pPr>
            <a:r>
              <a:rPr sz="1300" b="0" i="0">
                <a:solidFill>
                  <a:srgbClr val="5F6B76"/>
                </a:solidFill>
                <a:latin typeface="Arial"/>
              </a:rPr>
              <a:t>AI across hazards and response tasks</a:t>
            </a:r>
          </a:p>
        </p:txBody>
      </p:sp>
      <p:pic>
        <p:nvPicPr>
          <p:cNvPr id="5" name="Picture 4" descr="image.jpg"/>
          <p:cNvPicPr>
            <a:picLocks noChangeAspect="1"/>
          </p:cNvPicPr>
          <p:nvPr/>
        </p:nvPicPr>
        <p:blipFill>
          <a:blip r:embed="rId2"/>
          <a:stretch>
            <a:fillRect/>
          </a:stretch>
        </p:blipFill>
        <p:spPr>
          <a:xfrm>
            <a:off x="548640" y="6336792"/>
            <a:ext cx="438912" cy="330572"/>
          </a:xfrm>
          <a:prstGeom prst="rect">
            <a:avLst/>
          </a:prstGeom>
        </p:spPr>
      </p:pic>
      <p:sp>
        <p:nvSpPr>
          <p:cNvPr id="6" name="TextBox 5"/>
          <p:cNvSpPr txBox="1"/>
          <p:nvPr/>
        </p:nvSpPr>
        <p:spPr>
          <a:xfrm>
            <a:off x="1078992" y="6382512"/>
            <a:ext cx="5943600" cy="274320"/>
          </a:xfrm>
          <a:prstGeom prst="rect">
            <a:avLst/>
          </a:prstGeom>
          <a:noFill/>
        </p:spPr>
        <p:txBody>
          <a:bodyPr wrap="square" anchor="ctr" lIns="0" rIns="0" tIns="0" bIns="0"/>
          <a:lstStyle/>
          <a:p>
            <a:pPr algn="l">
              <a:spcAft>
                <a:spcPts val="400"/>
              </a:spcAft>
            </a:pPr>
            <a:r>
              <a:rPr sz="900" b="0" i="0">
                <a:solidFill>
                  <a:srgbClr val="5F6B76"/>
                </a:solidFill>
                <a:latin typeface="Arial"/>
              </a:rPr>
              <a:t>AI in Disaster Management   |   Vedika Dandade, B344</a:t>
            </a:r>
          </a:p>
        </p:txBody>
      </p:sp>
      <p:sp>
        <p:nvSpPr>
          <p:cNvPr id="7" name="Rectangle 6"/>
          <p:cNvSpPr/>
          <p:nvPr/>
        </p:nvSpPr>
        <p:spPr>
          <a:xfrm>
            <a:off x="8275320" y="6355080"/>
            <a:ext cx="329184" cy="329184"/>
          </a:xfrm>
          <a:prstGeom prst="rect">
            <a:avLst/>
          </a:prstGeom>
          <a:solidFill>
            <a:srgbClr val="F4A81D"/>
          </a:solidFill>
          <a:ln>
            <a:noFill/>
          </a:ln>
        </p:spPr>
        <p:txBody>
          <a:bodyPr rtlCol="0" anchor="ctr" wrap="square" lIns="0" rIns="0" tIns="0" bIns="0"/>
          <a:lstStyle/>
          <a:p>
            <a:pPr algn="ctr"/>
            <a:fld id="{3C1D2E4F-6A7B-4C8D-9E0F-1A2B3C4D5E6F}" type="slidenum">
              <a:rPr lang="en-US" sz="1000" b="1">
                <a:solidFill>
                  <a:srgbClr val="23272B"/>
                </a:solidFill>
                <a:latin typeface="Arial"/>
              </a:rPr>
              <a:t>14</a:t>
            </a:fld>
          </a:p>
        </p:txBody>
      </p:sp>
      <p:sp>
        <p:nvSpPr>
          <p:cNvPr id="8" name="Rectangle 7"/>
          <p:cNvSpPr/>
          <p:nvPr/>
        </p:nvSpPr>
        <p:spPr>
          <a:xfrm>
            <a:off x="548640" y="1371600"/>
            <a:ext cx="2560320" cy="2240280"/>
          </a:xfrm>
          <a:prstGeom prst="rect">
            <a:avLst/>
          </a:prstGeom>
          <a:solidFill>
            <a:srgbClr val="FFFFFF"/>
          </a:solidFill>
          <a:ln w="15875">
            <a:solidFill>
              <a:srgbClr val="D5DADF"/>
            </a:solidFill>
          </a:ln>
        </p:spPr>
        <p:txBody>
          <a:bodyPr rtlCol="0" anchor="ctr" wrap="square" lIns="54864" rIns="54864" tIns="54864" bIns="54864"/>
          <a:lstStyle/>
          <a:p>
            <a:pPr algn="ctr"/>
          </a:p>
        </p:txBody>
      </p:sp>
      <p:sp>
        <p:nvSpPr>
          <p:cNvPr id="9" name="Rectangle 8"/>
          <p:cNvSpPr/>
          <p:nvPr/>
        </p:nvSpPr>
        <p:spPr>
          <a:xfrm>
            <a:off x="731520" y="1554480"/>
            <a:ext cx="658368" cy="658368"/>
          </a:xfrm>
          <a:prstGeom prst="rect">
            <a:avLst/>
          </a:prstGeom>
          <a:solidFill>
            <a:srgbClr val="F4A81D"/>
          </a:solidFill>
          <a:ln>
            <a:noFill/>
          </a:ln>
        </p:spPr>
        <p:txBody>
          <a:bodyPr rtlCol="0" anchor="ctr" wrap="square" lIns="54864" rIns="54864" tIns="54864" bIns="54864"/>
          <a:lstStyle/>
          <a:p>
            <a:pPr algn="ctr"/>
          </a:p>
        </p:txBody>
      </p:sp>
      <p:pic>
        <p:nvPicPr>
          <p:cNvPr id="10" name="Picture 9" descr="water_vc.png"/>
          <p:cNvPicPr>
            <a:picLocks noChangeAspect="1"/>
          </p:cNvPicPr>
          <p:nvPr/>
        </p:nvPicPr>
        <p:blipFill>
          <a:blip r:embed="rId3"/>
          <a:stretch>
            <a:fillRect/>
          </a:stretch>
        </p:blipFill>
        <p:spPr>
          <a:xfrm>
            <a:off x="876360" y="1699320"/>
            <a:ext cx="368686" cy="368686"/>
          </a:xfrm>
          <a:prstGeom prst="rect">
            <a:avLst/>
          </a:prstGeom>
        </p:spPr>
      </p:pic>
      <p:sp>
        <p:nvSpPr>
          <p:cNvPr id="11" name="TextBox 10"/>
          <p:cNvSpPr txBox="1"/>
          <p:nvPr/>
        </p:nvSpPr>
        <p:spPr>
          <a:xfrm>
            <a:off x="731520" y="2331720"/>
            <a:ext cx="2240280" cy="365760"/>
          </a:xfrm>
          <a:prstGeom prst="rect">
            <a:avLst/>
          </a:prstGeom>
          <a:noFill/>
        </p:spPr>
        <p:txBody>
          <a:bodyPr wrap="square" anchor="t" lIns="0" rIns="0" tIns="0" bIns="0"/>
          <a:lstStyle/>
          <a:p>
            <a:pPr algn="l">
              <a:spcAft>
                <a:spcPts val="400"/>
              </a:spcAft>
            </a:pPr>
            <a:r>
              <a:rPr sz="1500" b="1" i="0">
                <a:solidFill>
                  <a:srgbClr val="23272B"/>
                </a:solidFill>
                <a:latin typeface="Arial"/>
              </a:rPr>
              <a:t>Flood forecasting</a:t>
            </a:r>
          </a:p>
        </p:txBody>
      </p:sp>
      <p:sp>
        <p:nvSpPr>
          <p:cNvPr id="12" name="TextBox 11"/>
          <p:cNvSpPr txBox="1"/>
          <p:nvPr/>
        </p:nvSpPr>
        <p:spPr>
          <a:xfrm>
            <a:off x="731520" y="2715768"/>
            <a:ext cx="2240280" cy="822960"/>
          </a:xfrm>
          <a:prstGeom prst="rect">
            <a:avLst/>
          </a:prstGeom>
          <a:noFill/>
        </p:spPr>
        <p:txBody>
          <a:bodyPr wrap="square" anchor="t" lIns="0" rIns="0" tIns="0" bIns="0"/>
          <a:lstStyle/>
          <a:p>
            <a:pPr algn="l">
              <a:spcAft>
                <a:spcPts val="400"/>
              </a:spcAft>
            </a:pPr>
            <a:r>
              <a:rPr sz="1250" b="0" i="0">
                <a:solidFill>
                  <a:srgbClr val="5F6B76"/>
                </a:solidFill>
                <a:latin typeface="Arial"/>
              </a:rPr>
              <a:t>River-level and rainfall prediction for early warnings [4].</a:t>
            </a:r>
          </a:p>
        </p:txBody>
      </p:sp>
      <p:sp>
        <p:nvSpPr>
          <p:cNvPr id="13" name="Rectangle 12"/>
          <p:cNvSpPr/>
          <p:nvPr/>
        </p:nvSpPr>
        <p:spPr>
          <a:xfrm>
            <a:off x="3291840" y="1371600"/>
            <a:ext cx="2560320" cy="2240280"/>
          </a:xfrm>
          <a:prstGeom prst="rect">
            <a:avLst/>
          </a:prstGeom>
          <a:solidFill>
            <a:srgbClr val="FFFFFF"/>
          </a:solidFill>
          <a:ln w="15875">
            <a:solidFill>
              <a:srgbClr val="D5DADF"/>
            </a:solidFill>
          </a:ln>
        </p:spPr>
        <p:txBody>
          <a:bodyPr rtlCol="0" anchor="ctr" wrap="square" lIns="54864" rIns="54864" tIns="54864" bIns="54864"/>
          <a:lstStyle/>
          <a:p>
            <a:pPr algn="ctr"/>
          </a:p>
        </p:txBody>
      </p:sp>
      <p:sp>
        <p:nvSpPr>
          <p:cNvPr id="14" name="Rectangle 13"/>
          <p:cNvSpPr/>
          <p:nvPr/>
        </p:nvSpPr>
        <p:spPr>
          <a:xfrm>
            <a:off x="3474720" y="1554480"/>
            <a:ext cx="658368" cy="658368"/>
          </a:xfrm>
          <a:prstGeom prst="rect">
            <a:avLst/>
          </a:prstGeom>
          <a:solidFill>
            <a:srgbClr val="23272B"/>
          </a:solidFill>
          <a:ln>
            <a:noFill/>
          </a:ln>
        </p:spPr>
        <p:txBody>
          <a:bodyPr rtlCol="0" anchor="ctr" wrap="square" lIns="54864" rIns="54864" tIns="54864" bIns="54864"/>
          <a:lstStyle/>
          <a:p>
            <a:pPr algn="ctr"/>
          </a:p>
        </p:txBody>
      </p:sp>
      <p:pic>
        <p:nvPicPr>
          <p:cNvPr id="15" name="Picture 14" descr="fire_va.png"/>
          <p:cNvPicPr>
            <a:picLocks noChangeAspect="1"/>
          </p:cNvPicPr>
          <p:nvPr/>
        </p:nvPicPr>
        <p:blipFill>
          <a:blip r:embed="rId4"/>
          <a:stretch>
            <a:fillRect/>
          </a:stretch>
        </p:blipFill>
        <p:spPr>
          <a:xfrm>
            <a:off x="3619560" y="1699320"/>
            <a:ext cx="368686" cy="368686"/>
          </a:xfrm>
          <a:prstGeom prst="rect">
            <a:avLst/>
          </a:prstGeom>
        </p:spPr>
      </p:pic>
      <p:sp>
        <p:nvSpPr>
          <p:cNvPr id="16" name="TextBox 15"/>
          <p:cNvSpPr txBox="1"/>
          <p:nvPr/>
        </p:nvSpPr>
        <p:spPr>
          <a:xfrm>
            <a:off x="3474720" y="2331720"/>
            <a:ext cx="2240280" cy="365760"/>
          </a:xfrm>
          <a:prstGeom prst="rect">
            <a:avLst/>
          </a:prstGeom>
          <a:noFill/>
        </p:spPr>
        <p:txBody>
          <a:bodyPr wrap="square" anchor="t" lIns="0" rIns="0" tIns="0" bIns="0"/>
          <a:lstStyle/>
          <a:p>
            <a:pPr algn="l">
              <a:spcAft>
                <a:spcPts val="400"/>
              </a:spcAft>
            </a:pPr>
            <a:r>
              <a:rPr sz="1500" b="1" i="0">
                <a:solidFill>
                  <a:srgbClr val="23272B"/>
                </a:solidFill>
                <a:latin typeface="Arial"/>
              </a:rPr>
              <a:t>Wildfire detection</a:t>
            </a:r>
          </a:p>
        </p:txBody>
      </p:sp>
      <p:sp>
        <p:nvSpPr>
          <p:cNvPr id="17" name="TextBox 16"/>
          <p:cNvSpPr txBox="1"/>
          <p:nvPr/>
        </p:nvSpPr>
        <p:spPr>
          <a:xfrm>
            <a:off x="3474720" y="2715768"/>
            <a:ext cx="2240280" cy="822960"/>
          </a:xfrm>
          <a:prstGeom prst="rect">
            <a:avLst/>
          </a:prstGeom>
          <a:noFill/>
        </p:spPr>
        <p:txBody>
          <a:bodyPr wrap="square" anchor="t" lIns="0" rIns="0" tIns="0" bIns="0"/>
          <a:lstStyle/>
          <a:p>
            <a:pPr algn="l">
              <a:spcAft>
                <a:spcPts val="400"/>
              </a:spcAft>
            </a:pPr>
            <a:r>
              <a:rPr sz="1250" b="0" i="0">
                <a:solidFill>
                  <a:srgbClr val="5F6B76"/>
                </a:solidFill>
                <a:latin typeface="Arial"/>
              </a:rPr>
              <a:t>AIoT sensors and cameras detect fires early [5].</a:t>
            </a:r>
          </a:p>
        </p:txBody>
      </p:sp>
      <p:sp>
        <p:nvSpPr>
          <p:cNvPr id="18" name="Rectangle 17"/>
          <p:cNvSpPr/>
          <p:nvPr/>
        </p:nvSpPr>
        <p:spPr>
          <a:xfrm>
            <a:off x="6035040" y="1371600"/>
            <a:ext cx="2560320" cy="2240280"/>
          </a:xfrm>
          <a:prstGeom prst="rect">
            <a:avLst/>
          </a:prstGeom>
          <a:solidFill>
            <a:srgbClr val="FFFFFF"/>
          </a:solidFill>
          <a:ln w="15875">
            <a:solidFill>
              <a:srgbClr val="D5DADF"/>
            </a:solidFill>
          </a:ln>
        </p:spPr>
        <p:txBody>
          <a:bodyPr rtlCol="0" anchor="ctr" wrap="square" lIns="54864" rIns="54864" tIns="54864" bIns="54864"/>
          <a:lstStyle/>
          <a:p>
            <a:pPr algn="ctr"/>
          </a:p>
        </p:txBody>
      </p:sp>
      <p:sp>
        <p:nvSpPr>
          <p:cNvPr id="19" name="Rectangle 18"/>
          <p:cNvSpPr/>
          <p:nvPr/>
        </p:nvSpPr>
        <p:spPr>
          <a:xfrm>
            <a:off x="6217920" y="1554480"/>
            <a:ext cx="658368" cy="658368"/>
          </a:xfrm>
          <a:prstGeom prst="rect">
            <a:avLst/>
          </a:prstGeom>
          <a:solidFill>
            <a:srgbClr val="F4A81D"/>
          </a:solidFill>
          <a:ln>
            <a:noFill/>
          </a:ln>
        </p:spPr>
        <p:txBody>
          <a:bodyPr rtlCol="0" anchor="ctr" wrap="square" lIns="54864" rIns="54864" tIns="54864" bIns="54864"/>
          <a:lstStyle/>
          <a:p>
            <a:pPr algn="ctr"/>
          </a:p>
        </p:txBody>
      </p:sp>
      <p:pic>
        <p:nvPicPr>
          <p:cNvPr id="20" name="Picture 19" descr="quake_vc.png"/>
          <p:cNvPicPr>
            <a:picLocks noChangeAspect="1"/>
          </p:cNvPicPr>
          <p:nvPr/>
        </p:nvPicPr>
        <p:blipFill>
          <a:blip r:embed="rId5"/>
          <a:stretch>
            <a:fillRect/>
          </a:stretch>
        </p:blipFill>
        <p:spPr>
          <a:xfrm>
            <a:off x="6362760" y="1699320"/>
            <a:ext cx="368686" cy="368686"/>
          </a:xfrm>
          <a:prstGeom prst="rect">
            <a:avLst/>
          </a:prstGeom>
        </p:spPr>
      </p:pic>
      <p:sp>
        <p:nvSpPr>
          <p:cNvPr id="21" name="TextBox 20"/>
          <p:cNvSpPr txBox="1"/>
          <p:nvPr/>
        </p:nvSpPr>
        <p:spPr>
          <a:xfrm>
            <a:off x="6217920" y="2331720"/>
            <a:ext cx="2240280" cy="365760"/>
          </a:xfrm>
          <a:prstGeom prst="rect">
            <a:avLst/>
          </a:prstGeom>
          <a:noFill/>
        </p:spPr>
        <p:txBody>
          <a:bodyPr wrap="square" anchor="t" lIns="0" rIns="0" tIns="0" bIns="0"/>
          <a:lstStyle/>
          <a:p>
            <a:pPr algn="l">
              <a:spcAft>
                <a:spcPts val="400"/>
              </a:spcAft>
            </a:pPr>
            <a:r>
              <a:rPr sz="1500" b="1" i="0">
                <a:solidFill>
                  <a:srgbClr val="23272B"/>
                </a:solidFill>
                <a:latin typeface="Arial"/>
              </a:rPr>
              <a:t>Earthquake damage</a:t>
            </a:r>
          </a:p>
        </p:txBody>
      </p:sp>
      <p:sp>
        <p:nvSpPr>
          <p:cNvPr id="22" name="TextBox 21"/>
          <p:cNvSpPr txBox="1"/>
          <p:nvPr/>
        </p:nvSpPr>
        <p:spPr>
          <a:xfrm>
            <a:off x="6217920" y="2715768"/>
            <a:ext cx="2240280" cy="822960"/>
          </a:xfrm>
          <a:prstGeom prst="rect">
            <a:avLst/>
          </a:prstGeom>
          <a:noFill/>
        </p:spPr>
        <p:txBody>
          <a:bodyPr wrap="square" anchor="t" lIns="0" rIns="0" tIns="0" bIns="0"/>
          <a:lstStyle/>
          <a:p>
            <a:pPr algn="l">
              <a:spcAft>
                <a:spcPts val="400"/>
              </a:spcAft>
            </a:pPr>
            <a:r>
              <a:rPr sz="1250" b="0" i="0">
                <a:solidFill>
                  <a:srgbClr val="5F6B76"/>
                </a:solidFill>
                <a:latin typeface="Arial"/>
              </a:rPr>
              <a:t>Satellite / UAV imagery maps collapsed buildings [3].</a:t>
            </a:r>
          </a:p>
        </p:txBody>
      </p:sp>
      <p:sp>
        <p:nvSpPr>
          <p:cNvPr id="23" name="Rectangle 22"/>
          <p:cNvSpPr/>
          <p:nvPr/>
        </p:nvSpPr>
        <p:spPr>
          <a:xfrm>
            <a:off x="548640" y="3794760"/>
            <a:ext cx="2560320" cy="2240280"/>
          </a:xfrm>
          <a:prstGeom prst="rect">
            <a:avLst/>
          </a:prstGeom>
          <a:solidFill>
            <a:srgbClr val="FFFFFF"/>
          </a:solidFill>
          <a:ln w="15875">
            <a:solidFill>
              <a:srgbClr val="D5DADF"/>
            </a:solidFill>
          </a:ln>
        </p:spPr>
        <p:txBody>
          <a:bodyPr rtlCol="0" anchor="ctr" wrap="square" lIns="54864" rIns="54864" tIns="54864" bIns="54864"/>
          <a:lstStyle/>
          <a:p>
            <a:pPr algn="ctr"/>
          </a:p>
        </p:txBody>
      </p:sp>
      <p:sp>
        <p:nvSpPr>
          <p:cNvPr id="24" name="Rectangle 23"/>
          <p:cNvSpPr/>
          <p:nvPr/>
        </p:nvSpPr>
        <p:spPr>
          <a:xfrm>
            <a:off x="731520" y="3977640"/>
            <a:ext cx="658368" cy="658368"/>
          </a:xfrm>
          <a:prstGeom prst="rect">
            <a:avLst/>
          </a:prstGeom>
          <a:solidFill>
            <a:srgbClr val="23272B"/>
          </a:solidFill>
          <a:ln>
            <a:noFill/>
          </a:ln>
        </p:spPr>
        <p:txBody>
          <a:bodyPr rtlCol="0" anchor="ctr" wrap="square" lIns="54864" rIns="54864" tIns="54864" bIns="54864"/>
          <a:lstStyle/>
          <a:p>
            <a:pPr algn="ctr"/>
          </a:p>
        </p:txBody>
      </p:sp>
      <p:pic>
        <p:nvPicPr>
          <p:cNvPr id="25" name="Picture 24" descr="cyclone_va.png"/>
          <p:cNvPicPr>
            <a:picLocks noChangeAspect="1"/>
          </p:cNvPicPr>
          <p:nvPr/>
        </p:nvPicPr>
        <p:blipFill>
          <a:blip r:embed="rId6"/>
          <a:stretch>
            <a:fillRect/>
          </a:stretch>
        </p:blipFill>
        <p:spPr>
          <a:xfrm>
            <a:off x="876360" y="4122480"/>
            <a:ext cx="368686" cy="368686"/>
          </a:xfrm>
          <a:prstGeom prst="rect">
            <a:avLst/>
          </a:prstGeom>
        </p:spPr>
      </p:pic>
      <p:sp>
        <p:nvSpPr>
          <p:cNvPr id="26" name="TextBox 25"/>
          <p:cNvSpPr txBox="1"/>
          <p:nvPr/>
        </p:nvSpPr>
        <p:spPr>
          <a:xfrm>
            <a:off x="731520" y="4754880"/>
            <a:ext cx="2240280" cy="365760"/>
          </a:xfrm>
          <a:prstGeom prst="rect">
            <a:avLst/>
          </a:prstGeom>
          <a:noFill/>
        </p:spPr>
        <p:txBody>
          <a:bodyPr wrap="square" anchor="t" lIns="0" rIns="0" tIns="0" bIns="0"/>
          <a:lstStyle/>
          <a:p>
            <a:pPr algn="l">
              <a:spcAft>
                <a:spcPts val="400"/>
              </a:spcAft>
            </a:pPr>
            <a:r>
              <a:rPr sz="1500" b="1" i="0">
                <a:solidFill>
                  <a:srgbClr val="23272B"/>
                </a:solidFill>
                <a:latin typeface="Arial"/>
              </a:rPr>
              <a:t>Cyclone tracking</a:t>
            </a:r>
          </a:p>
        </p:txBody>
      </p:sp>
      <p:sp>
        <p:nvSpPr>
          <p:cNvPr id="27" name="TextBox 26"/>
          <p:cNvSpPr txBox="1"/>
          <p:nvPr/>
        </p:nvSpPr>
        <p:spPr>
          <a:xfrm>
            <a:off x="731520" y="5138928"/>
            <a:ext cx="2240280" cy="822960"/>
          </a:xfrm>
          <a:prstGeom prst="rect">
            <a:avLst/>
          </a:prstGeom>
          <a:noFill/>
        </p:spPr>
        <p:txBody>
          <a:bodyPr wrap="square" anchor="t" lIns="0" rIns="0" tIns="0" bIns="0"/>
          <a:lstStyle/>
          <a:p>
            <a:pPr algn="l">
              <a:spcAft>
                <a:spcPts val="400"/>
              </a:spcAft>
            </a:pPr>
            <a:r>
              <a:rPr sz="1250" b="0" i="0">
                <a:solidFill>
                  <a:srgbClr val="5F6B76"/>
                </a:solidFill>
                <a:latin typeface="Arial"/>
              </a:rPr>
              <a:t>Forecasting track and intensity to plan evacuations.</a:t>
            </a:r>
          </a:p>
        </p:txBody>
      </p:sp>
      <p:sp>
        <p:nvSpPr>
          <p:cNvPr id="28" name="Rectangle 27"/>
          <p:cNvSpPr/>
          <p:nvPr/>
        </p:nvSpPr>
        <p:spPr>
          <a:xfrm>
            <a:off x="3291840" y="3794760"/>
            <a:ext cx="2560320" cy="2240280"/>
          </a:xfrm>
          <a:prstGeom prst="rect">
            <a:avLst/>
          </a:prstGeom>
          <a:solidFill>
            <a:srgbClr val="FFFFFF"/>
          </a:solidFill>
          <a:ln w="15875">
            <a:solidFill>
              <a:srgbClr val="D5DADF"/>
            </a:solidFill>
          </a:ln>
        </p:spPr>
        <p:txBody>
          <a:bodyPr rtlCol="0" anchor="ctr" wrap="square" lIns="54864" rIns="54864" tIns="54864" bIns="54864"/>
          <a:lstStyle/>
          <a:p>
            <a:pPr algn="ctr"/>
          </a:p>
        </p:txBody>
      </p:sp>
      <p:sp>
        <p:nvSpPr>
          <p:cNvPr id="29" name="Rectangle 28"/>
          <p:cNvSpPr/>
          <p:nvPr/>
        </p:nvSpPr>
        <p:spPr>
          <a:xfrm>
            <a:off x="3474720" y="3977640"/>
            <a:ext cx="658368" cy="658368"/>
          </a:xfrm>
          <a:prstGeom prst="rect">
            <a:avLst/>
          </a:prstGeom>
          <a:solidFill>
            <a:srgbClr val="F4A81D"/>
          </a:solidFill>
          <a:ln>
            <a:noFill/>
          </a:ln>
        </p:spPr>
        <p:txBody>
          <a:bodyPr rtlCol="0" anchor="ctr" wrap="square" lIns="54864" rIns="54864" tIns="54864" bIns="54864"/>
          <a:lstStyle/>
          <a:p>
            <a:pPr algn="ctr"/>
          </a:p>
        </p:txBody>
      </p:sp>
      <p:pic>
        <p:nvPicPr>
          <p:cNvPr id="30" name="Picture 29" descr="comment_vc.png"/>
          <p:cNvPicPr>
            <a:picLocks noChangeAspect="1"/>
          </p:cNvPicPr>
          <p:nvPr/>
        </p:nvPicPr>
        <p:blipFill>
          <a:blip r:embed="rId7"/>
          <a:stretch>
            <a:fillRect/>
          </a:stretch>
        </p:blipFill>
        <p:spPr>
          <a:xfrm>
            <a:off x="3619560" y="4122480"/>
            <a:ext cx="368686" cy="368686"/>
          </a:xfrm>
          <a:prstGeom prst="rect">
            <a:avLst/>
          </a:prstGeom>
        </p:spPr>
      </p:pic>
      <p:sp>
        <p:nvSpPr>
          <p:cNvPr id="31" name="TextBox 30"/>
          <p:cNvSpPr txBox="1"/>
          <p:nvPr/>
        </p:nvSpPr>
        <p:spPr>
          <a:xfrm>
            <a:off x="3474720" y="4754880"/>
            <a:ext cx="2240280" cy="365760"/>
          </a:xfrm>
          <a:prstGeom prst="rect">
            <a:avLst/>
          </a:prstGeom>
          <a:noFill/>
        </p:spPr>
        <p:txBody>
          <a:bodyPr wrap="square" anchor="t" lIns="0" rIns="0" tIns="0" bIns="0"/>
          <a:lstStyle/>
          <a:p>
            <a:pPr algn="l">
              <a:spcAft>
                <a:spcPts val="400"/>
              </a:spcAft>
            </a:pPr>
            <a:r>
              <a:rPr sz="1500" b="1" i="0">
                <a:solidFill>
                  <a:srgbClr val="23272B"/>
                </a:solidFill>
                <a:latin typeface="Arial"/>
              </a:rPr>
              <a:t>Crisis informatics</a:t>
            </a:r>
          </a:p>
        </p:txBody>
      </p:sp>
      <p:sp>
        <p:nvSpPr>
          <p:cNvPr id="32" name="TextBox 31"/>
          <p:cNvSpPr txBox="1"/>
          <p:nvPr/>
        </p:nvSpPr>
        <p:spPr>
          <a:xfrm>
            <a:off x="3474720" y="5138928"/>
            <a:ext cx="2240280" cy="822960"/>
          </a:xfrm>
          <a:prstGeom prst="rect">
            <a:avLst/>
          </a:prstGeom>
          <a:noFill/>
        </p:spPr>
        <p:txBody>
          <a:bodyPr wrap="square" anchor="t" lIns="0" rIns="0" tIns="0" bIns="0"/>
          <a:lstStyle/>
          <a:p>
            <a:pPr algn="l">
              <a:spcAft>
                <a:spcPts val="400"/>
              </a:spcAft>
            </a:pPr>
            <a:r>
              <a:rPr sz="1250" b="0" i="0">
                <a:solidFill>
                  <a:srgbClr val="5F6B76"/>
                </a:solidFill>
                <a:latin typeface="Arial"/>
              </a:rPr>
              <a:t>LLMs classify social-media posts and help requests [6].</a:t>
            </a:r>
          </a:p>
        </p:txBody>
      </p:sp>
      <p:sp>
        <p:nvSpPr>
          <p:cNvPr id="33" name="Rectangle 32"/>
          <p:cNvSpPr/>
          <p:nvPr/>
        </p:nvSpPr>
        <p:spPr>
          <a:xfrm>
            <a:off x="6035040" y="3794760"/>
            <a:ext cx="2560320" cy="2240280"/>
          </a:xfrm>
          <a:prstGeom prst="rect">
            <a:avLst/>
          </a:prstGeom>
          <a:solidFill>
            <a:srgbClr val="FFFFFF"/>
          </a:solidFill>
          <a:ln w="15875">
            <a:solidFill>
              <a:srgbClr val="D5DADF"/>
            </a:solidFill>
          </a:ln>
        </p:spPr>
        <p:txBody>
          <a:bodyPr rtlCol="0" anchor="ctr" wrap="square" lIns="54864" rIns="54864" tIns="54864" bIns="54864"/>
          <a:lstStyle/>
          <a:p>
            <a:pPr algn="ctr"/>
          </a:p>
        </p:txBody>
      </p:sp>
      <p:sp>
        <p:nvSpPr>
          <p:cNvPr id="34" name="Rectangle 33"/>
          <p:cNvSpPr/>
          <p:nvPr/>
        </p:nvSpPr>
        <p:spPr>
          <a:xfrm>
            <a:off x="6217920" y="3977640"/>
            <a:ext cx="658368" cy="658368"/>
          </a:xfrm>
          <a:prstGeom prst="rect">
            <a:avLst/>
          </a:prstGeom>
          <a:solidFill>
            <a:srgbClr val="23272B"/>
          </a:solidFill>
          <a:ln>
            <a:noFill/>
          </a:ln>
        </p:spPr>
        <p:txBody>
          <a:bodyPr rtlCol="0" anchor="ctr" wrap="square" lIns="54864" rIns="54864" tIns="54864" bIns="54864"/>
          <a:lstStyle/>
          <a:p>
            <a:pPr algn="ctr"/>
          </a:p>
        </p:txBody>
      </p:sp>
      <p:pic>
        <p:nvPicPr>
          <p:cNvPr id="35" name="Picture 34" descr="truck_va.png"/>
          <p:cNvPicPr>
            <a:picLocks noChangeAspect="1"/>
          </p:cNvPicPr>
          <p:nvPr/>
        </p:nvPicPr>
        <p:blipFill>
          <a:blip r:embed="rId8"/>
          <a:stretch>
            <a:fillRect/>
          </a:stretch>
        </p:blipFill>
        <p:spPr>
          <a:xfrm>
            <a:off x="6362760" y="4122480"/>
            <a:ext cx="368686" cy="368686"/>
          </a:xfrm>
          <a:prstGeom prst="rect">
            <a:avLst/>
          </a:prstGeom>
        </p:spPr>
      </p:pic>
      <p:sp>
        <p:nvSpPr>
          <p:cNvPr id="36" name="TextBox 35"/>
          <p:cNvSpPr txBox="1"/>
          <p:nvPr/>
        </p:nvSpPr>
        <p:spPr>
          <a:xfrm>
            <a:off x="6217920" y="4754880"/>
            <a:ext cx="2240280" cy="365760"/>
          </a:xfrm>
          <a:prstGeom prst="rect">
            <a:avLst/>
          </a:prstGeom>
          <a:noFill/>
        </p:spPr>
        <p:txBody>
          <a:bodyPr wrap="square" anchor="t" lIns="0" rIns="0" tIns="0" bIns="0"/>
          <a:lstStyle/>
          <a:p>
            <a:pPr algn="l">
              <a:spcAft>
                <a:spcPts val="400"/>
              </a:spcAft>
            </a:pPr>
            <a:r>
              <a:rPr sz="1500" b="1" i="0">
                <a:solidFill>
                  <a:srgbClr val="23272B"/>
                </a:solidFill>
                <a:latin typeface="Arial"/>
              </a:rPr>
              <a:t>Relief logistics</a:t>
            </a:r>
          </a:p>
        </p:txBody>
      </p:sp>
      <p:sp>
        <p:nvSpPr>
          <p:cNvPr id="37" name="TextBox 36"/>
          <p:cNvSpPr txBox="1"/>
          <p:nvPr/>
        </p:nvSpPr>
        <p:spPr>
          <a:xfrm>
            <a:off x="6217920" y="5138928"/>
            <a:ext cx="2240280" cy="822960"/>
          </a:xfrm>
          <a:prstGeom prst="rect">
            <a:avLst/>
          </a:prstGeom>
          <a:noFill/>
        </p:spPr>
        <p:txBody>
          <a:bodyPr wrap="square" anchor="t" lIns="0" rIns="0" tIns="0" bIns="0"/>
          <a:lstStyle/>
          <a:p>
            <a:pPr algn="l">
              <a:spcAft>
                <a:spcPts val="400"/>
              </a:spcAft>
            </a:pPr>
            <a:r>
              <a:rPr sz="1250" b="0" i="0">
                <a:solidFill>
                  <a:srgbClr val="5F6B76"/>
                </a:solidFill>
                <a:latin typeface="Arial"/>
              </a:rPr>
              <a:t>Optimised routing of supplies, shelters and rescue teams.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84048"/>
            <a:ext cx="566928" cy="566928"/>
          </a:xfrm>
          <a:prstGeom prst="rect">
            <a:avLst/>
          </a:prstGeom>
          <a:solidFill>
            <a:srgbClr val="F4A81D"/>
          </a:solidFill>
          <a:ln>
            <a:noFill/>
          </a:ln>
        </p:spPr>
        <p:txBody>
          <a:bodyPr rtlCol="0" anchor="ctr" wrap="square" lIns="0" rIns="0" tIns="0" bIns="0"/>
          <a:lstStyle/>
          <a:p>
            <a:pPr algn="ctr">
              <a:spcAft>
                <a:spcPts val="0"/>
              </a:spcAft>
            </a:pPr>
            <a:r>
              <a:rPr sz="1800" b="1" i="0">
                <a:solidFill>
                  <a:srgbClr val="23272B"/>
                </a:solidFill>
                <a:latin typeface="Arial"/>
              </a:rPr>
              <a:t>10</a:t>
            </a:r>
          </a:p>
        </p:txBody>
      </p:sp>
      <p:sp>
        <p:nvSpPr>
          <p:cNvPr id="3" name="TextBox 2"/>
          <p:cNvSpPr txBox="1"/>
          <p:nvPr/>
        </p:nvSpPr>
        <p:spPr>
          <a:xfrm>
            <a:off x="1280160" y="329184"/>
            <a:ext cx="7315200" cy="438912"/>
          </a:xfrm>
          <a:prstGeom prst="rect">
            <a:avLst/>
          </a:prstGeom>
          <a:noFill/>
        </p:spPr>
        <p:txBody>
          <a:bodyPr wrap="square" anchor="ctr" lIns="0" rIns="0" tIns="0" bIns="0"/>
          <a:lstStyle/>
          <a:p>
            <a:pPr algn="l">
              <a:spcAft>
                <a:spcPts val="400"/>
              </a:spcAft>
            </a:pPr>
            <a:r>
              <a:rPr sz="2400" b="1" i="0">
                <a:solidFill>
                  <a:srgbClr val="23272B"/>
                </a:solidFill>
                <a:latin typeface="Arial"/>
              </a:rPr>
              <a:t>Analysis &amp; Comparison</a:t>
            </a:r>
          </a:p>
        </p:txBody>
      </p:sp>
      <p:sp>
        <p:nvSpPr>
          <p:cNvPr id="4" name="TextBox 3"/>
          <p:cNvSpPr txBox="1"/>
          <p:nvPr/>
        </p:nvSpPr>
        <p:spPr>
          <a:xfrm>
            <a:off x="1280160" y="749808"/>
            <a:ext cx="7315200" cy="292608"/>
          </a:xfrm>
          <a:prstGeom prst="rect">
            <a:avLst/>
          </a:prstGeom>
          <a:noFill/>
        </p:spPr>
        <p:txBody>
          <a:bodyPr wrap="square" anchor="t" lIns="0" rIns="0" tIns="0" bIns="0"/>
          <a:lstStyle/>
          <a:p>
            <a:pPr algn="l">
              <a:spcAft>
                <a:spcPts val="400"/>
              </a:spcAft>
            </a:pPr>
            <a:r>
              <a:rPr sz="1300" b="0" i="0">
                <a:solidFill>
                  <a:srgbClr val="5F6B76"/>
                </a:solidFill>
                <a:latin typeface="Arial"/>
              </a:rPr>
              <a:t>Traditional vs AI-based disaster management</a:t>
            </a:r>
          </a:p>
        </p:txBody>
      </p:sp>
      <p:pic>
        <p:nvPicPr>
          <p:cNvPr id="5" name="Picture 4" descr="image.jpg"/>
          <p:cNvPicPr>
            <a:picLocks noChangeAspect="1"/>
          </p:cNvPicPr>
          <p:nvPr/>
        </p:nvPicPr>
        <p:blipFill>
          <a:blip r:embed="rId2"/>
          <a:stretch>
            <a:fillRect/>
          </a:stretch>
        </p:blipFill>
        <p:spPr>
          <a:xfrm>
            <a:off x="548640" y="6336792"/>
            <a:ext cx="438912" cy="330572"/>
          </a:xfrm>
          <a:prstGeom prst="rect">
            <a:avLst/>
          </a:prstGeom>
        </p:spPr>
      </p:pic>
      <p:sp>
        <p:nvSpPr>
          <p:cNvPr id="6" name="TextBox 5"/>
          <p:cNvSpPr txBox="1"/>
          <p:nvPr/>
        </p:nvSpPr>
        <p:spPr>
          <a:xfrm>
            <a:off x="1078992" y="6382512"/>
            <a:ext cx="5943600" cy="274320"/>
          </a:xfrm>
          <a:prstGeom prst="rect">
            <a:avLst/>
          </a:prstGeom>
          <a:noFill/>
        </p:spPr>
        <p:txBody>
          <a:bodyPr wrap="square" anchor="ctr" lIns="0" rIns="0" tIns="0" bIns="0"/>
          <a:lstStyle/>
          <a:p>
            <a:pPr algn="l">
              <a:spcAft>
                <a:spcPts val="400"/>
              </a:spcAft>
            </a:pPr>
            <a:r>
              <a:rPr sz="900" b="0" i="0">
                <a:solidFill>
                  <a:srgbClr val="5F6B76"/>
                </a:solidFill>
                <a:latin typeface="Arial"/>
              </a:rPr>
              <a:t>AI in Disaster Management   |   Vedika Dandade, B344</a:t>
            </a:r>
          </a:p>
        </p:txBody>
      </p:sp>
      <p:sp>
        <p:nvSpPr>
          <p:cNvPr id="7" name="Rectangle 6"/>
          <p:cNvSpPr/>
          <p:nvPr/>
        </p:nvSpPr>
        <p:spPr>
          <a:xfrm>
            <a:off x="8275320" y="6355080"/>
            <a:ext cx="329184" cy="329184"/>
          </a:xfrm>
          <a:prstGeom prst="rect">
            <a:avLst/>
          </a:prstGeom>
          <a:solidFill>
            <a:srgbClr val="F4A81D"/>
          </a:solidFill>
          <a:ln>
            <a:noFill/>
          </a:ln>
        </p:spPr>
        <p:txBody>
          <a:bodyPr rtlCol="0" anchor="ctr" wrap="square" lIns="0" rIns="0" tIns="0" bIns="0"/>
          <a:lstStyle/>
          <a:p>
            <a:pPr algn="ctr"/>
            <a:fld id="{3C1D2E4F-6A7B-4C8D-9E0F-1A2B3C4D5E6F}" type="slidenum">
              <a:rPr lang="en-US" sz="1000" b="1">
                <a:solidFill>
                  <a:srgbClr val="23272B"/>
                </a:solidFill>
                <a:latin typeface="Arial"/>
              </a:rPr>
              <a:t>15</a:t>
            </a:fld>
          </a:p>
        </p:txBody>
      </p:sp>
      <p:graphicFrame>
        <p:nvGraphicFramePr>
          <p:cNvPr id="8" name="Table 7"/>
          <p:cNvGraphicFramePr>
            <a:graphicFrameLocks noGrp="1"/>
          </p:cNvGraphicFramePr>
          <p:nvPr/>
        </p:nvGraphicFramePr>
        <p:xfrm>
          <a:off x="548640" y="1371600"/>
          <a:ext cx="8046720" cy="3749040"/>
        </p:xfrm>
        <a:graphic>
          <a:graphicData uri="http://schemas.openxmlformats.org/drawingml/2006/table">
            <a:tbl>
              <a:tblPr firstRow="0" bandRow="0">
                <a:tableStyleId>{5C22544A-7EE6-4342-B048-85BDC9FD1C3A}</a:tableStyleId>
              </a:tblPr>
              <a:tblGrid>
                <a:gridCol w="1737360"/>
                <a:gridCol w="2148840"/>
                <a:gridCol w="2331720"/>
                <a:gridCol w="1828800"/>
              </a:tblGrid>
              <a:tr h="457200">
                <a:tc>
                  <a:txBody>
                    <a:bodyPr wrap="square"/>
                    <a:lstStyle/>
                    <a:p>
                      <a:pPr algn="l">
                        <a:spcAft>
                          <a:spcPts val="400"/>
                        </a:spcAft>
                      </a:pPr>
                      <a:r>
                        <a:rPr sz="1200" b="1" i="0">
                          <a:solidFill>
                            <a:srgbClr val="23272B"/>
                          </a:solidFill>
                          <a:latin typeface="Arial"/>
                        </a:rPr>
                        <a:t>Aspect</a:t>
                      </a:r>
                    </a:p>
                  </a:txBody>
                  <a:tcPr marL="91440" marR="91440" marT="45720" marB="45720" anchor="ctr">
                    <a:solidFill>
                      <a:srgbClr val="F4A81D"/>
                    </a:solidFill>
                  </a:tcPr>
                </a:tc>
                <a:tc>
                  <a:txBody>
                    <a:bodyPr wrap="square"/>
                    <a:lstStyle/>
                    <a:p>
                      <a:pPr algn="l">
                        <a:spcAft>
                          <a:spcPts val="400"/>
                        </a:spcAft>
                      </a:pPr>
                      <a:r>
                        <a:rPr sz="1200" b="1" i="0">
                          <a:solidFill>
                            <a:srgbClr val="23272B"/>
                          </a:solidFill>
                          <a:latin typeface="Arial"/>
                        </a:rPr>
                        <a:t>Traditional approach</a:t>
                      </a:r>
                    </a:p>
                  </a:txBody>
                  <a:tcPr marL="91440" marR="91440" marT="45720" marB="45720" anchor="ctr">
                    <a:solidFill>
                      <a:srgbClr val="F4A81D"/>
                    </a:solidFill>
                  </a:tcPr>
                </a:tc>
                <a:tc>
                  <a:txBody>
                    <a:bodyPr wrap="square"/>
                    <a:lstStyle/>
                    <a:p>
                      <a:pPr algn="l">
                        <a:spcAft>
                          <a:spcPts val="400"/>
                        </a:spcAft>
                      </a:pPr>
                      <a:r>
                        <a:rPr sz="1200" b="1" i="0">
                          <a:solidFill>
                            <a:srgbClr val="23272B"/>
                          </a:solidFill>
                          <a:latin typeface="Arial"/>
                        </a:rPr>
                        <a:t>AI-based approach</a:t>
                      </a:r>
                    </a:p>
                  </a:txBody>
                  <a:tcPr marL="91440" marR="91440" marT="45720" marB="45720" anchor="ctr">
                    <a:solidFill>
                      <a:srgbClr val="F4A81D"/>
                    </a:solidFill>
                  </a:tcPr>
                </a:tc>
                <a:tc>
                  <a:txBody>
                    <a:bodyPr wrap="square"/>
                    <a:lstStyle/>
                    <a:p>
                      <a:pPr algn="l">
                        <a:spcAft>
                          <a:spcPts val="400"/>
                        </a:spcAft>
                      </a:pPr>
                      <a:r>
                        <a:rPr sz="1200" b="1" i="0">
                          <a:solidFill>
                            <a:srgbClr val="23272B"/>
                          </a:solidFill>
                          <a:latin typeface="Arial"/>
                        </a:rPr>
                        <a:t>Benefit</a:t>
                      </a:r>
                    </a:p>
                  </a:txBody>
                  <a:tcPr marL="91440" marR="91440" marT="45720" marB="45720" anchor="ctr">
                    <a:solidFill>
                      <a:srgbClr val="F4A81D"/>
                    </a:solidFill>
                  </a:tcPr>
                </a:tc>
              </a:tr>
              <a:tr h="658368">
                <a:tc>
                  <a:txBody>
                    <a:bodyPr wrap="square"/>
                    <a:lstStyle/>
                    <a:p>
                      <a:pPr algn="l">
                        <a:spcAft>
                          <a:spcPts val="200"/>
                        </a:spcAft>
                      </a:pPr>
                      <a:r>
                        <a:rPr sz="1250" b="1" i="0">
                          <a:solidFill>
                            <a:srgbClr val="23272B"/>
                          </a:solidFill>
                          <a:latin typeface="Arial"/>
                        </a:rPr>
                        <a:t>Early warning</a:t>
                      </a:r>
                    </a:p>
                  </a:txBody>
                  <a:tcPr marL="91440" marR="91440" marT="45720" marB="45720" anchor="ctr">
                    <a:solidFill>
                      <a:srgbClr val="FFFFFF"/>
                    </a:solidFill>
                  </a:tcPr>
                </a:tc>
                <a:tc>
                  <a:txBody>
                    <a:bodyPr wrap="square"/>
                    <a:lstStyle/>
                    <a:p>
                      <a:pPr algn="l">
                        <a:spcAft>
                          <a:spcPts val="200"/>
                        </a:spcAft>
                      </a:pPr>
                      <a:r>
                        <a:rPr sz="1250" b="0" i="0">
                          <a:solidFill>
                            <a:srgbClr val="23272B"/>
                          </a:solidFill>
                          <a:latin typeface="Arial"/>
                        </a:rPr>
                        <a:t>Manual monitoring, fixed thresholds</a:t>
                      </a:r>
                    </a:p>
                  </a:txBody>
                  <a:tcPr marL="91440" marR="91440" marT="45720" marB="45720" anchor="ctr">
                    <a:solidFill>
                      <a:srgbClr val="FFFFFF"/>
                    </a:solidFill>
                  </a:tcPr>
                </a:tc>
                <a:tc>
                  <a:txBody>
                    <a:bodyPr wrap="square"/>
                    <a:lstStyle/>
                    <a:p>
                      <a:pPr algn="l">
                        <a:spcAft>
                          <a:spcPts val="200"/>
                        </a:spcAft>
                      </a:pPr>
                      <a:r>
                        <a:rPr sz="1250" b="0" i="0">
                          <a:solidFill>
                            <a:srgbClr val="23272B"/>
                          </a:solidFill>
                          <a:latin typeface="Arial"/>
                        </a:rPr>
                        <a:t>ML/DL forecasts on live sensor data</a:t>
                      </a:r>
                    </a:p>
                  </a:txBody>
                  <a:tcPr marL="91440" marR="91440" marT="45720" marB="45720" anchor="ctr">
                    <a:solidFill>
                      <a:srgbClr val="FDF1D8"/>
                    </a:solidFill>
                  </a:tcPr>
                </a:tc>
                <a:tc>
                  <a:txBody>
                    <a:bodyPr wrap="square"/>
                    <a:lstStyle/>
                    <a:p>
                      <a:pPr algn="l">
                        <a:spcAft>
                          <a:spcPts val="200"/>
                        </a:spcAft>
                      </a:pPr>
                      <a:r>
                        <a:rPr sz="1250" b="0" i="0">
                          <a:solidFill>
                            <a:srgbClr val="23272B"/>
                          </a:solidFill>
                          <a:latin typeface="Arial"/>
                        </a:rPr>
                        <a:t>More lead time</a:t>
                      </a:r>
                    </a:p>
                  </a:txBody>
                  <a:tcPr marL="91440" marR="91440" marT="45720" marB="45720" anchor="ctr">
                    <a:solidFill>
                      <a:srgbClr val="FFFFFF"/>
                    </a:solidFill>
                  </a:tcPr>
                </a:tc>
              </a:tr>
              <a:tr h="658368">
                <a:tc>
                  <a:txBody>
                    <a:bodyPr wrap="square"/>
                    <a:lstStyle/>
                    <a:p>
                      <a:pPr algn="l">
                        <a:spcAft>
                          <a:spcPts val="200"/>
                        </a:spcAft>
                      </a:pPr>
                      <a:r>
                        <a:rPr sz="1250" b="1" i="0">
                          <a:solidFill>
                            <a:srgbClr val="23272B"/>
                          </a:solidFill>
                          <a:latin typeface="Arial"/>
                        </a:rPr>
                        <a:t>Damage assessment</a:t>
                      </a:r>
                    </a:p>
                  </a:txBody>
                  <a:tcPr marL="91440" marR="91440" marT="45720" marB="45720" anchor="ctr">
                    <a:solidFill>
                      <a:srgbClr val="F0F2F4"/>
                    </a:solidFill>
                  </a:tcPr>
                </a:tc>
                <a:tc>
                  <a:txBody>
                    <a:bodyPr wrap="square"/>
                    <a:lstStyle/>
                    <a:p>
                      <a:pPr algn="l">
                        <a:spcAft>
                          <a:spcPts val="200"/>
                        </a:spcAft>
                      </a:pPr>
                      <a:r>
                        <a:rPr sz="1250" b="0" i="0">
                          <a:solidFill>
                            <a:srgbClr val="23272B"/>
                          </a:solidFill>
                          <a:latin typeface="Arial"/>
                        </a:rPr>
                        <a:t>Ground surveys (days)</a:t>
                      </a:r>
                    </a:p>
                  </a:txBody>
                  <a:tcPr marL="91440" marR="91440" marT="45720" marB="45720" anchor="ctr">
                    <a:solidFill>
                      <a:srgbClr val="F0F2F4"/>
                    </a:solidFill>
                  </a:tcPr>
                </a:tc>
                <a:tc>
                  <a:txBody>
                    <a:bodyPr wrap="square"/>
                    <a:lstStyle/>
                    <a:p>
                      <a:pPr algn="l">
                        <a:spcAft>
                          <a:spcPts val="200"/>
                        </a:spcAft>
                      </a:pPr>
                      <a:r>
                        <a:rPr sz="1250" b="0" i="0">
                          <a:solidFill>
                            <a:srgbClr val="23272B"/>
                          </a:solidFill>
                          <a:latin typeface="Arial"/>
                        </a:rPr>
                        <a:t>Satellite/UAV + CNN/ViT maps (hours)</a:t>
                      </a:r>
                    </a:p>
                  </a:txBody>
                  <a:tcPr marL="91440" marR="91440" marT="45720" marB="45720" anchor="ctr">
                    <a:solidFill>
                      <a:srgbClr val="FDF1D8"/>
                    </a:solidFill>
                  </a:tcPr>
                </a:tc>
                <a:tc>
                  <a:txBody>
                    <a:bodyPr wrap="square"/>
                    <a:lstStyle/>
                    <a:p>
                      <a:pPr algn="l">
                        <a:spcAft>
                          <a:spcPts val="200"/>
                        </a:spcAft>
                      </a:pPr>
                      <a:r>
                        <a:rPr sz="1250" b="0" i="0">
                          <a:solidFill>
                            <a:srgbClr val="23272B"/>
                          </a:solidFill>
                          <a:latin typeface="Arial"/>
                        </a:rPr>
                        <a:t>Faster response</a:t>
                      </a:r>
                    </a:p>
                  </a:txBody>
                  <a:tcPr marL="91440" marR="91440" marT="45720" marB="45720" anchor="ctr">
                    <a:solidFill>
                      <a:srgbClr val="F0F2F4"/>
                    </a:solidFill>
                  </a:tcPr>
                </a:tc>
              </a:tr>
              <a:tr h="658368">
                <a:tc>
                  <a:txBody>
                    <a:bodyPr wrap="square"/>
                    <a:lstStyle/>
                    <a:p>
                      <a:pPr algn="l">
                        <a:spcAft>
                          <a:spcPts val="200"/>
                        </a:spcAft>
                      </a:pPr>
                      <a:r>
                        <a:rPr sz="1250" b="1" i="0">
                          <a:solidFill>
                            <a:srgbClr val="23272B"/>
                          </a:solidFill>
                          <a:latin typeface="Arial"/>
                        </a:rPr>
                        <a:t>Information</a:t>
                      </a:r>
                    </a:p>
                  </a:txBody>
                  <a:tcPr marL="91440" marR="91440" marT="45720" marB="45720" anchor="ctr">
                    <a:solidFill>
                      <a:srgbClr val="FFFFFF"/>
                    </a:solidFill>
                  </a:tcPr>
                </a:tc>
                <a:tc>
                  <a:txBody>
                    <a:bodyPr wrap="square"/>
                    <a:lstStyle/>
                    <a:p>
                      <a:pPr algn="l">
                        <a:spcAft>
                          <a:spcPts val="200"/>
                        </a:spcAft>
                      </a:pPr>
                      <a:r>
                        <a:rPr sz="1250" b="0" i="0">
                          <a:solidFill>
                            <a:srgbClr val="23272B"/>
                          </a:solidFill>
                          <a:latin typeface="Arial"/>
                        </a:rPr>
                        <a:t>Phone calls, manual reports</a:t>
                      </a:r>
                    </a:p>
                  </a:txBody>
                  <a:tcPr marL="91440" marR="91440" marT="45720" marB="45720" anchor="ctr">
                    <a:solidFill>
                      <a:srgbClr val="FFFFFF"/>
                    </a:solidFill>
                  </a:tcPr>
                </a:tc>
                <a:tc>
                  <a:txBody>
                    <a:bodyPr wrap="square"/>
                    <a:lstStyle/>
                    <a:p>
                      <a:pPr algn="l">
                        <a:spcAft>
                          <a:spcPts val="200"/>
                        </a:spcAft>
                      </a:pPr>
                      <a:r>
                        <a:rPr sz="1250" b="0" i="0">
                          <a:solidFill>
                            <a:srgbClr val="23272B"/>
                          </a:solidFill>
                          <a:latin typeface="Arial"/>
                        </a:rPr>
                        <a:t>NLP/LLM triage of social media</a:t>
                      </a:r>
                    </a:p>
                  </a:txBody>
                  <a:tcPr marL="91440" marR="91440" marT="45720" marB="45720" anchor="ctr">
                    <a:solidFill>
                      <a:srgbClr val="FDF1D8"/>
                    </a:solidFill>
                  </a:tcPr>
                </a:tc>
                <a:tc>
                  <a:txBody>
                    <a:bodyPr wrap="square"/>
                    <a:lstStyle/>
                    <a:p>
                      <a:pPr algn="l">
                        <a:spcAft>
                          <a:spcPts val="200"/>
                        </a:spcAft>
                      </a:pPr>
                      <a:r>
                        <a:rPr sz="1250" b="0" i="0">
                          <a:solidFill>
                            <a:srgbClr val="23272B"/>
                          </a:solidFill>
                          <a:latin typeface="Arial"/>
                        </a:rPr>
                        <a:t>Situational awareness</a:t>
                      </a:r>
                    </a:p>
                  </a:txBody>
                  <a:tcPr marL="91440" marR="91440" marT="45720" marB="45720" anchor="ctr">
                    <a:solidFill>
                      <a:srgbClr val="FFFFFF"/>
                    </a:solidFill>
                  </a:tcPr>
                </a:tc>
              </a:tr>
              <a:tr h="658368">
                <a:tc>
                  <a:txBody>
                    <a:bodyPr wrap="square"/>
                    <a:lstStyle/>
                    <a:p>
                      <a:pPr algn="l">
                        <a:spcAft>
                          <a:spcPts val="200"/>
                        </a:spcAft>
                      </a:pPr>
                      <a:r>
                        <a:rPr sz="1250" b="1" i="0">
                          <a:solidFill>
                            <a:srgbClr val="23272B"/>
                          </a:solidFill>
                          <a:latin typeface="Arial"/>
                        </a:rPr>
                        <a:t>Resource allocation</a:t>
                      </a:r>
                    </a:p>
                  </a:txBody>
                  <a:tcPr marL="91440" marR="91440" marT="45720" marB="45720" anchor="ctr">
                    <a:solidFill>
                      <a:srgbClr val="F0F2F4"/>
                    </a:solidFill>
                  </a:tcPr>
                </a:tc>
                <a:tc>
                  <a:txBody>
                    <a:bodyPr wrap="square"/>
                    <a:lstStyle/>
                    <a:p>
                      <a:pPr algn="l">
                        <a:spcAft>
                          <a:spcPts val="200"/>
                        </a:spcAft>
                      </a:pPr>
                      <a:r>
                        <a:rPr sz="1250" b="0" i="0">
                          <a:solidFill>
                            <a:srgbClr val="23272B"/>
                          </a:solidFill>
                          <a:latin typeface="Arial"/>
                        </a:rPr>
                        <a:t>Static, pre-planned routes</a:t>
                      </a:r>
                    </a:p>
                  </a:txBody>
                  <a:tcPr marL="91440" marR="91440" marT="45720" marB="45720" anchor="ctr">
                    <a:solidFill>
                      <a:srgbClr val="F0F2F4"/>
                    </a:solidFill>
                  </a:tcPr>
                </a:tc>
                <a:tc>
                  <a:txBody>
                    <a:bodyPr wrap="square"/>
                    <a:lstStyle/>
                    <a:p>
                      <a:pPr algn="l">
                        <a:spcAft>
                          <a:spcPts val="200"/>
                        </a:spcAft>
                      </a:pPr>
                      <a:r>
                        <a:rPr sz="1250" b="0" i="0">
                          <a:solidFill>
                            <a:srgbClr val="23272B"/>
                          </a:solidFill>
                          <a:latin typeface="Arial"/>
                        </a:rPr>
                        <a:t>Optimization / RL adapts live</a:t>
                      </a:r>
                    </a:p>
                  </a:txBody>
                  <a:tcPr marL="91440" marR="91440" marT="45720" marB="45720" anchor="ctr">
                    <a:solidFill>
                      <a:srgbClr val="FDF1D8"/>
                    </a:solidFill>
                  </a:tcPr>
                </a:tc>
                <a:tc>
                  <a:txBody>
                    <a:bodyPr wrap="square"/>
                    <a:lstStyle/>
                    <a:p>
                      <a:pPr algn="l">
                        <a:spcAft>
                          <a:spcPts val="200"/>
                        </a:spcAft>
                      </a:pPr>
                      <a:r>
                        <a:rPr sz="1250" b="0" i="0">
                          <a:solidFill>
                            <a:srgbClr val="23272B"/>
                          </a:solidFill>
                          <a:latin typeface="Arial"/>
                        </a:rPr>
                        <a:t>Efficient use</a:t>
                      </a:r>
                    </a:p>
                  </a:txBody>
                  <a:tcPr marL="91440" marR="91440" marT="45720" marB="45720" anchor="ctr">
                    <a:solidFill>
                      <a:srgbClr val="F0F2F4"/>
                    </a:solidFill>
                  </a:tcPr>
                </a:tc>
              </a:tr>
              <a:tr h="658368">
                <a:tc>
                  <a:txBody>
                    <a:bodyPr wrap="square"/>
                    <a:lstStyle/>
                    <a:p>
                      <a:pPr algn="l">
                        <a:spcAft>
                          <a:spcPts val="200"/>
                        </a:spcAft>
                      </a:pPr>
                      <a:r>
                        <a:rPr sz="1250" b="1" i="0">
                          <a:solidFill>
                            <a:srgbClr val="23272B"/>
                          </a:solidFill>
                          <a:latin typeface="Arial"/>
                        </a:rPr>
                        <a:t>Reporting</a:t>
                      </a:r>
                    </a:p>
                  </a:txBody>
                  <a:tcPr marL="91440" marR="91440" marT="45720" marB="45720" anchor="ctr">
                    <a:solidFill>
                      <a:srgbClr val="FFFFFF"/>
                    </a:solidFill>
                  </a:tcPr>
                </a:tc>
                <a:tc>
                  <a:txBody>
                    <a:bodyPr wrap="square"/>
                    <a:lstStyle/>
                    <a:p>
                      <a:pPr algn="l">
                        <a:spcAft>
                          <a:spcPts val="200"/>
                        </a:spcAft>
                      </a:pPr>
                      <a:r>
                        <a:rPr sz="1250" b="0" i="0">
                          <a:solidFill>
                            <a:srgbClr val="23272B"/>
                          </a:solidFill>
                          <a:latin typeface="Arial"/>
                        </a:rPr>
                        <a:t>Manual situation reports</a:t>
                      </a:r>
                    </a:p>
                  </a:txBody>
                  <a:tcPr marL="91440" marR="91440" marT="45720" marB="45720" anchor="ctr">
                    <a:solidFill>
                      <a:srgbClr val="FFFFFF"/>
                    </a:solidFill>
                  </a:tcPr>
                </a:tc>
                <a:tc>
                  <a:txBody>
                    <a:bodyPr wrap="square"/>
                    <a:lstStyle/>
                    <a:p>
                      <a:pPr algn="l">
                        <a:spcAft>
                          <a:spcPts val="200"/>
                        </a:spcAft>
                      </a:pPr>
                      <a:r>
                        <a:rPr sz="1250" b="0" i="0">
                          <a:solidFill>
                            <a:srgbClr val="23272B"/>
                          </a:solidFill>
                          <a:latin typeface="Arial"/>
                        </a:rPr>
                        <a:t>Automated reports, e.g. [7]</a:t>
                      </a:r>
                    </a:p>
                  </a:txBody>
                  <a:tcPr marL="91440" marR="91440" marT="45720" marB="45720" anchor="ctr">
                    <a:solidFill>
                      <a:srgbClr val="FDF1D8"/>
                    </a:solidFill>
                  </a:tcPr>
                </a:tc>
                <a:tc>
                  <a:txBody>
                    <a:bodyPr wrap="square"/>
                    <a:lstStyle/>
                    <a:p>
                      <a:pPr algn="l">
                        <a:spcAft>
                          <a:spcPts val="200"/>
                        </a:spcAft>
                      </a:pPr>
                      <a:r>
                        <a:rPr sz="1250" b="0" i="0">
                          <a:solidFill>
                            <a:srgbClr val="23272B"/>
                          </a:solidFill>
                          <a:latin typeface="Arial"/>
                        </a:rPr>
                        <a:t>Quick, consistent</a:t>
                      </a:r>
                    </a:p>
                  </a:txBody>
                  <a:tcPr marL="91440" marR="91440" marT="45720" marB="45720" anchor="ctr">
                    <a:solidFill>
                      <a:srgbClr val="FFFFFF"/>
                    </a:solidFill>
                  </a:tcPr>
                </a:tc>
              </a:tr>
            </a:tbl>
          </a:graphicData>
        </a:graphic>
      </p:graphicFrame>
      <p:sp>
        <p:nvSpPr>
          <p:cNvPr id="9" name="Rectangle 8"/>
          <p:cNvSpPr/>
          <p:nvPr/>
        </p:nvSpPr>
        <p:spPr>
          <a:xfrm>
            <a:off x="548640" y="5440680"/>
            <a:ext cx="8046720" cy="777240"/>
          </a:xfrm>
          <a:prstGeom prst="rect">
            <a:avLst/>
          </a:prstGeom>
          <a:solidFill>
            <a:srgbClr val="23272B"/>
          </a:solidFill>
          <a:ln>
            <a:noFill/>
          </a:ln>
        </p:spPr>
        <p:txBody>
          <a:bodyPr rtlCol="0" anchor="ctr" wrap="square" lIns="54864" rIns="54864" tIns="54864" bIns="54864"/>
          <a:lstStyle/>
          <a:p>
            <a:pPr algn="ctr"/>
          </a:p>
        </p:txBody>
      </p:sp>
      <p:sp>
        <p:nvSpPr>
          <p:cNvPr id="10" name="TextBox 9"/>
          <p:cNvSpPr txBox="1"/>
          <p:nvPr/>
        </p:nvSpPr>
        <p:spPr>
          <a:xfrm>
            <a:off x="777240" y="5440680"/>
            <a:ext cx="7680960" cy="777240"/>
          </a:xfrm>
          <a:prstGeom prst="rect">
            <a:avLst/>
          </a:prstGeom>
          <a:noFill/>
        </p:spPr>
        <p:txBody>
          <a:bodyPr wrap="square" anchor="ctr" lIns="0" rIns="0" tIns="0" bIns="0"/>
          <a:lstStyle/>
          <a:p>
            <a:pPr algn="l">
              <a:spcAft>
                <a:spcPts val="400"/>
              </a:spcAft>
            </a:pPr>
            <a:r>
              <a:rPr sz="1350" b="1" i="0">
                <a:solidFill>
                  <a:srgbClr val="F4A81D"/>
                </a:solidFill>
                <a:latin typeface="Arial"/>
              </a:rPr>
              <a:t>Key insight:  </a:t>
            </a:r>
            <a:r>
              <a:rPr sz="1350" b="0" i="0">
                <a:solidFill>
                  <a:srgbClr val="FFFFFF"/>
                </a:solidFill>
                <a:latin typeface="Arial"/>
              </a:rPr>
              <a:t>AI supports — it does not replace — human decision-makers; outputs must be explainable and trusted before authorities act on them [2].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84048"/>
            <a:ext cx="566928" cy="566928"/>
          </a:xfrm>
          <a:prstGeom prst="rect">
            <a:avLst/>
          </a:prstGeom>
          <a:solidFill>
            <a:srgbClr val="F4A81D"/>
          </a:solidFill>
          <a:ln>
            <a:noFill/>
          </a:ln>
        </p:spPr>
        <p:txBody>
          <a:bodyPr rtlCol="0" anchor="ctr" wrap="square" lIns="0" rIns="0" tIns="0" bIns="0"/>
          <a:lstStyle/>
          <a:p>
            <a:pPr algn="ctr">
              <a:spcAft>
                <a:spcPts val="0"/>
              </a:spcAft>
            </a:pPr>
            <a:r>
              <a:rPr sz="1800" b="1" i="0">
                <a:solidFill>
                  <a:srgbClr val="23272B"/>
                </a:solidFill>
                <a:latin typeface="Arial"/>
              </a:rPr>
              <a:t>11</a:t>
            </a:r>
          </a:p>
        </p:txBody>
      </p:sp>
      <p:sp>
        <p:nvSpPr>
          <p:cNvPr id="3" name="TextBox 2"/>
          <p:cNvSpPr txBox="1"/>
          <p:nvPr/>
        </p:nvSpPr>
        <p:spPr>
          <a:xfrm>
            <a:off x="1280160" y="329184"/>
            <a:ext cx="7315200" cy="438912"/>
          </a:xfrm>
          <a:prstGeom prst="rect">
            <a:avLst/>
          </a:prstGeom>
          <a:noFill/>
        </p:spPr>
        <p:txBody>
          <a:bodyPr wrap="square" anchor="ctr" lIns="0" rIns="0" tIns="0" bIns="0"/>
          <a:lstStyle/>
          <a:p>
            <a:pPr algn="l">
              <a:spcAft>
                <a:spcPts val="400"/>
              </a:spcAft>
            </a:pPr>
            <a:r>
              <a:rPr sz="2400" b="1" i="0">
                <a:solidFill>
                  <a:srgbClr val="23272B"/>
                </a:solidFill>
                <a:latin typeface="Arial"/>
              </a:rPr>
              <a:t>Conclusion &amp; Future Scope</a:t>
            </a:r>
          </a:p>
        </p:txBody>
      </p:sp>
      <p:sp>
        <p:nvSpPr>
          <p:cNvPr id="4" name="TextBox 3"/>
          <p:cNvSpPr txBox="1"/>
          <p:nvPr/>
        </p:nvSpPr>
        <p:spPr>
          <a:xfrm>
            <a:off x="1280160" y="749808"/>
            <a:ext cx="7315200" cy="292608"/>
          </a:xfrm>
          <a:prstGeom prst="rect">
            <a:avLst/>
          </a:prstGeom>
          <a:noFill/>
        </p:spPr>
        <p:txBody>
          <a:bodyPr wrap="square" anchor="t" lIns="0" rIns="0" tIns="0" bIns="0"/>
          <a:lstStyle/>
          <a:p>
            <a:pPr algn="l">
              <a:spcAft>
                <a:spcPts val="400"/>
              </a:spcAft>
            </a:pPr>
            <a:r>
              <a:rPr sz="1300" b="0" i="0">
                <a:solidFill>
                  <a:srgbClr val="5F6B76"/>
                </a:solidFill>
                <a:latin typeface="Arial"/>
              </a:rPr>
              <a:t>AI strengthens the whole disaster-management cycle</a:t>
            </a:r>
          </a:p>
        </p:txBody>
      </p:sp>
      <p:pic>
        <p:nvPicPr>
          <p:cNvPr id="5" name="Picture 4" descr="image.jpg"/>
          <p:cNvPicPr>
            <a:picLocks noChangeAspect="1"/>
          </p:cNvPicPr>
          <p:nvPr/>
        </p:nvPicPr>
        <p:blipFill>
          <a:blip r:embed="rId2"/>
          <a:stretch>
            <a:fillRect/>
          </a:stretch>
        </p:blipFill>
        <p:spPr>
          <a:xfrm>
            <a:off x="548640" y="6336792"/>
            <a:ext cx="438912" cy="330572"/>
          </a:xfrm>
          <a:prstGeom prst="rect">
            <a:avLst/>
          </a:prstGeom>
        </p:spPr>
      </p:pic>
      <p:sp>
        <p:nvSpPr>
          <p:cNvPr id="6" name="TextBox 5"/>
          <p:cNvSpPr txBox="1"/>
          <p:nvPr/>
        </p:nvSpPr>
        <p:spPr>
          <a:xfrm>
            <a:off x="1078992" y="6382512"/>
            <a:ext cx="5943600" cy="274320"/>
          </a:xfrm>
          <a:prstGeom prst="rect">
            <a:avLst/>
          </a:prstGeom>
          <a:noFill/>
        </p:spPr>
        <p:txBody>
          <a:bodyPr wrap="square" anchor="ctr" lIns="0" rIns="0" tIns="0" bIns="0"/>
          <a:lstStyle/>
          <a:p>
            <a:pPr algn="l">
              <a:spcAft>
                <a:spcPts val="400"/>
              </a:spcAft>
            </a:pPr>
            <a:r>
              <a:rPr sz="900" b="0" i="0">
                <a:solidFill>
                  <a:srgbClr val="5F6B76"/>
                </a:solidFill>
                <a:latin typeface="Arial"/>
              </a:rPr>
              <a:t>AI in Disaster Management   |   Vedika Dandade, B344</a:t>
            </a:r>
          </a:p>
        </p:txBody>
      </p:sp>
      <p:sp>
        <p:nvSpPr>
          <p:cNvPr id="7" name="Rectangle 6"/>
          <p:cNvSpPr/>
          <p:nvPr/>
        </p:nvSpPr>
        <p:spPr>
          <a:xfrm>
            <a:off x="8275320" y="6355080"/>
            <a:ext cx="329184" cy="329184"/>
          </a:xfrm>
          <a:prstGeom prst="rect">
            <a:avLst/>
          </a:prstGeom>
          <a:solidFill>
            <a:srgbClr val="F4A81D"/>
          </a:solidFill>
          <a:ln>
            <a:noFill/>
          </a:ln>
        </p:spPr>
        <p:txBody>
          <a:bodyPr rtlCol="0" anchor="ctr" wrap="square" lIns="0" rIns="0" tIns="0" bIns="0"/>
          <a:lstStyle/>
          <a:p>
            <a:pPr algn="ctr"/>
            <a:fld id="{3C1D2E4F-6A7B-4C8D-9E0F-1A2B3C4D5E6F}" type="slidenum">
              <a:rPr lang="en-US" sz="1000" b="1">
                <a:solidFill>
                  <a:srgbClr val="23272B"/>
                </a:solidFill>
                <a:latin typeface="Arial"/>
              </a:rPr>
              <a:t>16</a:t>
            </a:fld>
          </a:p>
        </p:txBody>
      </p:sp>
      <p:sp>
        <p:nvSpPr>
          <p:cNvPr id="8" name="TextBox 7"/>
          <p:cNvSpPr txBox="1"/>
          <p:nvPr/>
        </p:nvSpPr>
        <p:spPr>
          <a:xfrm>
            <a:off x="548640" y="1371600"/>
            <a:ext cx="3840480" cy="320040"/>
          </a:xfrm>
          <a:prstGeom prst="rect">
            <a:avLst/>
          </a:prstGeom>
          <a:noFill/>
        </p:spPr>
        <p:txBody>
          <a:bodyPr wrap="square" anchor="t" lIns="0" rIns="0" tIns="0" bIns="0"/>
          <a:lstStyle/>
          <a:p>
            <a:pPr algn="l">
              <a:spcAft>
                <a:spcPts val="400"/>
              </a:spcAft>
            </a:pPr>
            <a:r>
              <a:rPr sz="1600" b="1" i="0">
                <a:solidFill>
                  <a:srgbClr val="23272B"/>
                </a:solidFill>
                <a:latin typeface="Arial"/>
              </a:rPr>
              <a:t>Key takeaways</a:t>
            </a:r>
          </a:p>
        </p:txBody>
      </p:sp>
      <p:sp>
        <p:nvSpPr>
          <p:cNvPr id="9" name="Rectangle 8"/>
          <p:cNvSpPr/>
          <p:nvPr/>
        </p:nvSpPr>
        <p:spPr>
          <a:xfrm>
            <a:off x="548640" y="1938528"/>
            <a:ext cx="384048" cy="384048"/>
          </a:xfrm>
          <a:prstGeom prst="rect">
            <a:avLst/>
          </a:prstGeom>
          <a:solidFill>
            <a:srgbClr val="F4A81D"/>
          </a:solidFill>
          <a:ln>
            <a:noFill/>
          </a:ln>
        </p:spPr>
        <p:txBody>
          <a:bodyPr rtlCol="0" anchor="ctr" wrap="square" lIns="0" rIns="0" tIns="0" bIns="0"/>
          <a:lstStyle/>
          <a:p>
            <a:pPr algn="ctr">
              <a:spcAft>
                <a:spcPts val="0"/>
              </a:spcAft>
            </a:pPr>
            <a:r>
              <a:rPr sz="1300" b="1" i="0">
                <a:solidFill>
                  <a:srgbClr val="23272B"/>
                </a:solidFill>
                <a:latin typeface="Arial"/>
              </a:rPr>
              <a:t>1</a:t>
            </a:r>
          </a:p>
        </p:txBody>
      </p:sp>
      <p:sp>
        <p:nvSpPr>
          <p:cNvPr id="10" name="TextBox 9"/>
          <p:cNvSpPr txBox="1"/>
          <p:nvPr/>
        </p:nvSpPr>
        <p:spPr>
          <a:xfrm>
            <a:off x="1078992" y="1828800"/>
            <a:ext cx="3291840" cy="640080"/>
          </a:xfrm>
          <a:prstGeom prst="rect">
            <a:avLst/>
          </a:prstGeom>
          <a:noFill/>
        </p:spPr>
        <p:txBody>
          <a:bodyPr wrap="square" anchor="ctr" lIns="0" rIns="0" tIns="0" bIns="0"/>
          <a:lstStyle/>
          <a:p>
            <a:pPr algn="l">
              <a:spcAft>
                <a:spcPts val="400"/>
              </a:spcAft>
            </a:pPr>
            <a:r>
              <a:rPr sz="1350" b="0" i="0">
                <a:solidFill>
                  <a:srgbClr val="23272B"/>
                </a:solidFill>
                <a:latin typeface="Arial"/>
              </a:rPr>
              <a:t>AI supports every phase of the disaster-management cycle.</a:t>
            </a:r>
          </a:p>
        </p:txBody>
      </p:sp>
      <p:sp>
        <p:nvSpPr>
          <p:cNvPr id="11" name="Rectangle 10"/>
          <p:cNvSpPr/>
          <p:nvPr/>
        </p:nvSpPr>
        <p:spPr>
          <a:xfrm>
            <a:off x="548640" y="2761488"/>
            <a:ext cx="384048" cy="384048"/>
          </a:xfrm>
          <a:prstGeom prst="rect">
            <a:avLst/>
          </a:prstGeom>
          <a:solidFill>
            <a:srgbClr val="F4A81D"/>
          </a:solidFill>
          <a:ln>
            <a:noFill/>
          </a:ln>
        </p:spPr>
        <p:txBody>
          <a:bodyPr rtlCol="0" anchor="ctr" wrap="square" lIns="0" rIns="0" tIns="0" bIns="0"/>
          <a:lstStyle/>
          <a:p>
            <a:pPr algn="ctr">
              <a:spcAft>
                <a:spcPts val="0"/>
              </a:spcAft>
            </a:pPr>
            <a:r>
              <a:rPr sz="1300" b="1" i="0">
                <a:solidFill>
                  <a:srgbClr val="23272B"/>
                </a:solidFill>
                <a:latin typeface="Arial"/>
              </a:rPr>
              <a:t>2</a:t>
            </a:r>
          </a:p>
        </p:txBody>
      </p:sp>
      <p:sp>
        <p:nvSpPr>
          <p:cNvPr id="12" name="TextBox 11"/>
          <p:cNvSpPr txBox="1"/>
          <p:nvPr/>
        </p:nvSpPr>
        <p:spPr>
          <a:xfrm>
            <a:off x="1078992" y="2651760"/>
            <a:ext cx="3291840" cy="640080"/>
          </a:xfrm>
          <a:prstGeom prst="rect">
            <a:avLst/>
          </a:prstGeom>
          <a:noFill/>
        </p:spPr>
        <p:txBody>
          <a:bodyPr wrap="square" anchor="ctr" lIns="0" rIns="0" tIns="0" bIns="0"/>
          <a:lstStyle/>
          <a:p>
            <a:pPr algn="l">
              <a:spcAft>
                <a:spcPts val="400"/>
              </a:spcAft>
            </a:pPr>
            <a:r>
              <a:rPr sz="1350" b="0" i="0">
                <a:solidFill>
                  <a:srgbClr val="23272B"/>
                </a:solidFill>
                <a:latin typeface="Arial"/>
              </a:rPr>
              <a:t>Time-series models warn early; CNN/ViT models map damage quickly.</a:t>
            </a:r>
          </a:p>
        </p:txBody>
      </p:sp>
      <p:sp>
        <p:nvSpPr>
          <p:cNvPr id="13" name="Rectangle 12"/>
          <p:cNvSpPr/>
          <p:nvPr/>
        </p:nvSpPr>
        <p:spPr>
          <a:xfrm>
            <a:off x="548640" y="3584448"/>
            <a:ext cx="384048" cy="384048"/>
          </a:xfrm>
          <a:prstGeom prst="rect">
            <a:avLst/>
          </a:prstGeom>
          <a:solidFill>
            <a:srgbClr val="F4A81D"/>
          </a:solidFill>
          <a:ln>
            <a:noFill/>
          </a:ln>
        </p:spPr>
        <p:txBody>
          <a:bodyPr rtlCol="0" anchor="ctr" wrap="square" lIns="0" rIns="0" tIns="0" bIns="0"/>
          <a:lstStyle/>
          <a:p>
            <a:pPr algn="ctr">
              <a:spcAft>
                <a:spcPts val="0"/>
              </a:spcAft>
            </a:pPr>
            <a:r>
              <a:rPr sz="1300" b="1" i="0">
                <a:solidFill>
                  <a:srgbClr val="23272B"/>
                </a:solidFill>
                <a:latin typeface="Arial"/>
              </a:rPr>
              <a:t>3</a:t>
            </a:r>
          </a:p>
        </p:txBody>
      </p:sp>
      <p:sp>
        <p:nvSpPr>
          <p:cNvPr id="14" name="TextBox 13"/>
          <p:cNvSpPr txBox="1"/>
          <p:nvPr/>
        </p:nvSpPr>
        <p:spPr>
          <a:xfrm>
            <a:off x="1078992" y="3474720"/>
            <a:ext cx="3291840" cy="640080"/>
          </a:xfrm>
          <a:prstGeom prst="rect">
            <a:avLst/>
          </a:prstGeom>
          <a:noFill/>
        </p:spPr>
        <p:txBody>
          <a:bodyPr wrap="square" anchor="ctr" lIns="0" rIns="0" tIns="0" bIns="0"/>
          <a:lstStyle/>
          <a:p>
            <a:pPr algn="l">
              <a:spcAft>
                <a:spcPts val="400"/>
              </a:spcAft>
            </a:pPr>
            <a:r>
              <a:rPr sz="1350" b="0" i="0">
                <a:solidFill>
                  <a:srgbClr val="23272B"/>
                </a:solidFill>
                <a:latin typeface="Arial"/>
              </a:rPr>
              <a:t>NLP/LLMs turn crisis messages into structured, actionable data.</a:t>
            </a:r>
          </a:p>
        </p:txBody>
      </p:sp>
      <p:sp>
        <p:nvSpPr>
          <p:cNvPr id="15" name="Rectangle 14"/>
          <p:cNvSpPr/>
          <p:nvPr/>
        </p:nvSpPr>
        <p:spPr>
          <a:xfrm>
            <a:off x="548640" y="4407408"/>
            <a:ext cx="384048" cy="384048"/>
          </a:xfrm>
          <a:prstGeom prst="rect">
            <a:avLst/>
          </a:prstGeom>
          <a:solidFill>
            <a:srgbClr val="F4A81D"/>
          </a:solidFill>
          <a:ln>
            <a:noFill/>
          </a:ln>
        </p:spPr>
        <p:txBody>
          <a:bodyPr rtlCol="0" anchor="ctr" wrap="square" lIns="0" rIns="0" tIns="0" bIns="0"/>
          <a:lstStyle/>
          <a:p>
            <a:pPr algn="ctr">
              <a:spcAft>
                <a:spcPts val="0"/>
              </a:spcAft>
            </a:pPr>
            <a:r>
              <a:rPr sz="1300" b="1" i="0">
                <a:solidFill>
                  <a:srgbClr val="23272B"/>
                </a:solidFill>
                <a:latin typeface="Arial"/>
              </a:rPr>
              <a:t>4</a:t>
            </a:r>
          </a:p>
        </p:txBody>
      </p:sp>
      <p:sp>
        <p:nvSpPr>
          <p:cNvPr id="16" name="TextBox 15"/>
          <p:cNvSpPr txBox="1"/>
          <p:nvPr/>
        </p:nvSpPr>
        <p:spPr>
          <a:xfrm>
            <a:off x="1078992" y="4297680"/>
            <a:ext cx="3291840" cy="640080"/>
          </a:xfrm>
          <a:prstGeom prst="rect">
            <a:avLst/>
          </a:prstGeom>
          <a:noFill/>
        </p:spPr>
        <p:txBody>
          <a:bodyPr wrap="square" anchor="ctr" lIns="0" rIns="0" tIns="0" bIns="0"/>
          <a:lstStyle/>
          <a:p>
            <a:pPr algn="l">
              <a:spcAft>
                <a:spcPts val="400"/>
              </a:spcAft>
            </a:pPr>
            <a:r>
              <a:rPr sz="1350" b="0" i="0">
                <a:solidFill>
                  <a:srgbClr val="23272B"/>
                </a:solidFill>
                <a:latin typeface="Arial"/>
              </a:rPr>
              <a:t>Optimization and RL improve evacuation and relief logistics.</a:t>
            </a:r>
          </a:p>
        </p:txBody>
      </p:sp>
      <p:sp>
        <p:nvSpPr>
          <p:cNvPr id="17" name="Rectangle 16"/>
          <p:cNvSpPr/>
          <p:nvPr/>
        </p:nvSpPr>
        <p:spPr>
          <a:xfrm>
            <a:off x="4663440" y="1371600"/>
            <a:ext cx="3931920" cy="3794760"/>
          </a:xfrm>
          <a:prstGeom prst="rect">
            <a:avLst/>
          </a:prstGeom>
          <a:solidFill>
            <a:srgbClr val="23272B"/>
          </a:solidFill>
          <a:ln>
            <a:noFill/>
          </a:ln>
        </p:spPr>
        <p:txBody>
          <a:bodyPr rtlCol="0" anchor="ctr" wrap="square" lIns="54864" rIns="54864" tIns="54864" bIns="54864"/>
          <a:lstStyle/>
          <a:p>
            <a:pPr algn="ctr"/>
          </a:p>
        </p:txBody>
      </p:sp>
      <p:sp>
        <p:nvSpPr>
          <p:cNvPr id="18" name="TextBox 17"/>
          <p:cNvSpPr txBox="1"/>
          <p:nvPr/>
        </p:nvSpPr>
        <p:spPr>
          <a:xfrm>
            <a:off x="4892040" y="1508760"/>
            <a:ext cx="3566160" cy="320040"/>
          </a:xfrm>
          <a:prstGeom prst="rect">
            <a:avLst/>
          </a:prstGeom>
          <a:noFill/>
        </p:spPr>
        <p:txBody>
          <a:bodyPr wrap="square" anchor="t" lIns="0" rIns="0" tIns="0" bIns="0"/>
          <a:lstStyle/>
          <a:p>
            <a:pPr algn="l">
              <a:spcAft>
                <a:spcPts val="400"/>
              </a:spcAft>
            </a:pPr>
            <a:r>
              <a:rPr sz="1600" b="1" i="0">
                <a:solidFill>
                  <a:srgbClr val="F4A81D"/>
                </a:solidFill>
                <a:latin typeface="Arial"/>
              </a:rPr>
              <a:t>Future scope</a:t>
            </a:r>
          </a:p>
        </p:txBody>
      </p:sp>
      <p:pic>
        <p:nvPicPr>
          <p:cNvPr id="19" name="Picture 18" descr="arrowr_va.png"/>
          <p:cNvPicPr>
            <a:picLocks noChangeAspect="1"/>
          </p:cNvPicPr>
          <p:nvPr/>
        </p:nvPicPr>
        <p:blipFill>
          <a:blip r:embed="rId3"/>
          <a:stretch>
            <a:fillRect/>
          </a:stretch>
        </p:blipFill>
        <p:spPr>
          <a:xfrm>
            <a:off x="4892040" y="2148840"/>
            <a:ext cx="237744" cy="237744"/>
          </a:xfrm>
          <a:prstGeom prst="rect">
            <a:avLst/>
          </a:prstGeom>
        </p:spPr>
      </p:pic>
      <p:sp>
        <p:nvSpPr>
          <p:cNvPr id="20" name="TextBox 19"/>
          <p:cNvSpPr txBox="1"/>
          <p:nvPr/>
        </p:nvSpPr>
        <p:spPr>
          <a:xfrm>
            <a:off x="5257800" y="1965960"/>
            <a:ext cx="3200400" cy="640080"/>
          </a:xfrm>
          <a:prstGeom prst="rect">
            <a:avLst/>
          </a:prstGeom>
          <a:noFill/>
        </p:spPr>
        <p:txBody>
          <a:bodyPr wrap="square" anchor="ctr" lIns="0" rIns="0" tIns="0" bIns="0"/>
          <a:lstStyle/>
          <a:p>
            <a:pPr algn="l">
              <a:spcAft>
                <a:spcPts val="400"/>
              </a:spcAft>
            </a:pPr>
            <a:r>
              <a:rPr sz="1300" b="0" i="0">
                <a:solidFill>
                  <a:srgbClr val="FFFFFF"/>
                </a:solidFill>
                <a:latin typeface="Arial"/>
              </a:rPr>
              <a:t>Multimodal models fusing satellite, sensor and text data</a:t>
            </a:r>
          </a:p>
        </p:txBody>
      </p:sp>
      <p:pic>
        <p:nvPicPr>
          <p:cNvPr id="21" name="Picture 20" descr="arrowr_va.png"/>
          <p:cNvPicPr>
            <a:picLocks noChangeAspect="1"/>
          </p:cNvPicPr>
          <p:nvPr/>
        </p:nvPicPr>
        <p:blipFill>
          <a:blip r:embed="rId3"/>
          <a:stretch>
            <a:fillRect/>
          </a:stretch>
        </p:blipFill>
        <p:spPr>
          <a:xfrm>
            <a:off x="4892040" y="2926080"/>
            <a:ext cx="237744" cy="237744"/>
          </a:xfrm>
          <a:prstGeom prst="rect">
            <a:avLst/>
          </a:prstGeom>
        </p:spPr>
      </p:pic>
      <p:sp>
        <p:nvSpPr>
          <p:cNvPr id="22" name="TextBox 21"/>
          <p:cNvSpPr txBox="1"/>
          <p:nvPr/>
        </p:nvSpPr>
        <p:spPr>
          <a:xfrm>
            <a:off x="5257800" y="2743200"/>
            <a:ext cx="3200400" cy="640080"/>
          </a:xfrm>
          <a:prstGeom prst="rect">
            <a:avLst/>
          </a:prstGeom>
          <a:noFill/>
        </p:spPr>
        <p:txBody>
          <a:bodyPr wrap="square" anchor="ctr" lIns="0" rIns="0" tIns="0" bIns="0"/>
          <a:lstStyle/>
          <a:p>
            <a:pPr algn="l">
              <a:spcAft>
                <a:spcPts val="400"/>
              </a:spcAft>
            </a:pPr>
            <a:r>
              <a:rPr sz="1300" b="0" i="0">
                <a:solidFill>
                  <a:srgbClr val="FFFFFF"/>
                </a:solidFill>
                <a:latin typeface="Arial"/>
              </a:rPr>
              <a:t>Explainable, trustworthy AI for critical decisions [2]</a:t>
            </a:r>
          </a:p>
        </p:txBody>
      </p:sp>
      <p:pic>
        <p:nvPicPr>
          <p:cNvPr id="23" name="Picture 22" descr="arrowr_va.png"/>
          <p:cNvPicPr>
            <a:picLocks noChangeAspect="1"/>
          </p:cNvPicPr>
          <p:nvPr/>
        </p:nvPicPr>
        <p:blipFill>
          <a:blip r:embed="rId3"/>
          <a:stretch>
            <a:fillRect/>
          </a:stretch>
        </p:blipFill>
        <p:spPr>
          <a:xfrm>
            <a:off x="4892040" y="3703320"/>
            <a:ext cx="237744" cy="237744"/>
          </a:xfrm>
          <a:prstGeom prst="rect">
            <a:avLst/>
          </a:prstGeom>
        </p:spPr>
      </p:pic>
      <p:sp>
        <p:nvSpPr>
          <p:cNvPr id="24" name="TextBox 23"/>
          <p:cNvSpPr txBox="1"/>
          <p:nvPr/>
        </p:nvSpPr>
        <p:spPr>
          <a:xfrm>
            <a:off x="5257800" y="3520439"/>
            <a:ext cx="3200400" cy="640080"/>
          </a:xfrm>
          <a:prstGeom prst="rect">
            <a:avLst/>
          </a:prstGeom>
          <a:noFill/>
        </p:spPr>
        <p:txBody>
          <a:bodyPr wrap="square" anchor="ctr" lIns="0" rIns="0" tIns="0" bIns="0"/>
          <a:lstStyle/>
          <a:p>
            <a:pPr algn="l">
              <a:spcAft>
                <a:spcPts val="400"/>
              </a:spcAft>
            </a:pPr>
            <a:r>
              <a:rPr sz="1300" b="0" i="0">
                <a:solidFill>
                  <a:srgbClr val="FFFFFF"/>
                </a:solidFill>
                <a:latin typeface="Arial"/>
              </a:rPr>
              <a:t>Edge AI that keeps working when networks fail</a:t>
            </a:r>
          </a:p>
        </p:txBody>
      </p:sp>
      <p:pic>
        <p:nvPicPr>
          <p:cNvPr id="25" name="Picture 24" descr="arrowr_va.png"/>
          <p:cNvPicPr>
            <a:picLocks noChangeAspect="1"/>
          </p:cNvPicPr>
          <p:nvPr/>
        </p:nvPicPr>
        <p:blipFill>
          <a:blip r:embed="rId3"/>
          <a:stretch>
            <a:fillRect/>
          </a:stretch>
        </p:blipFill>
        <p:spPr>
          <a:xfrm>
            <a:off x="4892040" y="4480559"/>
            <a:ext cx="237744" cy="237744"/>
          </a:xfrm>
          <a:prstGeom prst="rect">
            <a:avLst/>
          </a:prstGeom>
        </p:spPr>
      </p:pic>
      <p:sp>
        <p:nvSpPr>
          <p:cNvPr id="26" name="TextBox 25"/>
          <p:cNvSpPr txBox="1"/>
          <p:nvPr/>
        </p:nvSpPr>
        <p:spPr>
          <a:xfrm>
            <a:off x="5257800" y="4297679"/>
            <a:ext cx="3200400" cy="640080"/>
          </a:xfrm>
          <a:prstGeom prst="rect">
            <a:avLst/>
          </a:prstGeom>
          <a:noFill/>
        </p:spPr>
        <p:txBody>
          <a:bodyPr wrap="square" anchor="ctr" lIns="0" rIns="0" tIns="0" bIns="0"/>
          <a:lstStyle/>
          <a:p>
            <a:pPr algn="l">
              <a:spcAft>
                <a:spcPts val="400"/>
              </a:spcAft>
            </a:pPr>
            <a:r>
              <a:rPr sz="1300" b="0" i="0">
                <a:solidFill>
                  <a:srgbClr val="FFFFFF"/>
                </a:solidFill>
                <a:latin typeface="Arial"/>
              </a:rPr>
              <a:t>Collaboration of government, research and industry</a:t>
            </a:r>
          </a:p>
        </p:txBody>
      </p:sp>
      <p:sp>
        <p:nvSpPr>
          <p:cNvPr id="27" name="Rectangle 26"/>
          <p:cNvSpPr/>
          <p:nvPr/>
        </p:nvSpPr>
        <p:spPr>
          <a:xfrm>
            <a:off x="548640" y="5394960"/>
            <a:ext cx="8046720" cy="777240"/>
          </a:xfrm>
          <a:prstGeom prst="rect">
            <a:avLst/>
          </a:prstGeom>
          <a:solidFill>
            <a:srgbClr val="F4A81D"/>
          </a:solidFill>
          <a:ln>
            <a:noFill/>
          </a:ln>
        </p:spPr>
        <p:txBody>
          <a:bodyPr rtlCol="0" anchor="ctr" wrap="square" lIns="54864" rIns="54864" tIns="54864" bIns="54864"/>
          <a:lstStyle/>
          <a:p>
            <a:pPr algn="ctr">
              <a:spcAft>
                <a:spcPts val="0"/>
              </a:spcAft>
            </a:pPr>
            <a:r>
              <a:rPr sz="1500" b="1" i="0">
                <a:solidFill>
                  <a:srgbClr val="23272B"/>
                </a:solidFill>
                <a:latin typeface="Arial"/>
              </a:rPr>
              <a:t>Earlier detection  •  faster assessment  •  smarter response  — with humans in the loop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84048"/>
            <a:ext cx="566928" cy="566928"/>
          </a:xfrm>
          <a:prstGeom prst="rect">
            <a:avLst/>
          </a:prstGeom>
          <a:solidFill>
            <a:srgbClr val="F4A81D"/>
          </a:solidFill>
          <a:ln>
            <a:noFill/>
          </a:ln>
        </p:spPr>
        <p:txBody>
          <a:bodyPr rtlCol="0" anchor="ctr" wrap="square" lIns="0" rIns="0" tIns="0" bIns="0"/>
          <a:lstStyle/>
          <a:p>
            <a:pPr algn="ctr">
              <a:spcAft>
                <a:spcPts val="0"/>
              </a:spcAft>
            </a:pPr>
            <a:r>
              <a:rPr sz="1800" b="1" i="0">
                <a:solidFill>
                  <a:srgbClr val="23272B"/>
                </a:solidFill>
                <a:latin typeface="Arial"/>
              </a:rPr>
              <a:t>12</a:t>
            </a:r>
          </a:p>
        </p:txBody>
      </p:sp>
      <p:sp>
        <p:nvSpPr>
          <p:cNvPr id="3" name="TextBox 2"/>
          <p:cNvSpPr txBox="1"/>
          <p:nvPr/>
        </p:nvSpPr>
        <p:spPr>
          <a:xfrm>
            <a:off x="1280160" y="329184"/>
            <a:ext cx="7315200" cy="438912"/>
          </a:xfrm>
          <a:prstGeom prst="rect">
            <a:avLst/>
          </a:prstGeom>
          <a:noFill/>
        </p:spPr>
        <p:txBody>
          <a:bodyPr wrap="square" anchor="ctr" lIns="0" rIns="0" tIns="0" bIns="0"/>
          <a:lstStyle/>
          <a:p>
            <a:pPr algn="l">
              <a:spcAft>
                <a:spcPts val="400"/>
              </a:spcAft>
            </a:pPr>
            <a:r>
              <a:rPr sz="2400" b="1" i="0">
                <a:solidFill>
                  <a:srgbClr val="23272B"/>
                </a:solidFill>
                <a:latin typeface="Arial"/>
              </a:rPr>
              <a:t>References</a:t>
            </a:r>
          </a:p>
        </p:txBody>
      </p:sp>
      <p:sp>
        <p:nvSpPr>
          <p:cNvPr id="4" name="TextBox 3"/>
          <p:cNvSpPr txBox="1"/>
          <p:nvPr/>
        </p:nvSpPr>
        <p:spPr>
          <a:xfrm>
            <a:off x="1280160" y="749808"/>
            <a:ext cx="7315200" cy="292608"/>
          </a:xfrm>
          <a:prstGeom prst="rect">
            <a:avLst/>
          </a:prstGeom>
          <a:noFill/>
        </p:spPr>
        <p:txBody>
          <a:bodyPr wrap="square" anchor="t" lIns="0" rIns="0" tIns="0" bIns="0"/>
          <a:lstStyle/>
          <a:p>
            <a:pPr algn="l">
              <a:spcAft>
                <a:spcPts val="400"/>
              </a:spcAft>
            </a:pPr>
            <a:r>
              <a:rPr sz="1300" b="0" i="0">
                <a:solidFill>
                  <a:srgbClr val="5F6B76"/>
                </a:solidFill>
                <a:latin typeface="Arial"/>
              </a:rPr>
              <a:t>IEEE format; bracketed numbers on the slides refer to this list</a:t>
            </a:r>
          </a:p>
        </p:txBody>
      </p:sp>
      <p:pic>
        <p:nvPicPr>
          <p:cNvPr id="5" name="Picture 4" descr="image.jpg"/>
          <p:cNvPicPr>
            <a:picLocks noChangeAspect="1"/>
          </p:cNvPicPr>
          <p:nvPr/>
        </p:nvPicPr>
        <p:blipFill>
          <a:blip r:embed="rId2"/>
          <a:stretch>
            <a:fillRect/>
          </a:stretch>
        </p:blipFill>
        <p:spPr>
          <a:xfrm>
            <a:off x="548640" y="6336792"/>
            <a:ext cx="438912" cy="330572"/>
          </a:xfrm>
          <a:prstGeom prst="rect">
            <a:avLst/>
          </a:prstGeom>
        </p:spPr>
      </p:pic>
      <p:sp>
        <p:nvSpPr>
          <p:cNvPr id="6" name="TextBox 5"/>
          <p:cNvSpPr txBox="1"/>
          <p:nvPr/>
        </p:nvSpPr>
        <p:spPr>
          <a:xfrm>
            <a:off x="1078992" y="6382512"/>
            <a:ext cx="5943600" cy="274320"/>
          </a:xfrm>
          <a:prstGeom prst="rect">
            <a:avLst/>
          </a:prstGeom>
          <a:noFill/>
        </p:spPr>
        <p:txBody>
          <a:bodyPr wrap="square" anchor="ctr" lIns="0" rIns="0" tIns="0" bIns="0"/>
          <a:lstStyle/>
          <a:p>
            <a:pPr algn="l">
              <a:spcAft>
                <a:spcPts val="400"/>
              </a:spcAft>
            </a:pPr>
            <a:r>
              <a:rPr sz="900" b="0" i="0">
                <a:solidFill>
                  <a:srgbClr val="5F6B76"/>
                </a:solidFill>
                <a:latin typeface="Arial"/>
              </a:rPr>
              <a:t>AI in Disaster Management   |   Vedika Dandade, B344</a:t>
            </a:r>
          </a:p>
        </p:txBody>
      </p:sp>
      <p:sp>
        <p:nvSpPr>
          <p:cNvPr id="7" name="Rectangle 6"/>
          <p:cNvSpPr/>
          <p:nvPr/>
        </p:nvSpPr>
        <p:spPr>
          <a:xfrm>
            <a:off x="8275320" y="6355080"/>
            <a:ext cx="329184" cy="329184"/>
          </a:xfrm>
          <a:prstGeom prst="rect">
            <a:avLst/>
          </a:prstGeom>
          <a:solidFill>
            <a:srgbClr val="F4A81D"/>
          </a:solidFill>
          <a:ln>
            <a:noFill/>
          </a:ln>
        </p:spPr>
        <p:txBody>
          <a:bodyPr rtlCol="0" anchor="ctr" wrap="square" lIns="0" rIns="0" tIns="0" bIns="0"/>
          <a:lstStyle/>
          <a:p>
            <a:pPr algn="ctr"/>
            <a:fld id="{3C1D2E4F-6A7B-4C8D-9E0F-1A2B3C4D5E6F}" type="slidenum">
              <a:rPr lang="en-US" sz="1000" b="1">
                <a:solidFill>
                  <a:srgbClr val="23272B"/>
                </a:solidFill>
                <a:latin typeface="Arial"/>
              </a:rPr>
              <a:t>17</a:t>
            </a:fld>
          </a:p>
        </p:txBody>
      </p:sp>
      <p:sp>
        <p:nvSpPr>
          <p:cNvPr id="8" name="Rectangle 7"/>
          <p:cNvSpPr/>
          <p:nvPr/>
        </p:nvSpPr>
        <p:spPr>
          <a:xfrm>
            <a:off x="548640" y="1362456"/>
            <a:ext cx="384048" cy="310896"/>
          </a:xfrm>
          <a:prstGeom prst="rect">
            <a:avLst/>
          </a:prstGeom>
          <a:solidFill>
            <a:srgbClr val="F4A81D"/>
          </a:solidFill>
          <a:ln>
            <a:noFill/>
          </a:ln>
        </p:spPr>
        <p:txBody>
          <a:bodyPr rtlCol="0" anchor="ctr" wrap="square" lIns="0" rIns="0" tIns="0" bIns="0"/>
          <a:lstStyle/>
          <a:p>
            <a:pPr algn="ctr">
              <a:spcAft>
                <a:spcPts val="0"/>
              </a:spcAft>
            </a:pPr>
            <a:r>
              <a:rPr sz="1100" b="1" i="0">
                <a:solidFill>
                  <a:srgbClr val="23272B"/>
                </a:solidFill>
                <a:latin typeface="Arial"/>
              </a:rPr>
              <a:t>1</a:t>
            </a:r>
          </a:p>
        </p:txBody>
      </p:sp>
      <p:sp>
        <p:nvSpPr>
          <p:cNvPr id="9" name="TextBox 8"/>
          <p:cNvSpPr txBox="1"/>
          <p:nvPr/>
        </p:nvSpPr>
        <p:spPr>
          <a:xfrm>
            <a:off x="1078992" y="1325880"/>
            <a:ext cx="7498079" cy="585216"/>
          </a:xfrm>
          <a:prstGeom prst="rect">
            <a:avLst/>
          </a:prstGeom>
          <a:noFill/>
        </p:spPr>
        <p:txBody>
          <a:bodyPr wrap="square" anchor="t" lIns="0" rIns="0" tIns="0" bIns="0"/>
          <a:lstStyle/>
          <a:p>
            <a:pPr algn="l">
              <a:spcAft>
                <a:spcPts val="400"/>
              </a:spcAft>
            </a:pPr>
            <a:r>
              <a:rPr sz="1150" b="0" i="0">
                <a:solidFill>
                  <a:srgbClr val="23272B"/>
                </a:solidFill>
                <a:latin typeface="Arial"/>
              </a:rPr>
              <a:t>S. Muthukumar et al., “A systematic review of artificial intelligence frameworks for holistic disaster management,” Discover Artificial Intelligence, vol. 6, Art. no. 308, 2026, doi: 10.1007/s44163-026-01020-w.</a:t>
            </a:r>
          </a:p>
        </p:txBody>
      </p:sp>
      <p:sp>
        <p:nvSpPr>
          <p:cNvPr id="10" name="Rectangle 9"/>
          <p:cNvSpPr/>
          <p:nvPr/>
        </p:nvSpPr>
        <p:spPr>
          <a:xfrm>
            <a:off x="548640" y="1965960"/>
            <a:ext cx="384048" cy="310896"/>
          </a:xfrm>
          <a:prstGeom prst="rect">
            <a:avLst/>
          </a:prstGeom>
          <a:solidFill>
            <a:srgbClr val="F0F2F4"/>
          </a:solidFill>
          <a:ln>
            <a:noFill/>
          </a:ln>
        </p:spPr>
        <p:txBody>
          <a:bodyPr rtlCol="0" anchor="ctr" wrap="square" lIns="0" rIns="0" tIns="0" bIns="0"/>
          <a:lstStyle/>
          <a:p>
            <a:pPr algn="ctr">
              <a:spcAft>
                <a:spcPts val="0"/>
              </a:spcAft>
            </a:pPr>
            <a:r>
              <a:rPr sz="1100" b="1" i="0">
                <a:solidFill>
                  <a:srgbClr val="23272B"/>
                </a:solidFill>
                <a:latin typeface="Arial"/>
              </a:rPr>
              <a:t>2</a:t>
            </a:r>
          </a:p>
        </p:txBody>
      </p:sp>
      <p:sp>
        <p:nvSpPr>
          <p:cNvPr id="11" name="TextBox 10"/>
          <p:cNvSpPr txBox="1"/>
          <p:nvPr/>
        </p:nvSpPr>
        <p:spPr>
          <a:xfrm>
            <a:off x="1078992" y="1929384"/>
            <a:ext cx="7498079" cy="585216"/>
          </a:xfrm>
          <a:prstGeom prst="rect">
            <a:avLst/>
          </a:prstGeom>
          <a:noFill/>
        </p:spPr>
        <p:txBody>
          <a:bodyPr wrap="square" anchor="t" lIns="0" rIns="0" tIns="0" bIns="0"/>
          <a:lstStyle/>
          <a:p>
            <a:pPr algn="l">
              <a:spcAft>
                <a:spcPts val="400"/>
              </a:spcAft>
            </a:pPr>
            <a:r>
              <a:rPr sz="1150" b="0" i="0">
                <a:solidFill>
                  <a:srgbClr val="23272B"/>
                </a:solidFill>
                <a:latin typeface="Arial"/>
              </a:rPr>
              <a:t>“A systematic review of trustworthy artificial intelligence applications in natural disasters,” Computers &amp; Electrical Engineering, vol. 118, pt. B, Art. no. 109409, 2024, doi: 10.1016/j.compeleceng.2024.109409.</a:t>
            </a:r>
          </a:p>
        </p:txBody>
      </p:sp>
      <p:sp>
        <p:nvSpPr>
          <p:cNvPr id="12" name="Rectangle 11"/>
          <p:cNvSpPr/>
          <p:nvPr/>
        </p:nvSpPr>
        <p:spPr>
          <a:xfrm>
            <a:off x="548640" y="2569464"/>
            <a:ext cx="384048" cy="310896"/>
          </a:xfrm>
          <a:prstGeom prst="rect">
            <a:avLst/>
          </a:prstGeom>
          <a:solidFill>
            <a:srgbClr val="F4A81D"/>
          </a:solidFill>
          <a:ln>
            <a:noFill/>
          </a:ln>
        </p:spPr>
        <p:txBody>
          <a:bodyPr rtlCol="0" anchor="ctr" wrap="square" lIns="0" rIns="0" tIns="0" bIns="0"/>
          <a:lstStyle/>
          <a:p>
            <a:pPr algn="ctr">
              <a:spcAft>
                <a:spcPts val="0"/>
              </a:spcAft>
            </a:pPr>
            <a:r>
              <a:rPr sz="1100" b="1" i="0">
                <a:solidFill>
                  <a:srgbClr val="23272B"/>
                </a:solidFill>
                <a:latin typeface="Arial"/>
              </a:rPr>
              <a:t>3</a:t>
            </a:r>
          </a:p>
        </p:txBody>
      </p:sp>
      <p:sp>
        <p:nvSpPr>
          <p:cNvPr id="13" name="TextBox 12"/>
          <p:cNvSpPr txBox="1"/>
          <p:nvPr/>
        </p:nvSpPr>
        <p:spPr>
          <a:xfrm>
            <a:off x="1078992" y="2532888"/>
            <a:ext cx="7498079" cy="585216"/>
          </a:xfrm>
          <a:prstGeom prst="rect">
            <a:avLst/>
          </a:prstGeom>
          <a:noFill/>
        </p:spPr>
        <p:txBody>
          <a:bodyPr wrap="square" anchor="t" lIns="0" rIns="0" tIns="0" bIns="0"/>
          <a:lstStyle/>
          <a:p>
            <a:pPr algn="l">
              <a:spcAft>
                <a:spcPts val="400"/>
              </a:spcAft>
            </a:pPr>
            <a:r>
              <a:rPr sz="1150" b="0" i="0">
                <a:solidFill>
                  <a:srgbClr val="23272B"/>
                </a:solidFill>
                <a:latin typeface="Arial"/>
              </a:rPr>
              <a:t>Akhyar et al., “Deep artificial intelligence applications for natural disaster management systems: A methodological review,” Ecological Indicators, vol. 163, Art. no. 112067, 2024, doi: 10.1016/j.ecolind.2024.112067.</a:t>
            </a:r>
          </a:p>
        </p:txBody>
      </p:sp>
      <p:sp>
        <p:nvSpPr>
          <p:cNvPr id="14" name="Rectangle 13"/>
          <p:cNvSpPr/>
          <p:nvPr/>
        </p:nvSpPr>
        <p:spPr>
          <a:xfrm>
            <a:off x="548640" y="3172968"/>
            <a:ext cx="384048" cy="310896"/>
          </a:xfrm>
          <a:prstGeom prst="rect">
            <a:avLst/>
          </a:prstGeom>
          <a:solidFill>
            <a:srgbClr val="F0F2F4"/>
          </a:solidFill>
          <a:ln>
            <a:noFill/>
          </a:ln>
        </p:spPr>
        <p:txBody>
          <a:bodyPr rtlCol="0" anchor="ctr" wrap="square" lIns="0" rIns="0" tIns="0" bIns="0"/>
          <a:lstStyle/>
          <a:p>
            <a:pPr algn="ctr">
              <a:spcAft>
                <a:spcPts val="0"/>
              </a:spcAft>
            </a:pPr>
            <a:r>
              <a:rPr sz="1100" b="1" i="0">
                <a:solidFill>
                  <a:srgbClr val="23272B"/>
                </a:solidFill>
                <a:latin typeface="Arial"/>
              </a:rPr>
              <a:t>4</a:t>
            </a:r>
          </a:p>
        </p:txBody>
      </p:sp>
      <p:sp>
        <p:nvSpPr>
          <p:cNvPr id="15" name="TextBox 14"/>
          <p:cNvSpPr txBox="1"/>
          <p:nvPr/>
        </p:nvSpPr>
        <p:spPr>
          <a:xfrm>
            <a:off x="1078992" y="3136391"/>
            <a:ext cx="7498079" cy="585216"/>
          </a:xfrm>
          <a:prstGeom prst="rect">
            <a:avLst/>
          </a:prstGeom>
          <a:noFill/>
        </p:spPr>
        <p:txBody>
          <a:bodyPr wrap="square" anchor="t" lIns="0" rIns="0" tIns="0" bIns="0"/>
          <a:lstStyle/>
          <a:p>
            <a:pPr algn="l">
              <a:spcAft>
                <a:spcPts val="400"/>
              </a:spcAft>
            </a:pPr>
            <a:r>
              <a:rPr sz="1150" b="0" i="0">
                <a:solidFill>
                  <a:srgbClr val="23272B"/>
                </a:solidFill>
                <a:latin typeface="Arial"/>
              </a:rPr>
              <a:t>“Artificial intelligence for flood risk management: A comprehensive state-of-the-art review and future directions,” Int. J. Disaster Risk Reduction, vol. 117, Art. no. 105110, 2025, doi: 10.1016/j.ijdrr.2024.105110.</a:t>
            </a:r>
          </a:p>
        </p:txBody>
      </p:sp>
      <p:sp>
        <p:nvSpPr>
          <p:cNvPr id="16" name="Rectangle 15"/>
          <p:cNvSpPr/>
          <p:nvPr/>
        </p:nvSpPr>
        <p:spPr>
          <a:xfrm>
            <a:off x="548640" y="3776472"/>
            <a:ext cx="384048" cy="310896"/>
          </a:xfrm>
          <a:prstGeom prst="rect">
            <a:avLst/>
          </a:prstGeom>
          <a:solidFill>
            <a:srgbClr val="F4A81D"/>
          </a:solidFill>
          <a:ln>
            <a:noFill/>
          </a:ln>
        </p:spPr>
        <p:txBody>
          <a:bodyPr rtlCol="0" anchor="ctr" wrap="square" lIns="0" rIns="0" tIns="0" bIns="0"/>
          <a:lstStyle/>
          <a:p>
            <a:pPr algn="ctr">
              <a:spcAft>
                <a:spcPts val="0"/>
              </a:spcAft>
            </a:pPr>
            <a:r>
              <a:rPr sz="1100" b="1" i="0">
                <a:solidFill>
                  <a:srgbClr val="23272B"/>
                </a:solidFill>
                <a:latin typeface="Arial"/>
              </a:rPr>
              <a:t>5</a:t>
            </a:r>
          </a:p>
        </p:txBody>
      </p:sp>
      <p:sp>
        <p:nvSpPr>
          <p:cNvPr id="17" name="TextBox 16"/>
          <p:cNvSpPr txBox="1"/>
          <p:nvPr/>
        </p:nvSpPr>
        <p:spPr>
          <a:xfrm>
            <a:off x="1078992" y="3739896"/>
            <a:ext cx="7498079" cy="585216"/>
          </a:xfrm>
          <a:prstGeom prst="rect">
            <a:avLst/>
          </a:prstGeom>
          <a:noFill/>
        </p:spPr>
        <p:txBody>
          <a:bodyPr wrap="square" anchor="t" lIns="0" rIns="0" tIns="0" bIns="0"/>
          <a:lstStyle/>
          <a:p>
            <a:pPr algn="l">
              <a:spcAft>
                <a:spcPts val="400"/>
              </a:spcAft>
            </a:pPr>
            <a:r>
              <a:rPr sz="1150" b="0" i="0">
                <a:solidFill>
                  <a:srgbClr val="23272B"/>
                </a:solidFill>
                <a:latin typeface="Arial"/>
              </a:rPr>
              <a:t>“Survey of AI-Enabled IoT for Wildfire Prediction, Detection, and Post-Operations,” IEEE Access, vol. 14, pp. 9819–9837, 2026, doi: 10.1109/ACCESS.2026.3654863.</a:t>
            </a:r>
          </a:p>
        </p:txBody>
      </p:sp>
      <p:sp>
        <p:nvSpPr>
          <p:cNvPr id="18" name="Rectangle 17"/>
          <p:cNvSpPr/>
          <p:nvPr/>
        </p:nvSpPr>
        <p:spPr>
          <a:xfrm>
            <a:off x="548640" y="4379976"/>
            <a:ext cx="384048" cy="310896"/>
          </a:xfrm>
          <a:prstGeom prst="rect">
            <a:avLst/>
          </a:prstGeom>
          <a:solidFill>
            <a:srgbClr val="F0F2F4"/>
          </a:solidFill>
          <a:ln>
            <a:noFill/>
          </a:ln>
        </p:spPr>
        <p:txBody>
          <a:bodyPr rtlCol="0" anchor="ctr" wrap="square" lIns="0" rIns="0" tIns="0" bIns="0"/>
          <a:lstStyle/>
          <a:p>
            <a:pPr algn="ctr">
              <a:spcAft>
                <a:spcPts val="0"/>
              </a:spcAft>
            </a:pPr>
            <a:r>
              <a:rPr sz="1100" b="1" i="0">
                <a:solidFill>
                  <a:srgbClr val="23272B"/>
                </a:solidFill>
                <a:latin typeface="Arial"/>
              </a:rPr>
              <a:t>6</a:t>
            </a:r>
          </a:p>
        </p:txBody>
      </p:sp>
      <p:sp>
        <p:nvSpPr>
          <p:cNvPr id="19" name="TextBox 18"/>
          <p:cNvSpPr txBox="1"/>
          <p:nvPr/>
        </p:nvSpPr>
        <p:spPr>
          <a:xfrm>
            <a:off x="1078992" y="4343400"/>
            <a:ext cx="7498079" cy="585216"/>
          </a:xfrm>
          <a:prstGeom prst="rect">
            <a:avLst/>
          </a:prstGeom>
          <a:noFill/>
        </p:spPr>
        <p:txBody>
          <a:bodyPr wrap="square" anchor="t" lIns="0" rIns="0" tIns="0" bIns="0"/>
          <a:lstStyle/>
          <a:p>
            <a:pPr algn="l">
              <a:spcAft>
                <a:spcPts val="400"/>
              </a:spcAft>
            </a:pPr>
            <a:r>
              <a:rPr sz="1150" b="0" i="0">
                <a:solidFill>
                  <a:srgbClr val="23272B"/>
                </a:solidFill>
                <a:latin typeface="Arial"/>
              </a:rPr>
              <a:t>Z. Lei et al., “Harnessing Large Language Models for Disaster Management: A Survey,” in Findings of the Association for Computational Linguistics: ACL 2025, 2025, pp. 14528–14551.</a:t>
            </a:r>
          </a:p>
        </p:txBody>
      </p:sp>
      <p:sp>
        <p:nvSpPr>
          <p:cNvPr id="20" name="Rectangle 19"/>
          <p:cNvSpPr/>
          <p:nvPr/>
        </p:nvSpPr>
        <p:spPr>
          <a:xfrm>
            <a:off x="548640" y="4983480"/>
            <a:ext cx="384048" cy="310896"/>
          </a:xfrm>
          <a:prstGeom prst="rect">
            <a:avLst/>
          </a:prstGeom>
          <a:solidFill>
            <a:srgbClr val="F4A81D"/>
          </a:solidFill>
          <a:ln>
            <a:noFill/>
          </a:ln>
        </p:spPr>
        <p:txBody>
          <a:bodyPr rtlCol="0" anchor="ctr" wrap="square" lIns="0" rIns="0" tIns="0" bIns="0"/>
          <a:lstStyle/>
          <a:p>
            <a:pPr algn="ctr">
              <a:spcAft>
                <a:spcPts val="0"/>
              </a:spcAft>
            </a:pPr>
            <a:r>
              <a:rPr sz="1100" b="1" i="0">
                <a:solidFill>
                  <a:srgbClr val="23272B"/>
                </a:solidFill>
                <a:latin typeface="Arial"/>
              </a:rPr>
              <a:t>7</a:t>
            </a:r>
          </a:p>
        </p:txBody>
      </p:sp>
      <p:sp>
        <p:nvSpPr>
          <p:cNvPr id="21" name="TextBox 20"/>
          <p:cNvSpPr txBox="1"/>
          <p:nvPr/>
        </p:nvSpPr>
        <p:spPr>
          <a:xfrm>
            <a:off x="1078992" y="4946904"/>
            <a:ext cx="7498079" cy="585216"/>
          </a:xfrm>
          <a:prstGeom prst="rect">
            <a:avLst/>
          </a:prstGeom>
          <a:noFill/>
        </p:spPr>
        <p:txBody>
          <a:bodyPr wrap="square" anchor="t" lIns="0" rIns="0" tIns="0" bIns="0"/>
          <a:lstStyle/>
          <a:p>
            <a:pPr algn="l">
              <a:spcAft>
                <a:spcPts val="400"/>
              </a:spcAft>
            </a:pPr>
            <a:r>
              <a:rPr sz="1150" b="0" i="0">
                <a:solidFill>
                  <a:srgbClr val="23272B"/>
                </a:solidFill>
                <a:latin typeface="Arial"/>
              </a:rPr>
              <a:t>Z. Chen et al., “Integration of large vision language models for efficient post-disaster damage assessment and reporting,” Nature Communications, 2026. [Online]. Available: https://www.nature.com/articles/s41467-025-68216-z</a:t>
            </a:r>
          </a:p>
        </p:txBody>
      </p:sp>
      <p:sp>
        <p:nvSpPr>
          <p:cNvPr id="22" name="Rectangle 21"/>
          <p:cNvSpPr/>
          <p:nvPr/>
        </p:nvSpPr>
        <p:spPr>
          <a:xfrm>
            <a:off x="548640" y="5586984"/>
            <a:ext cx="384048" cy="310896"/>
          </a:xfrm>
          <a:prstGeom prst="rect">
            <a:avLst/>
          </a:prstGeom>
          <a:solidFill>
            <a:srgbClr val="F0F2F4"/>
          </a:solidFill>
          <a:ln>
            <a:noFill/>
          </a:ln>
        </p:spPr>
        <p:txBody>
          <a:bodyPr rtlCol="0" anchor="ctr" wrap="square" lIns="0" rIns="0" tIns="0" bIns="0"/>
          <a:lstStyle/>
          <a:p>
            <a:pPr algn="ctr">
              <a:spcAft>
                <a:spcPts val="0"/>
              </a:spcAft>
            </a:pPr>
            <a:r>
              <a:rPr sz="1100" b="1" i="0">
                <a:solidFill>
                  <a:srgbClr val="23272B"/>
                </a:solidFill>
                <a:latin typeface="Arial"/>
              </a:rPr>
              <a:t>8</a:t>
            </a:r>
          </a:p>
        </p:txBody>
      </p:sp>
      <p:sp>
        <p:nvSpPr>
          <p:cNvPr id="23" name="TextBox 22"/>
          <p:cNvSpPr txBox="1"/>
          <p:nvPr/>
        </p:nvSpPr>
        <p:spPr>
          <a:xfrm>
            <a:off x="1078992" y="5550408"/>
            <a:ext cx="7498079" cy="585216"/>
          </a:xfrm>
          <a:prstGeom prst="rect">
            <a:avLst/>
          </a:prstGeom>
          <a:noFill/>
        </p:spPr>
        <p:txBody>
          <a:bodyPr wrap="square" anchor="t" lIns="0" rIns="0" tIns="0" bIns="0"/>
          <a:lstStyle/>
          <a:p>
            <a:pPr algn="l">
              <a:spcAft>
                <a:spcPts val="400"/>
              </a:spcAft>
            </a:pPr>
            <a:r>
              <a:rPr sz="1150" b="0" i="0">
                <a:solidFill>
                  <a:srgbClr val="23272B"/>
                </a:solidFill>
                <a:latin typeface="Arial"/>
              </a:rPr>
              <a:t>S. Hochreiter and J. Schmidhuber, “Long Short-Term Memory,” Neural Computation, vol. 9, no. 8, pp. 1735–1780, 1997.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320040" y="201168"/>
            <a:ext cx="1143000" cy="860867"/>
          </a:xfrm>
          <a:prstGeom prst="rect">
            <a:avLst/>
          </a:prstGeom>
        </p:spPr>
      </p:pic>
      <p:pic>
        <p:nvPicPr>
          <p:cNvPr id="3" name="Picture 2" descr="image.png"/>
          <p:cNvPicPr>
            <a:picLocks noChangeAspect="1"/>
          </p:cNvPicPr>
          <p:nvPr/>
        </p:nvPicPr>
        <p:blipFill>
          <a:blip r:embed="rId3"/>
          <a:srcRect l="11745" r="3185"/>
          <a:stretch>
            <a:fillRect/>
          </a:stretch>
        </p:blipFill>
        <p:spPr>
          <a:xfrm>
            <a:off x="1645920" y="182880"/>
            <a:ext cx="7178040" cy="1069848"/>
          </a:xfrm>
          <a:prstGeom prst="rect">
            <a:avLst/>
          </a:prstGeom>
        </p:spPr>
      </p:pic>
      <p:sp>
        <p:nvSpPr>
          <p:cNvPr id="4" name="Rectangle 3"/>
          <p:cNvSpPr/>
          <p:nvPr/>
        </p:nvSpPr>
        <p:spPr>
          <a:xfrm>
            <a:off x="0" y="1600200"/>
            <a:ext cx="6035040" cy="2971800"/>
          </a:xfrm>
          <a:prstGeom prst="rect">
            <a:avLst/>
          </a:prstGeom>
          <a:solidFill>
            <a:srgbClr val="F4A81D"/>
          </a:solidFill>
          <a:ln>
            <a:noFill/>
          </a:ln>
        </p:spPr>
        <p:txBody>
          <a:bodyPr rtlCol="0" anchor="ctr" wrap="square" lIns="54864" rIns="54864" tIns="54864" bIns="54864"/>
          <a:lstStyle/>
          <a:p>
            <a:pPr algn="ctr"/>
          </a:p>
        </p:txBody>
      </p:sp>
      <p:sp>
        <p:nvSpPr>
          <p:cNvPr id="5" name="TextBox 4"/>
          <p:cNvSpPr txBox="1"/>
          <p:nvPr/>
        </p:nvSpPr>
        <p:spPr>
          <a:xfrm>
            <a:off x="548640" y="1828800"/>
            <a:ext cx="5120640" cy="292608"/>
          </a:xfrm>
          <a:prstGeom prst="rect">
            <a:avLst/>
          </a:prstGeom>
          <a:noFill/>
        </p:spPr>
        <p:txBody>
          <a:bodyPr wrap="square" anchor="t" lIns="0" rIns="0" tIns="0" bIns="0"/>
          <a:lstStyle/>
          <a:p>
            <a:pPr algn="l">
              <a:spcAft>
                <a:spcPts val="400"/>
              </a:spcAft>
            </a:pPr>
            <a:r>
              <a:rPr sz="1200" b="1" i="0" spc="120">
                <a:solidFill>
                  <a:srgbClr val="23272B"/>
                </a:solidFill>
                <a:latin typeface="Arial"/>
              </a:rPr>
              <a:t>SEMINAR-I   |   2025–26</a:t>
            </a:r>
          </a:p>
        </p:txBody>
      </p:sp>
      <p:sp>
        <p:nvSpPr>
          <p:cNvPr id="6" name="TextBox 5"/>
          <p:cNvSpPr txBox="1"/>
          <p:nvPr/>
        </p:nvSpPr>
        <p:spPr>
          <a:xfrm>
            <a:off x="548640" y="2194560"/>
            <a:ext cx="5212080" cy="1737360"/>
          </a:xfrm>
          <a:prstGeom prst="rect">
            <a:avLst/>
          </a:prstGeom>
          <a:noFill/>
        </p:spPr>
        <p:txBody>
          <a:bodyPr wrap="square" anchor="t" lIns="0" rIns="0" tIns="0" bIns="0"/>
          <a:lstStyle/>
          <a:p>
            <a:pPr algn="l">
              <a:lnSpc>
                <a:spcPct val="95000"/>
              </a:lnSpc>
              <a:spcAft>
                <a:spcPts val="400"/>
              </a:spcAft>
            </a:pPr>
            <a:r>
              <a:rPr sz="4800" b="1" i="0">
                <a:solidFill>
                  <a:srgbClr val="23272B"/>
                </a:solidFill>
                <a:latin typeface="Arial"/>
              </a:rPr>
              <a:t>Thank you</a:t>
            </a:r>
          </a:p>
        </p:txBody>
      </p:sp>
      <p:sp>
        <p:nvSpPr>
          <p:cNvPr id="7" name="TextBox 6"/>
          <p:cNvSpPr txBox="1"/>
          <p:nvPr/>
        </p:nvSpPr>
        <p:spPr>
          <a:xfrm>
            <a:off x="548640" y="3017520"/>
            <a:ext cx="5212080" cy="457200"/>
          </a:xfrm>
          <a:prstGeom prst="rect">
            <a:avLst/>
          </a:prstGeom>
          <a:noFill/>
        </p:spPr>
        <p:txBody>
          <a:bodyPr wrap="square" anchor="t" lIns="0" rIns="0" tIns="0" bIns="0"/>
          <a:lstStyle/>
          <a:p>
            <a:pPr algn="l">
              <a:spcAft>
                <a:spcPts val="400"/>
              </a:spcAft>
            </a:pPr>
            <a:r>
              <a:rPr sz="1800" b="0" i="0">
                <a:solidFill>
                  <a:srgbClr val="23272B"/>
                </a:solidFill>
                <a:latin typeface="Arial"/>
              </a:rPr>
              <a:t>Questions &amp; discussion</a:t>
            </a:r>
          </a:p>
        </p:txBody>
      </p:sp>
      <p:sp>
        <p:nvSpPr>
          <p:cNvPr id="8" name="Rectangle 7"/>
          <p:cNvSpPr/>
          <p:nvPr/>
        </p:nvSpPr>
        <p:spPr>
          <a:xfrm>
            <a:off x="6035040" y="1600200"/>
            <a:ext cx="3108960" cy="2971800"/>
          </a:xfrm>
          <a:prstGeom prst="rect">
            <a:avLst/>
          </a:prstGeom>
          <a:solidFill>
            <a:srgbClr val="23272B"/>
          </a:solidFill>
          <a:ln>
            <a:noFill/>
          </a:ln>
        </p:spPr>
        <p:txBody>
          <a:bodyPr rtlCol="0" anchor="ctr" wrap="square" lIns="54864" rIns="54864" tIns="54864" bIns="54864"/>
          <a:lstStyle/>
          <a:p>
            <a:pPr algn="ctr"/>
          </a:p>
        </p:txBody>
      </p:sp>
      <p:pic>
        <p:nvPicPr>
          <p:cNvPr id="9" name="Picture 8" descr="water_va.png"/>
          <p:cNvPicPr>
            <a:picLocks noChangeAspect="1"/>
          </p:cNvPicPr>
          <p:nvPr/>
        </p:nvPicPr>
        <p:blipFill>
          <a:blip r:embed="rId4"/>
          <a:stretch>
            <a:fillRect/>
          </a:stretch>
        </p:blipFill>
        <p:spPr>
          <a:xfrm>
            <a:off x="6601968" y="1965960"/>
            <a:ext cx="603504" cy="603504"/>
          </a:xfrm>
          <a:prstGeom prst="rect">
            <a:avLst/>
          </a:prstGeom>
        </p:spPr>
      </p:pic>
      <p:sp>
        <p:nvSpPr>
          <p:cNvPr id="10" name="TextBox 9"/>
          <p:cNvSpPr txBox="1"/>
          <p:nvPr/>
        </p:nvSpPr>
        <p:spPr>
          <a:xfrm>
            <a:off x="6263640" y="2624328"/>
            <a:ext cx="1280160" cy="274320"/>
          </a:xfrm>
          <a:prstGeom prst="rect">
            <a:avLst/>
          </a:prstGeom>
          <a:noFill/>
        </p:spPr>
        <p:txBody>
          <a:bodyPr wrap="square" anchor="t" lIns="0" rIns="0" tIns="0" bIns="0"/>
          <a:lstStyle/>
          <a:p>
            <a:pPr algn="ctr">
              <a:spcAft>
                <a:spcPts val="400"/>
              </a:spcAft>
            </a:pPr>
            <a:r>
              <a:rPr sz="1100" b="1" i="0">
                <a:solidFill>
                  <a:srgbClr val="FFFFFF"/>
                </a:solidFill>
                <a:latin typeface="Arial"/>
              </a:rPr>
              <a:t>Flood</a:t>
            </a:r>
          </a:p>
        </p:txBody>
      </p:sp>
      <p:pic>
        <p:nvPicPr>
          <p:cNvPr id="11" name="Picture 10" descr="fire_va.png"/>
          <p:cNvPicPr>
            <a:picLocks noChangeAspect="1"/>
          </p:cNvPicPr>
          <p:nvPr/>
        </p:nvPicPr>
        <p:blipFill>
          <a:blip r:embed="rId5"/>
          <a:stretch>
            <a:fillRect/>
          </a:stretch>
        </p:blipFill>
        <p:spPr>
          <a:xfrm>
            <a:off x="7973568" y="1965960"/>
            <a:ext cx="603504" cy="603504"/>
          </a:xfrm>
          <a:prstGeom prst="rect">
            <a:avLst/>
          </a:prstGeom>
        </p:spPr>
      </p:pic>
      <p:sp>
        <p:nvSpPr>
          <p:cNvPr id="12" name="TextBox 11"/>
          <p:cNvSpPr txBox="1"/>
          <p:nvPr/>
        </p:nvSpPr>
        <p:spPr>
          <a:xfrm>
            <a:off x="7635240" y="2624328"/>
            <a:ext cx="1280160" cy="274320"/>
          </a:xfrm>
          <a:prstGeom prst="rect">
            <a:avLst/>
          </a:prstGeom>
          <a:noFill/>
        </p:spPr>
        <p:txBody>
          <a:bodyPr wrap="square" anchor="t" lIns="0" rIns="0" tIns="0" bIns="0"/>
          <a:lstStyle/>
          <a:p>
            <a:pPr algn="ctr">
              <a:spcAft>
                <a:spcPts val="400"/>
              </a:spcAft>
            </a:pPr>
            <a:r>
              <a:rPr sz="1100" b="1" i="0">
                <a:solidFill>
                  <a:srgbClr val="FFFFFF"/>
                </a:solidFill>
                <a:latin typeface="Arial"/>
              </a:rPr>
              <a:t>Wildfire</a:t>
            </a:r>
          </a:p>
        </p:txBody>
      </p:sp>
      <p:pic>
        <p:nvPicPr>
          <p:cNvPr id="13" name="Picture 12" descr="quake_va.png"/>
          <p:cNvPicPr>
            <a:picLocks noChangeAspect="1"/>
          </p:cNvPicPr>
          <p:nvPr/>
        </p:nvPicPr>
        <p:blipFill>
          <a:blip r:embed="rId6"/>
          <a:stretch>
            <a:fillRect/>
          </a:stretch>
        </p:blipFill>
        <p:spPr>
          <a:xfrm>
            <a:off x="6601968" y="3291839"/>
            <a:ext cx="603504" cy="603504"/>
          </a:xfrm>
          <a:prstGeom prst="rect">
            <a:avLst/>
          </a:prstGeom>
        </p:spPr>
      </p:pic>
      <p:sp>
        <p:nvSpPr>
          <p:cNvPr id="14" name="TextBox 13"/>
          <p:cNvSpPr txBox="1"/>
          <p:nvPr/>
        </p:nvSpPr>
        <p:spPr>
          <a:xfrm>
            <a:off x="6263640" y="3950207"/>
            <a:ext cx="1280160" cy="274320"/>
          </a:xfrm>
          <a:prstGeom prst="rect">
            <a:avLst/>
          </a:prstGeom>
          <a:noFill/>
        </p:spPr>
        <p:txBody>
          <a:bodyPr wrap="square" anchor="t" lIns="0" rIns="0" tIns="0" bIns="0"/>
          <a:lstStyle/>
          <a:p>
            <a:pPr algn="ctr">
              <a:spcAft>
                <a:spcPts val="400"/>
              </a:spcAft>
            </a:pPr>
            <a:r>
              <a:rPr sz="1100" b="1" i="0">
                <a:solidFill>
                  <a:srgbClr val="FFFFFF"/>
                </a:solidFill>
                <a:latin typeface="Arial"/>
              </a:rPr>
              <a:t>Earthquake</a:t>
            </a:r>
          </a:p>
        </p:txBody>
      </p:sp>
      <p:pic>
        <p:nvPicPr>
          <p:cNvPr id="15" name="Picture 14" descr="cyclone_va.png"/>
          <p:cNvPicPr>
            <a:picLocks noChangeAspect="1"/>
          </p:cNvPicPr>
          <p:nvPr/>
        </p:nvPicPr>
        <p:blipFill>
          <a:blip r:embed="rId7"/>
          <a:stretch>
            <a:fillRect/>
          </a:stretch>
        </p:blipFill>
        <p:spPr>
          <a:xfrm>
            <a:off x="7973568" y="3291839"/>
            <a:ext cx="603504" cy="603504"/>
          </a:xfrm>
          <a:prstGeom prst="rect">
            <a:avLst/>
          </a:prstGeom>
        </p:spPr>
      </p:pic>
      <p:sp>
        <p:nvSpPr>
          <p:cNvPr id="16" name="TextBox 15"/>
          <p:cNvSpPr txBox="1"/>
          <p:nvPr/>
        </p:nvSpPr>
        <p:spPr>
          <a:xfrm>
            <a:off x="7635240" y="3950207"/>
            <a:ext cx="1280160" cy="274320"/>
          </a:xfrm>
          <a:prstGeom prst="rect">
            <a:avLst/>
          </a:prstGeom>
          <a:noFill/>
        </p:spPr>
        <p:txBody>
          <a:bodyPr wrap="square" anchor="t" lIns="0" rIns="0" tIns="0" bIns="0"/>
          <a:lstStyle/>
          <a:p>
            <a:pPr algn="ctr">
              <a:spcAft>
                <a:spcPts val="400"/>
              </a:spcAft>
            </a:pPr>
            <a:r>
              <a:rPr sz="1100" b="1" i="0">
                <a:solidFill>
                  <a:srgbClr val="FFFFFF"/>
                </a:solidFill>
                <a:latin typeface="Arial"/>
              </a:rPr>
              <a:t>Cyclone</a:t>
            </a:r>
          </a:p>
        </p:txBody>
      </p:sp>
      <p:sp>
        <p:nvSpPr>
          <p:cNvPr id="17" name="TextBox 16"/>
          <p:cNvSpPr txBox="1"/>
          <p:nvPr/>
        </p:nvSpPr>
        <p:spPr>
          <a:xfrm>
            <a:off x="548640" y="5029200"/>
            <a:ext cx="8046720" cy="411480"/>
          </a:xfrm>
          <a:prstGeom prst="rect">
            <a:avLst/>
          </a:prstGeom>
          <a:noFill/>
        </p:spPr>
        <p:txBody>
          <a:bodyPr wrap="square" anchor="t" lIns="0" rIns="0" tIns="0" bIns="0"/>
          <a:lstStyle/>
          <a:p>
            <a:pPr algn="l">
              <a:spcAft>
                <a:spcPts val="400"/>
              </a:spcAft>
            </a:pPr>
            <a:r>
              <a:rPr sz="2000" b="1" i="0">
                <a:solidFill>
                  <a:srgbClr val="23272B"/>
                </a:solidFill>
                <a:latin typeface="Arial"/>
              </a:rPr>
              <a:t>Vedika Dandade   |   Roll No. B344</a:t>
            </a:r>
          </a:p>
        </p:txBody>
      </p:sp>
      <p:sp>
        <p:nvSpPr>
          <p:cNvPr id="18" name="TextBox 17"/>
          <p:cNvSpPr txBox="1"/>
          <p:nvPr/>
        </p:nvSpPr>
        <p:spPr>
          <a:xfrm>
            <a:off x="548640" y="5486400"/>
            <a:ext cx="8046720" cy="320040"/>
          </a:xfrm>
          <a:prstGeom prst="rect">
            <a:avLst/>
          </a:prstGeom>
          <a:noFill/>
        </p:spPr>
        <p:txBody>
          <a:bodyPr wrap="square" anchor="t" lIns="0" rIns="0" tIns="0" bIns="0"/>
          <a:lstStyle/>
          <a:p>
            <a:pPr algn="l">
              <a:spcAft>
                <a:spcPts val="400"/>
              </a:spcAft>
            </a:pPr>
            <a:r>
              <a:rPr sz="1250" b="0" i="0">
                <a:solidFill>
                  <a:srgbClr val="5F6B76"/>
                </a:solidFill>
                <a:latin typeface="Arial"/>
              </a:rPr>
              <a:t>Department of Computer Engineering, Bajaj Institute of Technology, Wardha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Median</Template>
  <TotalTime>17307</TotalTime>
  <Words>822</Words>
  <Application>Microsoft Office PowerPoint</Application>
  <PresentationFormat>On-screen Show (4:3)</PresentationFormat>
  <Paragraphs>87</Paragraphs>
  <Slides>16</Slides>
  <Notes>1</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16</vt:i4>
      </vt:variant>
    </vt:vector>
  </HeadingPairs>
  <TitlesOfParts>
    <vt:vector size="21" baseType="lpstr">
      <vt:lpstr>Arial</vt:lpstr>
      <vt:lpstr>Calibri</vt:lpstr>
      <vt:lpstr>Times New Roman</vt:lpstr>
      <vt:lpstr>Office Theme</vt:lpstr>
      <vt:lpstr>2_Office Theme</vt:lpstr>
      <vt:lpstr>Points to Note</vt:lpstr>
      <vt:lpstr>PowerPoint Presentation</vt:lpstr>
      <vt:lpstr>Title   Delivered By:  Name of Student  Department of Computer Engineering Bajaj Institute of Technology, Wardha.  Under Supervision of:    Name of Faculty Designation of faculty  Computer Engineering Department, BIT, Wardha     </vt:lpstr>
      <vt:lpstr>Index</vt:lpstr>
      <vt:lpstr>PowerPoint Presentation</vt:lpstr>
      <vt:lpstr>Objective </vt:lpstr>
      <vt:lpstr> Literature Review </vt:lpstr>
      <vt:lpstr>PowerPoint Presentation</vt:lpstr>
      <vt:lpstr> Baseline Papers Selected for Seminar Work </vt:lpstr>
      <vt:lpstr>System architecture/Algorithms Studied</vt:lpstr>
      <vt:lpstr>Features/Advantages/Disadvantages </vt:lpstr>
      <vt:lpstr>Applications </vt:lpstr>
      <vt:lpstr>Analysis/Comparison </vt:lpstr>
      <vt:lpstr>Conclusion </vt:lpstr>
      <vt:lpstr>References </vt:lpstr>
      <vt:lpstr>References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Kevin Hickey</dc:creator>
  <cp:lastModifiedBy>Gajanan Tikhe</cp:lastModifiedBy>
  <cp:revision>764</cp:revision>
  <dcterms:created xsi:type="dcterms:W3CDTF">2010-06-24T14:41:07Z</dcterms:created>
  <dcterms:modified xsi:type="dcterms:W3CDTF">2026-09-05T04:49:03Z</dcterms:modified>
</cp:coreProperties>
</file>