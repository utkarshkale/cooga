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4" r:id="rId1"/>
    <p:sldMasterId id="2147483804" r:id="rId2"/>
  </p:sldMasterIdLst>
  <p:notesMasterIdLst>
    <p:notesMasterId r:id="rId19"/>
  </p:notesMasterIdLst>
  <p:handoutMasterIdLst>
    <p:handoutMasterId r:id="rId20"/>
  </p:handout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5"/>
    <p:sldId id="273" r:id="rId26"/>
    <p:sldId id="274" r:id="rId2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CFEA"/>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7" autoAdjust="0"/>
    <p:restoredTop sz="94624" autoAdjust="0"/>
  </p:normalViewPr>
  <p:slideViewPr>
    <p:cSldViewPr>
      <p:cViewPr varScale="1">
        <p:scale>
          <a:sx n="65" d="100"/>
          <a:sy n="65" d="100"/>
        </p:scale>
        <p:origin x="1554" y="78"/>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51B6C61-D26D-4CEA-A1F0-27D95809EFC3}" type="datetimeFigureOut">
              <a:rPr lang="en-US" smtClean="0"/>
              <a:pPr/>
              <a:t>9/5/2026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0F6C1F1A-88C9-4BF9-8699-F22C6D8974EF}" type="slidenum">
              <a:rPr lang="en-US" smtClean="0"/>
              <a:pPr/>
              <a:t>‹#›</a:t>
            </a:fld>
            <a:endParaRPr lang="en-US"/>
          </a:p>
        </p:txBody>
      </p:sp>
    </p:spTree>
    <p:extLst>
      <p:ext uri="{BB962C8B-B14F-4D97-AF65-F5344CB8AC3E}">
        <p14:creationId xmlns:p14="http://schemas.microsoft.com/office/powerpoint/2010/main" val="22679753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A13ADEF-1232-40E6-AA0C-2DC4E3D89003}" type="datetimeFigureOut">
              <a:rPr lang="en-GB" smtClean="0"/>
              <a:pPr/>
              <a:t>05/09/2026</a:t>
            </a:fld>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E5E719B-CAD1-4CDF-AC07-FD62E51C143C}" type="slidenum">
              <a:rPr lang="en-GB" smtClean="0"/>
              <a:pPr/>
              <a:t>‹#›</a:t>
            </a:fld>
            <a:endParaRPr lang="en-GB"/>
          </a:p>
        </p:txBody>
      </p:sp>
    </p:spTree>
    <p:extLst>
      <p:ext uri="{BB962C8B-B14F-4D97-AF65-F5344CB8AC3E}">
        <p14:creationId xmlns:p14="http://schemas.microsoft.com/office/powerpoint/2010/main" val="1751717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seminar topic is Agentic AI: autonomous agents built on large language models that can plan, reason, coordinate with other agents and execute tasks. I will cover how these systems work, the main algorithms, applications, and their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flow of the presentation, following the seminar 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LLM use is prompt-response: you ask, it answers once. Agentic AI turns the model into the brain of a loop: it breaks a goal into steps, calls tools such as web search or a code interpreter, stores what it learns, and checks its own output. The idea grew from reasoning techniques such as Chain-of-Thought and ReAct in 2022, to multi-agent frameworks in 2023-24, and now open protocols like MCP and A2A that let agents connect to tools and to each other.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seminar I aim to explain the internal architecture of an agent, compare ways of coordinating several agents, explain memory management, show real applications, and critically discuss the open challenges.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did not rely on a single paper. The IEEE ICOIN 2026 survey was my architectural starting point; I then used focused papers on memory, protocols, evaluation, security and multi-agent systems. The common message is that a strong model is not enough: how the agent is orchestrated, what it remembers, and how it is checked matter just as much.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each paper and what it contributes. The first five cover the overall architecture, taxonomy, software evolution, runtime framework and memory.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each paper and what it contributes. These five cover protocols, security, fuzzing, grounded robotic planning and a comparison of agent frameworks.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selected the ICOIN 2026 survey as my primary baseline because it covers the full agent architecture. The taxonomy paper by Arunkumar, Gangadharan and Buyya helped me classify agents and their failure modes, and the MCP/A2A paper explains the interoperability layer. Focused papers 4, 5 and 7 to 10 were then used for runtime, memory, security and multi-agent details.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overall architecture. The user gives a goal. The planner understands it, breaks it into subtasks and builds a task graph. A manager agent assigns subtasks to specialised worker agents - research, coding, testing and critique - which call external tools such as web search, code execution, APIs and files. A memory layer stores short-term, long-term and shared context. Finally the output goes through feedback and verification; if it fails, the system replans.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ReAct, proposed by Yao et al., is the core loop inside most agents. At each step the model first produces a Thought - its reasoning about what to do. It then picks an Action, usually a tool call, and reads the Observation that comes back. These are added to the history so the next step is better informed. The loop stops when the goal is met. The example shows the agent deciding it needs live data and calling a weather tool.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complex goals, the planner asks the LLM for a plan and decomposes it into subtasks with dependencies - a task graph. Independent tasks such as the two searches run in parallel; dependent ones wait. Each subtask goes to a specialised agent and the manager combines the results. Agents can be coordinated centrally, hierarchically or in a decentralized way: centralized is simplest but creates a bottleneck, hierarchical scales better, decentralized is robust but harder to keep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work over long tasks, so the context window fills up. The memory algorithm combines recent interactions with relevant items retrieved from long-term storage such as a vector database; if the context is too long it summarises or prunes old items. AgeMem goes further by letting the agent learn these memory operations. On the right: MCP is a standard for connecting an agent to tools and data; A2A is a standard for agents talking to other agents. Together they make large agent systems interoperable.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features are autonomy, planning, tool use, memory and reflection. The advantages follow: agents handle complex workflows, specialise and parallelise, and use live data. The disadvantages are important: one wrong step can cascade, external content can inject malicious instructions, multi-agent systems use many model calls so they are costly, and reliable evaluation is still an open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AI is already used in software engineering, where agents write and test code; in research, where Anthropic describes an orchestrator that runs several search agents in parallel; in cybersecurity for vulnerability discovery; in industrial robotics for long-horizon planning such as GLaMP; and in business and personal productivity.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three levels: a single LLM is cheap but cannot act; a single agent with ReAct and tools handles multi-step tasks; a multi-agent system handles large parallel work but costs more and can fail in coordination. The framework study compares CrewAI, AutoGen and LangChain and proposes a hybrid; its numbers apply to its own benchmark. The practical rule is to start simple.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agentic AI is a shift from prompt-response to goal-directed systems. Its building blocks are the ReAct loop, planning, memory and tools; multi-agent systems add specialisation. Future work is in learned memory, standard evaluation, security, and domain-specific agents. My main conclusion is that reliability comes from the whole system design, not just a bigger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IEEE format; numbers in square brackets on the slides point to this list.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continued. [11] is an industry engineering report, not a peer-reviewed paper.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C3A9361A-5752-4A3F-B317-24EB821E62FC}"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484ABE7-6F46-483A-A318-EB7CEB294141}"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5677C19-3876-44A2-A0CE-E292A435F0D3}"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B47744B-983E-408C-A292-CA00D1954083}"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83B162A-B07D-4289-86AD-0FFE81BAD1C7}" type="datetime1">
              <a:rPr lang="en-GB" smtClean="0"/>
              <a:t>05/09/2026</a:t>
            </a:fld>
            <a:endParaRPr lang="en-GB"/>
          </a:p>
        </p:txBody>
      </p:sp>
      <p:sp>
        <p:nvSpPr>
          <p:cNvPr id="8" name="Footer Placeholder 7"/>
          <p:cNvSpPr>
            <a:spLocks noGrp="1"/>
          </p:cNvSpPr>
          <p:nvPr>
            <p:ph type="ftr" sz="quarter" idx="11"/>
          </p:nvPr>
        </p:nvSpPr>
        <p:spPr/>
        <p:txBody>
          <a:bodyPr/>
          <a:lstStyle/>
          <a:p>
            <a:r>
              <a:rPr lang="en-GB"/>
              <a:t>1</a:t>
            </a:r>
          </a:p>
        </p:txBody>
      </p:sp>
      <p:sp>
        <p:nvSpPr>
          <p:cNvPr id="9" name="Slide Number Placeholder 8"/>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0661FC8-3BD0-4B3E-92B0-041560FB0C80}" type="datetime1">
              <a:rPr lang="en-GB" smtClean="0"/>
              <a:t>05/09/2026</a:t>
            </a:fld>
            <a:endParaRPr lang="en-GB"/>
          </a:p>
        </p:txBody>
      </p:sp>
      <p:sp>
        <p:nvSpPr>
          <p:cNvPr id="4" name="Footer Placeholder 3"/>
          <p:cNvSpPr>
            <a:spLocks noGrp="1"/>
          </p:cNvSpPr>
          <p:nvPr>
            <p:ph type="ftr" sz="quarter" idx="11"/>
          </p:nvPr>
        </p:nvSpPr>
        <p:spPr/>
        <p:txBody>
          <a:bodyPr/>
          <a:lstStyle/>
          <a:p>
            <a:r>
              <a:rPr lang="en-GB"/>
              <a:t>1</a:t>
            </a:r>
          </a:p>
        </p:txBody>
      </p:sp>
      <p:sp>
        <p:nvSpPr>
          <p:cNvPr id="5" name="Slide Number Placeholder 4"/>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402F35F-FAE8-42C5-8897-AB27EC360220}" type="datetime1">
              <a:rPr lang="en-GB" smtClean="0"/>
              <a:t>05/09/2026</a:t>
            </a:fld>
            <a:endParaRPr lang="en-GB"/>
          </a:p>
        </p:txBody>
      </p:sp>
      <p:sp>
        <p:nvSpPr>
          <p:cNvPr id="3" name="Footer Placeholder 2"/>
          <p:cNvSpPr>
            <a:spLocks noGrp="1"/>
          </p:cNvSpPr>
          <p:nvPr>
            <p:ph type="ftr" sz="quarter" idx="11"/>
          </p:nvPr>
        </p:nvSpPr>
        <p:spPr/>
        <p:txBody>
          <a:bodyPr/>
          <a:lstStyle/>
          <a:p>
            <a:r>
              <a:rPr lang="en-GB"/>
              <a:t>1</a:t>
            </a:r>
          </a:p>
        </p:txBody>
      </p:sp>
      <p:sp>
        <p:nvSpPr>
          <p:cNvPr id="4" name="Slide Number Placeholder 3"/>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047C1F6-3D22-4CB7-8FE7-C5A85987562C}"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7DA32B8-8311-4207-ADB6-15A12511FDD5}"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3FA4A5E-0E72-4911-9A6C-0A673FF39788}"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FDF5CE2-47B1-41AD-9B44-AEAA57961DF6}"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E6448341-C165-4832-A930-9C14941FE0C1}"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45333B3-7E08-4232-BF01-CEA4A255EC85}"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83250C1-0B22-40BA-8D3C-820F66690A62}"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66D7607-6B78-432E-ACEE-70CC6F79C167}"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CB2FA96-2CB9-4FF3-985F-7F96F41E8B43}" type="datetime1">
              <a:rPr lang="en-GB" smtClean="0"/>
              <a:t>05/09/2026</a:t>
            </a:fld>
            <a:endParaRPr lang="en-GB"/>
          </a:p>
        </p:txBody>
      </p:sp>
      <p:sp>
        <p:nvSpPr>
          <p:cNvPr id="8" name="Footer Placeholder 7"/>
          <p:cNvSpPr>
            <a:spLocks noGrp="1"/>
          </p:cNvSpPr>
          <p:nvPr>
            <p:ph type="ftr" sz="quarter" idx="11"/>
          </p:nvPr>
        </p:nvSpPr>
        <p:spPr/>
        <p:txBody>
          <a:bodyPr/>
          <a:lstStyle/>
          <a:p>
            <a:r>
              <a:rPr lang="en-GB"/>
              <a:t>1</a:t>
            </a:r>
          </a:p>
        </p:txBody>
      </p:sp>
      <p:sp>
        <p:nvSpPr>
          <p:cNvPr id="9" name="Slide Number Placeholder 8"/>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D8717EC-8CF9-4F7A-A293-4675CA811524}" type="datetime1">
              <a:rPr lang="en-GB" smtClean="0"/>
              <a:t>05/09/2026</a:t>
            </a:fld>
            <a:endParaRPr lang="en-GB"/>
          </a:p>
        </p:txBody>
      </p:sp>
      <p:sp>
        <p:nvSpPr>
          <p:cNvPr id="4" name="Footer Placeholder 3"/>
          <p:cNvSpPr>
            <a:spLocks noGrp="1"/>
          </p:cNvSpPr>
          <p:nvPr>
            <p:ph type="ftr" sz="quarter" idx="11"/>
          </p:nvPr>
        </p:nvSpPr>
        <p:spPr/>
        <p:txBody>
          <a:bodyPr/>
          <a:lstStyle/>
          <a:p>
            <a:r>
              <a:rPr lang="en-GB"/>
              <a:t>1</a:t>
            </a:r>
          </a:p>
        </p:txBody>
      </p:sp>
      <p:sp>
        <p:nvSpPr>
          <p:cNvPr id="5" name="Slide Number Placeholder 4"/>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A5CBD2-66C1-423B-A11A-13158259126E}" type="datetime1">
              <a:rPr lang="en-GB" smtClean="0"/>
              <a:t>05/09/2026</a:t>
            </a:fld>
            <a:endParaRPr lang="en-GB"/>
          </a:p>
        </p:txBody>
      </p:sp>
      <p:sp>
        <p:nvSpPr>
          <p:cNvPr id="3" name="Footer Placeholder 2"/>
          <p:cNvSpPr>
            <a:spLocks noGrp="1"/>
          </p:cNvSpPr>
          <p:nvPr>
            <p:ph type="ftr" sz="quarter" idx="11"/>
          </p:nvPr>
        </p:nvSpPr>
        <p:spPr/>
        <p:txBody>
          <a:bodyPr/>
          <a:lstStyle/>
          <a:p>
            <a:r>
              <a:rPr lang="en-GB"/>
              <a:t>1</a:t>
            </a:r>
          </a:p>
        </p:txBody>
      </p:sp>
      <p:sp>
        <p:nvSpPr>
          <p:cNvPr id="4" name="Slide Number Placeholder 3"/>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565167D-FA03-46DF-85C9-4E3D5ADDD51D}"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B327E4E-DF66-43CE-8D2C-97EC90D9C7A6}"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DF1A745-BAE3-4F75-B15E-70CC5EF55A39}"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73DBEF5-61E2-41D4-ADC0-52B6DDA9D0E3}"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860F32-3C46-499F-A5B1-466BADF91087}" type="datetime1">
              <a:rPr lang="en-GB" smtClean="0"/>
              <a:t>05/09/2026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C248AB-E565-412B-9D95-9B07D6A4F3F3}"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transition advClick="0" advTm="20000"/>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24274D-0DB2-4E56-B769-729881BF81BB}" type="datetime1">
              <a:rPr lang="en-GB" smtClean="0"/>
              <a:t>05/09/2026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C248AB-E565-412B-9D95-9B07D6A4F3F3}"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Lst>
  <p:transition advClick="0" advTm="20000"/>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8.png"/><Relationship Id="rId6" Type="http://schemas.openxmlformats.org/officeDocument/2006/relationships/image" Target="../media/image20.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6.png"/><Relationship Id="rId7" Type="http://schemas.openxmlformats.org/officeDocument/2006/relationships/image" Target="../media/image12.png"/><Relationship Id="rId8" Type="http://schemas.openxmlformats.org/officeDocument/2006/relationships/image" Target="../media/image26.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153A"/>
        </a:solidFill>
        <a:effectLst/>
      </p:bgPr>
    </p:bg>
    <p:spTree>
      <p:nvGrpSpPr>
        <p:cNvPr id="1" name=""/>
        <p:cNvGrpSpPr/>
        <p:nvPr/>
      </p:nvGrpSpPr>
      <p:grpSpPr/>
      <p:sp>
        <p:nvSpPr>
          <p:cNvPr id="2" name="Rectangle 1"/>
          <p:cNvSpPr/>
          <p:nvPr/>
        </p:nvSpPr>
        <p:spPr>
          <a:xfrm>
            <a:off x="0" y="0"/>
            <a:ext cx="9144000" cy="1371600"/>
          </a:xfrm>
          <a:prstGeom prst="rect">
            <a:avLst/>
          </a:prstGeom>
          <a:solidFill>
            <a:srgbClr val="FFFFFF"/>
          </a:solidFill>
          <a:ln>
            <a:noFill/>
          </a:ln>
        </p:spPr>
        <p:txBody>
          <a:bodyPr rtlCol="0" anchor="ctr" wrap="square" lIns="54864" rIns="54864" tIns="54864" bIns="54864"/>
          <a:lstStyle/>
          <a:p>
            <a:pPr algn="ctr"/>
          </a:p>
        </p:txBody>
      </p:sp>
      <p:pic>
        <p:nvPicPr>
          <p:cNvPr id="3" name="Picture 2" descr="image.jpg"/>
          <p:cNvPicPr>
            <a:picLocks noChangeAspect="1"/>
          </p:cNvPicPr>
          <p:nvPr/>
        </p:nvPicPr>
        <p:blipFill>
          <a:blip r:embed="rId2"/>
          <a:stretch>
            <a:fillRect/>
          </a:stretch>
        </p:blipFill>
        <p:spPr>
          <a:xfrm>
            <a:off x="320040" y="182880"/>
            <a:ext cx="1280160" cy="964171"/>
          </a:xfrm>
          <a:prstGeom prst="rect">
            <a:avLst/>
          </a:prstGeom>
        </p:spPr>
      </p:pic>
      <p:pic>
        <p:nvPicPr>
          <p:cNvPr id="4" name="Picture 3" descr="image.png"/>
          <p:cNvPicPr>
            <a:picLocks noChangeAspect="1"/>
          </p:cNvPicPr>
          <p:nvPr/>
        </p:nvPicPr>
        <p:blipFill>
          <a:blip r:embed="rId3"/>
          <a:srcRect l="11745" r="3185"/>
          <a:stretch>
            <a:fillRect/>
          </a:stretch>
        </p:blipFill>
        <p:spPr>
          <a:xfrm>
            <a:off x="1691640" y="155448"/>
            <a:ext cx="7178040" cy="1069848"/>
          </a:xfrm>
          <a:prstGeom prst="rect">
            <a:avLst/>
          </a:prstGeom>
        </p:spPr>
      </p:pic>
      <p:cxnSp>
        <p:nvCxnSpPr>
          <p:cNvPr id="5" name="Connector 4"/>
          <p:cNvCxnSpPr/>
          <p:nvPr/>
        </p:nvCxnSpPr>
        <p:spPr>
          <a:xfrm flipV="1">
            <a:off x="6629400" y="1874519"/>
            <a:ext cx="1280160" cy="182881"/>
          </a:xfrm>
          <a:prstGeom prst="line">
            <a:avLst/>
          </a:prstGeom>
          <a:ln w="15875">
            <a:solidFill>
              <a:srgbClr val="B4B0E6">
                <a:alpha val="45000"/>
              </a:srgbClr>
            </a:solidFill>
          </a:ln>
        </p:spPr>
      </p:cxnSp>
      <p:cxnSp>
        <p:nvCxnSpPr>
          <p:cNvPr id="6" name="Connector 5"/>
          <p:cNvCxnSpPr/>
          <p:nvPr/>
        </p:nvCxnSpPr>
        <p:spPr>
          <a:xfrm>
            <a:off x="6629400" y="2057400"/>
            <a:ext cx="685800" cy="914400"/>
          </a:xfrm>
          <a:prstGeom prst="line">
            <a:avLst/>
          </a:prstGeom>
          <a:ln w="15875">
            <a:solidFill>
              <a:srgbClr val="B4B0E6">
                <a:alpha val="45000"/>
              </a:srgbClr>
            </a:solidFill>
          </a:ln>
        </p:spPr>
      </p:cxnSp>
      <p:cxnSp>
        <p:nvCxnSpPr>
          <p:cNvPr id="7" name="Connector 6"/>
          <p:cNvCxnSpPr/>
          <p:nvPr/>
        </p:nvCxnSpPr>
        <p:spPr>
          <a:xfrm>
            <a:off x="7909560" y="1874519"/>
            <a:ext cx="594360" cy="822961"/>
          </a:xfrm>
          <a:prstGeom prst="line">
            <a:avLst/>
          </a:prstGeom>
          <a:ln w="15875">
            <a:solidFill>
              <a:srgbClr val="B4B0E6">
                <a:alpha val="45000"/>
              </a:srgbClr>
            </a:solidFill>
          </a:ln>
        </p:spPr>
      </p:cxnSp>
      <p:cxnSp>
        <p:nvCxnSpPr>
          <p:cNvPr id="8" name="Connector 7"/>
          <p:cNvCxnSpPr/>
          <p:nvPr/>
        </p:nvCxnSpPr>
        <p:spPr>
          <a:xfrm flipH="1">
            <a:off x="7315200" y="1874519"/>
            <a:ext cx="594360" cy="1097281"/>
          </a:xfrm>
          <a:prstGeom prst="line">
            <a:avLst/>
          </a:prstGeom>
          <a:ln w="15875">
            <a:solidFill>
              <a:srgbClr val="B4B0E6">
                <a:alpha val="45000"/>
              </a:srgbClr>
            </a:solidFill>
          </a:ln>
        </p:spPr>
      </p:cxnSp>
      <p:cxnSp>
        <p:nvCxnSpPr>
          <p:cNvPr id="9" name="Connector 8"/>
          <p:cNvCxnSpPr/>
          <p:nvPr/>
        </p:nvCxnSpPr>
        <p:spPr>
          <a:xfrm flipH="1">
            <a:off x="7863840" y="2697480"/>
            <a:ext cx="640080" cy="1097280"/>
          </a:xfrm>
          <a:prstGeom prst="line">
            <a:avLst/>
          </a:prstGeom>
          <a:ln w="15875">
            <a:solidFill>
              <a:srgbClr val="B4B0E6">
                <a:alpha val="45000"/>
              </a:srgbClr>
            </a:solidFill>
          </a:ln>
        </p:spPr>
      </p:cxnSp>
      <p:cxnSp>
        <p:nvCxnSpPr>
          <p:cNvPr id="10" name="Connector 9"/>
          <p:cNvCxnSpPr/>
          <p:nvPr/>
        </p:nvCxnSpPr>
        <p:spPr>
          <a:xfrm flipH="1">
            <a:off x="6446520" y="2971800"/>
            <a:ext cx="868680" cy="640080"/>
          </a:xfrm>
          <a:prstGeom prst="line">
            <a:avLst/>
          </a:prstGeom>
          <a:ln w="15875">
            <a:solidFill>
              <a:srgbClr val="B4B0E6">
                <a:alpha val="45000"/>
              </a:srgbClr>
            </a:solidFill>
          </a:ln>
        </p:spPr>
      </p:cxnSp>
      <p:cxnSp>
        <p:nvCxnSpPr>
          <p:cNvPr id="11" name="Connector 10"/>
          <p:cNvCxnSpPr/>
          <p:nvPr/>
        </p:nvCxnSpPr>
        <p:spPr>
          <a:xfrm>
            <a:off x="7315200" y="2971800"/>
            <a:ext cx="548640" cy="822960"/>
          </a:xfrm>
          <a:prstGeom prst="line">
            <a:avLst/>
          </a:prstGeom>
          <a:ln w="15875">
            <a:solidFill>
              <a:srgbClr val="B4B0E6">
                <a:alpha val="45000"/>
              </a:srgbClr>
            </a:solidFill>
          </a:ln>
        </p:spPr>
      </p:cxnSp>
      <p:cxnSp>
        <p:nvCxnSpPr>
          <p:cNvPr id="12" name="Connector 11"/>
          <p:cNvCxnSpPr/>
          <p:nvPr/>
        </p:nvCxnSpPr>
        <p:spPr>
          <a:xfrm>
            <a:off x="6446520" y="3611880"/>
            <a:ext cx="548640" cy="868680"/>
          </a:xfrm>
          <a:prstGeom prst="line">
            <a:avLst/>
          </a:prstGeom>
          <a:ln w="15875">
            <a:solidFill>
              <a:srgbClr val="B4B0E6">
                <a:alpha val="45000"/>
              </a:srgbClr>
            </a:solidFill>
          </a:ln>
        </p:spPr>
      </p:cxnSp>
      <p:cxnSp>
        <p:nvCxnSpPr>
          <p:cNvPr id="13" name="Connector 12"/>
          <p:cNvCxnSpPr/>
          <p:nvPr/>
        </p:nvCxnSpPr>
        <p:spPr>
          <a:xfrm>
            <a:off x="7863840" y="3794760"/>
            <a:ext cx="594360" cy="640080"/>
          </a:xfrm>
          <a:prstGeom prst="line">
            <a:avLst/>
          </a:prstGeom>
          <a:ln w="15875">
            <a:solidFill>
              <a:srgbClr val="B4B0E6">
                <a:alpha val="45000"/>
              </a:srgbClr>
            </a:solidFill>
          </a:ln>
        </p:spPr>
      </p:cxnSp>
      <p:cxnSp>
        <p:nvCxnSpPr>
          <p:cNvPr id="14" name="Connector 13"/>
          <p:cNvCxnSpPr/>
          <p:nvPr/>
        </p:nvCxnSpPr>
        <p:spPr>
          <a:xfrm flipH="1">
            <a:off x="6995160" y="3794760"/>
            <a:ext cx="868680" cy="685800"/>
          </a:xfrm>
          <a:prstGeom prst="line">
            <a:avLst/>
          </a:prstGeom>
          <a:ln w="15875">
            <a:solidFill>
              <a:srgbClr val="B4B0E6">
                <a:alpha val="45000"/>
              </a:srgbClr>
            </a:solidFill>
          </a:ln>
        </p:spPr>
      </p:cxnSp>
      <p:cxnSp>
        <p:nvCxnSpPr>
          <p:cNvPr id="15" name="Connector 14"/>
          <p:cNvCxnSpPr/>
          <p:nvPr/>
        </p:nvCxnSpPr>
        <p:spPr>
          <a:xfrm flipH="1">
            <a:off x="8458200" y="2697480"/>
            <a:ext cx="45720" cy="1737360"/>
          </a:xfrm>
          <a:prstGeom prst="line">
            <a:avLst/>
          </a:prstGeom>
          <a:ln w="15875">
            <a:solidFill>
              <a:srgbClr val="B4B0E6">
                <a:alpha val="45000"/>
              </a:srgbClr>
            </a:solidFill>
          </a:ln>
        </p:spPr>
      </p:cxnSp>
      <p:cxnSp>
        <p:nvCxnSpPr>
          <p:cNvPr id="16" name="Connector 15"/>
          <p:cNvCxnSpPr/>
          <p:nvPr/>
        </p:nvCxnSpPr>
        <p:spPr>
          <a:xfrm flipV="1">
            <a:off x="6263640" y="2057400"/>
            <a:ext cx="365760" cy="640080"/>
          </a:xfrm>
          <a:prstGeom prst="line">
            <a:avLst/>
          </a:prstGeom>
          <a:ln w="15875">
            <a:solidFill>
              <a:srgbClr val="B4B0E6">
                <a:alpha val="45000"/>
              </a:srgbClr>
            </a:solidFill>
          </a:ln>
        </p:spPr>
      </p:cxnSp>
      <p:cxnSp>
        <p:nvCxnSpPr>
          <p:cNvPr id="17" name="Connector 16"/>
          <p:cNvCxnSpPr/>
          <p:nvPr/>
        </p:nvCxnSpPr>
        <p:spPr>
          <a:xfrm>
            <a:off x="6263640" y="2697480"/>
            <a:ext cx="182880" cy="914400"/>
          </a:xfrm>
          <a:prstGeom prst="line">
            <a:avLst/>
          </a:prstGeom>
          <a:ln w="15875">
            <a:solidFill>
              <a:srgbClr val="B4B0E6">
                <a:alpha val="45000"/>
              </a:srgbClr>
            </a:solidFill>
          </a:ln>
        </p:spPr>
      </p:cxnSp>
      <p:sp>
        <p:nvSpPr>
          <p:cNvPr id="18" name="Oval 17"/>
          <p:cNvSpPr/>
          <p:nvPr/>
        </p:nvSpPr>
        <p:spPr>
          <a:xfrm>
            <a:off x="6510528" y="1938528"/>
            <a:ext cx="237744" cy="237744"/>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19" name="Oval 18"/>
          <p:cNvSpPr/>
          <p:nvPr/>
        </p:nvSpPr>
        <p:spPr>
          <a:xfrm>
            <a:off x="7818120" y="1783079"/>
            <a:ext cx="182880" cy="182880"/>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0" name="Oval 19"/>
          <p:cNvSpPr/>
          <p:nvPr/>
        </p:nvSpPr>
        <p:spPr>
          <a:xfrm>
            <a:off x="8366760" y="2560320"/>
            <a:ext cx="274320" cy="274320"/>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1" name="Oval 20"/>
          <p:cNvSpPr/>
          <p:nvPr/>
        </p:nvSpPr>
        <p:spPr>
          <a:xfrm>
            <a:off x="6978700" y="2635300"/>
            <a:ext cx="672998" cy="672998"/>
          </a:xfrm>
          <a:prstGeom prst="ellipse">
            <a:avLst/>
          </a:prstGeom>
          <a:solidFill>
            <a:srgbClr val="F2643D">
              <a:alpha val="25000"/>
            </a:srgbClr>
          </a:solidFill>
          <a:ln>
            <a:noFill/>
          </a:ln>
        </p:spPr>
        <p:txBody>
          <a:bodyPr rtlCol="0" anchor="ctr" wrap="square" lIns="54864" rIns="54864" tIns="54864" bIns="54864"/>
          <a:lstStyle/>
          <a:p>
            <a:pPr algn="ctr"/>
          </a:p>
        </p:txBody>
      </p:sp>
      <p:sp>
        <p:nvSpPr>
          <p:cNvPr id="22" name="Oval 21"/>
          <p:cNvSpPr/>
          <p:nvPr/>
        </p:nvSpPr>
        <p:spPr>
          <a:xfrm>
            <a:off x="7104888" y="2761488"/>
            <a:ext cx="420624" cy="420624"/>
          </a:xfrm>
          <a:prstGeom prst="ellipse">
            <a:avLst/>
          </a:prstGeom>
          <a:solidFill>
            <a:srgbClr val="F2643D"/>
          </a:solidFill>
          <a:ln>
            <a:noFill/>
          </a:ln>
        </p:spPr>
        <p:txBody>
          <a:bodyPr rtlCol="0" anchor="ctr" wrap="square" lIns="54864" rIns="54864" tIns="54864" bIns="54864"/>
          <a:lstStyle/>
          <a:p>
            <a:pPr algn="ctr"/>
          </a:p>
        </p:txBody>
      </p:sp>
      <p:sp>
        <p:nvSpPr>
          <p:cNvPr id="23" name="Oval 22"/>
          <p:cNvSpPr/>
          <p:nvPr/>
        </p:nvSpPr>
        <p:spPr>
          <a:xfrm>
            <a:off x="6345936" y="3511296"/>
            <a:ext cx="201168" cy="201168"/>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4" name="Oval 23"/>
          <p:cNvSpPr/>
          <p:nvPr/>
        </p:nvSpPr>
        <p:spPr>
          <a:xfrm>
            <a:off x="7726679" y="3657600"/>
            <a:ext cx="274320" cy="274320"/>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5" name="Oval 24"/>
          <p:cNvSpPr/>
          <p:nvPr/>
        </p:nvSpPr>
        <p:spPr>
          <a:xfrm>
            <a:off x="8366760" y="4343400"/>
            <a:ext cx="182880" cy="182880"/>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6" name="Oval 25"/>
          <p:cNvSpPr/>
          <p:nvPr/>
        </p:nvSpPr>
        <p:spPr>
          <a:xfrm>
            <a:off x="6867144" y="4352544"/>
            <a:ext cx="256032" cy="256032"/>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7" name="Oval 26"/>
          <p:cNvSpPr/>
          <p:nvPr/>
        </p:nvSpPr>
        <p:spPr>
          <a:xfrm>
            <a:off x="6190488" y="2624328"/>
            <a:ext cx="146304" cy="146304"/>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8" name="TextBox 27"/>
          <p:cNvSpPr txBox="1"/>
          <p:nvPr/>
        </p:nvSpPr>
        <p:spPr>
          <a:xfrm>
            <a:off x="548640" y="1828800"/>
            <a:ext cx="5943600" cy="274320"/>
          </a:xfrm>
          <a:prstGeom prst="rect">
            <a:avLst/>
          </a:prstGeom>
          <a:noFill/>
        </p:spPr>
        <p:txBody>
          <a:bodyPr wrap="square" anchor="t" lIns="0" rIns="0" tIns="0" bIns="0"/>
          <a:lstStyle/>
          <a:p>
            <a:pPr algn="l">
              <a:spcAft>
                <a:spcPts val="400"/>
              </a:spcAft>
            </a:pPr>
            <a:r>
              <a:rPr sz="1100" b="1" i="0" spc="200">
                <a:solidFill>
                  <a:srgbClr val="F2643D"/>
                </a:solidFill>
                <a:latin typeface="Calibri"/>
              </a:rPr>
              <a:t>SEMINAR-I  ·  2025–26</a:t>
            </a:r>
          </a:p>
        </p:txBody>
      </p:sp>
      <p:sp>
        <p:nvSpPr>
          <p:cNvPr id="29" name="TextBox 28"/>
          <p:cNvSpPr txBox="1"/>
          <p:nvPr/>
        </p:nvSpPr>
        <p:spPr>
          <a:xfrm>
            <a:off x="548640" y="2148840"/>
            <a:ext cx="5760720" cy="1645920"/>
          </a:xfrm>
          <a:prstGeom prst="rect">
            <a:avLst/>
          </a:prstGeom>
          <a:noFill/>
        </p:spPr>
        <p:txBody>
          <a:bodyPr wrap="square" anchor="t" lIns="0" rIns="0" tIns="0" bIns="0"/>
          <a:lstStyle/>
          <a:p>
            <a:pPr algn="l">
              <a:spcAft>
                <a:spcPts val="0"/>
              </a:spcAft>
            </a:pPr>
            <a:r>
              <a:rPr sz="4400" b="1" i="0">
                <a:solidFill>
                  <a:srgbClr val="FFFFFF"/>
                </a:solidFill>
                <a:latin typeface="Cambria"/>
              </a:rPr>
              <a:t>Agentic AI</a:t>
            </a:r>
          </a:p>
        </p:txBody>
      </p:sp>
      <p:sp>
        <p:nvSpPr>
          <p:cNvPr id="30" name="TextBox 29"/>
          <p:cNvSpPr txBox="1"/>
          <p:nvPr/>
        </p:nvSpPr>
        <p:spPr>
          <a:xfrm>
            <a:off x="548640" y="3154680"/>
            <a:ext cx="5394960" cy="1188720"/>
          </a:xfrm>
          <a:prstGeom prst="rect">
            <a:avLst/>
          </a:prstGeom>
          <a:noFill/>
        </p:spPr>
        <p:txBody>
          <a:bodyPr wrap="square" anchor="t" lIns="0" rIns="0" tIns="0" bIns="0"/>
          <a:lstStyle/>
          <a:p>
            <a:pPr algn="l">
              <a:spcAft>
                <a:spcPts val="400"/>
              </a:spcAft>
            </a:pPr>
            <a:r>
              <a:rPr sz="1700" b="0" i="1">
                <a:solidFill>
                  <a:srgbClr val="B4B0E6"/>
                </a:solidFill>
                <a:latin typeface="Cambria"/>
              </a:rPr>
              <a:t>Autonomous LLM agents for planning, reasoning, coordination and task execution</a:t>
            </a:r>
          </a:p>
        </p:txBody>
      </p:sp>
      <p:sp>
        <p:nvSpPr>
          <p:cNvPr id="31" name="TextBox 30"/>
          <p:cNvSpPr txBox="1"/>
          <p:nvPr/>
        </p:nvSpPr>
        <p:spPr>
          <a:xfrm>
            <a:off x="548640" y="4983480"/>
            <a:ext cx="3840480" cy="256032"/>
          </a:xfrm>
          <a:prstGeom prst="rect">
            <a:avLst/>
          </a:prstGeom>
          <a:noFill/>
        </p:spPr>
        <p:txBody>
          <a:bodyPr wrap="square" anchor="t" lIns="0" rIns="0" tIns="0" bIns="0"/>
          <a:lstStyle/>
          <a:p>
            <a:pPr algn="l">
              <a:spcAft>
                <a:spcPts val="400"/>
              </a:spcAft>
            </a:pPr>
            <a:r>
              <a:rPr sz="1000" b="1" i="0" spc="180">
                <a:solidFill>
                  <a:srgbClr val="F2643D"/>
                </a:solidFill>
                <a:latin typeface="Calibri"/>
              </a:rPr>
              <a:t>PRESENTED BY</a:t>
            </a:r>
          </a:p>
        </p:txBody>
      </p:sp>
      <p:sp>
        <p:nvSpPr>
          <p:cNvPr id="32" name="TextBox 31"/>
          <p:cNvSpPr txBox="1"/>
          <p:nvPr/>
        </p:nvSpPr>
        <p:spPr>
          <a:xfrm>
            <a:off x="548640" y="5257800"/>
            <a:ext cx="3840480" cy="411480"/>
          </a:xfrm>
          <a:prstGeom prst="rect">
            <a:avLst/>
          </a:prstGeom>
          <a:noFill/>
        </p:spPr>
        <p:txBody>
          <a:bodyPr wrap="square" anchor="t" lIns="0" rIns="0" tIns="0" bIns="0"/>
          <a:lstStyle/>
          <a:p>
            <a:pPr algn="l">
              <a:spcAft>
                <a:spcPts val="400"/>
              </a:spcAft>
            </a:pPr>
            <a:r>
              <a:rPr sz="1900" b="1" i="0">
                <a:solidFill>
                  <a:srgbClr val="FFFFFF"/>
                </a:solidFill>
                <a:latin typeface="Cambria"/>
              </a:rPr>
              <a:t>Utkarsh Kale</a:t>
            </a:r>
          </a:p>
        </p:txBody>
      </p:sp>
      <p:sp>
        <p:nvSpPr>
          <p:cNvPr id="33" name="TextBox 32"/>
          <p:cNvSpPr txBox="1"/>
          <p:nvPr/>
        </p:nvSpPr>
        <p:spPr>
          <a:xfrm>
            <a:off x="548640" y="5669280"/>
            <a:ext cx="3840480" cy="320040"/>
          </a:xfrm>
          <a:prstGeom prst="rect">
            <a:avLst/>
          </a:prstGeom>
          <a:noFill/>
        </p:spPr>
        <p:txBody>
          <a:bodyPr wrap="square" anchor="t" lIns="0" rIns="0" tIns="0" bIns="0"/>
          <a:lstStyle/>
          <a:p>
            <a:pPr algn="l">
              <a:spcAft>
                <a:spcPts val="400"/>
              </a:spcAft>
            </a:pPr>
            <a:r>
              <a:rPr sz="1200" b="0" i="0">
                <a:solidFill>
                  <a:srgbClr val="B4B0E6"/>
                </a:solidFill>
                <a:latin typeface="Calibri"/>
              </a:rPr>
              <a:t>Roll No. B342  ·  Third Year, Semester V</a:t>
            </a:r>
          </a:p>
        </p:txBody>
      </p:sp>
      <p:sp>
        <p:nvSpPr>
          <p:cNvPr id="34" name="TextBox 33"/>
          <p:cNvSpPr txBox="1"/>
          <p:nvPr/>
        </p:nvSpPr>
        <p:spPr>
          <a:xfrm>
            <a:off x="4572000" y="4983480"/>
            <a:ext cx="3840480" cy="256032"/>
          </a:xfrm>
          <a:prstGeom prst="rect">
            <a:avLst/>
          </a:prstGeom>
          <a:noFill/>
        </p:spPr>
        <p:txBody>
          <a:bodyPr wrap="square" anchor="t" lIns="0" rIns="0" tIns="0" bIns="0"/>
          <a:lstStyle/>
          <a:p>
            <a:pPr algn="l">
              <a:spcAft>
                <a:spcPts val="400"/>
              </a:spcAft>
            </a:pPr>
            <a:r>
              <a:rPr sz="1000" b="1" i="0" spc="180">
                <a:solidFill>
                  <a:srgbClr val="F2643D"/>
                </a:solidFill>
                <a:latin typeface="Calibri"/>
              </a:rPr>
              <a:t>UNDER THE GUIDANCE OF</a:t>
            </a:r>
          </a:p>
        </p:txBody>
      </p:sp>
      <p:sp>
        <p:nvSpPr>
          <p:cNvPr id="35" name="TextBox 34"/>
          <p:cNvSpPr txBox="1"/>
          <p:nvPr/>
        </p:nvSpPr>
        <p:spPr>
          <a:xfrm>
            <a:off x="4572000" y="5257800"/>
            <a:ext cx="3840480" cy="411480"/>
          </a:xfrm>
          <a:prstGeom prst="rect">
            <a:avLst/>
          </a:prstGeom>
          <a:noFill/>
        </p:spPr>
        <p:txBody>
          <a:bodyPr wrap="square" anchor="t" lIns="0" rIns="0" tIns="0" bIns="0"/>
          <a:lstStyle/>
          <a:p>
            <a:pPr algn="l">
              <a:spcAft>
                <a:spcPts val="400"/>
              </a:spcAft>
            </a:pPr>
            <a:r>
              <a:rPr sz="1900" b="1" i="0">
                <a:solidFill>
                  <a:srgbClr val="FFFFFF"/>
                </a:solidFill>
                <a:latin typeface="Cambria"/>
              </a:rPr>
              <a:t>Name of Faculty</a:t>
            </a:r>
          </a:p>
        </p:txBody>
      </p:sp>
      <p:sp>
        <p:nvSpPr>
          <p:cNvPr id="36" name="TextBox 35"/>
          <p:cNvSpPr txBox="1"/>
          <p:nvPr/>
        </p:nvSpPr>
        <p:spPr>
          <a:xfrm>
            <a:off x="4572000" y="5669280"/>
            <a:ext cx="3840480" cy="320040"/>
          </a:xfrm>
          <a:prstGeom prst="rect">
            <a:avLst/>
          </a:prstGeom>
          <a:noFill/>
        </p:spPr>
        <p:txBody>
          <a:bodyPr wrap="square" anchor="t" lIns="0" rIns="0" tIns="0" bIns="0"/>
          <a:lstStyle/>
          <a:p>
            <a:pPr algn="l">
              <a:spcAft>
                <a:spcPts val="400"/>
              </a:spcAft>
            </a:pPr>
            <a:r>
              <a:rPr sz="1200" b="0" i="0">
                <a:solidFill>
                  <a:srgbClr val="B4B0E6"/>
                </a:solidFill>
                <a:latin typeface="Calibri"/>
              </a:rPr>
              <a:t>Designation of faculty</a:t>
            </a:r>
          </a:p>
        </p:txBody>
      </p:sp>
      <p:sp>
        <p:nvSpPr>
          <p:cNvPr id="37" name="TextBox 36"/>
          <p:cNvSpPr txBox="1"/>
          <p:nvPr/>
        </p:nvSpPr>
        <p:spPr>
          <a:xfrm>
            <a:off x="548640" y="6355080"/>
            <a:ext cx="8046720" cy="274320"/>
          </a:xfrm>
          <a:prstGeom prst="rect">
            <a:avLst/>
          </a:prstGeom>
          <a:noFill/>
        </p:spPr>
        <p:txBody>
          <a:bodyPr wrap="square" anchor="t" lIns="0" rIns="0" tIns="0" bIns="0"/>
          <a:lstStyle/>
          <a:p>
            <a:pPr algn="l">
              <a:spcAft>
                <a:spcPts val="400"/>
              </a:spcAft>
            </a:pPr>
            <a:r>
              <a:rPr sz="1000" b="0" i="0">
                <a:solidFill>
                  <a:srgbClr val="B4B0E6"/>
                </a:solidFill>
                <a:latin typeface="Calibri"/>
              </a:rPr>
              <a:t>Department of Computer Engineering  ·  Bajaj Institute of Technology, Wardha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AGENDA</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What we will cover</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2</a:t>
            </a:fld>
          </a:p>
        </p:txBody>
      </p:sp>
      <p:sp>
        <p:nvSpPr>
          <p:cNvPr id="7" name="TextBox 6"/>
          <p:cNvSpPr txBox="1"/>
          <p:nvPr/>
        </p:nvSpPr>
        <p:spPr>
          <a:xfrm>
            <a:off x="548640" y="1600200"/>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01</a:t>
            </a:r>
          </a:p>
        </p:txBody>
      </p:sp>
      <p:sp>
        <p:nvSpPr>
          <p:cNvPr id="8" name="TextBox 7"/>
          <p:cNvSpPr txBox="1"/>
          <p:nvPr/>
        </p:nvSpPr>
        <p:spPr>
          <a:xfrm>
            <a:off x="1280160" y="1600200"/>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Introduction</a:t>
            </a:r>
          </a:p>
        </p:txBody>
      </p:sp>
      <p:cxnSp>
        <p:nvCxnSpPr>
          <p:cNvPr id="9" name="Connector 8"/>
          <p:cNvCxnSpPr/>
          <p:nvPr/>
        </p:nvCxnSpPr>
        <p:spPr>
          <a:xfrm>
            <a:off x="548640" y="2249424"/>
            <a:ext cx="3840480" cy="0"/>
          </a:xfrm>
          <a:prstGeom prst="line">
            <a:avLst/>
          </a:prstGeom>
          <a:ln w="9525">
            <a:solidFill>
              <a:srgbClr val="DCDAF0"/>
            </a:solidFill>
          </a:ln>
        </p:spPr>
      </p:cxnSp>
      <p:sp>
        <p:nvSpPr>
          <p:cNvPr id="10" name="TextBox 9"/>
          <p:cNvSpPr txBox="1"/>
          <p:nvPr/>
        </p:nvSpPr>
        <p:spPr>
          <a:xfrm>
            <a:off x="548640" y="2350008"/>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02</a:t>
            </a:r>
          </a:p>
        </p:txBody>
      </p:sp>
      <p:sp>
        <p:nvSpPr>
          <p:cNvPr id="11" name="TextBox 10"/>
          <p:cNvSpPr txBox="1"/>
          <p:nvPr/>
        </p:nvSpPr>
        <p:spPr>
          <a:xfrm>
            <a:off x="1280160" y="2350008"/>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Objectives</a:t>
            </a:r>
          </a:p>
        </p:txBody>
      </p:sp>
      <p:cxnSp>
        <p:nvCxnSpPr>
          <p:cNvPr id="12" name="Connector 11"/>
          <p:cNvCxnSpPr/>
          <p:nvPr/>
        </p:nvCxnSpPr>
        <p:spPr>
          <a:xfrm>
            <a:off x="548640" y="2999232"/>
            <a:ext cx="3840480" cy="0"/>
          </a:xfrm>
          <a:prstGeom prst="line">
            <a:avLst/>
          </a:prstGeom>
          <a:ln w="9525">
            <a:solidFill>
              <a:srgbClr val="DCDAF0"/>
            </a:solidFill>
          </a:ln>
        </p:spPr>
      </p:cxnSp>
      <p:sp>
        <p:nvSpPr>
          <p:cNvPr id="13" name="TextBox 12"/>
          <p:cNvSpPr txBox="1"/>
          <p:nvPr/>
        </p:nvSpPr>
        <p:spPr>
          <a:xfrm>
            <a:off x="548640" y="3099815"/>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03</a:t>
            </a:r>
          </a:p>
        </p:txBody>
      </p:sp>
      <p:sp>
        <p:nvSpPr>
          <p:cNvPr id="14" name="TextBox 13"/>
          <p:cNvSpPr txBox="1"/>
          <p:nvPr/>
        </p:nvSpPr>
        <p:spPr>
          <a:xfrm>
            <a:off x="1280160" y="3099815"/>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Literature review</a:t>
            </a:r>
          </a:p>
        </p:txBody>
      </p:sp>
      <p:cxnSp>
        <p:nvCxnSpPr>
          <p:cNvPr id="15" name="Connector 14"/>
          <p:cNvCxnSpPr/>
          <p:nvPr/>
        </p:nvCxnSpPr>
        <p:spPr>
          <a:xfrm>
            <a:off x="548640" y="3749039"/>
            <a:ext cx="3840480" cy="0"/>
          </a:xfrm>
          <a:prstGeom prst="line">
            <a:avLst/>
          </a:prstGeom>
          <a:ln w="9525">
            <a:solidFill>
              <a:srgbClr val="DCDAF0"/>
            </a:solidFill>
          </a:ln>
        </p:spPr>
      </p:cxnSp>
      <p:sp>
        <p:nvSpPr>
          <p:cNvPr id="16" name="TextBox 15"/>
          <p:cNvSpPr txBox="1"/>
          <p:nvPr/>
        </p:nvSpPr>
        <p:spPr>
          <a:xfrm>
            <a:off x="548640" y="3849624"/>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04</a:t>
            </a:r>
          </a:p>
        </p:txBody>
      </p:sp>
      <p:sp>
        <p:nvSpPr>
          <p:cNvPr id="17" name="TextBox 16"/>
          <p:cNvSpPr txBox="1"/>
          <p:nvPr/>
        </p:nvSpPr>
        <p:spPr>
          <a:xfrm>
            <a:off x="1280160" y="3849624"/>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Literature survey</a:t>
            </a:r>
          </a:p>
        </p:txBody>
      </p:sp>
      <p:cxnSp>
        <p:nvCxnSpPr>
          <p:cNvPr id="18" name="Connector 17"/>
          <p:cNvCxnSpPr/>
          <p:nvPr/>
        </p:nvCxnSpPr>
        <p:spPr>
          <a:xfrm>
            <a:off x="548640" y="4498848"/>
            <a:ext cx="3840480" cy="0"/>
          </a:xfrm>
          <a:prstGeom prst="line">
            <a:avLst/>
          </a:prstGeom>
          <a:ln w="9525">
            <a:solidFill>
              <a:srgbClr val="DCDAF0"/>
            </a:solidFill>
          </a:ln>
        </p:spPr>
      </p:cxnSp>
      <p:sp>
        <p:nvSpPr>
          <p:cNvPr id="19" name="TextBox 18"/>
          <p:cNvSpPr txBox="1"/>
          <p:nvPr/>
        </p:nvSpPr>
        <p:spPr>
          <a:xfrm>
            <a:off x="548640" y="4599431"/>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05</a:t>
            </a:r>
          </a:p>
        </p:txBody>
      </p:sp>
      <p:sp>
        <p:nvSpPr>
          <p:cNvPr id="20" name="TextBox 19"/>
          <p:cNvSpPr txBox="1"/>
          <p:nvPr/>
        </p:nvSpPr>
        <p:spPr>
          <a:xfrm>
            <a:off x="1280160" y="4599431"/>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Baseline papers</a:t>
            </a:r>
          </a:p>
        </p:txBody>
      </p:sp>
      <p:cxnSp>
        <p:nvCxnSpPr>
          <p:cNvPr id="21" name="Connector 20"/>
          <p:cNvCxnSpPr/>
          <p:nvPr/>
        </p:nvCxnSpPr>
        <p:spPr>
          <a:xfrm>
            <a:off x="548640" y="5248655"/>
            <a:ext cx="3840480" cy="0"/>
          </a:xfrm>
          <a:prstGeom prst="line">
            <a:avLst/>
          </a:prstGeom>
          <a:ln w="9525">
            <a:solidFill>
              <a:srgbClr val="DCDAF0"/>
            </a:solidFill>
          </a:ln>
        </p:spPr>
      </p:cxnSp>
      <p:sp>
        <p:nvSpPr>
          <p:cNvPr id="22" name="TextBox 21"/>
          <p:cNvSpPr txBox="1"/>
          <p:nvPr/>
        </p:nvSpPr>
        <p:spPr>
          <a:xfrm>
            <a:off x="548640" y="5349240"/>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06</a:t>
            </a:r>
          </a:p>
        </p:txBody>
      </p:sp>
      <p:sp>
        <p:nvSpPr>
          <p:cNvPr id="23" name="TextBox 22"/>
          <p:cNvSpPr txBox="1"/>
          <p:nvPr/>
        </p:nvSpPr>
        <p:spPr>
          <a:xfrm>
            <a:off x="1280160" y="5349240"/>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System architecture</a:t>
            </a:r>
          </a:p>
        </p:txBody>
      </p:sp>
      <p:sp>
        <p:nvSpPr>
          <p:cNvPr id="24" name="TextBox 23"/>
          <p:cNvSpPr txBox="1"/>
          <p:nvPr/>
        </p:nvSpPr>
        <p:spPr>
          <a:xfrm>
            <a:off x="4709159" y="1600200"/>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07</a:t>
            </a:r>
          </a:p>
        </p:txBody>
      </p:sp>
      <p:sp>
        <p:nvSpPr>
          <p:cNvPr id="25" name="TextBox 24"/>
          <p:cNvSpPr txBox="1"/>
          <p:nvPr/>
        </p:nvSpPr>
        <p:spPr>
          <a:xfrm>
            <a:off x="5440679" y="1600200"/>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Algorithms studied</a:t>
            </a:r>
          </a:p>
        </p:txBody>
      </p:sp>
      <p:cxnSp>
        <p:nvCxnSpPr>
          <p:cNvPr id="26" name="Connector 25"/>
          <p:cNvCxnSpPr/>
          <p:nvPr/>
        </p:nvCxnSpPr>
        <p:spPr>
          <a:xfrm>
            <a:off x="4709159" y="2249424"/>
            <a:ext cx="3840481" cy="0"/>
          </a:xfrm>
          <a:prstGeom prst="line">
            <a:avLst/>
          </a:prstGeom>
          <a:ln w="9525">
            <a:solidFill>
              <a:srgbClr val="DCDAF0"/>
            </a:solidFill>
          </a:ln>
        </p:spPr>
      </p:cxnSp>
      <p:sp>
        <p:nvSpPr>
          <p:cNvPr id="27" name="TextBox 26"/>
          <p:cNvSpPr txBox="1"/>
          <p:nvPr/>
        </p:nvSpPr>
        <p:spPr>
          <a:xfrm>
            <a:off x="4709159" y="2350008"/>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08</a:t>
            </a:r>
          </a:p>
        </p:txBody>
      </p:sp>
      <p:sp>
        <p:nvSpPr>
          <p:cNvPr id="28" name="TextBox 27"/>
          <p:cNvSpPr txBox="1"/>
          <p:nvPr/>
        </p:nvSpPr>
        <p:spPr>
          <a:xfrm>
            <a:off x="5440679" y="2350008"/>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Features &amp; trade-offs</a:t>
            </a:r>
          </a:p>
        </p:txBody>
      </p:sp>
      <p:cxnSp>
        <p:nvCxnSpPr>
          <p:cNvPr id="29" name="Connector 28"/>
          <p:cNvCxnSpPr/>
          <p:nvPr/>
        </p:nvCxnSpPr>
        <p:spPr>
          <a:xfrm>
            <a:off x="4709159" y="2999232"/>
            <a:ext cx="3840481" cy="0"/>
          </a:xfrm>
          <a:prstGeom prst="line">
            <a:avLst/>
          </a:prstGeom>
          <a:ln w="9525">
            <a:solidFill>
              <a:srgbClr val="DCDAF0"/>
            </a:solidFill>
          </a:ln>
        </p:spPr>
      </p:cxnSp>
      <p:sp>
        <p:nvSpPr>
          <p:cNvPr id="30" name="TextBox 29"/>
          <p:cNvSpPr txBox="1"/>
          <p:nvPr/>
        </p:nvSpPr>
        <p:spPr>
          <a:xfrm>
            <a:off x="4709159" y="3099815"/>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09</a:t>
            </a:r>
          </a:p>
        </p:txBody>
      </p:sp>
      <p:sp>
        <p:nvSpPr>
          <p:cNvPr id="31" name="TextBox 30"/>
          <p:cNvSpPr txBox="1"/>
          <p:nvPr/>
        </p:nvSpPr>
        <p:spPr>
          <a:xfrm>
            <a:off x="5440679" y="3099815"/>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Applications</a:t>
            </a:r>
          </a:p>
        </p:txBody>
      </p:sp>
      <p:cxnSp>
        <p:nvCxnSpPr>
          <p:cNvPr id="32" name="Connector 31"/>
          <p:cNvCxnSpPr/>
          <p:nvPr/>
        </p:nvCxnSpPr>
        <p:spPr>
          <a:xfrm>
            <a:off x="4709159" y="3749039"/>
            <a:ext cx="3840481" cy="0"/>
          </a:xfrm>
          <a:prstGeom prst="line">
            <a:avLst/>
          </a:prstGeom>
          <a:ln w="9525">
            <a:solidFill>
              <a:srgbClr val="DCDAF0"/>
            </a:solidFill>
          </a:ln>
        </p:spPr>
      </p:cxnSp>
      <p:sp>
        <p:nvSpPr>
          <p:cNvPr id="33" name="TextBox 32"/>
          <p:cNvSpPr txBox="1"/>
          <p:nvPr/>
        </p:nvSpPr>
        <p:spPr>
          <a:xfrm>
            <a:off x="4709159" y="3849624"/>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10</a:t>
            </a:r>
          </a:p>
        </p:txBody>
      </p:sp>
      <p:sp>
        <p:nvSpPr>
          <p:cNvPr id="34" name="TextBox 33"/>
          <p:cNvSpPr txBox="1"/>
          <p:nvPr/>
        </p:nvSpPr>
        <p:spPr>
          <a:xfrm>
            <a:off x="5440679" y="3849624"/>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Analysis &amp; comparison</a:t>
            </a:r>
          </a:p>
        </p:txBody>
      </p:sp>
      <p:cxnSp>
        <p:nvCxnSpPr>
          <p:cNvPr id="35" name="Connector 34"/>
          <p:cNvCxnSpPr/>
          <p:nvPr/>
        </p:nvCxnSpPr>
        <p:spPr>
          <a:xfrm>
            <a:off x="4709159" y="4498848"/>
            <a:ext cx="3840481" cy="0"/>
          </a:xfrm>
          <a:prstGeom prst="line">
            <a:avLst/>
          </a:prstGeom>
          <a:ln w="9525">
            <a:solidFill>
              <a:srgbClr val="DCDAF0"/>
            </a:solidFill>
          </a:ln>
        </p:spPr>
      </p:cxnSp>
      <p:sp>
        <p:nvSpPr>
          <p:cNvPr id="36" name="TextBox 35"/>
          <p:cNvSpPr txBox="1"/>
          <p:nvPr/>
        </p:nvSpPr>
        <p:spPr>
          <a:xfrm>
            <a:off x="4709159" y="4599431"/>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11</a:t>
            </a:r>
          </a:p>
        </p:txBody>
      </p:sp>
      <p:sp>
        <p:nvSpPr>
          <p:cNvPr id="37" name="TextBox 36"/>
          <p:cNvSpPr txBox="1"/>
          <p:nvPr/>
        </p:nvSpPr>
        <p:spPr>
          <a:xfrm>
            <a:off x="5440679" y="4599431"/>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Conclusion &amp; future scope</a:t>
            </a:r>
          </a:p>
        </p:txBody>
      </p:sp>
      <p:cxnSp>
        <p:nvCxnSpPr>
          <p:cNvPr id="38" name="Connector 37"/>
          <p:cNvCxnSpPr/>
          <p:nvPr/>
        </p:nvCxnSpPr>
        <p:spPr>
          <a:xfrm>
            <a:off x="4709159" y="5248655"/>
            <a:ext cx="3840481" cy="0"/>
          </a:xfrm>
          <a:prstGeom prst="line">
            <a:avLst/>
          </a:prstGeom>
          <a:ln w="9525">
            <a:solidFill>
              <a:srgbClr val="DCDAF0"/>
            </a:solidFill>
          </a:ln>
        </p:spPr>
      </p:cxnSp>
      <p:sp>
        <p:nvSpPr>
          <p:cNvPr id="39" name="TextBox 38"/>
          <p:cNvSpPr txBox="1"/>
          <p:nvPr/>
        </p:nvSpPr>
        <p:spPr>
          <a:xfrm>
            <a:off x="4709159" y="5349240"/>
            <a:ext cx="685800" cy="548640"/>
          </a:xfrm>
          <a:prstGeom prst="rect">
            <a:avLst/>
          </a:prstGeom>
          <a:noFill/>
        </p:spPr>
        <p:txBody>
          <a:bodyPr wrap="square" anchor="ctr" lIns="0" rIns="0" tIns="0" bIns="0"/>
          <a:lstStyle/>
          <a:p>
            <a:pPr algn="l">
              <a:spcAft>
                <a:spcPts val="400"/>
              </a:spcAft>
            </a:pPr>
            <a:r>
              <a:rPr sz="2200" b="1" i="0">
                <a:solidFill>
                  <a:srgbClr val="5B4CDB"/>
                </a:solidFill>
                <a:latin typeface="Cambria"/>
              </a:rPr>
              <a:t>12</a:t>
            </a:r>
          </a:p>
        </p:txBody>
      </p:sp>
      <p:sp>
        <p:nvSpPr>
          <p:cNvPr id="40" name="TextBox 39"/>
          <p:cNvSpPr txBox="1"/>
          <p:nvPr/>
        </p:nvSpPr>
        <p:spPr>
          <a:xfrm>
            <a:off x="5440679" y="5349240"/>
            <a:ext cx="3200400" cy="548640"/>
          </a:xfrm>
          <a:prstGeom prst="rect">
            <a:avLst/>
          </a:prstGeom>
          <a:noFill/>
        </p:spPr>
        <p:txBody>
          <a:bodyPr wrap="square" anchor="ctr" lIns="0" rIns="0" tIns="0" bIns="0"/>
          <a:lstStyle/>
          <a:p>
            <a:pPr algn="l">
              <a:spcAft>
                <a:spcPts val="400"/>
              </a:spcAft>
            </a:pPr>
            <a:r>
              <a:rPr sz="1600" b="0" i="0">
                <a:solidFill>
                  <a:srgbClr val="1F1D33"/>
                </a:solidFill>
                <a:latin typeface="Calibri"/>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01  ·  INTRODUCTION</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From chatbots to autonomous agents</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3</a:t>
            </a:fld>
          </a:p>
        </p:txBody>
      </p:sp>
      <p:sp>
        <p:nvSpPr>
          <p:cNvPr id="7" name="Rounded Rectangle 6"/>
          <p:cNvSpPr/>
          <p:nvPr/>
        </p:nvSpPr>
        <p:spPr>
          <a:xfrm>
            <a:off x="685800" y="1481328"/>
            <a:ext cx="1024128" cy="566928"/>
          </a:xfrm>
          <a:prstGeom prst="roundRect">
            <a:avLst>
              <a:gd name="adj" fmla="val 50000"/>
            </a:avLst>
          </a:prstGeom>
          <a:solidFill>
            <a:srgbClr val="17153A"/>
          </a:solidFill>
          <a:ln>
            <a:noFill/>
          </a:ln>
        </p:spPr>
        <p:txBody>
          <a:bodyPr rtlCol="0" anchor="ctr" wrap="square" lIns="54864" rIns="54864" tIns="54864" bIns="54864"/>
          <a:lstStyle/>
          <a:p>
            <a:pPr algn="ctr">
              <a:spcAft>
                <a:spcPts val="0"/>
              </a:spcAft>
            </a:pPr>
            <a:r>
              <a:rPr sz="1500" b="1" i="0">
                <a:solidFill>
                  <a:srgbClr val="FFFFFF"/>
                </a:solidFill>
                <a:latin typeface="Calibri"/>
              </a:rPr>
              <a:t>LLM</a:t>
            </a:r>
          </a:p>
        </p:txBody>
      </p:sp>
      <p:sp>
        <p:nvSpPr>
          <p:cNvPr id="8" name="TextBox 7"/>
          <p:cNvSpPr txBox="1"/>
          <p:nvPr/>
        </p:nvSpPr>
        <p:spPr>
          <a:xfrm>
            <a:off x="1709928" y="1481328"/>
            <a:ext cx="292608" cy="566928"/>
          </a:xfrm>
          <a:prstGeom prst="rect">
            <a:avLst/>
          </a:prstGeom>
          <a:noFill/>
        </p:spPr>
        <p:txBody>
          <a:bodyPr wrap="square" anchor="ctr" lIns="0" rIns="0" tIns="0" bIns="0"/>
          <a:lstStyle/>
          <a:p>
            <a:pPr algn="ctr">
              <a:spcAft>
                <a:spcPts val="400"/>
              </a:spcAft>
            </a:pPr>
            <a:r>
              <a:rPr sz="2000" b="1" i="0">
                <a:solidFill>
                  <a:srgbClr val="6A6886"/>
                </a:solidFill>
                <a:latin typeface="Calibri"/>
              </a:rPr>
              <a:t>+</a:t>
            </a:r>
          </a:p>
        </p:txBody>
      </p:sp>
      <p:sp>
        <p:nvSpPr>
          <p:cNvPr id="9" name="Rounded Rectangle 8"/>
          <p:cNvSpPr/>
          <p:nvPr/>
        </p:nvSpPr>
        <p:spPr>
          <a:xfrm>
            <a:off x="2002536" y="1481328"/>
            <a:ext cx="1024128" cy="566928"/>
          </a:xfrm>
          <a:prstGeom prst="roundRect">
            <a:avLst>
              <a:gd name="adj" fmla="val 50000"/>
            </a:avLst>
          </a:prstGeom>
          <a:solidFill>
            <a:srgbClr val="EEEDFC"/>
          </a:solidFill>
          <a:ln>
            <a:noFill/>
          </a:ln>
        </p:spPr>
        <p:txBody>
          <a:bodyPr rtlCol="0" anchor="ctr" wrap="square" lIns="54864" rIns="54864" tIns="54864" bIns="54864"/>
          <a:lstStyle/>
          <a:p>
            <a:pPr algn="ctr">
              <a:spcAft>
                <a:spcPts val="0"/>
              </a:spcAft>
            </a:pPr>
            <a:r>
              <a:rPr sz="1500" b="1" i="0">
                <a:solidFill>
                  <a:srgbClr val="5B4CDB"/>
                </a:solidFill>
                <a:latin typeface="Calibri"/>
              </a:rPr>
              <a:t>Planning</a:t>
            </a:r>
          </a:p>
        </p:txBody>
      </p:sp>
      <p:sp>
        <p:nvSpPr>
          <p:cNvPr id="10" name="TextBox 9"/>
          <p:cNvSpPr txBox="1"/>
          <p:nvPr/>
        </p:nvSpPr>
        <p:spPr>
          <a:xfrm>
            <a:off x="3026664" y="1481328"/>
            <a:ext cx="292608" cy="566928"/>
          </a:xfrm>
          <a:prstGeom prst="rect">
            <a:avLst/>
          </a:prstGeom>
          <a:noFill/>
        </p:spPr>
        <p:txBody>
          <a:bodyPr wrap="square" anchor="ctr" lIns="0" rIns="0" tIns="0" bIns="0"/>
          <a:lstStyle/>
          <a:p>
            <a:pPr algn="ctr">
              <a:spcAft>
                <a:spcPts val="400"/>
              </a:spcAft>
            </a:pPr>
            <a:r>
              <a:rPr sz="2000" b="1" i="0">
                <a:solidFill>
                  <a:srgbClr val="6A6886"/>
                </a:solidFill>
                <a:latin typeface="Calibri"/>
              </a:rPr>
              <a:t>+</a:t>
            </a:r>
          </a:p>
        </p:txBody>
      </p:sp>
      <p:sp>
        <p:nvSpPr>
          <p:cNvPr id="11" name="Rounded Rectangle 10"/>
          <p:cNvSpPr/>
          <p:nvPr/>
        </p:nvSpPr>
        <p:spPr>
          <a:xfrm>
            <a:off x="3319272" y="1481328"/>
            <a:ext cx="1024128" cy="566928"/>
          </a:xfrm>
          <a:prstGeom prst="roundRect">
            <a:avLst>
              <a:gd name="adj" fmla="val 50000"/>
            </a:avLst>
          </a:prstGeom>
          <a:solidFill>
            <a:srgbClr val="EEEDFC"/>
          </a:solidFill>
          <a:ln>
            <a:noFill/>
          </a:ln>
        </p:spPr>
        <p:txBody>
          <a:bodyPr rtlCol="0" anchor="ctr" wrap="square" lIns="54864" rIns="54864" tIns="54864" bIns="54864"/>
          <a:lstStyle/>
          <a:p>
            <a:pPr algn="ctr">
              <a:spcAft>
                <a:spcPts val="0"/>
              </a:spcAft>
            </a:pPr>
            <a:r>
              <a:rPr sz="1500" b="1" i="0">
                <a:solidFill>
                  <a:srgbClr val="5B4CDB"/>
                </a:solidFill>
                <a:latin typeface="Calibri"/>
              </a:rPr>
              <a:t>Memory</a:t>
            </a:r>
          </a:p>
        </p:txBody>
      </p:sp>
      <p:sp>
        <p:nvSpPr>
          <p:cNvPr id="12" name="TextBox 11"/>
          <p:cNvSpPr txBox="1"/>
          <p:nvPr/>
        </p:nvSpPr>
        <p:spPr>
          <a:xfrm>
            <a:off x="4343400" y="1481328"/>
            <a:ext cx="292608" cy="566928"/>
          </a:xfrm>
          <a:prstGeom prst="rect">
            <a:avLst/>
          </a:prstGeom>
          <a:noFill/>
        </p:spPr>
        <p:txBody>
          <a:bodyPr wrap="square" anchor="ctr" lIns="0" rIns="0" tIns="0" bIns="0"/>
          <a:lstStyle/>
          <a:p>
            <a:pPr algn="ctr">
              <a:spcAft>
                <a:spcPts val="400"/>
              </a:spcAft>
            </a:pPr>
            <a:r>
              <a:rPr sz="2000" b="1" i="0">
                <a:solidFill>
                  <a:srgbClr val="6A6886"/>
                </a:solidFill>
                <a:latin typeface="Calibri"/>
              </a:rPr>
              <a:t>+</a:t>
            </a:r>
          </a:p>
        </p:txBody>
      </p:sp>
      <p:sp>
        <p:nvSpPr>
          <p:cNvPr id="13" name="Rounded Rectangle 12"/>
          <p:cNvSpPr/>
          <p:nvPr/>
        </p:nvSpPr>
        <p:spPr>
          <a:xfrm>
            <a:off x="4636008" y="1481328"/>
            <a:ext cx="1024128" cy="566928"/>
          </a:xfrm>
          <a:prstGeom prst="roundRect">
            <a:avLst>
              <a:gd name="adj" fmla="val 50000"/>
            </a:avLst>
          </a:prstGeom>
          <a:solidFill>
            <a:srgbClr val="EEEDFC"/>
          </a:solidFill>
          <a:ln>
            <a:noFill/>
          </a:ln>
        </p:spPr>
        <p:txBody>
          <a:bodyPr rtlCol="0" anchor="ctr" wrap="square" lIns="54864" rIns="54864" tIns="54864" bIns="54864"/>
          <a:lstStyle/>
          <a:p>
            <a:pPr algn="ctr">
              <a:spcAft>
                <a:spcPts val="0"/>
              </a:spcAft>
            </a:pPr>
            <a:r>
              <a:rPr sz="1500" b="1" i="0">
                <a:solidFill>
                  <a:srgbClr val="5B4CDB"/>
                </a:solidFill>
                <a:latin typeface="Calibri"/>
              </a:rPr>
              <a:t>Tools</a:t>
            </a:r>
          </a:p>
        </p:txBody>
      </p:sp>
      <p:sp>
        <p:nvSpPr>
          <p:cNvPr id="14" name="TextBox 13"/>
          <p:cNvSpPr txBox="1"/>
          <p:nvPr/>
        </p:nvSpPr>
        <p:spPr>
          <a:xfrm>
            <a:off x="5660136" y="1481328"/>
            <a:ext cx="292608" cy="566928"/>
          </a:xfrm>
          <a:prstGeom prst="rect">
            <a:avLst/>
          </a:prstGeom>
          <a:noFill/>
        </p:spPr>
        <p:txBody>
          <a:bodyPr wrap="square" anchor="ctr" lIns="0" rIns="0" tIns="0" bIns="0"/>
          <a:lstStyle/>
          <a:p>
            <a:pPr algn="ctr">
              <a:spcAft>
                <a:spcPts val="400"/>
              </a:spcAft>
            </a:pPr>
            <a:r>
              <a:rPr sz="2000" b="1" i="0">
                <a:solidFill>
                  <a:srgbClr val="6A6886"/>
                </a:solidFill>
                <a:latin typeface="Calibri"/>
              </a:rPr>
              <a:t>+</a:t>
            </a:r>
          </a:p>
        </p:txBody>
      </p:sp>
      <p:sp>
        <p:nvSpPr>
          <p:cNvPr id="15" name="Rounded Rectangle 14"/>
          <p:cNvSpPr/>
          <p:nvPr/>
        </p:nvSpPr>
        <p:spPr>
          <a:xfrm>
            <a:off x="5952744" y="1481328"/>
            <a:ext cx="1024128" cy="566928"/>
          </a:xfrm>
          <a:prstGeom prst="roundRect">
            <a:avLst>
              <a:gd name="adj" fmla="val 50000"/>
            </a:avLst>
          </a:prstGeom>
          <a:solidFill>
            <a:srgbClr val="EEEDFC"/>
          </a:solidFill>
          <a:ln>
            <a:noFill/>
          </a:ln>
        </p:spPr>
        <p:txBody>
          <a:bodyPr rtlCol="0" anchor="ctr" wrap="square" lIns="54864" rIns="54864" tIns="54864" bIns="54864"/>
          <a:lstStyle/>
          <a:p>
            <a:pPr algn="ctr">
              <a:spcAft>
                <a:spcPts val="0"/>
              </a:spcAft>
            </a:pPr>
            <a:r>
              <a:rPr sz="1500" b="1" i="0">
                <a:solidFill>
                  <a:srgbClr val="5B4CDB"/>
                </a:solidFill>
                <a:latin typeface="Calibri"/>
              </a:rPr>
              <a:t>Feedback</a:t>
            </a:r>
          </a:p>
        </p:txBody>
      </p:sp>
      <p:sp>
        <p:nvSpPr>
          <p:cNvPr id="16" name="TextBox 15"/>
          <p:cNvSpPr txBox="1"/>
          <p:nvPr/>
        </p:nvSpPr>
        <p:spPr>
          <a:xfrm>
            <a:off x="6976872" y="1481328"/>
            <a:ext cx="292608" cy="566928"/>
          </a:xfrm>
          <a:prstGeom prst="rect">
            <a:avLst/>
          </a:prstGeom>
          <a:noFill/>
        </p:spPr>
        <p:txBody>
          <a:bodyPr wrap="square" anchor="ctr" lIns="0" rIns="0" tIns="0" bIns="0"/>
          <a:lstStyle/>
          <a:p>
            <a:pPr algn="ctr">
              <a:spcAft>
                <a:spcPts val="400"/>
              </a:spcAft>
            </a:pPr>
            <a:r>
              <a:rPr sz="2000" b="1" i="0">
                <a:solidFill>
                  <a:srgbClr val="6A6886"/>
                </a:solidFill>
                <a:latin typeface="Calibri"/>
              </a:rPr>
              <a:t>=</a:t>
            </a:r>
          </a:p>
        </p:txBody>
      </p:sp>
      <p:sp>
        <p:nvSpPr>
          <p:cNvPr id="17" name="Rounded Rectangle 16"/>
          <p:cNvSpPr/>
          <p:nvPr/>
        </p:nvSpPr>
        <p:spPr>
          <a:xfrm>
            <a:off x="7269480" y="1481328"/>
            <a:ext cx="1024128" cy="566928"/>
          </a:xfrm>
          <a:prstGeom prst="roundRect">
            <a:avLst>
              <a:gd name="adj" fmla="val 50000"/>
            </a:avLst>
          </a:prstGeom>
          <a:solidFill>
            <a:srgbClr val="F2643D"/>
          </a:solidFill>
          <a:ln>
            <a:noFill/>
          </a:ln>
        </p:spPr>
        <p:txBody>
          <a:bodyPr rtlCol="0" anchor="ctr" wrap="square" lIns="54864" rIns="54864" tIns="54864" bIns="54864"/>
          <a:lstStyle/>
          <a:p>
            <a:pPr algn="ctr">
              <a:spcAft>
                <a:spcPts val="0"/>
              </a:spcAft>
            </a:pPr>
            <a:r>
              <a:rPr sz="1500" b="1" i="0">
                <a:solidFill>
                  <a:srgbClr val="FFFFFF"/>
                </a:solidFill>
                <a:latin typeface="Calibri"/>
              </a:rPr>
              <a:t>Agent</a:t>
            </a:r>
          </a:p>
        </p:txBody>
      </p:sp>
      <p:sp>
        <p:nvSpPr>
          <p:cNvPr id="18" name="TextBox 17"/>
          <p:cNvSpPr txBox="1"/>
          <p:nvPr/>
        </p:nvSpPr>
        <p:spPr>
          <a:xfrm>
            <a:off x="548640" y="2157984"/>
            <a:ext cx="8046720" cy="320040"/>
          </a:xfrm>
          <a:prstGeom prst="rect">
            <a:avLst/>
          </a:prstGeom>
          <a:noFill/>
        </p:spPr>
        <p:txBody>
          <a:bodyPr wrap="square" anchor="t" lIns="0" rIns="0" tIns="0" bIns="0"/>
          <a:lstStyle/>
          <a:p>
            <a:pPr algn="ctr">
              <a:spcAft>
                <a:spcPts val="400"/>
              </a:spcAft>
            </a:pPr>
            <a:r>
              <a:rPr sz="1300" b="0" i="1">
                <a:solidFill>
                  <a:srgbClr val="6A6886"/>
                </a:solidFill>
                <a:latin typeface="Calibri"/>
              </a:rPr>
              <a:t>An agent wraps a language model in a loop that plans, acts through tools, remembers and checks its own work [1], [2].</a:t>
            </a:r>
          </a:p>
        </p:txBody>
      </p:sp>
      <p:sp>
        <p:nvSpPr>
          <p:cNvPr id="19" name="TextBox 18"/>
          <p:cNvSpPr txBox="1"/>
          <p:nvPr/>
        </p:nvSpPr>
        <p:spPr>
          <a:xfrm>
            <a:off x="548640" y="2697480"/>
            <a:ext cx="4572000" cy="274320"/>
          </a:xfrm>
          <a:prstGeom prst="rect">
            <a:avLst/>
          </a:prstGeom>
          <a:noFill/>
        </p:spPr>
        <p:txBody>
          <a:bodyPr wrap="square" anchor="t" lIns="0" rIns="0" tIns="0" bIns="0"/>
          <a:lstStyle/>
          <a:p>
            <a:pPr algn="l">
              <a:spcAft>
                <a:spcPts val="400"/>
              </a:spcAft>
            </a:pPr>
            <a:r>
              <a:rPr sz="1000" b="1" i="0" spc="160">
                <a:solidFill>
                  <a:srgbClr val="5B4CDB"/>
                </a:solidFill>
                <a:latin typeface="Calibri"/>
              </a:rPr>
              <a:t>HOW WE GOT HERE</a:t>
            </a:r>
          </a:p>
        </p:txBody>
      </p:sp>
      <p:cxnSp>
        <p:nvCxnSpPr>
          <p:cNvPr id="20" name="Connector 19"/>
          <p:cNvCxnSpPr/>
          <p:nvPr/>
        </p:nvCxnSpPr>
        <p:spPr>
          <a:xfrm>
            <a:off x="731520" y="3401568"/>
            <a:ext cx="7680960" cy="0"/>
          </a:xfrm>
          <a:prstGeom prst="line">
            <a:avLst/>
          </a:prstGeom>
          <a:ln w="28575">
            <a:solidFill>
              <a:srgbClr val="DCDAF0"/>
            </a:solidFill>
          </a:ln>
        </p:spPr>
      </p:cxnSp>
      <p:sp>
        <p:nvSpPr>
          <p:cNvPr id="21" name="TextBox 20"/>
          <p:cNvSpPr txBox="1"/>
          <p:nvPr/>
        </p:nvSpPr>
        <p:spPr>
          <a:xfrm>
            <a:off x="411480" y="2971800"/>
            <a:ext cx="1554480" cy="292608"/>
          </a:xfrm>
          <a:prstGeom prst="rect">
            <a:avLst/>
          </a:prstGeom>
          <a:noFill/>
        </p:spPr>
        <p:txBody>
          <a:bodyPr wrap="square" anchor="t" lIns="0" rIns="0" tIns="0" bIns="0"/>
          <a:lstStyle/>
          <a:p>
            <a:pPr algn="ctr">
              <a:spcAft>
                <a:spcPts val="400"/>
              </a:spcAft>
            </a:pPr>
            <a:r>
              <a:rPr sz="1400" b="1" i="0">
                <a:solidFill>
                  <a:srgbClr val="5B4CDB"/>
                </a:solidFill>
                <a:latin typeface="Cambria"/>
              </a:rPr>
              <a:t>Pre-2020</a:t>
            </a:r>
          </a:p>
        </p:txBody>
      </p:sp>
      <p:sp>
        <p:nvSpPr>
          <p:cNvPr id="22" name="Oval 21"/>
          <p:cNvSpPr/>
          <p:nvPr/>
        </p:nvSpPr>
        <p:spPr>
          <a:xfrm>
            <a:off x="1088136" y="3300984"/>
            <a:ext cx="201168" cy="201168"/>
          </a:xfrm>
          <a:prstGeom prst="ellipse">
            <a:avLst/>
          </a:prstGeom>
          <a:solidFill>
            <a:srgbClr val="5B4CDB"/>
          </a:solidFill>
          <a:ln>
            <a:noFill/>
          </a:ln>
        </p:spPr>
        <p:txBody>
          <a:bodyPr rtlCol="0" anchor="ctr" wrap="square" lIns="54864" rIns="54864" tIns="54864" bIns="54864"/>
          <a:lstStyle/>
          <a:p>
            <a:pPr algn="ctr"/>
          </a:p>
        </p:txBody>
      </p:sp>
      <p:sp>
        <p:nvSpPr>
          <p:cNvPr id="23" name="TextBox 22"/>
          <p:cNvSpPr txBox="1"/>
          <p:nvPr/>
        </p:nvSpPr>
        <p:spPr>
          <a:xfrm>
            <a:off x="384048" y="3611880"/>
            <a:ext cx="1609344" cy="777240"/>
          </a:xfrm>
          <a:prstGeom prst="rect">
            <a:avLst/>
          </a:prstGeom>
          <a:noFill/>
        </p:spPr>
        <p:txBody>
          <a:bodyPr wrap="square" anchor="t" lIns="0" rIns="0" tIns="0" bIns="0"/>
          <a:lstStyle/>
          <a:p>
            <a:pPr algn="ctr">
              <a:spcAft>
                <a:spcPts val="400"/>
              </a:spcAft>
            </a:pPr>
            <a:r>
              <a:rPr sz="1200" b="0" i="0">
                <a:solidFill>
                  <a:srgbClr val="1F1D33"/>
                </a:solidFill>
                <a:latin typeface="Calibri"/>
              </a:rPr>
              <a:t>Rule-based and RL agents in narrow tasks</a:t>
            </a:r>
          </a:p>
        </p:txBody>
      </p:sp>
      <p:sp>
        <p:nvSpPr>
          <p:cNvPr id="24" name="TextBox 23"/>
          <p:cNvSpPr txBox="1"/>
          <p:nvPr/>
        </p:nvSpPr>
        <p:spPr>
          <a:xfrm>
            <a:off x="2103120" y="2971800"/>
            <a:ext cx="1554480" cy="292608"/>
          </a:xfrm>
          <a:prstGeom prst="rect">
            <a:avLst/>
          </a:prstGeom>
          <a:noFill/>
        </p:spPr>
        <p:txBody>
          <a:bodyPr wrap="square" anchor="t" lIns="0" rIns="0" tIns="0" bIns="0"/>
          <a:lstStyle/>
          <a:p>
            <a:pPr algn="ctr">
              <a:spcAft>
                <a:spcPts val="400"/>
              </a:spcAft>
            </a:pPr>
            <a:r>
              <a:rPr sz="1400" b="1" i="0">
                <a:solidFill>
                  <a:srgbClr val="5B4CDB"/>
                </a:solidFill>
                <a:latin typeface="Cambria"/>
              </a:rPr>
              <a:t>2020–22</a:t>
            </a:r>
          </a:p>
        </p:txBody>
      </p:sp>
      <p:sp>
        <p:nvSpPr>
          <p:cNvPr id="25" name="Oval 24"/>
          <p:cNvSpPr/>
          <p:nvPr/>
        </p:nvSpPr>
        <p:spPr>
          <a:xfrm>
            <a:off x="2779776" y="3300984"/>
            <a:ext cx="201168" cy="201168"/>
          </a:xfrm>
          <a:prstGeom prst="ellipse">
            <a:avLst/>
          </a:prstGeom>
          <a:solidFill>
            <a:srgbClr val="5B4CDB"/>
          </a:solidFill>
          <a:ln>
            <a:noFill/>
          </a:ln>
        </p:spPr>
        <p:txBody>
          <a:bodyPr rtlCol="0" anchor="ctr" wrap="square" lIns="54864" rIns="54864" tIns="54864" bIns="54864"/>
          <a:lstStyle/>
          <a:p>
            <a:pPr algn="ctr"/>
          </a:p>
        </p:txBody>
      </p:sp>
      <p:sp>
        <p:nvSpPr>
          <p:cNvPr id="26" name="TextBox 25"/>
          <p:cNvSpPr txBox="1"/>
          <p:nvPr/>
        </p:nvSpPr>
        <p:spPr>
          <a:xfrm>
            <a:off x="2075688" y="3611880"/>
            <a:ext cx="1609344" cy="777240"/>
          </a:xfrm>
          <a:prstGeom prst="rect">
            <a:avLst/>
          </a:prstGeom>
          <a:noFill/>
        </p:spPr>
        <p:txBody>
          <a:bodyPr wrap="square" anchor="t" lIns="0" rIns="0" tIns="0" bIns="0"/>
          <a:lstStyle/>
          <a:p>
            <a:pPr algn="ctr">
              <a:spcAft>
                <a:spcPts val="400"/>
              </a:spcAft>
            </a:pPr>
            <a:r>
              <a:rPr sz="1200" b="0" i="0">
                <a:solidFill>
                  <a:srgbClr val="1F1D33"/>
                </a:solidFill>
                <a:latin typeface="Calibri"/>
              </a:rPr>
              <a:t>LLMs as text generators (GPT-3, ChatGPT)</a:t>
            </a:r>
          </a:p>
        </p:txBody>
      </p:sp>
      <p:sp>
        <p:nvSpPr>
          <p:cNvPr id="27" name="TextBox 26"/>
          <p:cNvSpPr txBox="1"/>
          <p:nvPr/>
        </p:nvSpPr>
        <p:spPr>
          <a:xfrm>
            <a:off x="3794760" y="2971800"/>
            <a:ext cx="1554480" cy="292608"/>
          </a:xfrm>
          <a:prstGeom prst="rect">
            <a:avLst/>
          </a:prstGeom>
          <a:noFill/>
        </p:spPr>
        <p:txBody>
          <a:bodyPr wrap="square" anchor="t" lIns="0" rIns="0" tIns="0" bIns="0"/>
          <a:lstStyle/>
          <a:p>
            <a:pPr algn="ctr">
              <a:spcAft>
                <a:spcPts val="400"/>
              </a:spcAft>
            </a:pPr>
            <a:r>
              <a:rPr sz="1400" b="1" i="0">
                <a:solidFill>
                  <a:srgbClr val="5B4CDB"/>
                </a:solidFill>
                <a:latin typeface="Cambria"/>
              </a:rPr>
              <a:t>2022–23</a:t>
            </a:r>
          </a:p>
        </p:txBody>
      </p:sp>
      <p:sp>
        <p:nvSpPr>
          <p:cNvPr id="28" name="Oval 27"/>
          <p:cNvSpPr/>
          <p:nvPr/>
        </p:nvSpPr>
        <p:spPr>
          <a:xfrm>
            <a:off x="4471416" y="3300984"/>
            <a:ext cx="201168" cy="201168"/>
          </a:xfrm>
          <a:prstGeom prst="ellipse">
            <a:avLst/>
          </a:prstGeom>
          <a:solidFill>
            <a:srgbClr val="5B4CDB"/>
          </a:solidFill>
          <a:ln>
            <a:noFill/>
          </a:ln>
        </p:spPr>
        <p:txBody>
          <a:bodyPr rtlCol="0" anchor="ctr" wrap="square" lIns="54864" rIns="54864" tIns="54864" bIns="54864"/>
          <a:lstStyle/>
          <a:p>
            <a:pPr algn="ctr"/>
          </a:p>
        </p:txBody>
      </p:sp>
      <p:sp>
        <p:nvSpPr>
          <p:cNvPr id="29" name="TextBox 28"/>
          <p:cNvSpPr txBox="1"/>
          <p:nvPr/>
        </p:nvSpPr>
        <p:spPr>
          <a:xfrm>
            <a:off x="3767328" y="3611880"/>
            <a:ext cx="1609344" cy="777240"/>
          </a:xfrm>
          <a:prstGeom prst="rect">
            <a:avLst/>
          </a:prstGeom>
          <a:noFill/>
        </p:spPr>
        <p:txBody>
          <a:bodyPr wrap="square" anchor="t" lIns="0" rIns="0" tIns="0" bIns="0"/>
          <a:lstStyle/>
          <a:p>
            <a:pPr algn="ctr">
              <a:spcAft>
                <a:spcPts val="400"/>
              </a:spcAft>
            </a:pPr>
            <a:r>
              <a:rPr sz="1200" b="0" i="0">
                <a:solidFill>
                  <a:srgbClr val="1F1D33"/>
                </a:solidFill>
                <a:latin typeface="Calibri"/>
              </a:rPr>
              <a:t>Reasoning + tool use (Chain-of-Thought, ReAct [12])</a:t>
            </a:r>
          </a:p>
        </p:txBody>
      </p:sp>
      <p:sp>
        <p:nvSpPr>
          <p:cNvPr id="30" name="TextBox 29"/>
          <p:cNvSpPr txBox="1"/>
          <p:nvPr/>
        </p:nvSpPr>
        <p:spPr>
          <a:xfrm>
            <a:off x="5486400" y="2971800"/>
            <a:ext cx="1554480" cy="292608"/>
          </a:xfrm>
          <a:prstGeom prst="rect">
            <a:avLst/>
          </a:prstGeom>
          <a:noFill/>
        </p:spPr>
        <p:txBody>
          <a:bodyPr wrap="square" anchor="t" lIns="0" rIns="0" tIns="0" bIns="0"/>
          <a:lstStyle/>
          <a:p>
            <a:pPr algn="ctr">
              <a:spcAft>
                <a:spcPts val="400"/>
              </a:spcAft>
            </a:pPr>
            <a:r>
              <a:rPr sz="1400" b="1" i="0">
                <a:solidFill>
                  <a:srgbClr val="5B4CDB"/>
                </a:solidFill>
                <a:latin typeface="Cambria"/>
              </a:rPr>
              <a:t>2023–24</a:t>
            </a:r>
          </a:p>
        </p:txBody>
      </p:sp>
      <p:sp>
        <p:nvSpPr>
          <p:cNvPr id="31" name="Oval 30"/>
          <p:cNvSpPr/>
          <p:nvPr/>
        </p:nvSpPr>
        <p:spPr>
          <a:xfrm>
            <a:off x="6163056" y="3300984"/>
            <a:ext cx="201168" cy="201168"/>
          </a:xfrm>
          <a:prstGeom prst="ellipse">
            <a:avLst/>
          </a:prstGeom>
          <a:solidFill>
            <a:srgbClr val="5B4CDB"/>
          </a:solidFill>
          <a:ln>
            <a:noFill/>
          </a:ln>
        </p:spPr>
        <p:txBody>
          <a:bodyPr rtlCol="0" anchor="ctr" wrap="square" lIns="54864" rIns="54864" tIns="54864" bIns="54864"/>
          <a:lstStyle/>
          <a:p>
            <a:pPr algn="ctr"/>
          </a:p>
        </p:txBody>
      </p:sp>
      <p:sp>
        <p:nvSpPr>
          <p:cNvPr id="32" name="TextBox 31"/>
          <p:cNvSpPr txBox="1"/>
          <p:nvPr/>
        </p:nvSpPr>
        <p:spPr>
          <a:xfrm>
            <a:off x="5458968" y="3611880"/>
            <a:ext cx="1609344" cy="777240"/>
          </a:xfrm>
          <a:prstGeom prst="rect">
            <a:avLst/>
          </a:prstGeom>
          <a:noFill/>
        </p:spPr>
        <p:txBody>
          <a:bodyPr wrap="square" anchor="t" lIns="0" rIns="0" tIns="0" bIns="0"/>
          <a:lstStyle/>
          <a:p>
            <a:pPr algn="ctr">
              <a:spcAft>
                <a:spcPts val="400"/>
              </a:spcAft>
            </a:pPr>
            <a:r>
              <a:rPr sz="1200" b="0" i="0">
                <a:solidFill>
                  <a:srgbClr val="1F1D33"/>
                </a:solidFill>
                <a:latin typeface="Calibri"/>
              </a:rPr>
              <a:t>Multi-agent frameworks (AutoGen, CrewAI)</a:t>
            </a:r>
          </a:p>
        </p:txBody>
      </p:sp>
      <p:sp>
        <p:nvSpPr>
          <p:cNvPr id="33" name="TextBox 32"/>
          <p:cNvSpPr txBox="1"/>
          <p:nvPr/>
        </p:nvSpPr>
        <p:spPr>
          <a:xfrm>
            <a:off x="7178040" y="2971800"/>
            <a:ext cx="1554480" cy="292608"/>
          </a:xfrm>
          <a:prstGeom prst="rect">
            <a:avLst/>
          </a:prstGeom>
          <a:noFill/>
        </p:spPr>
        <p:txBody>
          <a:bodyPr wrap="square" anchor="t" lIns="0" rIns="0" tIns="0" bIns="0"/>
          <a:lstStyle/>
          <a:p>
            <a:pPr algn="ctr">
              <a:spcAft>
                <a:spcPts val="400"/>
              </a:spcAft>
            </a:pPr>
            <a:r>
              <a:rPr sz="1400" b="1" i="0">
                <a:solidFill>
                  <a:srgbClr val="F2643D"/>
                </a:solidFill>
                <a:latin typeface="Cambria"/>
              </a:rPr>
              <a:t>2024–26</a:t>
            </a:r>
          </a:p>
        </p:txBody>
      </p:sp>
      <p:sp>
        <p:nvSpPr>
          <p:cNvPr id="34" name="Oval 33"/>
          <p:cNvSpPr/>
          <p:nvPr/>
        </p:nvSpPr>
        <p:spPr>
          <a:xfrm>
            <a:off x="7854696" y="3300984"/>
            <a:ext cx="201168" cy="201168"/>
          </a:xfrm>
          <a:prstGeom prst="ellipse">
            <a:avLst/>
          </a:prstGeom>
          <a:solidFill>
            <a:srgbClr val="F2643D"/>
          </a:solidFill>
          <a:ln>
            <a:noFill/>
          </a:ln>
        </p:spPr>
        <p:txBody>
          <a:bodyPr rtlCol="0" anchor="ctr" wrap="square" lIns="54864" rIns="54864" tIns="54864" bIns="54864"/>
          <a:lstStyle/>
          <a:p>
            <a:pPr algn="ctr"/>
          </a:p>
        </p:txBody>
      </p:sp>
      <p:sp>
        <p:nvSpPr>
          <p:cNvPr id="35" name="TextBox 34"/>
          <p:cNvSpPr txBox="1"/>
          <p:nvPr/>
        </p:nvSpPr>
        <p:spPr>
          <a:xfrm>
            <a:off x="7150608" y="3611880"/>
            <a:ext cx="1609344" cy="777240"/>
          </a:xfrm>
          <a:prstGeom prst="rect">
            <a:avLst/>
          </a:prstGeom>
          <a:noFill/>
        </p:spPr>
        <p:txBody>
          <a:bodyPr wrap="square" anchor="t" lIns="0" rIns="0" tIns="0" bIns="0"/>
          <a:lstStyle/>
          <a:p>
            <a:pPr algn="ctr">
              <a:spcAft>
                <a:spcPts val="400"/>
              </a:spcAft>
            </a:pPr>
            <a:r>
              <a:rPr sz="1200" b="0" i="0">
                <a:solidFill>
                  <a:srgbClr val="1F1D33"/>
                </a:solidFill>
                <a:latin typeface="Calibri"/>
              </a:rPr>
              <a:t>Open protocols (MCP, A2A) and production agents [6]</a:t>
            </a:r>
          </a:p>
        </p:txBody>
      </p:sp>
      <p:sp>
        <p:nvSpPr>
          <p:cNvPr id="36" name="TextBox 35"/>
          <p:cNvSpPr txBox="1"/>
          <p:nvPr/>
        </p:nvSpPr>
        <p:spPr>
          <a:xfrm>
            <a:off x="548640" y="4526280"/>
            <a:ext cx="4572000" cy="274320"/>
          </a:xfrm>
          <a:prstGeom prst="rect">
            <a:avLst/>
          </a:prstGeom>
          <a:noFill/>
        </p:spPr>
        <p:txBody>
          <a:bodyPr wrap="square" anchor="t" lIns="0" rIns="0" tIns="0" bIns="0"/>
          <a:lstStyle/>
          <a:p>
            <a:pPr algn="l">
              <a:spcAft>
                <a:spcPts val="400"/>
              </a:spcAft>
            </a:pPr>
            <a:r>
              <a:rPr sz="1000" b="1" i="0" spc="160">
                <a:solidFill>
                  <a:srgbClr val="5B4CDB"/>
                </a:solidFill>
                <a:latin typeface="Calibri"/>
              </a:rPr>
              <a:t>WHY WE NEED AGENTS</a:t>
            </a:r>
          </a:p>
        </p:txBody>
      </p:sp>
      <p:sp>
        <p:nvSpPr>
          <p:cNvPr id="37" name="Oval 36"/>
          <p:cNvSpPr/>
          <p:nvPr/>
        </p:nvSpPr>
        <p:spPr>
          <a:xfrm>
            <a:off x="548640" y="4892040"/>
            <a:ext cx="457200" cy="457200"/>
          </a:xfrm>
          <a:prstGeom prst="ellipse">
            <a:avLst/>
          </a:prstGeom>
          <a:solidFill>
            <a:srgbClr val="5B4CDB"/>
          </a:solidFill>
          <a:ln>
            <a:noFill/>
          </a:ln>
        </p:spPr>
        <p:txBody>
          <a:bodyPr rtlCol="0" anchor="ctr" wrap="square" lIns="54864" rIns="54864" tIns="54864" bIns="54864"/>
          <a:lstStyle/>
          <a:p>
            <a:pPr algn="ctr"/>
          </a:p>
        </p:txBody>
      </p:sp>
      <p:pic>
        <p:nvPicPr>
          <p:cNvPr id="38" name="Picture 37" descr="layers_w.png"/>
          <p:cNvPicPr>
            <a:picLocks noChangeAspect="1"/>
          </p:cNvPicPr>
          <p:nvPr/>
        </p:nvPicPr>
        <p:blipFill>
          <a:blip r:embed="rId3"/>
          <a:stretch>
            <a:fillRect/>
          </a:stretch>
        </p:blipFill>
        <p:spPr>
          <a:xfrm>
            <a:off x="662940" y="5006340"/>
            <a:ext cx="228600" cy="228600"/>
          </a:xfrm>
          <a:prstGeom prst="rect">
            <a:avLst/>
          </a:prstGeom>
        </p:spPr>
      </p:pic>
      <p:sp>
        <p:nvSpPr>
          <p:cNvPr id="39" name="TextBox 38"/>
          <p:cNvSpPr txBox="1"/>
          <p:nvPr/>
        </p:nvSpPr>
        <p:spPr>
          <a:xfrm>
            <a:off x="1115568" y="4892040"/>
            <a:ext cx="2011680" cy="457200"/>
          </a:xfrm>
          <a:prstGeom prst="rect">
            <a:avLst/>
          </a:prstGeom>
          <a:noFill/>
        </p:spPr>
        <p:txBody>
          <a:bodyPr wrap="square" anchor="ctr" lIns="0" rIns="0" tIns="0" bIns="0"/>
          <a:lstStyle/>
          <a:p>
            <a:pPr algn="l">
              <a:spcAft>
                <a:spcPts val="400"/>
              </a:spcAft>
            </a:pPr>
            <a:r>
              <a:rPr sz="1400" b="1" i="0">
                <a:solidFill>
                  <a:srgbClr val="17153A"/>
                </a:solidFill>
                <a:latin typeface="Calibri"/>
              </a:rPr>
              <a:t>Real tasks are multi-step</a:t>
            </a:r>
          </a:p>
        </p:txBody>
      </p:sp>
      <p:sp>
        <p:nvSpPr>
          <p:cNvPr id="40" name="TextBox 39"/>
          <p:cNvSpPr txBox="1"/>
          <p:nvPr/>
        </p:nvSpPr>
        <p:spPr>
          <a:xfrm>
            <a:off x="548640" y="5440680"/>
            <a:ext cx="2514600" cy="777240"/>
          </a:xfrm>
          <a:prstGeom prst="rect">
            <a:avLst/>
          </a:prstGeom>
          <a:noFill/>
        </p:spPr>
        <p:txBody>
          <a:bodyPr wrap="square" anchor="t" lIns="0" rIns="0" tIns="0" bIns="0"/>
          <a:lstStyle/>
          <a:p>
            <a:pPr algn="l">
              <a:spcAft>
                <a:spcPts val="400"/>
              </a:spcAft>
            </a:pPr>
            <a:r>
              <a:rPr sz="1300" b="0" i="0">
                <a:solidFill>
                  <a:srgbClr val="6A6886"/>
                </a:solidFill>
                <a:latin typeface="Calibri"/>
              </a:rPr>
              <a:t>Research, coding and booking need many dependent steps, not one reply.</a:t>
            </a:r>
          </a:p>
        </p:txBody>
      </p:sp>
      <p:sp>
        <p:nvSpPr>
          <p:cNvPr id="41" name="Oval 40"/>
          <p:cNvSpPr/>
          <p:nvPr/>
        </p:nvSpPr>
        <p:spPr>
          <a:xfrm>
            <a:off x="3291840" y="4892040"/>
            <a:ext cx="457200" cy="457200"/>
          </a:xfrm>
          <a:prstGeom prst="ellipse">
            <a:avLst/>
          </a:prstGeom>
          <a:solidFill>
            <a:srgbClr val="5B4CDB"/>
          </a:solidFill>
          <a:ln>
            <a:noFill/>
          </a:ln>
        </p:spPr>
        <p:txBody>
          <a:bodyPr rtlCol="0" anchor="ctr" wrap="square" lIns="54864" rIns="54864" tIns="54864" bIns="54864"/>
          <a:lstStyle/>
          <a:p>
            <a:pPr algn="ctr"/>
          </a:p>
        </p:txBody>
      </p:sp>
      <p:pic>
        <p:nvPicPr>
          <p:cNvPr id="42" name="Picture 41" descr="globe_w.png"/>
          <p:cNvPicPr>
            <a:picLocks noChangeAspect="1"/>
          </p:cNvPicPr>
          <p:nvPr/>
        </p:nvPicPr>
        <p:blipFill>
          <a:blip r:embed="rId4"/>
          <a:stretch>
            <a:fillRect/>
          </a:stretch>
        </p:blipFill>
        <p:spPr>
          <a:xfrm>
            <a:off x="3406140" y="5006340"/>
            <a:ext cx="228600" cy="228600"/>
          </a:xfrm>
          <a:prstGeom prst="rect">
            <a:avLst/>
          </a:prstGeom>
        </p:spPr>
      </p:pic>
      <p:sp>
        <p:nvSpPr>
          <p:cNvPr id="43" name="TextBox 42"/>
          <p:cNvSpPr txBox="1"/>
          <p:nvPr/>
        </p:nvSpPr>
        <p:spPr>
          <a:xfrm>
            <a:off x="3858768" y="4892040"/>
            <a:ext cx="2011680" cy="457200"/>
          </a:xfrm>
          <a:prstGeom prst="rect">
            <a:avLst/>
          </a:prstGeom>
          <a:noFill/>
        </p:spPr>
        <p:txBody>
          <a:bodyPr wrap="square" anchor="ctr" lIns="0" rIns="0" tIns="0" bIns="0"/>
          <a:lstStyle/>
          <a:p>
            <a:pPr algn="l">
              <a:spcAft>
                <a:spcPts val="400"/>
              </a:spcAft>
            </a:pPr>
            <a:r>
              <a:rPr sz="1400" b="1" i="0">
                <a:solidFill>
                  <a:srgbClr val="17153A"/>
                </a:solidFill>
                <a:latin typeface="Calibri"/>
              </a:rPr>
              <a:t>Models need live data</a:t>
            </a:r>
          </a:p>
        </p:txBody>
      </p:sp>
      <p:sp>
        <p:nvSpPr>
          <p:cNvPr id="44" name="TextBox 43"/>
          <p:cNvSpPr txBox="1"/>
          <p:nvPr/>
        </p:nvSpPr>
        <p:spPr>
          <a:xfrm>
            <a:off x="3291840" y="5440680"/>
            <a:ext cx="2514600" cy="777240"/>
          </a:xfrm>
          <a:prstGeom prst="rect">
            <a:avLst/>
          </a:prstGeom>
          <a:noFill/>
        </p:spPr>
        <p:txBody>
          <a:bodyPr wrap="square" anchor="t" lIns="0" rIns="0" tIns="0" bIns="0"/>
          <a:lstStyle/>
          <a:p>
            <a:pPr algn="l">
              <a:spcAft>
                <a:spcPts val="400"/>
              </a:spcAft>
            </a:pPr>
            <a:r>
              <a:rPr sz="1300" b="0" i="0">
                <a:solidFill>
                  <a:srgbClr val="6A6886"/>
                </a:solidFill>
                <a:latin typeface="Calibri"/>
              </a:rPr>
              <a:t>Tools give access to the web, code execution, databases and APIs.</a:t>
            </a:r>
          </a:p>
        </p:txBody>
      </p:sp>
      <p:sp>
        <p:nvSpPr>
          <p:cNvPr id="45" name="Oval 44"/>
          <p:cNvSpPr/>
          <p:nvPr/>
        </p:nvSpPr>
        <p:spPr>
          <a:xfrm>
            <a:off x="6035040" y="4892040"/>
            <a:ext cx="457200" cy="457200"/>
          </a:xfrm>
          <a:prstGeom prst="ellipse">
            <a:avLst/>
          </a:prstGeom>
          <a:solidFill>
            <a:srgbClr val="5B4CDB"/>
          </a:solidFill>
          <a:ln>
            <a:noFill/>
          </a:ln>
        </p:spPr>
        <p:txBody>
          <a:bodyPr rtlCol="0" anchor="ctr" wrap="square" lIns="54864" rIns="54864" tIns="54864" bIns="54864"/>
          <a:lstStyle/>
          <a:p>
            <a:pPr algn="ctr"/>
          </a:p>
        </p:txBody>
      </p:sp>
      <p:pic>
        <p:nvPicPr>
          <p:cNvPr id="46" name="Picture 45" descr="check_w.png"/>
          <p:cNvPicPr>
            <a:picLocks noChangeAspect="1"/>
          </p:cNvPicPr>
          <p:nvPr/>
        </p:nvPicPr>
        <p:blipFill>
          <a:blip r:embed="rId5"/>
          <a:stretch>
            <a:fillRect/>
          </a:stretch>
        </p:blipFill>
        <p:spPr>
          <a:xfrm>
            <a:off x="6149340" y="5006340"/>
            <a:ext cx="228600" cy="228600"/>
          </a:xfrm>
          <a:prstGeom prst="rect">
            <a:avLst/>
          </a:prstGeom>
        </p:spPr>
      </p:pic>
      <p:sp>
        <p:nvSpPr>
          <p:cNvPr id="47" name="TextBox 46"/>
          <p:cNvSpPr txBox="1"/>
          <p:nvPr/>
        </p:nvSpPr>
        <p:spPr>
          <a:xfrm>
            <a:off x="6601968" y="4892040"/>
            <a:ext cx="2011680" cy="457200"/>
          </a:xfrm>
          <a:prstGeom prst="rect">
            <a:avLst/>
          </a:prstGeom>
          <a:noFill/>
        </p:spPr>
        <p:txBody>
          <a:bodyPr wrap="square" anchor="ctr" lIns="0" rIns="0" tIns="0" bIns="0"/>
          <a:lstStyle/>
          <a:p>
            <a:pPr algn="l">
              <a:spcAft>
                <a:spcPts val="400"/>
              </a:spcAft>
            </a:pPr>
            <a:r>
              <a:rPr sz="1400" b="1" i="0">
                <a:solidFill>
                  <a:srgbClr val="17153A"/>
                </a:solidFill>
                <a:latin typeface="Calibri"/>
              </a:rPr>
              <a:t>Results must be verified</a:t>
            </a:r>
          </a:p>
        </p:txBody>
      </p:sp>
      <p:sp>
        <p:nvSpPr>
          <p:cNvPr id="48" name="TextBox 47"/>
          <p:cNvSpPr txBox="1"/>
          <p:nvPr/>
        </p:nvSpPr>
        <p:spPr>
          <a:xfrm>
            <a:off x="6035040" y="5440680"/>
            <a:ext cx="2514600" cy="777240"/>
          </a:xfrm>
          <a:prstGeom prst="rect">
            <a:avLst/>
          </a:prstGeom>
          <a:noFill/>
        </p:spPr>
        <p:txBody>
          <a:bodyPr wrap="square" anchor="t" lIns="0" rIns="0" tIns="0" bIns="0"/>
          <a:lstStyle/>
          <a:p>
            <a:pPr algn="l">
              <a:spcAft>
                <a:spcPts val="400"/>
              </a:spcAft>
            </a:pPr>
            <a:r>
              <a:rPr sz="1300" b="0" i="0">
                <a:solidFill>
                  <a:srgbClr val="6A6886"/>
                </a:solidFill>
                <a:latin typeface="Calibri"/>
              </a:rPr>
              <a:t>Feedback loops let an agent detect and correct its own errors.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02  ·  OBJECTIVES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What this seminar sets out to do</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4</a:t>
            </a:fld>
          </a:p>
        </p:txBody>
      </p:sp>
      <p:sp>
        <p:nvSpPr>
          <p:cNvPr id="7" name="TextBox 6"/>
          <p:cNvSpPr txBox="1"/>
          <p:nvPr/>
        </p:nvSpPr>
        <p:spPr>
          <a:xfrm>
            <a:off x="548640" y="1572768"/>
            <a:ext cx="822960" cy="749808"/>
          </a:xfrm>
          <a:prstGeom prst="rect">
            <a:avLst/>
          </a:prstGeom>
          <a:noFill/>
        </p:spPr>
        <p:txBody>
          <a:bodyPr wrap="square" anchor="ctr" lIns="0" rIns="0" tIns="0" bIns="0"/>
          <a:lstStyle/>
          <a:p>
            <a:pPr algn="l">
              <a:spcAft>
                <a:spcPts val="400"/>
              </a:spcAft>
            </a:pPr>
            <a:r>
              <a:rPr sz="3000" b="1" i="0">
                <a:solidFill>
                  <a:srgbClr val="5B4CDB"/>
                </a:solidFill>
                <a:latin typeface="Cambria"/>
              </a:rPr>
              <a:t>01</a:t>
            </a:r>
          </a:p>
        </p:txBody>
      </p:sp>
      <p:sp>
        <p:nvSpPr>
          <p:cNvPr id="8" name="TextBox 7"/>
          <p:cNvSpPr txBox="1"/>
          <p:nvPr/>
        </p:nvSpPr>
        <p:spPr>
          <a:xfrm>
            <a:off x="1463040" y="1627632"/>
            <a:ext cx="6492240" cy="329184"/>
          </a:xfrm>
          <a:prstGeom prst="rect">
            <a:avLst/>
          </a:prstGeom>
          <a:noFill/>
        </p:spPr>
        <p:txBody>
          <a:bodyPr wrap="square" anchor="t" lIns="0" rIns="0" tIns="0" bIns="0"/>
          <a:lstStyle/>
          <a:p>
            <a:pPr algn="l">
              <a:spcAft>
                <a:spcPts val="400"/>
              </a:spcAft>
            </a:pPr>
            <a:r>
              <a:rPr sz="1600" b="1" i="0">
                <a:solidFill>
                  <a:srgbClr val="17153A"/>
                </a:solidFill>
                <a:latin typeface="Calibri"/>
              </a:rPr>
              <a:t>Architecture</a:t>
            </a:r>
          </a:p>
        </p:txBody>
      </p:sp>
      <p:sp>
        <p:nvSpPr>
          <p:cNvPr id="9" name="TextBox 8"/>
          <p:cNvSpPr txBox="1"/>
          <p:nvPr/>
        </p:nvSpPr>
        <p:spPr>
          <a:xfrm>
            <a:off x="1463040" y="1956816"/>
            <a:ext cx="6492240" cy="411480"/>
          </a:xfrm>
          <a:prstGeom prst="rect">
            <a:avLst/>
          </a:prstGeom>
          <a:noFill/>
        </p:spPr>
        <p:txBody>
          <a:bodyPr wrap="square" anchor="t" lIns="0" rIns="0" tIns="0" bIns="0"/>
          <a:lstStyle/>
          <a:p>
            <a:pPr algn="l">
              <a:spcAft>
                <a:spcPts val="400"/>
              </a:spcAft>
            </a:pPr>
            <a:r>
              <a:rPr sz="1400" b="0" i="0">
                <a:solidFill>
                  <a:srgbClr val="6A6886"/>
                </a:solidFill>
                <a:latin typeface="Calibri"/>
              </a:rPr>
              <a:t>Study how autonomous LLM agents work: planning, memory, tool use and self-critique.</a:t>
            </a:r>
          </a:p>
        </p:txBody>
      </p:sp>
      <p:pic>
        <p:nvPicPr>
          <p:cNvPr id="10" name="Picture 9" descr="brain_ap.png"/>
          <p:cNvPicPr>
            <a:picLocks noChangeAspect="1"/>
          </p:cNvPicPr>
          <p:nvPr/>
        </p:nvPicPr>
        <p:blipFill>
          <a:blip r:embed="rId3"/>
          <a:stretch>
            <a:fillRect/>
          </a:stretch>
        </p:blipFill>
        <p:spPr>
          <a:xfrm>
            <a:off x="8183879" y="1755648"/>
            <a:ext cx="384048" cy="384048"/>
          </a:xfrm>
          <a:prstGeom prst="rect">
            <a:avLst/>
          </a:prstGeom>
        </p:spPr>
      </p:pic>
      <p:cxnSp>
        <p:nvCxnSpPr>
          <p:cNvPr id="11" name="Connector 10"/>
          <p:cNvCxnSpPr/>
          <p:nvPr/>
        </p:nvCxnSpPr>
        <p:spPr>
          <a:xfrm>
            <a:off x="548640" y="2432304"/>
            <a:ext cx="8046720" cy="0"/>
          </a:xfrm>
          <a:prstGeom prst="line">
            <a:avLst/>
          </a:prstGeom>
          <a:ln w="9525">
            <a:solidFill>
              <a:srgbClr val="DCDAF0"/>
            </a:solidFill>
          </a:ln>
        </p:spPr>
      </p:cxnSp>
      <p:sp>
        <p:nvSpPr>
          <p:cNvPr id="12" name="TextBox 11"/>
          <p:cNvSpPr txBox="1"/>
          <p:nvPr/>
        </p:nvSpPr>
        <p:spPr>
          <a:xfrm>
            <a:off x="548640" y="2505456"/>
            <a:ext cx="822960" cy="749808"/>
          </a:xfrm>
          <a:prstGeom prst="rect">
            <a:avLst/>
          </a:prstGeom>
          <a:noFill/>
        </p:spPr>
        <p:txBody>
          <a:bodyPr wrap="square" anchor="ctr" lIns="0" rIns="0" tIns="0" bIns="0"/>
          <a:lstStyle/>
          <a:p>
            <a:pPr algn="l">
              <a:spcAft>
                <a:spcPts val="400"/>
              </a:spcAft>
            </a:pPr>
            <a:r>
              <a:rPr sz="3000" b="1" i="0">
                <a:solidFill>
                  <a:srgbClr val="5B4CDB"/>
                </a:solidFill>
                <a:latin typeface="Cambria"/>
              </a:rPr>
              <a:t>02</a:t>
            </a:r>
          </a:p>
        </p:txBody>
      </p:sp>
      <p:sp>
        <p:nvSpPr>
          <p:cNvPr id="13" name="TextBox 12"/>
          <p:cNvSpPr txBox="1"/>
          <p:nvPr/>
        </p:nvSpPr>
        <p:spPr>
          <a:xfrm>
            <a:off x="1463040" y="2560320"/>
            <a:ext cx="6492240" cy="329184"/>
          </a:xfrm>
          <a:prstGeom prst="rect">
            <a:avLst/>
          </a:prstGeom>
          <a:noFill/>
        </p:spPr>
        <p:txBody>
          <a:bodyPr wrap="square" anchor="t" lIns="0" rIns="0" tIns="0" bIns="0"/>
          <a:lstStyle/>
          <a:p>
            <a:pPr algn="l">
              <a:spcAft>
                <a:spcPts val="400"/>
              </a:spcAft>
            </a:pPr>
            <a:r>
              <a:rPr sz="1600" b="1" i="0">
                <a:solidFill>
                  <a:srgbClr val="17153A"/>
                </a:solidFill>
                <a:latin typeface="Calibri"/>
              </a:rPr>
              <a:t>Coordination</a:t>
            </a:r>
          </a:p>
        </p:txBody>
      </p:sp>
      <p:sp>
        <p:nvSpPr>
          <p:cNvPr id="14" name="TextBox 13"/>
          <p:cNvSpPr txBox="1"/>
          <p:nvPr/>
        </p:nvSpPr>
        <p:spPr>
          <a:xfrm>
            <a:off x="1463040" y="2889504"/>
            <a:ext cx="6492240" cy="411480"/>
          </a:xfrm>
          <a:prstGeom prst="rect">
            <a:avLst/>
          </a:prstGeom>
          <a:noFill/>
        </p:spPr>
        <p:txBody>
          <a:bodyPr wrap="square" anchor="t" lIns="0" rIns="0" tIns="0" bIns="0"/>
          <a:lstStyle/>
          <a:p>
            <a:pPr algn="l">
              <a:spcAft>
                <a:spcPts val="400"/>
              </a:spcAft>
            </a:pPr>
            <a:r>
              <a:rPr sz="1400" b="0" i="0">
                <a:solidFill>
                  <a:srgbClr val="6A6886"/>
                </a:solidFill>
                <a:latin typeface="Calibri"/>
              </a:rPr>
              <a:t>Compare centralized, hierarchical and decentralized multi-agent patterns.</a:t>
            </a:r>
          </a:p>
        </p:txBody>
      </p:sp>
      <p:pic>
        <p:nvPicPr>
          <p:cNvPr id="15" name="Picture 14" descr="users_ap.png"/>
          <p:cNvPicPr>
            <a:picLocks noChangeAspect="1"/>
          </p:cNvPicPr>
          <p:nvPr/>
        </p:nvPicPr>
        <p:blipFill>
          <a:blip r:embed="rId4"/>
          <a:stretch>
            <a:fillRect/>
          </a:stretch>
        </p:blipFill>
        <p:spPr>
          <a:xfrm>
            <a:off x="8183879" y="2688336"/>
            <a:ext cx="384048" cy="384048"/>
          </a:xfrm>
          <a:prstGeom prst="rect">
            <a:avLst/>
          </a:prstGeom>
        </p:spPr>
      </p:pic>
      <p:cxnSp>
        <p:nvCxnSpPr>
          <p:cNvPr id="16" name="Connector 15"/>
          <p:cNvCxnSpPr/>
          <p:nvPr/>
        </p:nvCxnSpPr>
        <p:spPr>
          <a:xfrm>
            <a:off x="548640" y="3364992"/>
            <a:ext cx="8046720" cy="0"/>
          </a:xfrm>
          <a:prstGeom prst="line">
            <a:avLst/>
          </a:prstGeom>
          <a:ln w="9525">
            <a:solidFill>
              <a:srgbClr val="DCDAF0"/>
            </a:solidFill>
          </a:ln>
        </p:spPr>
      </p:cxnSp>
      <p:sp>
        <p:nvSpPr>
          <p:cNvPr id="17" name="TextBox 16"/>
          <p:cNvSpPr txBox="1"/>
          <p:nvPr/>
        </p:nvSpPr>
        <p:spPr>
          <a:xfrm>
            <a:off x="548640" y="3438144"/>
            <a:ext cx="822960" cy="749808"/>
          </a:xfrm>
          <a:prstGeom prst="rect">
            <a:avLst/>
          </a:prstGeom>
          <a:noFill/>
        </p:spPr>
        <p:txBody>
          <a:bodyPr wrap="square" anchor="ctr" lIns="0" rIns="0" tIns="0" bIns="0"/>
          <a:lstStyle/>
          <a:p>
            <a:pPr algn="l">
              <a:spcAft>
                <a:spcPts val="400"/>
              </a:spcAft>
            </a:pPr>
            <a:r>
              <a:rPr sz="3000" b="1" i="0">
                <a:solidFill>
                  <a:srgbClr val="5B4CDB"/>
                </a:solidFill>
                <a:latin typeface="Cambria"/>
              </a:rPr>
              <a:t>03</a:t>
            </a:r>
          </a:p>
        </p:txBody>
      </p:sp>
      <p:sp>
        <p:nvSpPr>
          <p:cNvPr id="18" name="TextBox 17"/>
          <p:cNvSpPr txBox="1"/>
          <p:nvPr/>
        </p:nvSpPr>
        <p:spPr>
          <a:xfrm>
            <a:off x="1463040" y="3493008"/>
            <a:ext cx="6492240" cy="329184"/>
          </a:xfrm>
          <a:prstGeom prst="rect">
            <a:avLst/>
          </a:prstGeom>
          <a:noFill/>
        </p:spPr>
        <p:txBody>
          <a:bodyPr wrap="square" anchor="t" lIns="0" rIns="0" tIns="0" bIns="0"/>
          <a:lstStyle/>
          <a:p>
            <a:pPr algn="l">
              <a:spcAft>
                <a:spcPts val="400"/>
              </a:spcAft>
            </a:pPr>
            <a:r>
              <a:rPr sz="1600" b="1" i="0">
                <a:solidFill>
                  <a:srgbClr val="17153A"/>
                </a:solidFill>
                <a:latin typeface="Calibri"/>
              </a:rPr>
              <a:t>Memory &amp; context</a:t>
            </a:r>
          </a:p>
        </p:txBody>
      </p:sp>
      <p:sp>
        <p:nvSpPr>
          <p:cNvPr id="19" name="TextBox 18"/>
          <p:cNvSpPr txBox="1"/>
          <p:nvPr/>
        </p:nvSpPr>
        <p:spPr>
          <a:xfrm>
            <a:off x="1463040" y="3822191"/>
            <a:ext cx="6492240" cy="411480"/>
          </a:xfrm>
          <a:prstGeom prst="rect">
            <a:avLst/>
          </a:prstGeom>
          <a:noFill/>
        </p:spPr>
        <p:txBody>
          <a:bodyPr wrap="square" anchor="t" lIns="0" rIns="0" tIns="0" bIns="0"/>
          <a:lstStyle/>
          <a:p>
            <a:pPr algn="l">
              <a:spcAft>
                <a:spcPts val="400"/>
              </a:spcAft>
            </a:pPr>
            <a:r>
              <a:rPr sz="1400" b="0" i="0">
                <a:solidFill>
                  <a:srgbClr val="6A6886"/>
                </a:solidFill>
                <a:latin typeface="Calibri"/>
              </a:rPr>
              <a:t>Understand short- and long-term memory management for long-horizon tasks.</a:t>
            </a:r>
          </a:p>
        </p:txBody>
      </p:sp>
      <p:pic>
        <p:nvPicPr>
          <p:cNvPr id="20" name="Picture 19" descr="db_ap.png"/>
          <p:cNvPicPr>
            <a:picLocks noChangeAspect="1"/>
          </p:cNvPicPr>
          <p:nvPr/>
        </p:nvPicPr>
        <p:blipFill>
          <a:blip r:embed="rId5"/>
          <a:stretch>
            <a:fillRect/>
          </a:stretch>
        </p:blipFill>
        <p:spPr>
          <a:xfrm>
            <a:off x="8183879" y="3621024"/>
            <a:ext cx="384048" cy="384048"/>
          </a:xfrm>
          <a:prstGeom prst="rect">
            <a:avLst/>
          </a:prstGeom>
        </p:spPr>
      </p:pic>
      <p:cxnSp>
        <p:nvCxnSpPr>
          <p:cNvPr id="21" name="Connector 20"/>
          <p:cNvCxnSpPr/>
          <p:nvPr/>
        </p:nvCxnSpPr>
        <p:spPr>
          <a:xfrm>
            <a:off x="548640" y="4297679"/>
            <a:ext cx="8046720" cy="0"/>
          </a:xfrm>
          <a:prstGeom prst="line">
            <a:avLst/>
          </a:prstGeom>
          <a:ln w="9525">
            <a:solidFill>
              <a:srgbClr val="DCDAF0"/>
            </a:solidFill>
          </a:ln>
        </p:spPr>
      </p:cxnSp>
      <p:sp>
        <p:nvSpPr>
          <p:cNvPr id="22" name="TextBox 21"/>
          <p:cNvSpPr txBox="1"/>
          <p:nvPr/>
        </p:nvSpPr>
        <p:spPr>
          <a:xfrm>
            <a:off x="548640" y="4370832"/>
            <a:ext cx="822960" cy="749808"/>
          </a:xfrm>
          <a:prstGeom prst="rect">
            <a:avLst/>
          </a:prstGeom>
          <a:noFill/>
        </p:spPr>
        <p:txBody>
          <a:bodyPr wrap="square" anchor="ctr" lIns="0" rIns="0" tIns="0" bIns="0"/>
          <a:lstStyle/>
          <a:p>
            <a:pPr algn="l">
              <a:spcAft>
                <a:spcPts val="400"/>
              </a:spcAft>
            </a:pPr>
            <a:r>
              <a:rPr sz="3000" b="1" i="0">
                <a:solidFill>
                  <a:srgbClr val="5B4CDB"/>
                </a:solidFill>
                <a:latin typeface="Cambria"/>
              </a:rPr>
              <a:t>04</a:t>
            </a:r>
          </a:p>
        </p:txBody>
      </p:sp>
      <p:sp>
        <p:nvSpPr>
          <p:cNvPr id="23" name="TextBox 22"/>
          <p:cNvSpPr txBox="1"/>
          <p:nvPr/>
        </p:nvSpPr>
        <p:spPr>
          <a:xfrm>
            <a:off x="1463040" y="4425696"/>
            <a:ext cx="6492240" cy="329184"/>
          </a:xfrm>
          <a:prstGeom prst="rect">
            <a:avLst/>
          </a:prstGeom>
          <a:noFill/>
        </p:spPr>
        <p:txBody>
          <a:bodyPr wrap="square" anchor="t" lIns="0" rIns="0" tIns="0" bIns="0"/>
          <a:lstStyle/>
          <a:p>
            <a:pPr algn="l">
              <a:spcAft>
                <a:spcPts val="400"/>
              </a:spcAft>
            </a:pPr>
            <a:r>
              <a:rPr sz="1600" b="1" i="0">
                <a:solidFill>
                  <a:srgbClr val="17153A"/>
                </a:solidFill>
                <a:latin typeface="Calibri"/>
              </a:rPr>
              <a:t>Applications</a:t>
            </a:r>
          </a:p>
        </p:txBody>
      </p:sp>
      <p:sp>
        <p:nvSpPr>
          <p:cNvPr id="24" name="TextBox 23"/>
          <p:cNvSpPr txBox="1"/>
          <p:nvPr/>
        </p:nvSpPr>
        <p:spPr>
          <a:xfrm>
            <a:off x="1463040" y="4754880"/>
            <a:ext cx="6492240" cy="411480"/>
          </a:xfrm>
          <a:prstGeom prst="rect">
            <a:avLst/>
          </a:prstGeom>
          <a:noFill/>
        </p:spPr>
        <p:txBody>
          <a:bodyPr wrap="square" anchor="t" lIns="0" rIns="0" tIns="0" bIns="0"/>
          <a:lstStyle/>
          <a:p>
            <a:pPr algn="l">
              <a:spcAft>
                <a:spcPts val="400"/>
              </a:spcAft>
            </a:pPr>
            <a:r>
              <a:rPr sz="1400" b="0" i="0">
                <a:solidFill>
                  <a:srgbClr val="6A6886"/>
                </a:solidFill>
                <a:latin typeface="Calibri"/>
              </a:rPr>
              <a:t>Explore real agent systems in software, research, cybersecurity and robotics.</a:t>
            </a:r>
          </a:p>
        </p:txBody>
      </p:sp>
      <p:pic>
        <p:nvPicPr>
          <p:cNvPr id="25" name="Picture 24" descr="cogs_ap.png"/>
          <p:cNvPicPr>
            <a:picLocks noChangeAspect="1"/>
          </p:cNvPicPr>
          <p:nvPr/>
        </p:nvPicPr>
        <p:blipFill>
          <a:blip r:embed="rId6"/>
          <a:stretch>
            <a:fillRect/>
          </a:stretch>
        </p:blipFill>
        <p:spPr>
          <a:xfrm>
            <a:off x="8183879" y="4553712"/>
            <a:ext cx="384048" cy="384048"/>
          </a:xfrm>
          <a:prstGeom prst="rect">
            <a:avLst/>
          </a:prstGeom>
        </p:spPr>
      </p:pic>
      <p:cxnSp>
        <p:nvCxnSpPr>
          <p:cNvPr id="26" name="Connector 25"/>
          <p:cNvCxnSpPr/>
          <p:nvPr/>
        </p:nvCxnSpPr>
        <p:spPr>
          <a:xfrm>
            <a:off x="548640" y="5230368"/>
            <a:ext cx="8046720" cy="0"/>
          </a:xfrm>
          <a:prstGeom prst="line">
            <a:avLst/>
          </a:prstGeom>
          <a:ln w="9525">
            <a:solidFill>
              <a:srgbClr val="DCDAF0"/>
            </a:solidFill>
          </a:ln>
        </p:spPr>
      </p:cxnSp>
      <p:sp>
        <p:nvSpPr>
          <p:cNvPr id="27" name="TextBox 26"/>
          <p:cNvSpPr txBox="1"/>
          <p:nvPr/>
        </p:nvSpPr>
        <p:spPr>
          <a:xfrm>
            <a:off x="548640" y="5303520"/>
            <a:ext cx="822960" cy="749808"/>
          </a:xfrm>
          <a:prstGeom prst="rect">
            <a:avLst/>
          </a:prstGeom>
          <a:noFill/>
        </p:spPr>
        <p:txBody>
          <a:bodyPr wrap="square" anchor="ctr" lIns="0" rIns="0" tIns="0" bIns="0"/>
          <a:lstStyle/>
          <a:p>
            <a:pPr algn="l">
              <a:spcAft>
                <a:spcPts val="400"/>
              </a:spcAft>
            </a:pPr>
            <a:r>
              <a:rPr sz="3000" b="1" i="0">
                <a:solidFill>
                  <a:srgbClr val="5B4CDB"/>
                </a:solidFill>
                <a:latin typeface="Cambria"/>
              </a:rPr>
              <a:t>05</a:t>
            </a:r>
          </a:p>
        </p:txBody>
      </p:sp>
      <p:sp>
        <p:nvSpPr>
          <p:cNvPr id="28" name="TextBox 27"/>
          <p:cNvSpPr txBox="1"/>
          <p:nvPr/>
        </p:nvSpPr>
        <p:spPr>
          <a:xfrm>
            <a:off x="1463040" y="5358383"/>
            <a:ext cx="6492240" cy="329184"/>
          </a:xfrm>
          <a:prstGeom prst="rect">
            <a:avLst/>
          </a:prstGeom>
          <a:noFill/>
        </p:spPr>
        <p:txBody>
          <a:bodyPr wrap="square" anchor="t" lIns="0" rIns="0" tIns="0" bIns="0"/>
          <a:lstStyle/>
          <a:p>
            <a:pPr algn="l">
              <a:spcAft>
                <a:spcPts val="400"/>
              </a:spcAft>
            </a:pPr>
            <a:r>
              <a:rPr sz="1600" b="1" i="0">
                <a:solidFill>
                  <a:srgbClr val="17153A"/>
                </a:solidFill>
                <a:latin typeface="Calibri"/>
              </a:rPr>
              <a:t>Challenges</a:t>
            </a:r>
          </a:p>
        </p:txBody>
      </p:sp>
      <p:sp>
        <p:nvSpPr>
          <p:cNvPr id="29" name="TextBox 28"/>
          <p:cNvSpPr txBox="1"/>
          <p:nvPr/>
        </p:nvSpPr>
        <p:spPr>
          <a:xfrm>
            <a:off x="1463040" y="5687568"/>
            <a:ext cx="6492240" cy="411480"/>
          </a:xfrm>
          <a:prstGeom prst="rect">
            <a:avLst/>
          </a:prstGeom>
          <a:noFill/>
        </p:spPr>
        <p:txBody>
          <a:bodyPr wrap="square" anchor="t" lIns="0" rIns="0" tIns="0" bIns="0"/>
          <a:lstStyle/>
          <a:p>
            <a:pPr algn="l">
              <a:spcAft>
                <a:spcPts val="400"/>
              </a:spcAft>
            </a:pPr>
            <a:r>
              <a:rPr sz="1400" b="0" i="0">
                <a:solidFill>
                  <a:srgbClr val="6A6886"/>
                </a:solidFill>
                <a:latin typeface="Calibri"/>
              </a:rPr>
              <a:t>Identify issues in reliability, safety, evaluation and cost; suggest future directions.</a:t>
            </a:r>
          </a:p>
        </p:txBody>
      </p:sp>
      <p:pic>
        <p:nvPicPr>
          <p:cNvPr id="30" name="Picture 29" descr="shield_ap.png"/>
          <p:cNvPicPr>
            <a:picLocks noChangeAspect="1"/>
          </p:cNvPicPr>
          <p:nvPr/>
        </p:nvPicPr>
        <p:blipFill>
          <a:blip r:embed="rId7"/>
          <a:stretch>
            <a:fillRect/>
          </a:stretch>
        </p:blipFill>
        <p:spPr>
          <a:xfrm>
            <a:off x="8183879" y="5486400"/>
            <a:ext cx="384048" cy="38404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03  ·  LITERATURE REVIEW</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Six research threads shape modern agents</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5</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6A6886"/>
                </a:solidFill>
                <a:latin typeface="Calibri"/>
              </a:rPr>
              <a:t>Sources from 2022–2026: IEEE surveys, arXiv preprints, ACL papers and engineering reports, grouped by theme.</a:t>
            </a:r>
          </a:p>
        </p:txBody>
      </p:sp>
      <p:sp>
        <p:nvSpPr>
          <p:cNvPr id="8" name="Rounded Rectangle 7"/>
          <p:cNvSpPr/>
          <p:nvPr/>
        </p:nvSpPr>
        <p:spPr>
          <a:xfrm>
            <a:off x="548640" y="1691640"/>
            <a:ext cx="2514600" cy="1737360"/>
          </a:xfrm>
          <a:prstGeom prst="roundRect">
            <a:avLst>
              <a:gd name="adj" fmla="val 6315"/>
            </a:avLst>
          </a:prstGeom>
          <a:solidFill>
            <a:srgbClr val="F5F5FA"/>
          </a:solidFill>
          <a:ln>
            <a:noFill/>
          </a:ln>
        </p:spPr>
        <p:txBody>
          <a:bodyPr rtlCol="0" anchor="ctr" wrap="square" lIns="54864" rIns="54864" tIns="54864" bIns="54864"/>
          <a:lstStyle/>
          <a:p>
            <a:pPr algn="ctr"/>
          </a:p>
        </p:txBody>
      </p:sp>
      <p:sp>
        <p:nvSpPr>
          <p:cNvPr id="9" name="Oval 8"/>
          <p:cNvSpPr/>
          <p:nvPr/>
        </p:nvSpPr>
        <p:spPr>
          <a:xfrm>
            <a:off x="731520" y="1874520"/>
            <a:ext cx="457200" cy="457200"/>
          </a:xfrm>
          <a:prstGeom prst="ellipse">
            <a:avLst/>
          </a:prstGeom>
          <a:solidFill>
            <a:srgbClr val="5B4CDB"/>
          </a:solidFill>
          <a:ln>
            <a:noFill/>
          </a:ln>
        </p:spPr>
        <p:txBody>
          <a:bodyPr rtlCol="0" anchor="ctr" wrap="square" lIns="54864" rIns="54864" tIns="54864" bIns="54864"/>
          <a:lstStyle/>
          <a:p>
            <a:pPr algn="ctr"/>
          </a:p>
        </p:txBody>
      </p:sp>
      <p:pic>
        <p:nvPicPr>
          <p:cNvPr id="10" name="Picture 9" descr="book_w.png"/>
          <p:cNvPicPr>
            <a:picLocks noChangeAspect="1"/>
          </p:cNvPicPr>
          <p:nvPr/>
        </p:nvPicPr>
        <p:blipFill>
          <a:blip r:embed="rId3"/>
          <a:stretch>
            <a:fillRect/>
          </a:stretch>
        </p:blipFill>
        <p:spPr>
          <a:xfrm>
            <a:off x="845820" y="1988820"/>
            <a:ext cx="228600" cy="228600"/>
          </a:xfrm>
          <a:prstGeom prst="rect">
            <a:avLst/>
          </a:prstGeom>
        </p:spPr>
      </p:pic>
      <p:sp>
        <p:nvSpPr>
          <p:cNvPr id="11" name="TextBox 10"/>
          <p:cNvSpPr txBox="1"/>
          <p:nvPr/>
        </p:nvSpPr>
        <p:spPr>
          <a:xfrm>
            <a:off x="1325880" y="1847088"/>
            <a:ext cx="1600200" cy="512064"/>
          </a:xfrm>
          <a:prstGeom prst="rect">
            <a:avLst/>
          </a:prstGeom>
          <a:noFill/>
        </p:spPr>
        <p:txBody>
          <a:bodyPr wrap="square" anchor="ctr" lIns="0" rIns="0" tIns="0" bIns="0"/>
          <a:lstStyle/>
          <a:p>
            <a:pPr algn="l">
              <a:spcAft>
                <a:spcPts val="0"/>
              </a:spcAft>
            </a:pPr>
            <a:r>
              <a:rPr sz="1450" b="1" i="0">
                <a:solidFill>
                  <a:srgbClr val="17153A"/>
                </a:solidFill>
                <a:latin typeface="Calibri"/>
              </a:rPr>
              <a:t>Surveys &amp; taxonomies</a:t>
            </a:r>
          </a:p>
          <a:p>
            <a:pPr algn="l">
              <a:spcAft>
                <a:spcPts val="0"/>
              </a:spcAft>
            </a:pPr>
            <a:r>
              <a:rPr sz="1100" b="1" i="0">
                <a:solidFill>
                  <a:srgbClr val="5B4CDB"/>
                </a:solidFill>
                <a:latin typeface="Calibri"/>
              </a:rPr>
              <a:t>[1] [2] [3]</a:t>
            </a:r>
          </a:p>
        </p:txBody>
      </p:sp>
      <p:sp>
        <p:nvSpPr>
          <p:cNvPr id="12" name="TextBox 11"/>
          <p:cNvSpPr txBox="1"/>
          <p:nvPr/>
        </p:nvSpPr>
        <p:spPr>
          <a:xfrm>
            <a:off x="731520" y="2468880"/>
            <a:ext cx="2148840" cy="896111"/>
          </a:xfrm>
          <a:prstGeom prst="rect">
            <a:avLst/>
          </a:prstGeom>
          <a:noFill/>
        </p:spPr>
        <p:txBody>
          <a:bodyPr wrap="square" anchor="t" lIns="0" rIns="0" tIns="0" bIns="0"/>
          <a:lstStyle/>
          <a:p>
            <a:pPr algn="l">
              <a:spcAft>
                <a:spcPts val="400"/>
              </a:spcAft>
            </a:pPr>
            <a:r>
              <a:rPr sz="1300" b="0" i="0">
                <a:solidFill>
                  <a:srgbClr val="1F1D33"/>
                </a:solidFill>
                <a:latin typeface="Calibri"/>
              </a:rPr>
              <a:t>Agent = perception + planning + memory + action; a shift to goal-directed systems.</a:t>
            </a:r>
          </a:p>
        </p:txBody>
      </p:sp>
      <p:sp>
        <p:nvSpPr>
          <p:cNvPr id="13" name="Rounded Rectangle 12"/>
          <p:cNvSpPr/>
          <p:nvPr/>
        </p:nvSpPr>
        <p:spPr>
          <a:xfrm>
            <a:off x="3314700" y="1691640"/>
            <a:ext cx="2514600" cy="1737360"/>
          </a:xfrm>
          <a:prstGeom prst="roundRect">
            <a:avLst>
              <a:gd name="adj" fmla="val 6315"/>
            </a:avLst>
          </a:prstGeom>
          <a:solidFill>
            <a:srgbClr val="F5F5FA"/>
          </a:solidFill>
          <a:ln>
            <a:noFill/>
          </a:ln>
        </p:spPr>
        <p:txBody>
          <a:bodyPr rtlCol="0" anchor="ctr" wrap="square" lIns="54864" rIns="54864" tIns="54864" bIns="54864"/>
          <a:lstStyle/>
          <a:p>
            <a:pPr algn="ctr"/>
          </a:p>
        </p:txBody>
      </p:sp>
      <p:sp>
        <p:nvSpPr>
          <p:cNvPr id="14" name="Oval 13"/>
          <p:cNvSpPr/>
          <p:nvPr/>
        </p:nvSpPr>
        <p:spPr>
          <a:xfrm>
            <a:off x="3497580" y="1874520"/>
            <a:ext cx="457200" cy="457200"/>
          </a:xfrm>
          <a:prstGeom prst="ellipse">
            <a:avLst/>
          </a:prstGeom>
          <a:solidFill>
            <a:srgbClr val="F2643D"/>
          </a:solidFill>
          <a:ln>
            <a:noFill/>
          </a:ln>
        </p:spPr>
        <p:txBody>
          <a:bodyPr rtlCol="0" anchor="ctr" wrap="square" lIns="54864" rIns="54864" tIns="54864" bIns="54864"/>
          <a:lstStyle/>
          <a:p>
            <a:pPr algn="ctr"/>
          </a:p>
        </p:txBody>
      </p:sp>
      <p:pic>
        <p:nvPicPr>
          <p:cNvPr id="15" name="Picture 14" descr="cogs_w.png"/>
          <p:cNvPicPr>
            <a:picLocks noChangeAspect="1"/>
          </p:cNvPicPr>
          <p:nvPr/>
        </p:nvPicPr>
        <p:blipFill>
          <a:blip r:embed="rId4"/>
          <a:stretch>
            <a:fillRect/>
          </a:stretch>
        </p:blipFill>
        <p:spPr>
          <a:xfrm>
            <a:off x="3611880" y="1988820"/>
            <a:ext cx="228600" cy="228600"/>
          </a:xfrm>
          <a:prstGeom prst="rect">
            <a:avLst/>
          </a:prstGeom>
        </p:spPr>
      </p:pic>
      <p:sp>
        <p:nvSpPr>
          <p:cNvPr id="16" name="TextBox 15"/>
          <p:cNvSpPr txBox="1"/>
          <p:nvPr/>
        </p:nvSpPr>
        <p:spPr>
          <a:xfrm>
            <a:off x="4091939" y="1847088"/>
            <a:ext cx="1600200" cy="512064"/>
          </a:xfrm>
          <a:prstGeom prst="rect">
            <a:avLst/>
          </a:prstGeom>
          <a:noFill/>
        </p:spPr>
        <p:txBody>
          <a:bodyPr wrap="square" anchor="ctr" lIns="0" rIns="0" tIns="0" bIns="0"/>
          <a:lstStyle/>
          <a:p>
            <a:pPr algn="l">
              <a:spcAft>
                <a:spcPts val="0"/>
              </a:spcAft>
            </a:pPr>
            <a:r>
              <a:rPr sz="1450" b="1" i="0">
                <a:solidFill>
                  <a:srgbClr val="17153A"/>
                </a:solidFill>
                <a:latin typeface="Calibri"/>
              </a:rPr>
              <a:t>Frameworks &amp; runtime</a:t>
            </a:r>
          </a:p>
          <a:p>
            <a:pPr algn="l">
              <a:spcAft>
                <a:spcPts val="0"/>
              </a:spcAft>
            </a:pPr>
            <a:r>
              <a:rPr sz="1100" b="1" i="0">
                <a:solidFill>
                  <a:srgbClr val="F2643D"/>
                </a:solidFill>
                <a:latin typeface="Calibri"/>
              </a:rPr>
              <a:t>[4] [10]</a:t>
            </a:r>
          </a:p>
        </p:txBody>
      </p:sp>
      <p:sp>
        <p:nvSpPr>
          <p:cNvPr id="17" name="TextBox 16"/>
          <p:cNvSpPr txBox="1"/>
          <p:nvPr/>
        </p:nvSpPr>
        <p:spPr>
          <a:xfrm>
            <a:off x="3497580" y="2468880"/>
            <a:ext cx="2148840" cy="896111"/>
          </a:xfrm>
          <a:prstGeom prst="rect">
            <a:avLst/>
          </a:prstGeom>
          <a:noFill/>
        </p:spPr>
        <p:txBody>
          <a:bodyPr wrap="square" anchor="t" lIns="0" rIns="0" tIns="0" bIns="0"/>
          <a:lstStyle/>
          <a:p>
            <a:pPr algn="l">
              <a:spcAft>
                <a:spcPts val="400"/>
              </a:spcAft>
            </a:pPr>
            <a:r>
              <a:rPr sz="1300" b="0" i="0">
                <a:solidFill>
                  <a:srgbClr val="1F1D33"/>
                </a:solidFill>
                <a:latin typeface="Calibri"/>
              </a:rPr>
              <a:t>Separate the agent's blueprint from its execution; hybrid frameworks scale coordination.</a:t>
            </a:r>
          </a:p>
        </p:txBody>
      </p:sp>
      <p:sp>
        <p:nvSpPr>
          <p:cNvPr id="18" name="Rounded Rectangle 17"/>
          <p:cNvSpPr/>
          <p:nvPr/>
        </p:nvSpPr>
        <p:spPr>
          <a:xfrm>
            <a:off x="6080759" y="1691640"/>
            <a:ext cx="2514600" cy="1737360"/>
          </a:xfrm>
          <a:prstGeom prst="roundRect">
            <a:avLst>
              <a:gd name="adj" fmla="val 6315"/>
            </a:avLst>
          </a:prstGeom>
          <a:solidFill>
            <a:srgbClr val="F5F5FA"/>
          </a:solidFill>
          <a:ln>
            <a:noFill/>
          </a:ln>
        </p:spPr>
        <p:txBody>
          <a:bodyPr rtlCol="0" anchor="ctr" wrap="square" lIns="54864" rIns="54864" tIns="54864" bIns="54864"/>
          <a:lstStyle/>
          <a:p>
            <a:pPr algn="ctr"/>
          </a:p>
        </p:txBody>
      </p:sp>
      <p:sp>
        <p:nvSpPr>
          <p:cNvPr id="19" name="Oval 18"/>
          <p:cNvSpPr/>
          <p:nvPr/>
        </p:nvSpPr>
        <p:spPr>
          <a:xfrm>
            <a:off x="6263640" y="1874520"/>
            <a:ext cx="457200" cy="457200"/>
          </a:xfrm>
          <a:prstGeom prst="ellipse">
            <a:avLst/>
          </a:prstGeom>
          <a:solidFill>
            <a:srgbClr val="5B4CDB"/>
          </a:solidFill>
          <a:ln>
            <a:noFill/>
          </a:ln>
        </p:spPr>
        <p:txBody>
          <a:bodyPr rtlCol="0" anchor="ctr" wrap="square" lIns="54864" rIns="54864" tIns="54864" bIns="54864"/>
          <a:lstStyle/>
          <a:p>
            <a:pPr algn="ctr"/>
          </a:p>
        </p:txBody>
      </p:sp>
      <p:pic>
        <p:nvPicPr>
          <p:cNvPr id="20" name="Picture 19" descr="db_w.png"/>
          <p:cNvPicPr>
            <a:picLocks noChangeAspect="1"/>
          </p:cNvPicPr>
          <p:nvPr/>
        </p:nvPicPr>
        <p:blipFill>
          <a:blip r:embed="rId5"/>
          <a:stretch>
            <a:fillRect/>
          </a:stretch>
        </p:blipFill>
        <p:spPr>
          <a:xfrm>
            <a:off x="6377940" y="1988820"/>
            <a:ext cx="228600" cy="228600"/>
          </a:xfrm>
          <a:prstGeom prst="rect">
            <a:avLst/>
          </a:prstGeom>
        </p:spPr>
      </p:pic>
      <p:sp>
        <p:nvSpPr>
          <p:cNvPr id="21" name="TextBox 20"/>
          <p:cNvSpPr txBox="1"/>
          <p:nvPr/>
        </p:nvSpPr>
        <p:spPr>
          <a:xfrm>
            <a:off x="6857999" y="1847088"/>
            <a:ext cx="1600200" cy="512064"/>
          </a:xfrm>
          <a:prstGeom prst="rect">
            <a:avLst/>
          </a:prstGeom>
          <a:noFill/>
        </p:spPr>
        <p:txBody>
          <a:bodyPr wrap="square" anchor="ctr" lIns="0" rIns="0" tIns="0" bIns="0"/>
          <a:lstStyle/>
          <a:p>
            <a:pPr algn="l">
              <a:spcAft>
                <a:spcPts val="0"/>
              </a:spcAft>
            </a:pPr>
            <a:r>
              <a:rPr sz="1450" b="1" i="0">
                <a:solidFill>
                  <a:srgbClr val="17153A"/>
                </a:solidFill>
                <a:latin typeface="Calibri"/>
              </a:rPr>
              <a:t>Memory</a:t>
            </a:r>
          </a:p>
          <a:p>
            <a:pPr algn="l">
              <a:spcAft>
                <a:spcPts val="0"/>
              </a:spcAft>
            </a:pPr>
            <a:r>
              <a:rPr sz="1100" b="1" i="0">
                <a:solidFill>
                  <a:srgbClr val="5B4CDB"/>
                </a:solidFill>
                <a:latin typeface="Calibri"/>
              </a:rPr>
              <a:t>[5]</a:t>
            </a:r>
          </a:p>
        </p:txBody>
      </p:sp>
      <p:sp>
        <p:nvSpPr>
          <p:cNvPr id="22" name="TextBox 21"/>
          <p:cNvSpPr txBox="1"/>
          <p:nvPr/>
        </p:nvSpPr>
        <p:spPr>
          <a:xfrm>
            <a:off x="6263640" y="2468880"/>
            <a:ext cx="2148840" cy="896111"/>
          </a:xfrm>
          <a:prstGeom prst="rect">
            <a:avLst/>
          </a:prstGeom>
          <a:noFill/>
        </p:spPr>
        <p:txBody>
          <a:bodyPr wrap="square" anchor="t" lIns="0" rIns="0" tIns="0" bIns="0"/>
          <a:lstStyle/>
          <a:p>
            <a:pPr algn="l">
              <a:spcAft>
                <a:spcPts val="400"/>
              </a:spcAft>
            </a:pPr>
            <a:r>
              <a:rPr sz="1300" b="0" i="0">
                <a:solidFill>
                  <a:srgbClr val="1F1D33"/>
                </a:solidFill>
                <a:latin typeface="Calibri"/>
              </a:rPr>
              <a:t>Agents learn when to store, retrieve, summarize or discard memory (AgeMem).</a:t>
            </a:r>
          </a:p>
        </p:txBody>
      </p:sp>
      <p:sp>
        <p:nvSpPr>
          <p:cNvPr id="23" name="Rounded Rectangle 22"/>
          <p:cNvSpPr/>
          <p:nvPr/>
        </p:nvSpPr>
        <p:spPr>
          <a:xfrm>
            <a:off x="548640" y="3566160"/>
            <a:ext cx="2514600" cy="1737360"/>
          </a:xfrm>
          <a:prstGeom prst="roundRect">
            <a:avLst>
              <a:gd name="adj" fmla="val 6315"/>
            </a:avLst>
          </a:prstGeom>
          <a:solidFill>
            <a:srgbClr val="F5F5FA"/>
          </a:solidFill>
          <a:ln>
            <a:noFill/>
          </a:ln>
        </p:spPr>
        <p:txBody>
          <a:bodyPr rtlCol="0" anchor="ctr" wrap="square" lIns="54864" rIns="54864" tIns="54864" bIns="54864"/>
          <a:lstStyle/>
          <a:p>
            <a:pPr algn="ctr"/>
          </a:p>
        </p:txBody>
      </p:sp>
      <p:sp>
        <p:nvSpPr>
          <p:cNvPr id="24" name="Oval 23"/>
          <p:cNvSpPr/>
          <p:nvPr/>
        </p:nvSpPr>
        <p:spPr>
          <a:xfrm>
            <a:off x="731520" y="3749039"/>
            <a:ext cx="457200" cy="457200"/>
          </a:xfrm>
          <a:prstGeom prst="ellipse">
            <a:avLst/>
          </a:prstGeom>
          <a:solidFill>
            <a:srgbClr val="5B4CDB"/>
          </a:solidFill>
          <a:ln>
            <a:noFill/>
          </a:ln>
        </p:spPr>
        <p:txBody>
          <a:bodyPr rtlCol="0" anchor="ctr" wrap="square" lIns="54864" rIns="54864" tIns="54864" bIns="54864"/>
          <a:lstStyle/>
          <a:p>
            <a:pPr algn="ctr"/>
          </a:p>
        </p:txBody>
      </p:sp>
      <p:pic>
        <p:nvPicPr>
          <p:cNvPr id="25" name="Picture 24" descr="plug_w.png"/>
          <p:cNvPicPr>
            <a:picLocks noChangeAspect="1"/>
          </p:cNvPicPr>
          <p:nvPr/>
        </p:nvPicPr>
        <p:blipFill>
          <a:blip r:embed="rId6"/>
          <a:stretch>
            <a:fillRect/>
          </a:stretch>
        </p:blipFill>
        <p:spPr>
          <a:xfrm>
            <a:off x="845820" y="3863339"/>
            <a:ext cx="228600" cy="228600"/>
          </a:xfrm>
          <a:prstGeom prst="rect">
            <a:avLst/>
          </a:prstGeom>
        </p:spPr>
      </p:pic>
      <p:sp>
        <p:nvSpPr>
          <p:cNvPr id="26" name="TextBox 25"/>
          <p:cNvSpPr txBox="1"/>
          <p:nvPr/>
        </p:nvSpPr>
        <p:spPr>
          <a:xfrm>
            <a:off x="1325880" y="3721608"/>
            <a:ext cx="1600200" cy="512064"/>
          </a:xfrm>
          <a:prstGeom prst="rect">
            <a:avLst/>
          </a:prstGeom>
          <a:noFill/>
        </p:spPr>
        <p:txBody>
          <a:bodyPr wrap="square" anchor="ctr" lIns="0" rIns="0" tIns="0" bIns="0"/>
          <a:lstStyle/>
          <a:p>
            <a:pPr algn="l">
              <a:spcAft>
                <a:spcPts val="0"/>
              </a:spcAft>
            </a:pPr>
            <a:r>
              <a:rPr sz="1450" b="1" i="0">
                <a:solidFill>
                  <a:srgbClr val="17153A"/>
                </a:solidFill>
                <a:latin typeface="Calibri"/>
              </a:rPr>
              <a:t>Protocols</a:t>
            </a:r>
          </a:p>
          <a:p>
            <a:pPr algn="l">
              <a:spcAft>
                <a:spcPts val="0"/>
              </a:spcAft>
            </a:pPr>
            <a:r>
              <a:rPr sz="1100" b="1" i="0">
                <a:solidFill>
                  <a:srgbClr val="5B4CDB"/>
                </a:solidFill>
                <a:latin typeface="Calibri"/>
              </a:rPr>
              <a:t>[6]</a:t>
            </a:r>
          </a:p>
        </p:txBody>
      </p:sp>
      <p:sp>
        <p:nvSpPr>
          <p:cNvPr id="27" name="TextBox 26"/>
          <p:cNvSpPr txBox="1"/>
          <p:nvPr/>
        </p:nvSpPr>
        <p:spPr>
          <a:xfrm>
            <a:off x="731520" y="4343400"/>
            <a:ext cx="2148840" cy="896111"/>
          </a:xfrm>
          <a:prstGeom prst="rect">
            <a:avLst/>
          </a:prstGeom>
          <a:noFill/>
        </p:spPr>
        <p:txBody>
          <a:bodyPr wrap="square" anchor="t" lIns="0" rIns="0" tIns="0" bIns="0"/>
          <a:lstStyle/>
          <a:p>
            <a:pPr algn="l">
              <a:spcAft>
                <a:spcPts val="400"/>
              </a:spcAft>
            </a:pPr>
            <a:r>
              <a:rPr sz="1300" b="0" i="0">
                <a:solidFill>
                  <a:srgbClr val="1F1D33"/>
                </a:solidFill>
                <a:latin typeface="Calibri"/>
              </a:rPr>
              <a:t>MCP standardizes tool and data access; A2A standardizes agent-to-agent messaging.</a:t>
            </a:r>
          </a:p>
        </p:txBody>
      </p:sp>
      <p:sp>
        <p:nvSpPr>
          <p:cNvPr id="28" name="Rounded Rectangle 27"/>
          <p:cNvSpPr/>
          <p:nvPr/>
        </p:nvSpPr>
        <p:spPr>
          <a:xfrm>
            <a:off x="3314700" y="3566160"/>
            <a:ext cx="2514600" cy="1737360"/>
          </a:xfrm>
          <a:prstGeom prst="roundRect">
            <a:avLst>
              <a:gd name="adj" fmla="val 6315"/>
            </a:avLst>
          </a:prstGeom>
          <a:solidFill>
            <a:srgbClr val="F5F5FA"/>
          </a:solidFill>
          <a:ln>
            <a:noFill/>
          </a:ln>
        </p:spPr>
        <p:txBody>
          <a:bodyPr rtlCol="0" anchor="ctr" wrap="square" lIns="54864" rIns="54864" tIns="54864" bIns="54864"/>
          <a:lstStyle/>
          <a:p>
            <a:pPr algn="ctr"/>
          </a:p>
        </p:txBody>
      </p:sp>
      <p:sp>
        <p:nvSpPr>
          <p:cNvPr id="29" name="Oval 28"/>
          <p:cNvSpPr/>
          <p:nvPr/>
        </p:nvSpPr>
        <p:spPr>
          <a:xfrm>
            <a:off x="3497580" y="3749039"/>
            <a:ext cx="457200" cy="457200"/>
          </a:xfrm>
          <a:prstGeom prst="ellipse">
            <a:avLst/>
          </a:prstGeom>
          <a:solidFill>
            <a:srgbClr val="F2643D"/>
          </a:solidFill>
          <a:ln>
            <a:noFill/>
          </a:ln>
        </p:spPr>
        <p:txBody>
          <a:bodyPr rtlCol="0" anchor="ctr" wrap="square" lIns="54864" rIns="54864" tIns="54864" bIns="54864"/>
          <a:lstStyle/>
          <a:p>
            <a:pPr algn="ctr"/>
          </a:p>
        </p:txBody>
      </p:sp>
      <p:pic>
        <p:nvPicPr>
          <p:cNvPr id="30" name="Picture 29" descr="shield_w.png"/>
          <p:cNvPicPr>
            <a:picLocks noChangeAspect="1"/>
          </p:cNvPicPr>
          <p:nvPr/>
        </p:nvPicPr>
        <p:blipFill>
          <a:blip r:embed="rId7"/>
          <a:stretch>
            <a:fillRect/>
          </a:stretch>
        </p:blipFill>
        <p:spPr>
          <a:xfrm>
            <a:off x="3611880" y="3863339"/>
            <a:ext cx="228600" cy="228600"/>
          </a:xfrm>
          <a:prstGeom prst="rect">
            <a:avLst/>
          </a:prstGeom>
        </p:spPr>
      </p:pic>
      <p:sp>
        <p:nvSpPr>
          <p:cNvPr id="31" name="TextBox 30"/>
          <p:cNvSpPr txBox="1"/>
          <p:nvPr/>
        </p:nvSpPr>
        <p:spPr>
          <a:xfrm>
            <a:off x="4091939" y="3721608"/>
            <a:ext cx="1600200" cy="512064"/>
          </a:xfrm>
          <a:prstGeom prst="rect">
            <a:avLst/>
          </a:prstGeom>
          <a:noFill/>
        </p:spPr>
        <p:txBody>
          <a:bodyPr wrap="square" anchor="ctr" lIns="0" rIns="0" tIns="0" bIns="0"/>
          <a:lstStyle/>
          <a:p>
            <a:pPr algn="l">
              <a:spcAft>
                <a:spcPts val="0"/>
              </a:spcAft>
            </a:pPr>
            <a:r>
              <a:rPr sz="1450" b="1" i="0">
                <a:solidFill>
                  <a:srgbClr val="17153A"/>
                </a:solidFill>
                <a:latin typeface="Calibri"/>
              </a:rPr>
              <a:t>Security &amp; testing</a:t>
            </a:r>
          </a:p>
          <a:p>
            <a:pPr algn="l">
              <a:spcAft>
                <a:spcPts val="0"/>
              </a:spcAft>
            </a:pPr>
            <a:r>
              <a:rPr sz="1100" b="1" i="0">
                <a:solidFill>
                  <a:srgbClr val="F2643D"/>
                </a:solidFill>
                <a:latin typeface="Calibri"/>
              </a:rPr>
              <a:t>[7] [8]</a:t>
            </a:r>
          </a:p>
        </p:txBody>
      </p:sp>
      <p:sp>
        <p:nvSpPr>
          <p:cNvPr id="32" name="TextBox 31"/>
          <p:cNvSpPr txBox="1"/>
          <p:nvPr/>
        </p:nvSpPr>
        <p:spPr>
          <a:xfrm>
            <a:off x="3497580" y="4343400"/>
            <a:ext cx="2148840" cy="896111"/>
          </a:xfrm>
          <a:prstGeom prst="rect">
            <a:avLst/>
          </a:prstGeom>
          <a:noFill/>
        </p:spPr>
        <p:txBody>
          <a:bodyPr wrap="square" anchor="t" lIns="0" rIns="0" tIns="0" bIns="0"/>
          <a:lstStyle/>
          <a:p>
            <a:pPr algn="l">
              <a:spcAft>
                <a:spcPts val="400"/>
              </a:spcAft>
            </a:pPr>
            <a:r>
              <a:rPr sz="1300" b="0" i="0">
                <a:solidFill>
                  <a:srgbClr val="1F1D33"/>
                </a:solidFill>
                <a:latin typeface="Calibri"/>
              </a:rPr>
              <a:t>Prompt injection, planning hallucination and tool abuse need fuzzing and guardrails.</a:t>
            </a:r>
          </a:p>
        </p:txBody>
      </p:sp>
      <p:sp>
        <p:nvSpPr>
          <p:cNvPr id="33" name="Rounded Rectangle 32"/>
          <p:cNvSpPr/>
          <p:nvPr/>
        </p:nvSpPr>
        <p:spPr>
          <a:xfrm>
            <a:off x="6080759" y="3566160"/>
            <a:ext cx="2514600" cy="1737360"/>
          </a:xfrm>
          <a:prstGeom prst="roundRect">
            <a:avLst>
              <a:gd name="adj" fmla="val 6315"/>
            </a:avLst>
          </a:prstGeom>
          <a:solidFill>
            <a:srgbClr val="F5F5FA"/>
          </a:solidFill>
          <a:ln>
            <a:noFill/>
          </a:ln>
        </p:spPr>
        <p:txBody>
          <a:bodyPr rtlCol="0" anchor="ctr" wrap="square" lIns="54864" rIns="54864" tIns="54864" bIns="54864"/>
          <a:lstStyle/>
          <a:p>
            <a:pPr algn="ctr"/>
          </a:p>
        </p:txBody>
      </p:sp>
      <p:sp>
        <p:nvSpPr>
          <p:cNvPr id="34" name="Oval 33"/>
          <p:cNvSpPr/>
          <p:nvPr/>
        </p:nvSpPr>
        <p:spPr>
          <a:xfrm>
            <a:off x="6263640" y="3749039"/>
            <a:ext cx="457200" cy="457200"/>
          </a:xfrm>
          <a:prstGeom prst="ellipse">
            <a:avLst/>
          </a:prstGeom>
          <a:solidFill>
            <a:srgbClr val="5B4CDB"/>
          </a:solidFill>
          <a:ln>
            <a:noFill/>
          </a:ln>
        </p:spPr>
        <p:txBody>
          <a:bodyPr rtlCol="0" anchor="ctr" wrap="square" lIns="54864" rIns="54864" tIns="54864" bIns="54864"/>
          <a:lstStyle/>
          <a:p>
            <a:pPr algn="ctr"/>
          </a:p>
        </p:txBody>
      </p:sp>
      <p:pic>
        <p:nvPicPr>
          <p:cNvPr id="35" name="Picture 34" descr="robot_w.png"/>
          <p:cNvPicPr>
            <a:picLocks noChangeAspect="1"/>
          </p:cNvPicPr>
          <p:nvPr/>
        </p:nvPicPr>
        <p:blipFill>
          <a:blip r:embed="rId8"/>
          <a:stretch>
            <a:fillRect/>
          </a:stretch>
        </p:blipFill>
        <p:spPr>
          <a:xfrm>
            <a:off x="6377940" y="3863339"/>
            <a:ext cx="228600" cy="228600"/>
          </a:xfrm>
          <a:prstGeom prst="rect">
            <a:avLst/>
          </a:prstGeom>
        </p:spPr>
      </p:pic>
      <p:sp>
        <p:nvSpPr>
          <p:cNvPr id="36" name="TextBox 35"/>
          <p:cNvSpPr txBox="1"/>
          <p:nvPr/>
        </p:nvSpPr>
        <p:spPr>
          <a:xfrm>
            <a:off x="6857999" y="3721608"/>
            <a:ext cx="1600200" cy="512064"/>
          </a:xfrm>
          <a:prstGeom prst="rect">
            <a:avLst/>
          </a:prstGeom>
          <a:noFill/>
        </p:spPr>
        <p:txBody>
          <a:bodyPr wrap="square" anchor="ctr" lIns="0" rIns="0" tIns="0" bIns="0"/>
          <a:lstStyle/>
          <a:p>
            <a:pPr algn="l">
              <a:spcAft>
                <a:spcPts val="0"/>
              </a:spcAft>
            </a:pPr>
            <a:r>
              <a:rPr sz="1450" b="1" i="0">
                <a:solidFill>
                  <a:srgbClr val="17153A"/>
                </a:solidFill>
                <a:latin typeface="Calibri"/>
              </a:rPr>
              <a:t>Planning &amp; multi-agent</a:t>
            </a:r>
          </a:p>
          <a:p>
            <a:pPr algn="l">
              <a:spcAft>
                <a:spcPts val="0"/>
              </a:spcAft>
            </a:pPr>
            <a:r>
              <a:rPr sz="1100" b="1" i="0">
                <a:solidFill>
                  <a:srgbClr val="5B4CDB"/>
                </a:solidFill>
                <a:latin typeface="Calibri"/>
              </a:rPr>
              <a:t>[9] [11] [12]</a:t>
            </a:r>
          </a:p>
        </p:txBody>
      </p:sp>
      <p:sp>
        <p:nvSpPr>
          <p:cNvPr id="37" name="TextBox 36"/>
          <p:cNvSpPr txBox="1"/>
          <p:nvPr/>
        </p:nvSpPr>
        <p:spPr>
          <a:xfrm>
            <a:off x="6263640" y="4343400"/>
            <a:ext cx="2148840" cy="896111"/>
          </a:xfrm>
          <a:prstGeom prst="rect">
            <a:avLst/>
          </a:prstGeom>
          <a:noFill/>
        </p:spPr>
        <p:txBody>
          <a:bodyPr wrap="square" anchor="t" lIns="0" rIns="0" tIns="0" bIns="0"/>
          <a:lstStyle/>
          <a:p>
            <a:pPr algn="l">
              <a:spcAft>
                <a:spcPts val="400"/>
              </a:spcAft>
            </a:pPr>
            <a:r>
              <a:rPr sz="1300" b="0" i="0">
                <a:solidFill>
                  <a:srgbClr val="1F1D33"/>
                </a:solidFill>
                <a:latin typeface="Calibri"/>
              </a:rPr>
              <a:t>ReAct loops, grounded planning with replanning, orchestrator-worker agents.</a:t>
            </a:r>
          </a:p>
        </p:txBody>
      </p:sp>
      <p:sp>
        <p:nvSpPr>
          <p:cNvPr id="38" name="Rounded Rectangle 37"/>
          <p:cNvSpPr/>
          <p:nvPr/>
        </p:nvSpPr>
        <p:spPr>
          <a:xfrm>
            <a:off x="548640" y="5532120"/>
            <a:ext cx="8046720" cy="658368"/>
          </a:xfrm>
          <a:prstGeom prst="roundRect">
            <a:avLst>
              <a:gd name="adj" fmla="val 13888"/>
            </a:avLst>
          </a:prstGeom>
          <a:solidFill>
            <a:srgbClr val="17153A"/>
          </a:solidFill>
          <a:ln>
            <a:noFill/>
          </a:ln>
        </p:spPr>
        <p:txBody>
          <a:bodyPr rtlCol="0" anchor="ctr" wrap="square" lIns="54864" rIns="54864" tIns="54864" bIns="54864"/>
          <a:lstStyle/>
          <a:p>
            <a:pPr algn="ctr"/>
          </a:p>
        </p:txBody>
      </p:sp>
      <p:pic>
        <p:nvPicPr>
          <p:cNvPr id="39" name="Picture 38" descr="lightbulb_aa.png"/>
          <p:cNvPicPr>
            <a:picLocks noChangeAspect="1"/>
          </p:cNvPicPr>
          <p:nvPr/>
        </p:nvPicPr>
        <p:blipFill>
          <a:blip r:embed="rId9"/>
          <a:stretch>
            <a:fillRect/>
          </a:stretch>
        </p:blipFill>
        <p:spPr>
          <a:xfrm>
            <a:off x="749808" y="5696712"/>
            <a:ext cx="329184" cy="329184"/>
          </a:xfrm>
          <a:prstGeom prst="rect">
            <a:avLst/>
          </a:prstGeom>
        </p:spPr>
      </p:pic>
      <p:sp>
        <p:nvSpPr>
          <p:cNvPr id="40" name="TextBox 39"/>
          <p:cNvSpPr txBox="1"/>
          <p:nvPr/>
        </p:nvSpPr>
        <p:spPr>
          <a:xfrm>
            <a:off x="1234440" y="5532120"/>
            <a:ext cx="7223760" cy="658368"/>
          </a:xfrm>
          <a:prstGeom prst="rect">
            <a:avLst/>
          </a:prstGeom>
          <a:noFill/>
        </p:spPr>
        <p:txBody>
          <a:bodyPr wrap="square" anchor="ctr" lIns="0" rIns="0" tIns="0" bIns="0"/>
          <a:lstStyle/>
          <a:p>
            <a:pPr algn="l">
              <a:spcAft>
                <a:spcPts val="400"/>
              </a:spcAft>
            </a:pPr>
            <a:r>
              <a:rPr sz="1350" b="1" i="0">
                <a:solidFill>
                  <a:srgbClr val="F2643D"/>
                </a:solidFill>
                <a:latin typeface="Calibri"/>
              </a:rPr>
              <a:t>Common finding  </a:t>
            </a:r>
            <a:r>
              <a:rPr sz="1350" b="0" i="0">
                <a:solidFill>
                  <a:srgbClr val="FFFFFF"/>
                </a:solidFill>
                <a:latin typeface="Calibri"/>
              </a:rPr>
              <a:t>reliability depends on orchestration, memory, coordination, evaluation and safeguards — not on model capability alone.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04  ·  LITERATURE SURVEY</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Literature survey in tabular form (1/2)</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6</a:t>
            </a:fld>
          </a:p>
        </p:txBody>
      </p:sp>
      <p:graphicFrame>
        <p:nvGraphicFramePr>
          <p:cNvPr id="7" name="Table 6"/>
          <p:cNvGraphicFramePr>
            <a:graphicFrameLocks noGrp="1"/>
          </p:cNvGraphicFramePr>
          <p:nvPr/>
        </p:nvGraphicFramePr>
        <p:xfrm>
          <a:off x="548640" y="1463040"/>
          <a:ext cx="8046720" cy="4892040"/>
        </p:xfrm>
        <a:graphic>
          <a:graphicData uri="http://schemas.openxmlformats.org/drawingml/2006/table">
            <a:tbl>
              <a:tblPr firstRow="0" bandRow="0">
                <a:tableStyleId>{5C22544A-7EE6-4342-B048-85BDC9FD1C3A}</a:tableStyleId>
              </a:tblPr>
              <a:tblGrid>
                <a:gridCol w="548640"/>
                <a:gridCol w="3383280"/>
                <a:gridCol w="4114800"/>
              </a:tblGrid>
              <a:tr h="411480">
                <a:tc>
                  <a:txBody>
                    <a:bodyPr wrap="square"/>
                    <a:lstStyle/>
                    <a:p>
                      <a:pPr algn="l">
                        <a:spcAft>
                          <a:spcPts val="400"/>
                        </a:spcAft>
                      </a:pPr>
                      <a:r>
                        <a:rPr sz="1100" b="1" i="0" spc="100">
                          <a:solidFill>
                            <a:srgbClr val="FFFFFF"/>
                          </a:solidFill>
                          <a:latin typeface="Calibri"/>
                        </a:rPr>
                        <a:t>#</a:t>
                      </a:r>
                    </a:p>
                  </a:txBody>
                  <a:tcPr marL="91440" marR="91440" marT="45720" marB="45720" anchor="ctr">
                    <a:solidFill>
                      <a:srgbClr val="17153A"/>
                    </a:solidFill>
                  </a:tcPr>
                </a:tc>
                <a:tc>
                  <a:txBody>
                    <a:bodyPr wrap="square"/>
                    <a:lstStyle/>
                    <a:p>
                      <a:pPr algn="l">
                        <a:spcAft>
                          <a:spcPts val="400"/>
                        </a:spcAft>
                      </a:pPr>
                      <a:r>
                        <a:rPr sz="1100" b="1" i="0" spc="100">
                          <a:solidFill>
                            <a:srgbClr val="FFFFFF"/>
                          </a:solidFill>
                          <a:latin typeface="Calibri"/>
                        </a:rPr>
                        <a:t>Paper</a:t>
                      </a:r>
                    </a:p>
                  </a:txBody>
                  <a:tcPr marL="91440" marR="91440" marT="45720" marB="45720" anchor="ctr">
                    <a:solidFill>
                      <a:srgbClr val="17153A"/>
                    </a:solidFill>
                  </a:tcPr>
                </a:tc>
                <a:tc>
                  <a:txBody>
                    <a:bodyPr wrap="square"/>
                    <a:lstStyle/>
                    <a:p>
                      <a:pPr algn="l">
                        <a:spcAft>
                          <a:spcPts val="400"/>
                        </a:spcAft>
                      </a:pPr>
                      <a:r>
                        <a:rPr sz="1100" b="1" i="0" spc="100">
                          <a:solidFill>
                            <a:srgbClr val="FFFFFF"/>
                          </a:solidFill>
                          <a:latin typeface="Calibri"/>
                        </a:rPr>
                        <a:t>Work reported</a:t>
                      </a:r>
                    </a:p>
                  </a:txBody>
                  <a:tcPr marL="91440" marR="91440" marT="45720" marB="45720" anchor="ctr">
                    <a:solidFill>
                      <a:srgbClr val="17153A"/>
                    </a:solidFill>
                  </a:tcPr>
                </a:tc>
              </a:tr>
              <a:tr h="896112">
                <a:tc>
                  <a:txBody>
                    <a:bodyPr wrap="square"/>
                    <a:lstStyle/>
                    <a:p>
                      <a:pPr algn="l">
                        <a:spcAft>
                          <a:spcPts val="400"/>
                        </a:spcAft>
                      </a:pPr>
                      <a:r>
                        <a:rPr sz="1500" b="1" i="0">
                          <a:solidFill>
                            <a:srgbClr val="5B4CDB"/>
                          </a:solidFill>
                          <a:latin typeface="Cambria"/>
                        </a:rPr>
                        <a:t>01</a:t>
                      </a:r>
                    </a:p>
                  </a:txBody>
                  <a:tcPr marL="91440" marR="91440" marT="45720" marB="45720" anchor="ctr">
                    <a:solidFill>
                      <a:srgbClr val="FFFFFF"/>
                    </a:solidFill>
                  </a:tcPr>
                </a:tc>
                <a:tc>
                  <a:txBody>
                    <a:bodyPr wrap="square"/>
                    <a:lstStyle/>
                    <a:p>
                      <a:pPr algn="l">
                        <a:spcAft>
                          <a:spcPts val="200"/>
                        </a:spcAft>
                      </a:pPr>
                      <a:r>
                        <a:rPr sz="1250" b="1" i="0">
                          <a:solidFill>
                            <a:srgbClr val="17153A"/>
                          </a:solidFill>
                          <a:latin typeface="Calibri"/>
                        </a:rPr>
                        <a:t>A Survey on LLM Agents: Architecture, Applications, and Challenges</a:t>
                      </a:r>
                    </a:p>
                    <a:p>
                      <a:pPr algn="l">
                        <a:spcAft>
                          <a:spcPts val="200"/>
                        </a:spcAft>
                      </a:pPr>
                      <a:r>
                        <a:rPr sz="1100" b="0" i="0">
                          <a:solidFill>
                            <a:srgbClr val="6A6886"/>
                          </a:solidFill>
                          <a:latin typeface="Calibri"/>
                        </a:rPr>
                        <a:t>IEEE ICOIN, 2026</a:t>
                      </a:r>
                    </a:p>
                  </a:txBody>
                  <a:tcPr marL="91440" marR="91440" marT="45720" marB="45720" anchor="ctr">
                    <a:solidFill>
                      <a:srgbClr val="FFFFFF"/>
                    </a:solidFill>
                  </a:tcPr>
                </a:tc>
                <a:tc>
                  <a:txBody>
                    <a:bodyPr wrap="square"/>
                    <a:lstStyle/>
                    <a:p>
                      <a:pPr algn="l">
                        <a:spcAft>
                          <a:spcPts val="400"/>
                        </a:spcAft>
                      </a:pPr>
                      <a:r>
                        <a:rPr sz="1250" b="0" i="0">
                          <a:solidFill>
                            <a:srgbClr val="1F1D33"/>
                          </a:solidFill>
                          <a:latin typeface="Calibri"/>
                        </a:rPr>
                        <a:t>Surveys agent architecture — memory, planning, tool use, control flows — plus evaluation, reliability and scalability.</a:t>
                      </a:r>
                    </a:p>
                  </a:txBody>
                  <a:tcPr marL="91440" marR="91440" marT="45720" marB="45720" anchor="ctr">
                    <a:solidFill>
                      <a:srgbClr val="FFFFFF"/>
                    </a:solidFill>
                  </a:tcPr>
                </a:tc>
              </a:tr>
              <a:tr h="896112">
                <a:tc>
                  <a:txBody>
                    <a:bodyPr wrap="square"/>
                    <a:lstStyle/>
                    <a:p>
                      <a:pPr algn="l">
                        <a:spcAft>
                          <a:spcPts val="400"/>
                        </a:spcAft>
                      </a:pPr>
                      <a:r>
                        <a:rPr sz="1500" b="1" i="0">
                          <a:solidFill>
                            <a:srgbClr val="5B4CDB"/>
                          </a:solidFill>
                          <a:latin typeface="Cambria"/>
                        </a:rPr>
                        <a:t>02</a:t>
                      </a:r>
                    </a:p>
                  </a:txBody>
                  <a:tcPr marL="91440" marR="91440" marT="45720" marB="45720" anchor="ctr">
                    <a:solidFill>
                      <a:srgbClr val="F5F5FA"/>
                    </a:solidFill>
                  </a:tcPr>
                </a:tc>
                <a:tc>
                  <a:txBody>
                    <a:bodyPr wrap="square"/>
                    <a:lstStyle/>
                    <a:p>
                      <a:pPr algn="l">
                        <a:spcAft>
                          <a:spcPts val="200"/>
                        </a:spcAft>
                      </a:pPr>
                      <a:r>
                        <a:rPr sz="1250" b="1" i="0">
                          <a:solidFill>
                            <a:srgbClr val="17153A"/>
                          </a:solidFill>
                          <a:latin typeface="Calibri"/>
                        </a:rPr>
                        <a:t>Agentic AI: Architectures, Taxonomies, and Evaluation of LLM Agents</a:t>
                      </a:r>
                    </a:p>
                    <a:p>
                      <a:pPr algn="l">
                        <a:spcAft>
                          <a:spcPts val="200"/>
                        </a:spcAft>
                      </a:pPr>
                      <a:r>
                        <a:rPr sz="1100" b="0" i="0">
                          <a:solidFill>
                            <a:srgbClr val="6A6886"/>
                          </a:solidFill>
                          <a:latin typeface="Calibri"/>
                        </a:rPr>
                        <a:t>V. Arunkumar, G. R. Gangadharan, R. Buyya · arXiv, 2026</a:t>
                      </a:r>
                    </a:p>
                  </a:txBody>
                  <a:tcPr marL="91440" marR="91440" marT="45720" marB="45720" anchor="ctr">
                    <a:solidFill>
                      <a:srgbClr val="F5F5FA"/>
                    </a:solidFill>
                  </a:tcPr>
                </a:tc>
                <a:tc>
                  <a:txBody>
                    <a:bodyPr wrap="square"/>
                    <a:lstStyle/>
                    <a:p>
                      <a:pPr algn="l">
                        <a:spcAft>
                          <a:spcPts val="400"/>
                        </a:spcAft>
                      </a:pPr>
                      <a:r>
                        <a:rPr sz="1250" b="0" i="0">
                          <a:solidFill>
                            <a:srgbClr val="1F1D33"/>
                          </a:solidFill>
                          <a:latin typeface="Calibri"/>
                        </a:rPr>
                        <a:t>Taxonomy of perception, planning, action, tools and collaboration; evaluation methods and failure modes.</a:t>
                      </a:r>
                    </a:p>
                  </a:txBody>
                  <a:tcPr marL="91440" marR="91440" marT="45720" marB="45720" anchor="ctr">
                    <a:solidFill>
                      <a:srgbClr val="F5F5FA"/>
                    </a:solidFill>
                  </a:tcPr>
                </a:tc>
              </a:tr>
              <a:tr h="896112">
                <a:tc>
                  <a:txBody>
                    <a:bodyPr wrap="square"/>
                    <a:lstStyle/>
                    <a:p>
                      <a:pPr algn="l">
                        <a:spcAft>
                          <a:spcPts val="400"/>
                        </a:spcAft>
                      </a:pPr>
                      <a:r>
                        <a:rPr sz="1500" b="1" i="0">
                          <a:solidFill>
                            <a:srgbClr val="5B4CDB"/>
                          </a:solidFill>
                          <a:latin typeface="Cambria"/>
                        </a:rPr>
                        <a:t>03</a:t>
                      </a:r>
                    </a:p>
                  </a:txBody>
                  <a:tcPr marL="91440" marR="91440" marT="45720" marB="45720" anchor="ctr">
                    <a:solidFill>
                      <a:srgbClr val="FFFFFF"/>
                    </a:solidFill>
                  </a:tcPr>
                </a:tc>
                <a:tc>
                  <a:txBody>
                    <a:bodyPr wrap="square"/>
                    <a:lstStyle/>
                    <a:p>
                      <a:pPr algn="l">
                        <a:spcAft>
                          <a:spcPts val="200"/>
                        </a:spcAft>
                      </a:pPr>
                      <a:r>
                        <a:rPr sz="1250" b="1" i="0">
                          <a:solidFill>
                            <a:srgbClr val="17153A"/>
                          </a:solidFill>
                          <a:latin typeface="Calibri"/>
                        </a:rPr>
                        <a:t>From Prompt-Response to Goal-Directed Systems</a:t>
                      </a:r>
                    </a:p>
                    <a:p>
                      <a:pPr algn="l">
                        <a:spcAft>
                          <a:spcPts val="200"/>
                        </a:spcAft>
                      </a:pPr>
                      <a:r>
                        <a:rPr sz="1100" b="0" i="0">
                          <a:solidFill>
                            <a:srgbClr val="6A6886"/>
                          </a:solidFill>
                          <a:latin typeface="Calibri"/>
                        </a:rPr>
                        <a:t>M. Alenezi · arXiv, 2026</a:t>
                      </a:r>
                    </a:p>
                  </a:txBody>
                  <a:tcPr marL="91440" marR="91440" marT="45720" marB="45720" anchor="ctr">
                    <a:solidFill>
                      <a:srgbClr val="FFFFFF"/>
                    </a:solidFill>
                  </a:tcPr>
                </a:tc>
                <a:tc>
                  <a:txBody>
                    <a:bodyPr wrap="square"/>
                    <a:lstStyle/>
                    <a:p>
                      <a:pPr algn="l">
                        <a:spcAft>
                          <a:spcPts val="400"/>
                        </a:spcAft>
                      </a:pPr>
                      <a:r>
                        <a:rPr sz="1250" b="0" i="0">
                          <a:solidFill>
                            <a:srgbClr val="1F1D33"/>
                          </a:solidFill>
                          <a:latin typeface="Calibri"/>
                        </a:rPr>
                        <a:t>Evolution of agent software architecture: typed tool interfaces, multi-agent topologies, governance, observability.</a:t>
                      </a:r>
                    </a:p>
                  </a:txBody>
                  <a:tcPr marL="91440" marR="91440" marT="45720" marB="45720" anchor="ctr">
                    <a:solidFill>
                      <a:srgbClr val="FFFFFF"/>
                    </a:solidFill>
                  </a:tcPr>
                </a:tc>
              </a:tr>
              <a:tr h="896112">
                <a:tc>
                  <a:txBody>
                    <a:bodyPr wrap="square"/>
                    <a:lstStyle/>
                    <a:p>
                      <a:pPr algn="l">
                        <a:spcAft>
                          <a:spcPts val="400"/>
                        </a:spcAft>
                      </a:pPr>
                      <a:r>
                        <a:rPr sz="1500" b="1" i="0">
                          <a:solidFill>
                            <a:srgbClr val="5B4CDB"/>
                          </a:solidFill>
                          <a:latin typeface="Cambria"/>
                        </a:rPr>
                        <a:t>04</a:t>
                      </a:r>
                    </a:p>
                  </a:txBody>
                  <a:tcPr marL="91440" marR="91440" marT="45720" marB="45720" anchor="ctr">
                    <a:solidFill>
                      <a:srgbClr val="F5F5FA"/>
                    </a:solidFill>
                  </a:tcPr>
                </a:tc>
                <a:tc>
                  <a:txBody>
                    <a:bodyPr wrap="square"/>
                    <a:lstStyle/>
                    <a:p>
                      <a:pPr algn="l">
                        <a:spcAft>
                          <a:spcPts val="200"/>
                        </a:spcAft>
                      </a:pPr>
                      <a:r>
                        <a:rPr sz="1250" b="1" i="0">
                          <a:solidFill>
                            <a:srgbClr val="17153A"/>
                          </a:solidFill>
                          <a:latin typeface="Calibri"/>
                        </a:rPr>
                        <a:t>The Auton Agentic AI Framework</a:t>
                      </a:r>
                    </a:p>
                    <a:p>
                      <a:pPr algn="l">
                        <a:spcAft>
                          <a:spcPts val="200"/>
                        </a:spcAft>
                      </a:pPr>
                      <a:r>
                        <a:rPr sz="1100" b="0" i="0">
                          <a:solidFill>
                            <a:srgbClr val="6A6886"/>
                          </a:solidFill>
                          <a:latin typeface="Calibri"/>
                        </a:rPr>
                        <a:t>S. Cao et al. · arXiv, 2026</a:t>
                      </a:r>
                    </a:p>
                  </a:txBody>
                  <a:tcPr marL="91440" marR="91440" marT="45720" marB="45720" anchor="ctr">
                    <a:solidFill>
                      <a:srgbClr val="F5F5FA"/>
                    </a:solidFill>
                  </a:tcPr>
                </a:tc>
                <a:tc>
                  <a:txBody>
                    <a:bodyPr wrap="square"/>
                    <a:lstStyle/>
                    <a:p>
                      <a:pPr algn="l">
                        <a:spcAft>
                          <a:spcPts val="400"/>
                        </a:spcAft>
                      </a:pPr>
                      <a:r>
                        <a:rPr sz="1250" b="0" i="0">
                          <a:solidFill>
                            <a:srgbClr val="1F1D33"/>
                          </a:solidFill>
                          <a:latin typeface="Calibri"/>
                        </a:rPr>
                        <a:t>Separates the cognitive blueprint from runtime execution; covers memory, MCP, safety and runtime optimization.</a:t>
                      </a:r>
                    </a:p>
                  </a:txBody>
                  <a:tcPr marL="91440" marR="91440" marT="45720" marB="45720" anchor="ctr">
                    <a:solidFill>
                      <a:srgbClr val="F5F5FA"/>
                    </a:solidFill>
                  </a:tcPr>
                </a:tc>
              </a:tr>
              <a:tr h="896112">
                <a:tc>
                  <a:txBody>
                    <a:bodyPr wrap="square"/>
                    <a:lstStyle/>
                    <a:p>
                      <a:pPr algn="l">
                        <a:spcAft>
                          <a:spcPts val="400"/>
                        </a:spcAft>
                      </a:pPr>
                      <a:r>
                        <a:rPr sz="1500" b="1" i="0">
                          <a:solidFill>
                            <a:srgbClr val="5B4CDB"/>
                          </a:solidFill>
                          <a:latin typeface="Cambria"/>
                        </a:rPr>
                        <a:t>05</a:t>
                      </a:r>
                    </a:p>
                  </a:txBody>
                  <a:tcPr marL="91440" marR="91440" marT="45720" marB="45720" anchor="ctr">
                    <a:solidFill>
                      <a:srgbClr val="FFFFFF"/>
                    </a:solidFill>
                  </a:tcPr>
                </a:tc>
                <a:tc>
                  <a:txBody>
                    <a:bodyPr wrap="square"/>
                    <a:lstStyle/>
                    <a:p>
                      <a:pPr algn="l">
                        <a:spcAft>
                          <a:spcPts val="200"/>
                        </a:spcAft>
                      </a:pPr>
                      <a:r>
                        <a:rPr sz="1250" b="1" i="0">
                          <a:solidFill>
                            <a:srgbClr val="17153A"/>
                          </a:solidFill>
                          <a:latin typeface="Calibri"/>
                        </a:rPr>
                        <a:t>Agentic Memory (AgeMem)</a:t>
                      </a:r>
                    </a:p>
                    <a:p>
                      <a:pPr algn="l">
                        <a:spcAft>
                          <a:spcPts val="200"/>
                        </a:spcAft>
                      </a:pPr>
                      <a:r>
                        <a:rPr sz="1100" b="0" i="0">
                          <a:solidFill>
                            <a:srgbClr val="6A6886"/>
                          </a:solidFill>
                          <a:latin typeface="Calibri"/>
                        </a:rPr>
                        <a:t>Y. Yu et al. · ACL, 2026</a:t>
                      </a:r>
                    </a:p>
                  </a:txBody>
                  <a:tcPr marL="91440" marR="91440" marT="45720" marB="45720" anchor="ctr">
                    <a:solidFill>
                      <a:srgbClr val="FFFFFF"/>
                    </a:solidFill>
                  </a:tcPr>
                </a:tc>
                <a:tc>
                  <a:txBody>
                    <a:bodyPr wrap="square"/>
                    <a:lstStyle/>
                    <a:p>
                      <a:pPr algn="l">
                        <a:spcAft>
                          <a:spcPts val="400"/>
                        </a:spcAft>
                      </a:pPr>
                      <a:r>
                        <a:rPr sz="1250" b="0" i="0">
                          <a:solidFill>
                            <a:srgbClr val="1F1D33"/>
                          </a:solidFill>
                          <a:latin typeface="Calibri"/>
                        </a:rPr>
                        <a:t>Unified long/short-term memory: the agent learns when to store, retrieve, update, summarize or discard.</a:t>
                      </a:r>
                    </a:p>
                  </a:txBody>
                  <a:tcPr marL="91440" marR="91440"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04  ·  LITERATURE SURVEY</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Literature survey in tabular form (2/2)</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7</a:t>
            </a:fld>
          </a:p>
        </p:txBody>
      </p:sp>
      <p:graphicFrame>
        <p:nvGraphicFramePr>
          <p:cNvPr id="7" name="Table 6"/>
          <p:cNvGraphicFramePr>
            <a:graphicFrameLocks noGrp="1"/>
          </p:cNvGraphicFramePr>
          <p:nvPr/>
        </p:nvGraphicFramePr>
        <p:xfrm>
          <a:off x="548640" y="1463040"/>
          <a:ext cx="8046720" cy="4892040"/>
        </p:xfrm>
        <a:graphic>
          <a:graphicData uri="http://schemas.openxmlformats.org/drawingml/2006/table">
            <a:tbl>
              <a:tblPr firstRow="0" bandRow="0">
                <a:tableStyleId>{5C22544A-7EE6-4342-B048-85BDC9FD1C3A}</a:tableStyleId>
              </a:tblPr>
              <a:tblGrid>
                <a:gridCol w="548640"/>
                <a:gridCol w="3383280"/>
                <a:gridCol w="4114800"/>
              </a:tblGrid>
              <a:tr h="411480">
                <a:tc>
                  <a:txBody>
                    <a:bodyPr wrap="square"/>
                    <a:lstStyle/>
                    <a:p>
                      <a:pPr algn="l">
                        <a:spcAft>
                          <a:spcPts val="400"/>
                        </a:spcAft>
                      </a:pPr>
                      <a:r>
                        <a:rPr sz="1100" b="1" i="0" spc="100">
                          <a:solidFill>
                            <a:srgbClr val="FFFFFF"/>
                          </a:solidFill>
                          <a:latin typeface="Calibri"/>
                        </a:rPr>
                        <a:t>#</a:t>
                      </a:r>
                    </a:p>
                  </a:txBody>
                  <a:tcPr marL="91440" marR="91440" marT="45720" marB="45720" anchor="ctr">
                    <a:solidFill>
                      <a:srgbClr val="17153A"/>
                    </a:solidFill>
                  </a:tcPr>
                </a:tc>
                <a:tc>
                  <a:txBody>
                    <a:bodyPr wrap="square"/>
                    <a:lstStyle/>
                    <a:p>
                      <a:pPr algn="l">
                        <a:spcAft>
                          <a:spcPts val="400"/>
                        </a:spcAft>
                      </a:pPr>
                      <a:r>
                        <a:rPr sz="1100" b="1" i="0" spc="100">
                          <a:solidFill>
                            <a:srgbClr val="FFFFFF"/>
                          </a:solidFill>
                          <a:latin typeface="Calibri"/>
                        </a:rPr>
                        <a:t>Paper</a:t>
                      </a:r>
                    </a:p>
                  </a:txBody>
                  <a:tcPr marL="91440" marR="91440" marT="45720" marB="45720" anchor="ctr">
                    <a:solidFill>
                      <a:srgbClr val="17153A"/>
                    </a:solidFill>
                  </a:tcPr>
                </a:tc>
                <a:tc>
                  <a:txBody>
                    <a:bodyPr wrap="square"/>
                    <a:lstStyle/>
                    <a:p>
                      <a:pPr algn="l">
                        <a:spcAft>
                          <a:spcPts val="400"/>
                        </a:spcAft>
                      </a:pPr>
                      <a:r>
                        <a:rPr sz="1100" b="1" i="0" spc="100">
                          <a:solidFill>
                            <a:srgbClr val="FFFFFF"/>
                          </a:solidFill>
                          <a:latin typeface="Calibri"/>
                        </a:rPr>
                        <a:t>Work reported</a:t>
                      </a:r>
                    </a:p>
                  </a:txBody>
                  <a:tcPr marL="91440" marR="91440" marT="45720" marB="45720" anchor="ctr">
                    <a:solidFill>
                      <a:srgbClr val="17153A"/>
                    </a:solidFill>
                  </a:tcPr>
                </a:tc>
              </a:tr>
              <a:tr h="896112">
                <a:tc>
                  <a:txBody>
                    <a:bodyPr wrap="square"/>
                    <a:lstStyle/>
                    <a:p>
                      <a:pPr algn="l">
                        <a:spcAft>
                          <a:spcPts val="400"/>
                        </a:spcAft>
                      </a:pPr>
                      <a:r>
                        <a:rPr sz="1500" b="1" i="0">
                          <a:solidFill>
                            <a:srgbClr val="5B4CDB"/>
                          </a:solidFill>
                          <a:latin typeface="Cambria"/>
                        </a:rPr>
                        <a:t>06</a:t>
                      </a:r>
                    </a:p>
                  </a:txBody>
                  <a:tcPr marL="91440" marR="91440" marT="45720" marB="45720" anchor="ctr">
                    <a:solidFill>
                      <a:srgbClr val="FFFFFF"/>
                    </a:solidFill>
                  </a:tcPr>
                </a:tc>
                <a:tc>
                  <a:txBody>
                    <a:bodyPr wrap="square"/>
                    <a:lstStyle/>
                    <a:p>
                      <a:pPr algn="l">
                        <a:spcAft>
                          <a:spcPts val="200"/>
                        </a:spcAft>
                      </a:pPr>
                      <a:r>
                        <a:rPr sz="1250" b="1" i="0">
                          <a:solidFill>
                            <a:srgbClr val="17153A"/>
                          </a:solidFill>
                          <a:latin typeface="Calibri"/>
                        </a:rPr>
                        <a:t>MCP and A2A Protocol for Scalable Agentic AI Systems</a:t>
                      </a:r>
                    </a:p>
                    <a:p>
                      <a:pPr algn="l">
                        <a:spcAft>
                          <a:spcPts val="200"/>
                        </a:spcAft>
                      </a:pPr>
                      <a:r>
                        <a:rPr sz="1100" b="0" i="0">
                          <a:solidFill>
                            <a:srgbClr val="6A6886"/>
                          </a:solidFill>
                          <a:latin typeface="Calibri"/>
                        </a:rPr>
                        <a:t>IEEE ICICDS, 2026</a:t>
                      </a:r>
                    </a:p>
                  </a:txBody>
                  <a:tcPr marL="91440" marR="91440" marT="45720" marB="45720" anchor="ctr">
                    <a:solidFill>
                      <a:srgbClr val="FFFFFF"/>
                    </a:solidFill>
                  </a:tcPr>
                </a:tc>
                <a:tc>
                  <a:txBody>
                    <a:bodyPr wrap="square"/>
                    <a:lstStyle/>
                    <a:p>
                      <a:pPr algn="l">
                        <a:spcAft>
                          <a:spcPts val="400"/>
                        </a:spcAft>
                      </a:pPr>
                      <a:r>
                        <a:rPr sz="1250" b="0" i="0">
                          <a:solidFill>
                            <a:srgbClr val="1F1D33"/>
                          </a:solidFill>
                          <a:latin typeface="Calibri"/>
                        </a:rPr>
                        <a:t>MCP gives standardized tool/data access; A2A enables communication and coordination between agents.</a:t>
                      </a:r>
                    </a:p>
                  </a:txBody>
                  <a:tcPr marL="91440" marR="91440" marT="45720" marB="45720" anchor="ctr">
                    <a:solidFill>
                      <a:srgbClr val="FFFFFF"/>
                    </a:solidFill>
                  </a:tcPr>
                </a:tc>
              </a:tr>
              <a:tr h="896112">
                <a:tc>
                  <a:txBody>
                    <a:bodyPr wrap="square"/>
                    <a:lstStyle/>
                    <a:p>
                      <a:pPr algn="l">
                        <a:spcAft>
                          <a:spcPts val="400"/>
                        </a:spcAft>
                      </a:pPr>
                      <a:r>
                        <a:rPr sz="1500" b="1" i="0">
                          <a:solidFill>
                            <a:srgbClr val="5B4CDB"/>
                          </a:solidFill>
                          <a:latin typeface="Cambria"/>
                        </a:rPr>
                        <a:t>07</a:t>
                      </a:r>
                    </a:p>
                  </a:txBody>
                  <a:tcPr marL="91440" marR="91440" marT="45720" marB="45720" anchor="ctr">
                    <a:solidFill>
                      <a:srgbClr val="F5F5FA"/>
                    </a:solidFill>
                  </a:tcPr>
                </a:tc>
                <a:tc>
                  <a:txBody>
                    <a:bodyPr wrap="square"/>
                    <a:lstStyle/>
                    <a:p>
                      <a:pPr algn="l">
                        <a:spcAft>
                          <a:spcPts val="200"/>
                        </a:spcAft>
                      </a:pPr>
                      <a:r>
                        <a:rPr sz="1250" b="1" i="0">
                          <a:solidFill>
                            <a:srgbClr val="17153A"/>
                          </a:solidFill>
                          <a:latin typeface="Calibri"/>
                        </a:rPr>
                        <a:t>LLM-Based Intelligent Agents for Cybersecurity</a:t>
                      </a:r>
                    </a:p>
                    <a:p>
                      <a:pPr algn="l">
                        <a:spcAft>
                          <a:spcPts val="200"/>
                        </a:spcAft>
                      </a:pPr>
                      <a:r>
                        <a:rPr sz="1100" b="0" i="0">
                          <a:solidFill>
                            <a:srgbClr val="6A6886"/>
                          </a:solidFill>
                          <a:latin typeface="Calibri"/>
                        </a:rPr>
                        <a:t>IEEE Access, 2026</a:t>
                      </a:r>
                    </a:p>
                  </a:txBody>
                  <a:tcPr marL="91440" marR="91440" marT="45720" marB="45720" anchor="ctr">
                    <a:solidFill>
                      <a:srgbClr val="F5F5FA"/>
                    </a:solidFill>
                  </a:tcPr>
                </a:tc>
                <a:tc>
                  <a:txBody>
                    <a:bodyPr wrap="square"/>
                    <a:lstStyle/>
                    <a:p>
                      <a:pPr algn="l">
                        <a:spcAft>
                          <a:spcPts val="400"/>
                        </a:spcAft>
                      </a:pPr>
                      <a:r>
                        <a:rPr sz="1250" b="0" i="0">
                          <a:solidFill>
                            <a:srgbClr val="1F1D33"/>
                          </a:solidFill>
                          <a:latin typeface="Calibri"/>
                        </a:rPr>
                        <a:t>Tool-using agents for automated vulnerability discovery; discusses reliability, cost and ethics.</a:t>
                      </a:r>
                    </a:p>
                  </a:txBody>
                  <a:tcPr marL="91440" marR="91440" marT="45720" marB="45720" anchor="ctr">
                    <a:solidFill>
                      <a:srgbClr val="F5F5FA"/>
                    </a:solidFill>
                  </a:tcPr>
                </a:tc>
              </a:tr>
              <a:tr h="896112">
                <a:tc>
                  <a:txBody>
                    <a:bodyPr wrap="square"/>
                    <a:lstStyle/>
                    <a:p>
                      <a:pPr algn="l">
                        <a:spcAft>
                          <a:spcPts val="400"/>
                        </a:spcAft>
                      </a:pPr>
                      <a:r>
                        <a:rPr sz="1500" b="1" i="0">
                          <a:solidFill>
                            <a:srgbClr val="5B4CDB"/>
                          </a:solidFill>
                          <a:latin typeface="Cambria"/>
                        </a:rPr>
                        <a:t>08</a:t>
                      </a:r>
                    </a:p>
                  </a:txBody>
                  <a:tcPr marL="91440" marR="91440" marT="45720" marB="45720" anchor="ctr">
                    <a:solidFill>
                      <a:srgbClr val="FFFFFF"/>
                    </a:solidFill>
                  </a:tcPr>
                </a:tc>
                <a:tc>
                  <a:txBody>
                    <a:bodyPr wrap="square"/>
                    <a:lstStyle/>
                    <a:p>
                      <a:pPr algn="l">
                        <a:spcAft>
                          <a:spcPts val="200"/>
                        </a:spcAft>
                      </a:pPr>
                      <a:r>
                        <a:rPr sz="1250" b="1" i="0">
                          <a:solidFill>
                            <a:srgbClr val="17153A"/>
                          </a:solidFill>
                          <a:latin typeface="Calibri"/>
                        </a:rPr>
                        <a:t>A Survey of Fuzzing Techniques for LLM Agents</a:t>
                      </a:r>
                    </a:p>
                    <a:p>
                      <a:pPr algn="l">
                        <a:spcAft>
                          <a:spcPts val="200"/>
                        </a:spcAft>
                      </a:pPr>
                      <a:r>
                        <a:rPr sz="1100" b="0" i="0">
                          <a:solidFill>
                            <a:srgbClr val="6A6886"/>
                          </a:solidFill>
                          <a:latin typeface="Calibri"/>
                        </a:rPr>
                        <a:t>IEEE BDAI, 2026</a:t>
                      </a:r>
                    </a:p>
                  </a:txBody>
                  <a:tcPr marL="91440" marR="91440" marT="45720" marB="45720" anchor="ctr">
                    <a:solidFill>
                      <a:srgbClr val="FFFFFF"/>
                    </a:solidFill>
                  </a:tcPr>
                </a:tc>
                <a:tc>
                  <a:txBody>
                    <a:bodyPr wrap="square"/>
                    <a:lstStyle/>
                    <a:p>
                      <a:pPr algn="l">
                        <a:spcAft>
                          <a:spcPts val="400"/>
                        </a:spcAft>
                      </a:pPr>
                      <a:r>
                        <a:rPr sz="1250" b="0" i="0">
                          <a:solidFill>
                            <a:srgbClr val="1F1D33"/>
                          </a:solidFill>
                          <a:latin typeface="Calibri"/>
                        </a:rPr>
                        <a:t>Agent security testing: indirect prompt injection, planning hallucination and tool abuse.</a:t>
                      </a:r>
                    </a:p>
                  </a:txBody>
                  <a:tcPr marL="91440" marR="91440" marT="45720" marB="45720" anchor="ctr">
                    <a:solidFill>
                      <a:srgbClr val="FFFFFF"/>
                    </a:solidFill>
                  </a:tcPr>
                </a:tc>
              </a:tr>
              <a:tr h="896112">
                <a:tc>
                  <a:txBody>
                    <a:bodyPr wrap="square"/>
                    <a:lstStyle/>
                    <a:p>
                      <a:pPr algn="l">
                        <a:spcAft>
                          <a:spcPts val="400"/>
                        </a:spcAft>
                      </a:pPr>
                      <a:r>
                        <a:rPr sz="1500" b="1" i="0">
                          <a:solidFill>
                            <a:srgbClr val="5B4CDB"/>
                          </a:solidFill>
                          <a:latin typeface="Cambria"/>
                        </a:rPr>
                        <a:t>09</a:t>
                      </a:r>
                    </a:p>
                  </a:txBody>
                  <a:tcPr marL="91440" marR="91440" marT="45720" marB="45720" anchor="ctr">
                    <a:solidFill>
                      <a:srgbClr val="F5F5FA"/>
                    </a:solidFill>
                  </a:tcPr>
                </a:tc>
                <a:tc>
                  <a:txBody>
                    <a:bodyPr wrap="square"/>
                    <a:lstStyle/>
                    <a:p>
                      <a:pPr algn="l">
                        <a:spcAft>
                          <a:spcPts val="200"/>
                        </a:spcAft>
                      </a:pPr>
                      <a:r>
                        <a:rPr sz="1250" b="1" i="0">
                          <a:solidFill>
                            <a:srgbClr val="17153A"/>
                          </a:solidFill>
                          <a:latin typeface="Calibri"/>
                        </a:rPr>
                        <a:t>GLaMP: Grounded LM-Based Multiagent System</a:t>
                      </a:r>
                    </a:p>
                    <a:p>
                      <a:pPr algn="l">
                        <a:spcAft>
                          <a:spcPts val="200"/>
                        </a:spcAft>
                      </a:pPr>
                      <a:r>
                        <a:rPr sz="1100" b="0" i="0">
                          <a:solidFill>
                            <a:srgbClr val="6A6886"/>
                          </a:solidFill>
                          <a:latin typeface="Calibri"/>
                        </a:rPr>
                        <a:t>IEEE Trans. Industrial Electronics, 2026</a:t>
                      </a:r>
                    </a:p>
                  </a:txBody>
                  <a:tcPr marL="91440" marR="91440" marT="45720" marB="45720" anchor="ctr">
                    <a:solidFill>
                      <a:srgbClr val="F5F5FA"/>
                    </a:solidFill>
                  </a:tcPr>
                </a:tc>
                <a:tc>
                  <a:txBody>
                    <a:bodyPr wrap="square"/>
                    <a:lstStyle/>
                    <a:p>
                      <a:pPr algn="l">
                        <a:spcAft>
                          <a:spcPts val="400"/>
                        </a:spcAft>
                      </a:pPr>
                      <a:r>
                        <a:rPr sz="1250" b="0" i="0">
                          <a:solidFill>
                            <a:srgbClr val="1F1D33"/>
                          </a:solidFill>
                          <a:latin typeface="Calibri"/>
                        </a:rPr>
                        <a:t>VLM + LLM planning with symbolic grounding and failure-aware replanning for long-horizon robot tasks.</a:t>
                      </a:r>
                    </a:p>
                  </a:txBody>
                  <a:tcPr marL="91440" marR="91440" marT="45720" marB="45720" anchor="ctr">
                    <a:solidFill>
                      <a:srgbClr val="F5F5FA"/>
                    </a:solidFill>
                  </a:tcPr>
                </a:tc>
              </a:tr>
              <a:tr h="896112">
                <a:tc>
                  <a:txBody>
                    <a:bodyPr wrap="square"/>
                    <a:lstStyle/>
                    <a:p>
                      <a:pPr algn="l">
                        <a:spcAft>
                          <a:spcPts val="400"/>
                        </a:spcAft>
                      </a:pPr>
                      <a:r>
                        <a:rPr sz="1500" b="1" i="0">
                          <a:solidFill>
                            <a:srgbClr val="5B4CDB"/>
                          </a:solidFill>
                          <a:latin typeface="Cambria"/>
                        </a:rPr>
                        <a:t>10</a:t>
                      </a:r>
                    </a:p>
                  </a:txBody>
                  <a:tcPr marL="91440" marR="91440" marT="45720" marB="45720" anchor="ctr">
                    <a:solidFill>
                      <a:srgbClr val="FFFFFF"/>
                    </a:solidFill>
                  </a:tcPr>
                </a:tc>
                <a:tc>
                  <a:txBody>
                    <a:bodyPr wrap="square"/>
                    <a:lstStyle/>
                    <a:p>
                      <a:pPr algn="l">
                        <a:spcAft>
                          <a:spcPts val="200"/>
                        </a:spcAft>
                      </a:pPr>
                      <a:r>
                        <a:rPr sz="1250" b="1" i="0">
                          <a:solidFill>
                            <a:srgbClr val="17153A"/>
                          </a:solidFill>
                          <a:latin typeface="Calibri"/>
                        </a:rPr>
                        <a:t>Beyond Single-Framework Architectures</a:t>
                      </a:r>
                    </a:p>
                    <a:p>
                      <a:pPr algn="l">
                        <a:spcAft>
                          <a:spcPts val="200"/>
                        </a:spcAft>
                      </a:pPr>
                      <a:r>
                        <a:rPr sz="1100" b="0" i="0">
                          <a:solidFill>
                            <a:srgbClr val="6A6886"/>
                          </a:solidFill>
                          <a:latin typeface="Calibri"/>
                        </a:rPr>
                        <a:t>IEEE Access, 2026</a:t>
                      </a:r>
                    </a:p>
                  </a:txBody>
                  <a:tcPr marL="91440" marR="91440" marT="45720" marB="45720" anchor="ctr">
                    <a:solidFill>
                      <a:srgbClr val="FFFFFF"/>
                    </a:solidFill>
                  </a:tcPr>
                </a:tc>
                <a:tc>
                  <a:txBody>
                    <a:bodyPr wrap="square"/>
                    <a:lstStyle/>
                    <a:p>
                      <a:pPr algn="l">
                        <a:spcAft>
                          <a:spcPts val="400"/>
                        </a:spcAft>
                      </a:pPr>
                      <a:r>
                        <a:rPr sz="1250" b="0" i="0">
                          <a:solidFill>
                            <a:srgbClr val="1F1D33"/>
                          </a:solidFill>
                          <a:latin typeface="Calibri"/>
                        </a:rPr>
                        <a:t>Evaluates CrewAI, AutoGen and LangChain; proposes a hybrid design (results on its own benchmark).</a:t>
                      </a:r>
                    </a:p>
                  </a:txBody>
                  <a:tcPr marL="91440" marR="91440"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05  ·  BASELINE PAPERS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Three papers anchor this seminar</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8</a:t>
            </a:fld>
          </a:p>
        </p:txBody>
      </p:sp>
      <p:sp>
        <p:nvSpPr>
          <p:cNvPr id="7" name="Rounded Rectangle 6"/>
          <p:cNvSpPr/>
          <p:nvPr/>
        </p:nvSpPr>
        <p:spPr>
          <a:xfrm>
            <a:off x="548640" y="1508760"/>
            <a:ext cx="3931920" cy="4663440"/>
          </a:xfrm>
          <a:prstGeom prst="roundRect">
            <a:avLst>
              <a:gd name="adj" fmla="val 3255"/>
            </a:avLst>
          </a:prstGeom>
          <a:solidFill>
            <a:srgbClr val="17153A"/>
          </a:solidFill>
          <a:ln>
            <a:noFill/>
          </a:ln>
        </p:spPr>
        <p:txBody>
          <a:bodyPr rtlCol="0" anchor="ctr" wrap="square" lIns="54864" rIns="54864" tIns="54864" bIns="54864"/>
          <a:lstStyle/>
          <a:p>
            <a:pPr algn="ctr"/>
          </a:p>
        </p:txBody>
      </p:sp>
      <p:sp>
        <p:nvSpPr>
          <p:cNvPr id="8" name="TextBox 7"/>
          <p:cNvSpPr txBox="1"/>
          <p:nvPr/>
        </p:nvSpPr>
        <p:spPr>
          <a:xfrm>
            <a:off x="822960" y="1783080"/>
            <a:ext cx="3474720" cy="274320"/>
          </a:xfrm>
          <a:prstGeom prst="rect">
            <a:avLst/>
          </a:prstGeom>
          <a:noFill/>
        </p:spPr>
        <p:txBody>
          <a:bodyPr wrap="square" anchor="t" lIns="0" rIns="0" tIns="0" bIns="0"/>
          <a:lstStyle/>
          <a:p>
            <a:pPr algn="l">
              <a:spcAft>
                <a:spcPts val="400"/>
              </a:spcAft>
            </a:pPr>
            <a:r>
              <a:rPr sz="1050" b="1" i="0" spc="180">
                <a:solidFill>
                  <a:srgbClr val="F2643D"/>
                </a:solidFill>
                <a:latin typeface="Calibri"/>
              </a:rPr>
              <a:t>PRIMARY BASELINE</a:t>
            </a:r>
          </a:p>
        </p:txBody>
      </p:sp>
      <p:sp>
        <p:nvSpPr>
          <p:cNvPr id="9" name="TextBox 8"/>
          <p:cNvSpPr txBox="1"/>
          <p:nvPr/>
        </p:nvSpPr>
        <p:spPr>
          <a:xfrm>
            <a:off x="822960" y="2103120"/>
            <a:ext cx="3474720" cy="640080"/>
          </a:xfrm>
          <a:prstGeom prst="rect">
            <a:avLst/>
          </a:prstGeom>
          <a:noFill/>
        </p:spPr>
        <p:txBody>
          <a:bodyPr wrap="square" anchor="t" lIns="0" rIns="0" tIns="0" bIns="0"/>
          <a:lstStyle/>
          <a:p>
            <a:pPr algn="l">
              <a:spcAft>
                <a:spcPts val="400"/>
              </a:spcAft>
            </a:pPr>
            <a:r>
              <a:rPr sz="3400" b="1" i="0">
                <a:solidFill>
                  <a:srgbClr val="F2643D"/>
                </a:solidFill>
                <a:latin typeface="Cambria"/>
              </a:rPr>
              <a:t>[1]</a:t>
            </a:r>
          </a:p>
        </p:txBody>
      </p:sp>
      <p:sp>
        <p:nvSpPr>
          <p:cNvPr id="10" name="TextBox 9"/>
          <p:cNvSpPr txBox="1"/>
          <p:nvPr/>
        </p:nvSpPr>
        <p:spPr>
          <a:xfrm>
            <a:off x="822960" y="2743200"/>
            <a:ext cx="3429000" cy="1097280"/>
          </a:xfrm>
          <a:prstGeom prst="rect">
            <a:avLst/>
          </a:prstGeom>
          <a:noFill/>
        </p:spPr>
        <p:txBody>
          <a:bodyPr wrap="square" anchor="t" lIns="0" rIns="0" tIns="0" bIns="0"/>
          <a:lstStyle/>
          <a:p>
            <a:pPr algn="l">
              <a:spcAft>
                <a:spcPts val="400"/>
              </a:spcAft>
            </a:pPr>
            <a:r>
              <a:rPr sz="1700" b="1" i="0">
                <a:solidFill>
                  <a:srgbClr val="FFFFFF"/>
                </a:solidFill>
                <a:latin typeface="Cambria"/>
              </a:rPr>
              <a:t>A Survey on LLM Agents: Architecture, Applications, and Challenges</a:t>
            </a:r>
          </a:p>
        </p:txBody>
      </p:sp>
      <p:sp>
        <p:nvSpPr>
          <p:cNvPr id="11" name="TextBox 10"/>
          <p:cNvSpPr txBox="1"/>
          <p:nvPr/>
        </p:nvSpPr>
        <p:spPr>
          <a:xfrm>
            <a:off x="822960" y="3794760"/>
            <a:ext cx="3429000" cy="274320"/>
          </a:xfrm>
          <a:prstGeom prst="rect">
            <a:avLst/>
          </a:prstGeom>
          <a:noFill/>
        </p:spPr>
        <p:txBody>
          <a:bodyPr wrap="square" anchor="t" lIns="0" rIns="0" tIns="0" bIns="0"/>
          <a:lstStyle/>
          <a:p>
            <a:pPr algn="l">
              <a:spcAft>
                <a:spcPts val="400"/>
              </a:spcAft>
            </a:pPr>
            <a:r>
              <a:rPr sz="1200" b="0" i="1">
                <a:solidFill>
                  <a:srgbClr val="B4B0E6"/>
                </a:solidFill>
                <a:latin typeface="Calibri"/>
              </a:rPr>
              <a:t>IEEE ICOIN, 2026</a:t>
            </a:r>
          </a:p>
        </p:txBody>
      </p:sp>
      <p:sp>
        <p:nvSpPr>
          <p:cNvPr id="12" name="TextBox 11"/>
          <p:cNvSpPr txBox="1"/>
          <p:nvPr/>
        </p:nvSpPr>
        <p:spPr>
          <a:xfrm>
            <a:off x="822960" y="4251960"/>
            <a:ext cx="3429000" cy="228600"/>
          </a:xfrm>
          <a:prstGeom prst="rect">
            <a:avLst/>
          </a:prstGeom>
          <a:noFill/>
        </p:spPr>
        <p:txBody>
          <a:bodyPr wrap="square" anchor="t" lIns="0" rIns="0" tIns="0" bIns="0"/>
          <a:lstStyle/>
          <a:p>
            <a:pPr algn="l">
              <a:spcAft>
                <a:spcPts val="400"/>
              </a:spcAft>
            </a:pPr>
            <a:r>
              <a:rPr sz="950" b="1" i="0" spc="160">
                <a:solidFill>
                  <a:srgbClr val="F2643D"/>
                </a:solidFill>
                <a:latin typeface="Calibri"/>
              </a:rPr>
              <a:t>WHY SELECTED</a:t>
            </a:r>
          </a:p>
        </p:txBody>
      </p:sp>
      <p:sp>
        <p:nvSpPr>
          <p:cNvPr id="13" name="TextBox 12"/>
          <p:cNvSpPr txBox="1"/>
          <p:nvPr/>
        </p:nvSpPr>
        <p:spPr>
          <a:xfrm>
            <a:off x="822960" y="4498848"/>
            <a:ext cx="3429000" cy="640080"/>
          </a:xfrm>
          <a:prstGeom prst="rect">
            <a:avLst/>
          </a:prstGeom>
          <a:noFill/>
        </p:spPr>
        <p:txBody>
          <a:bodyPr wrap="square" anchor="t" lIns="0" rIns="0" tIns="0" bIns="0"/>
          <a:lstStyle/>
          <a:p>
            <a:pPr algn="l">
              <a:spcAft>
                <a:spcPts val="400"/>
              </a:spcAft>
            </a:pPr>
            <a:r>
              <a:rPr sz="1300" b="0" i="0">
                <a:solidFill>
                  <a:srgbClr val="FFFFFF"/>
                </a:solidFill>
                <a:latin typeface="Calibri"/>
              </a:rPr>
              <a:t>Broad, recent view of agent architecture — the starting point of this seminar.</a:t>
            </a:r>
          </a:p>
        </p:txBody>
      </p:sp>
      <p:sp>
        <p:nvSpPr>
          <p:cNvPr id="14" name="TextBox 13"/>
          <p:cNvSpPr txBox="1"/>
          <p:nvPr/>
        </p:nvSpPr>
        <p:spPr>
          <a:xfrm>
            <a:off x="822960" y="5166360"/>
            <a:ext cx="3429000" cy="228600"/>
          </a:xfrm>
          <a:prstGeom prst="rect">
            <a:avLst/>
          </a:prstGeom>
          <a:noFill/>
        </p:spPr>
        <p:txBody>
          <a:bodyPr wrap="square" anchor="t" lIns="0" rIns="0" tIns="0" bIns="0"/>
          <a:lstStyle/>
          <a:p>
            <a:pPr algn="l">
              <a:spcAft>
                <a:spcPts val="400"/>
              </a:spcAft>
            </a:pPr>
            <a:r>
              <a:rPr sz="950" b="1" i="0" spc="160">
                <a:solidFill>
                  <a:srgbClr val="F2643D"/>
                </a:solidFill>
                <a:latin typeface="Calibri"/>
              </a:rPr>
              <a:t>USED FOR</a:t>
            </a:r>
          </a:p>
        </p:txBody>
      </p:sp>
      <p:sp>
        <p:nvSpPr>
          <p:cNvPr id="15" name="TextBox 14"/>
          <p:cNvSpPr txBox="1"/>
          <p:nvPr/>
        </p:nvSpPr>
        <p:spPr>
          <a:xfrm>
            <a:off x="822960" y="5413248"/>
            <a:ext cx="3429000" cy="640080"/>
          </a:xfrm>
          <a:prstGeom prst="rect">
            <a:avLst/>
          </a:prstGeom>
          <a:noFill/>
        </p:spPr>
        <p:txBody>
          <a:bodyPr wrap="square" anchor="t" lIns="0" rIns="0" tIns="0" bIns="0"/>
          <a:lstStyle/>
          <a:p>
            <a:pPr algn="l">
              <a:spcAft>
                <a:spcPts val="400"/>
              </a:spcAft>
            </a:pPr>
            <a:r>
              <a:rPr sz="1300" b="0" i="0">
                <a:solidFill>
                  <a:srgbClr val="FFFFFF"/>
                </a:solidFill>
                <a:latin typeface="Calibri"/>
              </a:rPr>
              <a:t>Overall architecture: planning, memory, tools and control flow.</a:t>
            </a:r>
          </a:p>
        </p:txBody>
      </p:sp>
      <p:sp>
        <p:nvSpPr>
          <p:cNvPr id="16" name="Rounded Rectangle 15"/>
          <p:cNvSpPr/>
          <p:nvPr/>
        </p:nvSpPr>
        <p:spPr>
          <a:xfrm>
            <a:off x="4663440" y="1508760"/>
            <a:ext cx="3931920" cy="2240280"/>
          </a:xfrm>
          <a:prstGeom prst="roundRect">
            <a:avLst>
              <a:gd name="adj" fmla="val 5714"/>
            </a:avLst>
          </a:prstGeom>
          <a:solidFill>
            <a:srgbClr val="F5F5FA"/>
          </a:solidFill>
          <a:ln>
            <a:noFill/>
          </a:ln>
        </p:spPr>
        <p:txBody>
          <a:bodyPr rtlCol="0" anchor="ctr" wrap="square" lIns="54864" rIns="54864" tIns="54864" bIns="54864"/>
          <a:lstStyle/>
          <a:p>
            <a:pPr algn="ctr"/>
          </a:p>
        </p:txBody>
      </p:sp>
      <p:sp>
        <p:nvSpPr>
          <p:cNvPr id="17" name="TextBox 16"/>
          <p:cNvSpPr txBox="1"/>
          <p:nvPr/>
        </p:nvSpPr>
        <p:spPr>
          <a:xfrm>
            <a:off x="4892040" y="1673351"/>
            <a:ext cx="2286000" cy="228600"/>
          </a:xfrm>
          <a:prstGeom prst="rect">
            <a:avLst/>
          </a:prstGeom>
          <a:noFill/>
        </p:spPr>
        <p:txBody>
          <a:bodyPr wrap="square" anchor="t" lIns="0" rIns="0" tIns="0" bIns="0"/>
          <a:lstStyle/>
          <a:p>
            <a:pPr algn="l">
              <a:spcAft>
                <a:spcPts val="400"/>
              </a:spcAft>
            </a:pPr>
            <a:r>
              <a:rPr sz="950" b="1" i="0" spc="160">
                <a:solidFill>
                  <a:srgbClr val="5B4CDB"/>
                </a:solidFill>
                <a:latin typeface="Calibri"/>
              </a:rPr>
              <a:t>SUPPORTING</a:t>
            </a:r>
          </a:p>
        </p:txBody>
      </p:sp>
      <p:sp>
        <p:nvSpPr>
          <p:cNvPr id="18" name="TextBox 17"/>
          <p:cNvSpPr txBox="1"/>
          <p:nvPr/>
        </p:nvSpPr>
        <p:spPr>
          <a:xfrm>
            <a:off x="7680960" y="1581912"/>
            <a:ext cx="731520" cy="457200"/>
          </a:xfrm>
          <a:prstGeom prst="rect">
            <a:avLst/>
          </a:prstGeom>
          <a:noFill/>
        </p:spPr>
        <p:txBody>
          <a:bodyPr wrap="square" anchor="t" lIns="0" rIns="0" tIns="0" bIns="0"/>
          <a:lstStyle/>
          <a:p>
            <a:pPr algn="r">
              <a:spcAft>
                <a:spcPts val="400"/>
              </a:spcAft>
            </a:pPr>
            <a:r>
              <a:rPr sz="2000" b="1" i="0">
                <a:solidFill>
                  <a:srgbClr val="5B4CDB"/>
                </a:solidFill>
                <a:latin typeface="Cambria"/>
              </a:rPr>
              <a:t>[2]</a:t>
            </a:r>
          </a:p>
        </p:txBody>
      </p:sp>
      <p:sp>
        <p:nvSpPr>
          <p:cNvPr id="19" name="TextBox 18"/>
          <p:cNvSpPr txBox="1"/>
          <p:nvPr/>
        </p:nvSpPr>
        <p:spPr>
          <a:xfrm>
            <a:off x="4892040" y="1947672"/>
            <a:ext cx="3474720" cy="566928"/>
          </a:xfrm>
          <a:prstGeom prst="rect">
            <a:avLst/>
          </a:prstGeom>
          <a:noFill/>
        </p:spPr>
        <p:txBody>
          <a:bodyPr wrap="square" anchor="t" lIns="0" rIns="0" tIns="0" bIns="0"/>
          <a:lstStyle/>
          <a:p>
            <a:pPr algn="l">
              <a:spcAft>
                <a:spcPts val="400"/>
              </a:spcAft>
            </a:pPr>
            <a:r>
              <a:rPr sz="1350" b="1" i="0">
                <a:solidFill>
                  <a:srgbClr val="17153A"/>
                </a:solidFill>
                <a:latin typeface="Calibri"/>
              </a:rPr>
              <a:t>Agentic AI: Architectures, Taxonomies, and Evaluation of LLM Agents</a:t>
            </a:r>
          </a:p>
        </p:txBody>
      </p:sp>
      <p:sp>
        <p:nvSpPr>
          <p:cNvPr id="20" name="TextBox 19"/>
          <p:cNvSpPr txBox="1"/>
          <p:nvPr/>
        </p:nvSpPr>
        <p:spPr>
          <a:xfrm>
            <a:off x="4892040" y="2514600"/>
            <a:ext cx="3474720" cy="237744"/>
          </a:xfrm>
          <a:prstGeom prst="rect">
            <a:avLst/>
          </a:prstGeom>
          <a:noFill/>
        </p:spPr>
        <p:txBody>
          <a:bodyPr wrap="square" anchor="t" lIns="0" rIns="0" tIns="0" bIns="0"/>
          <a:lstStyle/>
          <a:p>
            <a:pPr algn="l">
              <a:spcAft>
                <a:spcPts val="400"/>
              </a:spcAft>
            </a:pPr>
            <a:r>
              <a:rPr sz="1100" b="0" i="1">
                <a:solidFill>
                  <a:srgbClr val="6A6886"/>
                </a:solidFill>
                <a:latin typeface="Calibri"/>
              </a:rPr>
              <a:t>arXiv, 2026</a:t>
            </a:r>
          </a:p>
        </p:txBody>
      </p:sp>
      <p:sp>
        <p:nvSpPr>
          <p:cNvPr id="21" name="TextBox 20"/>
          <p:cNvSpPr txBox="1"/>
          <p:nvPr/>
        </p:nvSpPr>
        <p:spPr>
          <a:xfrm>
            <a:off x="4892040" y="2807208"/>
            <a:ext cx="3474720" cy="868680"/>
          </a:xfrm>
          <a:prstGeom prst="rect">
            <a:avLst/>
          </a:prstGeom>
          <a:noFill/>
        </p:spPr>
        <p:txBody>
          <a:bodyPr wrap="square" anchor="t" lIns="0" rIns="0" tIns="0" bIns="0"/>
          <a:lstStyle/>
          <a:p>
            <a:pPr algn="l">
              <a:spcAft>
                <a:spcPts val="300"/>
              </a:spcAft>
            </a:pPr>
            <a:r>
              <a:rPr sz="1200" b="1" i="0">
                <a:solidFill>
                  <a:srgbClr val="5B4CDB"/>
                </a:solidFill>
                <a:latin typeface="Calibri"/>
              </a:rPr>
              <a:t>Why: </a:t>
            </a:r>
            <a:r>
              <a:rPr sz="1200" b="0" i="0">
                <a:solidFill>
                  <a:srgbClr val="1F1D33"/>
                </a:solidFill>
                <a:latin typeface="Calibri"/>
              </a:rPr>
              <a:t>clear taxonomy and evaluation dimensions.</a:t>
            </a:r>
          </a:p>
          <a:p>
            <a:pPr algn="l">
              <a:spcAft>
                <a:spcPts val="300"/>
              </a:spcAft>
            </a:pPr>
            <a:r>
              <a:rPr sz="1200" b="1" i="0">
                <a:solidFill>
                  <a:srgbClr val="5B4CDB"/>
                </a:solidFill>
                <a:latin typeface="Calibri"/>
              </a:rPr>
              <a:t>Used for: </a:t>
            </a:r>
            <a:r>
              <a:rPr sz="1200" b="0" i="0">
                <a:solidFill>
                  <a:srgbClr val="1F1D33"/>
                </a:solidFill>
                <a:latin typeface="Calibri"/>
              </a:rPr>
              <a:t>agent types, failure modes, evaluation.</a:t>
            </a:r>
          </a:p>
        </p:txBody>
      </p:sp>
      <p:sp>
        <p:nvSpPr>
          <p:cNvPr id="22" name="Rounded Rectangle 21"/>
          <p:cNvSpPr/>
          <p:nvPr/>
        </p:nvSpPr>
        <p:spPr>
          <a:xfrm>
            <a:off x="4663440" y="3886200"/>
            <a:ext cx="3931920" cy="2240280"/>
          </a:xfrm>
          <a:prstGeom prst="roundRect">
            <a:avLst>
              <a:gd name="adj" fmla="val 5714"/>
            </a:avLst>
          </a:prstGeom>
          <a:solidFill>
            <a:srgbClr val="F5F5FA"/>
          </a:solidFill>
          <a:ln>
            <a:noFill/>
          </a:ln>
        </p:spPr>
        <p:txBody>
          <a:bodyPr rtlCol="0" anchor="ctr" wrap="square" lIns="54864" rIns="54864" tIns="54864" bIns="54864"/>
          <a:lstStyle/>
          <a:p>
            <a:pPr algn="ctr"/>
          </a:p>
        </p:txBody>
      </p:sp>
      <p:sp>
        <p:nvSpPr>
          <p:cNvPr id="23" name="TextBox 22"/>
          <p:cNvSpPr txBox="1"/>
          <p:nvPr/>
        </p:nvSpPr>
        <p:spPr>
          <a:xfrm>
            <a:off x="4892040" y="4050791"/>
            <a:ext cx="2286000" cy="228600"/>
          </a:xfrm>
          <a:prstGeom prst="rect">
            <a:avLst/>
          </a:prstGeom>
          <a:noFill/>
        </p:spPr>
        <p:txBody>
          <a:bodyPr wrap="square" anchor="t" lIns="0" rIns="0" tIns="0" bIns="0"/>
          <a:lstStyle/>
          <a:p>
            <a:pPr algn="l">
              <a:spcAft>
                <a:spcPts val="400"/>
              </a:spcAft>
            </a:pPr>
            <a:r>
              <a:rPr sz="950" b="1" i="0" spc="160">
                <a:solidFill>
                  <a:srgbClr val="5B4CDB"/>
                </a:solidFill>
                <a:latin typeface="Calibri"/>
              </a:rPr>
              <a:t>SUPPORTING</a:t>
            </a:r>
          </a:p>
        </p:txBody>
      </p:sp>
      <p:sp>
        <p:nvSpPr>
          <p:cNvPr id="24" name="TextBox 23"/>
          <p:cNvSpPr txBox="1"/>
          <p:nvPr/>
        </p:nvSpPr>
        <p:spPr>
          <a:xfrm>
            <a:off x="7680960" y="3959352"/>
            <a:ext cx="731520" cy="457200"/>
          </a:xfrm>
          <a:prstGeom prst="rect">
            <a:avLst/>
          </a:prstGeom>
          <a:noFill/>
        </p:spPr>
        <p:txBody>
          <a:bodyPr wrap="square" anchor="t" lIns="0" rIns="0" tIns="0" bIns="0"/>
          <a:lstStyle/>
          <a:p>
            <a:pPr algn="r">
              <a:spcAft>
                <a:spcPts val="400"/>
              </a:spcAft>
            </a:pPr>
            <a:r>
              <a:rPr sz="2000" b="1" i="0">
                <a:solidFill>
                  <a:srgbClr val="5B4CDB"/>
                </a:solidFill>
                <a:latin typeface="Cambria"/>
              </a:rPr>
              <a:t>[6]</a:t>
            </a:r>
          </a:p>
        </p:txBody>
      </p:sp>
      <p:sp>
        <p:nvSpPr>
          <p:cNvPr id="25" name="TextBox 24"/>
          <p:cNvSpPr txBox="1"/>
          <p:nvPr/>
        </p:nvSpPr>
        <p:spPr>
          <a:xfrm>
            <a:off x="4892040" y="4325112"/>
            <a:ext cx="3474720" cy="566928"/>
          </a:xfrm>
          <a:prstGeom prst="rect">
            <a:avLst/>
          </a:prstGeom>
          <a:noFill/>
        </p:spPr>
        <p:txBody>
          <a:bodyPr wrap="square" anchor="t" lIns="0" rIns="0" tIns="0" bIns="0"/>
          <a:lstStyle/>
          <a:p>
            <a:pPr algn="l">
              <a:spcAft>
                <a:spcPts val="400"/>
              </a:spcAft>
            </a:pPr>
            <a:r>
              <a:rPr sz="1350" b="1" i="0">
                <a:solidFill>
                  <a:srgbClr val="17153A"/>
                </a:solidFill>
                <a:latin typeface="Calibri"/>
              </a:rPr>
              <a:t>MCP and A2A Protocol for Scalable Agentic AI Systems</a:t>
            </a:r>
          </a:p>
        </p:txBody>
      </p:sp>
      <p:sp>
        <p:nvSpPr>
          <p:cNvPr id="26" name="TextBox 25"/>
          <p:cNvSpPr txBox="1"/>
          <p:nvPr/>
        </p:nvSpPr>
        <p:spPr>
          <a:xfrm>
            <a:off x="4892040" y="4892040"/>
            <a:ext cx="3474720" cy="237744"/>
          </a:xfrm>
          <a:prstGeom prst="rect">
            <a:avLst/>
          </a:prstGeom>
          <a:noFill/>
        </p:spPr>
        <p:txBody>
          <a:bodyPr wrap="square" anchor="t" lIns="0" rIns="0" tIns="0" bIns="0"/>
          <a:lstStyle/>
          <a:p>
            <a:pPr algn="l">
              <a:spcAft>
                <a:spcPts val="400"/>
              </a:spcAft>
            </a:pPr>
            <a:r>
              <a:rPr sz="1100" b="0" i="1">
                <a:solidFill>
                  <a:srgbClr val="6A6886"/>
                </a:solidFill>
                <a:latin typeface="Calibri"/>
              </a:rPr>
              <a:t>IEEE ICICDS, 2026</a:t>
            </a:r>
          </a:p>
        </p:txBody>
      </p:sp>
      <p:sp>
        <p:nvSpPr>
          <p:cNvPr id="27" name="TextBox 26"/>
          <p:cNvSpPr txBox="1"/>
          <p:nvPr/>
        </p:nvSpPr>
        <p:spPr>
          <a:xfrm>
            <a:off x="4892040" y="5184648"/>
            <a:ext cx="3474720" cy="868680"/>
          </a:xfrm>
          <a:prstGeom prst="rect">
            <a:avLst/>
          </a:prstGeom>
          <a:noFill/>
        </p:spPr>
        <p:txBody>
          <a:bodyPr wrap="square" anchor="t" lIns="0" rIns="0" tIns="0" bIns="0"/>
          <a:lstStyle/>
          <a:p>
            <a:pPr algn="l">
              <a:spcAft>
                <a:spcPts val="300"/>
              </a:spcAft>
            </a:pPr>
            <a:r>
              <a:rPr sz="1200" b="1" i="0">
                <a:solidFill>
                  <a:srgbClr val="5B4CDB"/>
                </a:solidFill>
                <a:latin typeface="Calibri"/>
              </a:rPr>
              <a:t>Why: </a:t>
            </a:r>
            <a:r>
              <a:rPr sz="1200" b="0" i="0">
                <a:solidFill>
                  <a:srgbClr val="1F1D33"/>
                </a:solidFill>
                <a:latin typeface="Calibri"/>
              </a:rPr>
              <a:t>explains how agents connect to tools and each other.</a:t>
            </a:r>
          </a:p>
          <a:p>
            <a:pPr algn="l">
              <a:spcAft>
                <a:spcPts val="300"/>
              </a:spcAft>
            </a:pPr>
            <a:r>
              <a:rPr sz="1200" b="1" i="0">
                <a:solidFill>
                  <a:srgbClr val="5B4CDB"/>
                </a:solidFill>
                <a:latin typeface="Calibri"/>
              </a:rPr>
              <a:t>Used for: </a:t>
            </a:r>
            <a:r>
              <a:rPr sz="1200" b="0" i="0">
                <a:solidFill>
                  <a:srgbClr val="1F1D33"/>
                </a:solidFill>
                <a:latin typeface="Calibri"/>
              </a:rPr>
              <a:t>the interoperability layer.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06  ·  SYSTEM ARCHITECTURE</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A hierarchical multi-agent architecture</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9</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6A6886"/>
                </a:solidFill>
                <a:latin typeface="Calibri"/>
              </a:rPr>
              <a:t>Goal → plan → coordinated specialist agents → tools → verified output, backed by shared memory [1], [11]</a:t>
            </a:r>
          </a:p>
        </p:txBody>
      </p:sp>
      <p:sp>
        <p:nvSpPr>
          <p:cNvPr id="8" name="Rounded Rectangle 7"/>
          <p:cNvSpPr/>
          <p:nvPr/>
        </p:nvSpPr>
        <p:spPr>
          <a:xfrm>
            <a:off x="411480" y="2514600"/>
            <a:ext cx="1051560" cy="1097280"/>
          </a:xfrm>
          <a:prstGeom prst="roundRect">
            <a:avLst>
              <a:gd name="adj" fmla="val 8695"/>
            </a:avLst>
          </a:prstGeom>
          <a:solidFill>
            <a:srgbClr val="17153A"/>
          </a:solidFill>
          <a:ln>
            <a:noFill/>
          </a:ln>
        </p:spPr>
        <p:txBody>
          <a:bodyPr rtlCol="0" anchor="ctr" wrap="square" lIns="54864" rIns="54864" tIns="54864" bIns="54864"/>
          <a:lstStyle/>
          <a:p>
            <a:pPr algn="ctr">
              <a:spcAft>
                <a:spcPts val="0"/>
              </a:spcAft>
            </a:pPr>
            <a:r>
              <a:rPr sz="1400" b="1" i="0">
                <a:solidFill>
                  <a:srgbClr val="FFFFFF"/>
                </a:solidFill>
                <a:latin typeface="Calibri"/>
              </a:rPr>
              <a:t>User goal</a:t>
            </a:r>
          </a:p>
          <a:p>
            <a:pPr algn="ctr">
              <a:spcAft>
                <a:spcPts val="0"/>
              </a:spcAft>
            </a:pPr>
            <a:r>
              <a:rPr sz="1100" b="0" i="0">
                <a:solidFill>
                  <a:srgbClr val="FFFFFF"/>
                </a:solidFill>
                <a:latin typeface="Calibri"/>
              </a:rPr>
              <a:t>task / objective</a:t>
            </a:r>
          </a:p>
        </p:txBody>
      </p:sp>
      <p:sp>
        <p:nvSpPr>
          <p:cNvPr id="9" name="Rounded Rectangle 8"/>
          <p:cNvSpPr/>
          <p:nvPr/>
        </p:nvSpPr>
        <p:spPr>
          <a:xfrm>
            <a:off x="1645920" y="1691640"/>
            <a:ext cx="1417320" cy="2788920"/>
          </a:xfrm>
          <a:prstGeom prst="roundRect">
            <a:avLst>
              <a:gd name="adj" fmla="val 7741"/>
            </a:avLst>
          </a:prstGeom>
          <a:solidFill>
            <a:srgbClr val="EEEDFC"/>
          </a:solidFill>
          <a:ln>
            <a:noFill/>
          </a:ln>
        </p:spPr>
        <p:txBody>
          <a:bodyPr rtlCol="0" anchor="ctr" wrap="square" lIns="54864" rIns="54864" tIns="54864" bIns="54864"/>
          <a:lstStyle/>
          <a:p>
            <a:pPr algn="ctr"/>
          </a:p>
        </p:txBody>
      </p:sp>
      <p:sp>
        <p:nvSpPr>
          <p:cNvPr id="10" name="TextBox 9"/>
          <p:cNvSpPr txBox="1"/>
          <p:nvPr/>
        </p:nvSpPr>
        <p:spPr>
          <a:xfrm>
            <a:off x="1645920" y="1783080"/>
            <a:ext cx="1417320" cy="228600"/>
          </a:xfrm>
          <a:prstGeom prst="rect">
            <a:avLst/>
          </a:prstGeom>
          <a:noFill/>
        </p:spPr>
        <p:txBody>
          <a:bodyPr wrap="square" anchor="t" lIns="0" rIns="0" tIns="0" bIns="0"/>
          <a:lstStyle/>
          <a:p>
            <a:pPr algn="ctr">
              <a:spcAft>
                <a:spcPts val="400"/>
              </a:spcAft>
            </a:pPr>
            <a:r>
              <a:rPr sz="950" b="1" i="0" spc="140">
                <a:solidFill>
                  <a:srgbClr val="5B4CDB"/>
                </a:solidFill>
                <a:latin typeface="Calibri"/>
              </a:rPr>
              <a:t>PLANNING</a:t>
            </a:r>
          </a:p>
        </p:txBody>
      </p:sp>
      <p:sp>
        <p:nvSpPr>
          <p:cNvPr id="11" name="Rounded Rectangle 10"/>
          <p:cNvSpPr/>
          <p:nvPr/>
        </p:nvSpPr>
        <p:spPr>
          <a:xfrm>
            <a:off x="1755648" y="2103120"/>
            <a:ext cx="1197864" cy="585216"/>
          </a:xfrm>
          <a:prstGeom prst="roundRect">
            <a:avLst>
              <a:gd name="adj" fmla="val 15625"/>
            </a:avLst>
          </a:prstGeom>
          <a:solidFill>
            <a:srgbClr val="FFFFFF"/>
          </a:solidFill>
          <a:ln w="12700">
            <a:solidFill>
              <a:srgbClr val="DCDAF0"/>
            </a:solidFill>
          </a:ln>
        </p:spPr>
        <p:txBody>
          <a:bodyPr rtlCol="0" anchor="ctr" wrap="square" lIns="54864" rIns="54864" tIns="54864" bIns="54864"/>
          <a:lstStyle/>
          <a:p>
            <a:pPr algn="ctr">
              <a:spcAft>
                <a:spcPts val="0"/>
              </a:spcAft>
            </a:pPr>
            <a:r>
              <a:rPr sz="1100" b="0" i="0">
                <a:solidFill>
                  <a:srgbClr val="1F1D33"/>
                </a:solidFill>
                <a:latin typeface="Calibri"/>
              </a:rPr>
              <a:t>Understand goal</a:t>
            </a:r>
          </a:p>
        </p:txBody>
      </p:sp>
      <p:cxnSp>
        <p:nvCxnSpPr>
          <p:cNvPr id="12" name="Connector 11"/>
          <p:cNvCxnSpPr/>
          <p:nvPr/>
        </p:nvCxnSpPr>
        <p:spPr>
          <a:xfrm>
            <a:off x="2354580" y="2688336"/>
            <a:ext cx="0" cy="201168"/>
          </a:xfrm>
          <a:prstGeom prst="line">
            <a:avLst/>
          </a:prstGeom>
          <a:ln w="15875">
            <a:solidFill>
              <a:srgbClr val="5B4CDB"/>
            </a:solidFill>
            <a:tailEnd type="triangle" w="med" len="med"/>
          </a:ln>
        </p:spPr>
      </p:cxnSp>
      <p:sp>
        <p:nvSpPr>
          <p:cNvPr id="13" name="Rounded Rectangle 12"/>
          <p:cNvSpPr/>
          <p:nvPr/>
        </p:nvSpPr>
        <p:spPr>
          <a:xfrm>
            <a:off x="1755648" y="2889503"/>
            <a:ext cx="1197864" cy="585216"/>
          </a:xfrm>
          <a:prstGeom prst="roundRect">
            <a:avLst>
              <a:gd name="adj" fmla="val 15625"/>
            </a:avLst>
          </a:prstGeom>
          <a:solidFill>
            <a:srgbClr val="FFFFFF"/>
          </a:solidFill>
          <a:ln w="12700">
            <a:solidFill>
              <a:srgbClr val="DCDAF0"/>
            </a:solidFill>
          </a:ln>
        </p:spPr>
        <p:txBody>
          <a:bodyPr rtlCol="0" anchor="ctr" wrap="square" lIns="54864" rIns="54864" tIns="54864" bIns="54864"/>
          <a:lstStyle/>
          <a:p>
            <a:pPr algn="ctr">
              <a:spcAft>
                <a:spcPts val="0"/>
              </a:spcAft>
            </a:pPr>
            <a:r>
              <a:rPr sz="1100" b="0" i="0">
                <a:solidFill>
                  <a:srgbClr val="1F1D33"/>
                </a:solidFill>
                <a:latin typeface="Calibri"/>
              </a:rPr>
              <a:t>Decompose into subtasks</a:t>
            </a:r>
          </a:p>
        </p:txBody>
      </p:sp>
      <p:cxnSp>
        <p:nvCxnSpPr>
          <p:cNvPr id="14" name="Connector 13"/>
          <p:cNvCxnSpPr/>
          <p:nvPr/>
        </p:nvCxnSpPr>
        <p:spPr>
          <a:xfrm>
            <a:off x="2354580" y="3474720"/>
            <a:ext cx="0" cy="201168"/>
          </a:xfrm>
          <a:prstGeom prst="line">
            <a:avLst/>
          </a:prstGeom>
          <a:ln w="15875">
            <a:solidFill>
              <a:srgbClr val="5B4CDB"/>
            </a:solidFill>
            <a:tailEnd type="triangle" w="med" len="med"/>
          </a:ln>
        </p:spPr>
      </p:cxnSp>
      <p:sp>
        <p:nvSpPr>
          <p:cNvPr id="15" name="Rounded Rectangle 14"/>
          <p:cNvSpPr/>
          <p:nvPr/>
        </p:nvSpPr>
        <p:spPr>
          <a:xfrm>
            <a:off x="1755648" y="3675887"/>
            <a:ext cx="1197864" cy="585216"/>
          </a:xfrm>
          <a:prstGeom prst="roundRect">
            <a:avLst>
              <a:gd name="adj" fmla="val 15625"/>
            </a:avLst>
          </a:prstGeom>
          <a:solidFill>
            <a:srgbClr val="FFFFFF"/>
          </a:solidFill>
          <a:ln w="12700">
            <a:solidFill>
              <a:srgbClr val="DCDAF0"/>
            </a:solidFill>
          </a:ln>
        </p:spPr>
        <p:txBody>
          <a:bodyPr rtlCol="0" anchor="ctr" wrap="square" lIns="54864" rIns="54864" tIns="54864" bIns="54864"/>
          <a:lstStyle/>
          <a:p>
            <a:pPr algn="ctr">
              <a:spcAft>
                <a:spcPts val="0"/>
              </a:spcAft>
            </a:pPr>
            <a:r>
              <a:rPr sz="1100" b="0" i="0">
                <a:solidFill>
                  <a:srgbClr val="1F1D33"/>
                </a:solidFill>
                <a:latin typeface="Calibri"/>
              </a:rPr>
              <a:t>Build task graph</a:t>
            </a:r>
          </a:p>
        </p:txBody>
      </p:sp>
      <p:sp>
        <p:nvSpPr>
          <p:cNvPr id="16" name="Rounded Rectangle 15"/>
          <p:cNvSpPr/>
          <p:nvPr/>
        </p:nvSpPr>
        <p:spPr>
          <a:xfrm>
            <a:off x="3246120" y="1691640"/>
            <a:ext cx="3063240" cy="2788920"/>
          </a:xfrm>
          <a:prstGeom prst="roundRect">
            <a:avLst>
              <a:gd name="adj" fmla="val 3934"/>
            </a:avLst>
          </a:prstGeom>
          <a:solidFill>
            <a:srgbClr val="EEEDFC"/>
          </a:solidFill>
          <a:ln>
            <a:noFill/>
          </a:ln>
        </p:spPr>
        <p:txBody>
          <a:bodyPr rtlCol="0" anchor="ctr" wrap="square" lIns="54864" rIns="54864" tIns="54864" bIns="54864"/>
          <a:lstStyle/>
          <a:p>
            <a:pPr algn="ctr"/>
          </a:p>
        </p:txBody>
      </p:sp>
      <p:sp>
        <p:nvSpPr>
          <p:cNvPr id="17" name="TextBox 16"/>
          <p:cNvSpPr txBox="1"/>
          <p:nvPr/>
        </p:nvSpPr>
        <p:spPr>
          <a:xfrm>
            <a:off x="3246120" y="1783080"/>
            <a:ext cx="3063240" cy="228600"/>
          </a:xfrm>
          <a:prstGeom prst="rect">
            <a:avLst/>
          </a:prstGeom>
          <a:noFill/>
        </p:spPr>
        <p:txBody>
          <a:bodyPr wrap="square" anchor="t" lIns="0" rIns="0" tIns="0" bIns="0"/>
          <a:lstStyle/>
          <a:p>
            <a:pPr algn="ctr">
              <a:spcAft>
                <a:spcPts val="400"/>
              </a:spcAft>
            </a:pPr>
            <a:r>
              <a:rPr sz="950" b="1" i="0" spc="140">
                <a:solidFill>
                  <a:srgbClr val="5B4CDB"/>
                </a:solidFill>
                <a:latin typeface="Calibri"/>
              </a:rPr>
              <a:t>MULTI-AGENT SYSTEM</a:t>
            </a:r>
          </a:p>
        </p:txBody>
      </p:sp>
      <p:sp>
        <p:nvSpPr>
          <p:cNvPr id="18" name="Rounded Rectangle 17"/>
          <p:cNvSpPr/>
          <p:nvPr/>
        </p:nvSpPr>
        <p:spPr>
          <a:xfrm>
            <a:off x="3383280" y="2103120"/>
            <a:ext cx="2788920" cy="658368"/>
          </a:xfrm>
          <a:prstGeom prst="roundRect">
            <a:avLst>
              <a:gd name="adj" fmla="val 13888"/>
            </a:avLst>
          </a:prstGeom>
          <a:solidFill>
            <a:srgbClr val="5B4CDB"/>
          </a:solidFill>
          <a:ln>
            <a:noFill/>
          </a:ln>
        </p:spPr>
        <p:txBody>
          <a:bodyPr rtlCol="0" anchor="ctr" wrap="square" lIns="54864" rIns="54864" tIns="54864" bIns="54864"/>
          <a:lstStyle/>
          <a:p>
            <a:pPr algn="ctr">
              <a:spcAft>
                <a:spcPts val="0"/>
              </a:spcAft>
            </a:pPr>
            <a:r>
              <a:rPr sz="1150" b="1" i="0">
                <a:solidFill>
                  <a:srgbClr val="FFFFFF"/>
                </a:solidFill>
                <a:latin typeface="Calibri"/>
              </a:rPr>
              <a:t>Manager / orchestrator agent</a:t>
            </a:r>
          </a:p>
          <a:p>
            <a:pPr algn="ctr">
              <a:spcAft>
                <a:spcPts val="0"/>
              </a:spcAft>
            </a:pPr>
            <a:r>
              <a:rPr sz="1150" b="0" i="0">
                <a:solidFill>
                  <a:srgbClr val="FFFFFF"/>
                </a:solidFill>
                <a:latin typeface="Calibri"/>
              </a:rPr>
              <a:t>assigns · monitors · replans</a:t>
            </a:r>
          </a:p>
        </p:txBody>
      </p:sp>
      <p:sp>
        <p:nvSpPr>
          <p:cNvPr id="19" name="Rounded Rectangle 18"/>
          <p:cNvSpPr/>
          <p:nvPr/>
        </p:nvSpPr>
        <p:spPr>
          <a:xfrm>
            <a:off x="3383280" y="3063240"/>
            <a:ext cx="1325880" cy="548640"/>
          </a:xfrm>
          <a:prstGeom prst="roundRect">
            <a:avLst>
              <a:gd name="adj" fmla="val 16666"/>
            </a:avLst>
          </a:prstGeom>
          <a:solidFill>
            <a:srgbClr val="FFFFFF"/>
          </a:solidFill>
          <a:ln w="15875">
            <a:solidFill>
              <a:srgbClr val="5B4CDB"/>
            </a:solidFill>
          </a:ln>
        </p:spPr>
        <p:txBody>
          <a:bodyPr rtlCol="0" anchor="ctr" wrap="square" lIns="54864" rIns="54864" tIns="54864" bIns="54864"/>
          <a:lstStyle/>
          <a:p>
            <a:pPr algn="ctr">
              <a:spcAft>
                <a:spcPts val="0"/>
              </a:spcAft>
            </a:pPr>
            <a:r>
              <a:rPr sz="1100" b="1" i="0">
                <a:solidFill>
                  <a:srgbClr val="5B4CDB"/>
                </a:solidFill>
                <a:latin typeface="Calibri"/>
              </a:rPr>
              <a:t>Research agent</a:t>
            </a:r>
          </a:p>
        </p:txBody>
      </p:sp>
      <p:sp>
        <p:nvSpPr>
          <p:cNvPr id="20" name="Rounded Rectangle 19"/>
          <p:cNvSpPr/>
          <p:nvPr/>
        </p:nvSpPr>
        <p:spPr>
          <a:xfrm>
            <a:off x="4846320" y="3063240"/>
            <a:ext cx="1325880" cy="548640"/>
          </a:xfrm>
          <a:prstGeom prst="roundRect">
            <a:avLst>
              <a:gd name="adj" fmla="val 16666"/>
            </a:avLst>
          </a:prstGeom>
          <a:solidFill>
            <a:srgbClr val="FFFFFF"/>
          </a:solidFill>
          <a:ln w="15875">
            <a:solidFill>
              <a:srgbClr val="5B4CDB"/>
            </a:solidFill>
          </a:ln>
        </p:spPr>
        <p:txBody>
          <a:bodyPr rtlCol="0" anchor="ctr" wrap="square" lIns="54864" rIns="54864" tIns="54864" bIns="54864"/>
          <a:lstStyle/>
          <a:p>
            <a:pPr algn="ctr">
              <a:spcAft>
                <a:spcPts val="0"/>
              </a:spcAft>
            </a:pPr>
            <a:r>
              <a:rPr sz="1100" b="1" i="0">
                <a:solidFill>
                  <a:srgbClr val="5B4CDB"/>
                </a:solidFill>
                <a:latin typeface="Calibri"/>
              </a:rPr>
              <a:t>Coding agent</a:t>
            </a:r>
          </a:p>
        </p:txBody>
      </p:sp>
      <p:sp>
        <p:nvSpPr>
          <p:cNvPr id="21" name="Rounded Rectangle 20"/>
          <p:cNvSpPr/>
          <p:nvPr/>
        </p:nvSpPr>
        <p:spPr>
          <a:xfrm>
            <a:off x="3383280" y="3749039"/>
            <a:ext cx="1325880" cy="548640"/>
          </a:xfrm>
          <a:prstGeom prst="roundRect">
            <a:avLst>
              <a:gd name="adj" fmla="val 16666"/>
            </a:avLst>
          </a:prstGeom>
          <a:solidFill>
            <a:srgbClr val="FFFFFF"/>
          </a:solidFill>
          <a:ln w="15875">
            <a:solidFill>
              <a:srgbClr val="5B4CDB"/>
            </a:solidFill>
          </a:ln>
        </p:spPr>
        <p:txBody>
          <a:bodyPr rtlCol="0" anchor="ctr" wrap="square" lIns="54864" rIns="54864" tIns="54864" bIns="54864"/>
          <a:lstStyle/>
          <a:p>
            <a:pPr algn="ctr">
              <a:spcAft>
                <a:spcPts val="0"/>
              </a:spcAft>
            </a:pPr>
            <a:r>
              <a:rPr sz="1100" b="1" i="0">
                <a:solidFill>
                  <a:srgbClr val="5B4CDB"/>
                </a:solidFill>
                <a:latin typeface="Calibri"/>
              </a:rPr>
              <a:t>Testing agent</a:t>
            </a:r>
          </a:p>
        </p:txBody>
      </p:sp>
      <p:sp>
        <p:nvSpPr>
          <p:cNvPr id="22" name="Rounded Rectangle 21"/>
          <p:cNvSpPr/>
          <p:nvPr/>
        </p:nvSpPr>
        <p:spPr>
          <a:xfrm>
            <a:off x="4846320" y="3749039"/>
            <a:ext cx="1325880" cy="548640"/>
          </a:xfrm>
          <a:prstGeom prst="roundRect">
            <a:avLst>
              <a:gd name="adj" fmla="val 16666"/>
            </a:avLst>
          </a:prstGeom>
          <a:solidFill>
            <a:srgbClr val="FFFFFF"/>
          </a:solidFill>
          <a:ln w="15875">
            <a:solidFill>
              <a:srgbClr val="5B4CDB"/>
            </a:solidFill>
          </a:ln>
        </p:spPr>
        <p:txBody>
          <a:bodyPr rtlCol="0" anchor="ctr" wrap="square" lIns="54864" rIns="54864" tIns="54864" bIns="54864"/>
          <a:lstStyle/>
          <a:p>
            <a:pPr algn="ctr">
              <a:spcAft>
                <a:spcPts val="0"/>
              </a:spcAft>
            </a:pPr>
            <a:r>
              <a:rPr sz="1100" b="1" i="0">
                <a:solidFill>
                  <a:srgbClr val="5B4CDB"/>
                </a:solidFill>
                <a:latin typeface="Calibri"/>
              </a:rPr>
              <a:t>Critique agent</a:t>
            </a:r>
          </a:p>
        </p:txBody>
      </p:sp>
      <p:cxnSp>
        <p:nvCxnSpPr>
          <p:cNvPr id="23" name="Connector 22"/>
          <p:cNvCxnSpPr/>
          <p:nvPr/>
        </p:nvCxnSpPr>
        <p:spPr>
          <a:xfrm>
            <a:off x="4777740" y="2761488"/>
            <a:ext cx="0" cy="146304"/>
          </a:xfrm>
          <a:prstGeom prst="line">
            <a:avLst/>
          </a:prstGeom>
          <a:ln w="15875">
            <a:solidFill>
              <a:srgbClr val="5B4CDB"/>
            </a:solidFill>
          </a:ln>
        </p:spPr>
      </p:cxnSp>
      <p:cxnSp>
        <p:nvCxnSpPr>
          <p:cNvPr id="24" name="Connector 23"/>
          <p:cNvCxnSpPr/>
          <p:nvPr/>
        </p:nvCxnSpPr>
        <p:spPr>
          <a:xfrm>
            <a:off x="4046220" y="2907792"/>
            <a:ext cx="1463040" cy="0"/>
          </a:xfrm>
          <a:prstGeom prst="line">
            <a:avLst/>
          </a:prstGeom>
          <a:ln w="15875">
            <a:solidFill>
              <a:srgbClr val="5B4CDB"/>
            </a:solidFill>
          </a:ln>
        </p:spPr>
      </p:cxnSp>
      <p:cxnSp>
        <p:nvCxnSpPr>
          <p:cNvPr id="25" name="Connector 24"/>
          <p:cNvCxnSpPr/>
          <p:nvPr/>
        </p:nvCxnSpPr>
        <p:spPr>
          <a:xfrm>
            <a:off x="4046220" y="2907792"/>
            <a:ext cx="0" cy="155448"/>
          </a:xfrm>
          <a:prstGeom prst="line">
            <a:avLst/>
          </a:prstGeom>
          <a:ln w="15875">
            <a:solidFill>
              <a:srgbClr val="5B4CDB"/>
            </a:solidFill>
            <a:tailEnd type="triangle" w="med" len="med"/>
          </a:ln>
        </p:spPr>
      </p:cxnSp>
      <p:cxnSp>
        <p:nvCxnSpPr>
          <p:cNvPr id="26" name="Connector 25"/>
          <p:cNvCxnSpPr/>
          <p:nvPr/>
        </p:nvCxnSpPr>
        <p:spPr>
          <a:xfrm>
            <a:off x="5509260" y="2907792"/>
            <a:ext cx="0" cy="155448"/>
          </a:xfrm>
          <a:prstGeom prst="line">
            <a:avLst/>
          </a:prstGeom>
          <a:ln w="15875">
            <a:solidFill>
              <a:srgbClr val="5B4CDB"/>
            </a:solidFill>
            <a:tailEnd type="triangle" w="med" len="med"/>
          </a:ln>
        </p:spPr>
      </p:cxnSp>
      <p:sp>
        <p:nvSpPr>
          <p:cNvPr id="27" name="Rounded Rectangle 26"/>
          <p:cNvSpPr/>
          <p:nvPr/>
        </p:nvSpPr>
        <p:spPr>
          <a:xfrm>
            <a:off x="6492240" y="1691640"/>
            <a:ext cx="1188720" cy="2788920"/>
          </a:xfrm>
          <a:prstGeom prst="roundRect">
            <a:avLst>
              <a:gd name="adj" fmla="val 9230"/>
            </a:avLst>
          </a:prstGeom>
          <a:solidFill>
            <a:srgbClr val="EEEDFC"/>
          </a:solidFill>
          <a:ln>
            <a:noFill/>
          </a:ln>
        </p:spPr>
        <p:txBody>
          <a:bodyPr rtlCol="0" anchor="ctr" wrap="square" lIns="54864" rIns="54864" tIns="54864" bIns="54864"/>
          <a:lstStyle/>
          <a:p>
            <a:pPr algn="ctr"/>
          </a:p>
        </p:txBody>
      </p:sp>
      <p:sp>
        <p:nvSpPr>
          <p:cNvPr id="28" name="TextBox 27"/>
          <p:cNvSpPr txBox="1"/>
          <p:nvPr/>
        </p:nvSpPr>
        <p:spPr>
          <a:xfrm>
            <a:off x="6492240" y="1783080"/>
            <a:ext cx="1188720" cy="228600"/>
          </a:xfrm>
          <a:prstGeom prst="rect">
            <a:avLst/>
          </a:prstGeom>
          <a:noFill/>
        </p:spPr>
        <p:txBody>
          <a:bodyPr wrap="square" anchor="t" lIns="0" rIns="0" tIns="0" bIns="0"/>
          <a:lstStyle/>
          <a:p>
            <a:pPr algn="ctr">
              <a:spcAft>
                <a:spcPts val="400"/>
              </a:spcAft>
            </a:pPr>
            <a:r>
              <a:rPr sz="950" b="1" i="0" spc="140">
                <a:solidFill>
                  <a:srgbClr val="5B4CDB"/>
                </a:solidFill>
                <a:latin typeface="Calibri"/>
              </a:rPr>
              <a:t>TOOLS</a:t>
            </a:r>
          </a:p>
        </p:txBody>
      </p:sp>
      <p:pic>
        <p:nvPicPr>
          <p:cNvPr id="29" name="Picture 28" descr="search_ap.png"/>
          <p:cNvPicPr>
            <a:picLocks noChangeAspect="1"/>
          </p:cNvPicPr>
          <p:nvPr/>
        </p:nvPicPr>
        <p:blipFill>
          <a:blip r:embed="rId3"/>
          <a:stretch>
            <a:fillRect/>
          </a:stretch>
        </p:blipFill>
        <p:spPr>
          <a:xfrm>
            <a:off x="6601968" y="2212848"/>
            <a:ext cx="256032" cy="256032"/>
          </a:xfrm>
          <a:prstGeom prst="rect">
            <a:avLst/>
          </a:prstGeom>
        </p:spPr>
      </p:pic>
      <p:sp>
        <p:nvSpPr>
          <p:cNvPr id="30" name="TextBox 29"/>
          <p:cNvSpPr txBox="1"/>
          <p:nvPr/>
        </p:nvSpPr>
        <p:spPr>
          <a:xfrm>
            <a:off x="6931152" y="2148840"/>
            <a:ext cx="749808" cy="384048"/>
          </a:xfrm>
          <a:prstGeom prst="rect">
            <a:avLst/>
          </a:prstGeom>
          <a:noFill/>
        </p:spPr>
        <p:txBody>
          <a:bodyPr wrap="square" anchor="ctr" lIns="0" rIns="0" tIns="0" bIns="0"/>
          <a:lstStyle/>
          <a:p>
            <a:pPr algn="l">
              <a:spcAft>
                <a:spcPts val="400"/>
              </a:spcAft>
            </a:pPr>
            <a:r>
              <a:rPr sz="1100" b="0" i="0">
                <a:solidFill>
                  <a:srgbClr val="1F1D33"/>
                </a:solidFill>
                <a:latin typeface="Calibri"/>
              </a:rPr>
              <a:t>Web search</a:t>
            </a:r>
          </a:p>
        </p:txBody>
      </p:sp>
      <p:pic>
        <p:nvPicPr>
          <p:cNvPr id="31" name="Picture 30" descr="terminal_ap.png"/>
          <p:cNvPicPr>
            <a:picLocks noChangeAspect="1"/>
          </p:cNvPicPr>
          <p:nvPr/>
        </p:nvPicPr>
        <p:blipFill>
          <a:blip r:embed="rId4"/>
          <a:stretch>
            <a:fillRect/>
          </a:stretch>
        </p:blipFill>
        <p:spPr>
          <a:xfrm>
            <a:off x="6601968" y="2761488"/>
            <a:ext cx="256032" cy="256032"/>
          </a:xfrm>
          <a:prstGeom prst="rect">
            <a:avLst/>
          </a:prstGeom>
        </p:spPr>
      </p:pic>
      <p:sp>
        <p:nvSpPr>
          <p:cNvPr id="32" name="TextBox 31"/>
          <p:cNvSpPr txBox="1"/>
          <p:nvPr/>
        </p:nvSpPr>
        <p:spPr>
          <a:xfrm>
            <a:off x="6931152" y="2697480"/>
            <a:ext cx="749808" cy="384048"/>
          </a:xfrm>
          <a:prstGeom prst="rect">
            <a:avLst/>
          </a:prstGeom>
          <a:noFill/>
        </p:spPr>
        <p:txBody>
          <a:bodyPr wrap="square" anchor="ctr" lIns="0" rIns="0" tIns="0" bIns="0"/>
          <a:lstStyle/>
          <a:p>
            <a:pPr algn="l">
              <a:spcAft>
                <a:spcPts val="400"/>
              </a:spcAft>
            </a:pPr>
            <a:r>
              <a:rPr sz="1100" b="0" i="0">
                <a:solidFill>
                  <a:srgbClr val="1F1D33"/>
                </a:solidFill>
                <a:latin typeface="Calibri"/>
              </a:rPr>
              <a:t>Code exec</a:t>
            </a:r>
          </a:p>
        </p:txBody>
      </p:sp>
      <p:pic>
        <p:nvPicPr>
          <p:cNvPr id="33" name="Picture 32" descr="db_ap.png"/>
          <p:cNvPicPr>
            <a:picLocks noChangeAspect="1"/>
          </p:cNvPicPr>
          <p:nvPr/>
        </p:nvPicPr>
        <p:blipFill>
          <a:blip r:embed="rId5"/>
          <a:stretch>
            <a:fillRect/>
          </a:stretch>
        </p:blipFill>
        <p:spPr>
          <a:xfrm>
            <a:off x="6601968" y="3310127"/>
            <a:ext cx="256032" cy="256032"/>
          </a:xfrm>
          <a:prstGeom prst="rect">
            <a:avLst/>
          </a:prstGeom>
        </p:spPr>
      </p:pic>
      <p:sp>
        <p:nvSpPr>
          <p:cNvPr id="34" name="TextBox 33"/>
          <p:cNvSpPr txBox="1"/>
          <p:nvPr/>
        </p:nvSpPr>
        <p:spPr>
          <a:xfrm>
            <a:off x="6931152" y="3246120"/>
            <a:ext cx="749808" cy="384048"/>
          </a:xfrm>
          <a:prstGeom prst="rect">
            <a:avLst/>
          </a:prstGeom>
          <a:noFill/>
        </p:spPr>
        <p:txBody>
          <a:bodyPr wrap="square" anchor="ctr" lIns="0" rIns="0" tIns="0" bIns="0"/>
          <a:lstStyle/>
          <a:p>
            <a:pPr algn="l">
              <a:spcAft>
                <a:spcPts val="400"/>
              </a:spcAft>
            </a:pPr>
            <a:r>
              <a:rPr sz="1100" b="0" i="0">
                <a:solidFill>
                  <a:srgbClr val="1F1D33"/>
                </a:solidFill>
                <a:latin typeface="Calibri"/>
              </a:rPr>
              <a:t>APIs / DB</a:t>
            </a:r>
          </a:p>
        </p:txBody>
      </p:sp>
      <p:pic>
        <p:nvPicPr>
          <p:cNvPr id="35" name="Picture 34" descr="file_ap.png"/>
          <p:cNvPicPr>
            <a:picLocks noChangeAspect="1"/>
          </p:cNvPicPr>
          <p:nvPr/>
        </p:nvPicPr>
        <p:blipFill>
          <a:blip r:embed="rId6"/>
          <a:stretch>
            <a:fillRect/>
          </a:stretch>
        </p:blipFill>
        <p:spPr>
          <a:xfrm>
            <a:off x="6601968" y="3858768"/>
            <a:ext cx="256032" cy="256032"/>
          </a:xfrm>
          <a:prstGeom prst="rect">
            <a:avLst/>
          </a:prstGeom>
        </p:spPr>
      </p:pic>
      <p:sp>
        <p:nvSpPr>
          <p:cNvPr id="36" name="TextBox 35"/>
          <p:cNvSpPr txBox="1"/>
          <p:nvPr/>
        </p:nvSpPr>
        <p:spPr>
          <a:xfrm>
            <a:off x="6931152" y="3794760"/>
            <a:ext cx="749808" cy="384048"/>
          </a:xfrm>
          <a:prstGeom prst="rect">
            <a:avLst/>
          </a:prstGeom>
          <a:noFill/>
        </p:spPr>
        <p:txBody>
          <a:bodyPr wrap="square" anchor="ctr" lIns="0" rIns="0" tIns="0" bIns="0"/>
          <a:lstStyle/>
          <a:p>
            <a:pPr algn="l">
              <a:spcAft>
                <a:spcPts val="400"/>
              </a:spcAft>
            </a:pPr>
            <a:r>
              <a:rPr sz="1100" b="0" i="0">
                <a:solidFill>
                  <a:srgbClr val="1F1D33"/>
                </a:solidFill>
                <a:latin typeface="Calibri"/>
              </a:rPr>
              <a:t>Files</a:t>
            </a:r>
          </a:p>
        </p:txBody>
      </p:sp>
      <p:sp>
        <p:nvSpPr>
          <p:cNvPr id="37" name="Rounded Rectangle 36"/>
          <p:cNvSpPr/>
          <p:nvPr/>
        </p:nvSpPr>
        <p:spPr>
          <a:xfrm>
            <a:off x="7863840" y="2514600"/>
            <a:ext cx="868680" cy="1097280"/>
          </a:xfrm>
          <a:prstGeom prst="roundRect">
            <a:avLst>
              <a:gd name="adj" fmla="val 10526"/>
            </a:avLst>
          </a:prstGeom>
          <a:solidFill>
            <a:srgbClr val="F2643D"/>
          </a:solidFill>
          <a:ln>
            <a:noFill/>
          </a:ln>
        </p:spPr>
        <p:txBody>
          <a:bodyPr rtlCol="0" anchor="ctr" wrap="square" lIns="54864" rIns="54864" tIns="54864" bIns="54864"/>
          <a:lstStyle/>
          <a:p>
            <a:pPr algn="ctr">
              <a:spcAft>
                <a:spcPts val="0"/>
              </a:spcAft>
            </a:pPr>
            <a:r>
              <a:rPr sz="1300" b="1" i="0">
                <a:solidFill>
                  <a:srgbClr val="FFFFFF"/>
                </a:solidFill>
                <a:latin typeface="Calibri"/>
              </a:rPr>
              <a:t>Output</a:t>
            </a:r>
          </a:p>
          <a:p>
            <a:pPr algn="ctr">
              <a:spcAft>
                <a:spcPts val="0"/>
              </a:spcAft>
            </a:pPr>
            <a:r>
              <a:rPr sz="1050" b="0" i="0">
                <a:solidFill>
                  <a:srgbClr val="FFFFFF"/>
                </a:solidFill>
                <a:latin typeface="Calibri"/>
              </a:rPr>
              <a:t>answer / artifacts</a:t>
            </a:r>
          </a:p>
        </p:txBody>
      </p:sp>
      <p:cxnSp>
        <p:nvCxnSpPr>
          <p:cNvPr id="38" name="Connector 37"/>
          <p:cNvCxnSpPr/>
          <p:nvPr/>
        </p:nvCxnSpPr>
        <p:spPr>
          <a:xfrm>
            <a:off x="1463040" y="3063240"/>
            <a:ext cx="182880" cy="0"/>
          </a:xfrm>
          <a:prstGeom prst="line">
            <a:avLst/>
          </a:prstGeom>
          <a:ln w="22225">
            <a:solidFill>
              <a:srgbClr val="6A6886"/>
            </a:solidFill>
            <a:tailEnd type="triangle" w="med" len="med"/>
          </a:ln>
        </p:spPr>
      </p:cxnSp>
      <p:cxnSp>
        <p:nvCxnSpPr>
          <p:cNvPr id="39" name="Connector 38"/>
          <p:cNvCxnSpPr/>
          <p:nvPr/>
        </p:nvCxnSpPr>
        <p:spPr>
          <a:xfrm>
            <a:off x="3063240" y="3063240"/>
            <a:ext cx="182880" cy="0"/>
          </a:xfrm>
          <a:prstGeom prst="line">
            <a:avLst/>
          </a:prstGeom>
          <a:ln w="22225">
            <a:solidFill>
              <a:srgbClr val="6A6886"/>
            </a:solidFill>
            <a:tailEnd type="triangle" w="med" len="med"/>
          </a:ln>
        </p:spPr>
      </p:cxnSp>
      <p:cxnSp>
        <p:nvCxnSpPr>
          <p:cNvPr id="40" name="Connector 39"/>
          <p:cNvCxnSpPr/>
          <p:nvPr/>
        </p:nvCxnSpPr>
        <p:spPr>
          <a:xfrm>
            <a:off x="6309360" y="3063240"/>
            <a:ext cx="182880" cy="0"/>
          </a:xfrm>
          <a:prstGeom prst="line">
            <a:avLst/>
          </a:prstGeom>
          <a:ln w="22225">
            <a:solidFill>
              <a:srgbClr val="6A6886"/>
            </a:solidFill>
            <a:headEnd type="triangle" w="med" len="med"/>
            <a:tailEnd type="triangle" w="med" len="med"/>
          </a:ln>
        </p:spPr>
      </p:cxnSp>
      <p:cxnSp>
        <p:nvCxnSpPr>
          <p:cNvPr id="41" name="Connector 40"/>
          <p:cNvCxnSpPr/>
          <p:nvPr/>
        </p:nvCxnSpPr>
        <p:spPr>
          <a:xfrm>
            <a:off x="7680960" y="3063240"/>
            <a:ext cx="182880" cy="0"/>
          </a:xfrm>
          <a:prstGeom prst="line">
            <a:avLst/>
          </a:prstGeom>
          <a:ln w="22225">
            <a:solidFill>
              <a:srgbClr val="6A6886"/>
            </a:solidFill>
            <a:tailEnd type="triangle" w="med" len="med"/>
          </a:ln>
        </p:spPr>
      </p:cxnSp>
      <p:sp>
        <p:nvSpPr>
          <p:cNvPr id="42" name="Rounded Rectangle 41"/>
          <p:cNvSpPr/>
          <p:nvPr/>
        </p:nvSpPr>
        <p:spPr>
          <a:xfrm>
            <a:off x="1645920" y="4663440"/>
            <a:ext cx="6035040" cy="868680"/>
          </a:xfrm>
          <a:prstGeom prst="roundRect">
            <a:avLst>
              <a:gd name="adj" fmla="val 12631"/>
            </a:avLst>
          </a:prstGeom>
          <a:solidFill>
            <a:srgbClr val="EEEDFC"/>
          </a:solidFill>
          <a:ln>
            <a:noFill/>
          </a:ln>
        </p:spPr>
        <p:txBody>
          <a:bodyPr rtlCol="0" anchor="ctr" wrap="square" lIns="54864" rIns="54864" tIns="54864" bIns="54864"/>
          <a:lstStyle/>
          <a:p>
            <a:pPr algn="ctr"/>
          </a:p>
        </p:txBody>
      </p:sp>
      <p:sp>
        <p:nvSpPr>
          <p:cNvPr id="43" name="TextBox 42"/>
          <p:cNvSpPr txBox="1"/>
          <p:nvPr/>
        </p:nvSpPr>
        <p:spPr>
          <a:xfrm>
            <a:off x="1755648" y="4663440"/>
            <a:ext cx="1097280" cy="868680"/>
          </a:xfrm>
          <a:prstGeom prst="rect">
            <a:avLst/>
          </a:prstGeom>
          <a:noFill/>
        </p:spPr>
        <p:txBody>
          <a:bodyPr wrap="square" anchor="ctr" lIns="0" rIns="0" tIns="0" bIns="0"/>
          <a:lstStyle/>
          <a:p>
            <a:pPr algn="l">
              <a:spcAft>
                <a:spcPts val="400"/>
              </a:spcAft>
            </a:pPr>
            <a:r>
              <a:rPr sz="950" b="1" i="0" spc="140">
                <a:solidFill>
                  <a:srgbClr val="5B4CDB"/>
                </a:solidFill>
                <a:latin typeface="Calibri"/>
              </a:rPr>
              <a:t>MEMORY</a:t>
            </a:r>
          </a:p>
        </p:txBody>
      </p:sp>
      <p:sp>
        <p:nvSpPr>
          <p:cNvPr id="44" name="Rounded Rectangle 43"/>
          <p:cNvSpPr/>
          <p:nvPr/>
        </p:nvSpPr>
        <p:spPr>
          <a:xfrm>
            <a:off x="2788920" y="4773168"/>
            <a:ext cx="1536192" cy="649224"/>
          </a:xfrm>
          <a:prstGeom prst="roundRect">
            <a:avLst>
              <a:gd name="adj" fmla="val 14084"/>
            </a:avLst>
          </a:prstGeom>
          <a:solidFill>
            <a:srgbClr val="FFFFFF"/>
          </a:solidFill>
          <a:ln w="12700">
            <a:solidFill>
              <a:srgbClr val="DCDAF0"/>
            </a:solidFill>
          </a:ln>
        </p:spPr>
        <p:txBody>
          <a:bodyPr rtlCol="0" anchor="ctr" wrap="square" lIns="54864" rIns="54864" tIns="54864" bIns="54864"/>
          <a:lstStyle/>
          <a:p>
            <a:pPr algn="ctr">
              <a:spcAft>
                <a:spcPts val="0"/>
              </a:spcAft>
            </a:pPr>
            <a:r>
              <a:rPr sz="1100" b="1" i="0">
                <a:solidFill>
                  <a:srgbClr val="17153A"/>
                </a:solidFill>
                <a:latin typeface="Calibri"/>
              </a:rPr>
              <a:t>Short-term</a:t>
            </a:r>
          </a:p>
          <a:p>
            <a:pPr algn="ctr">
              <a:spcAft>
                <a:spcPts val="0"/>
              </a:spcAft>
            </a:pPr>
            <a:r>
              <a:rPr sz="1100" b="0" i="0">
                <a:solidFill>
                  <a:srgbClr val="6A6886"/>
                </a:solidFill>
                <a:latin typeface="Calibri"/>
              </a:rPr>
              <a:t>recent steps</a:t>
            </a:r>
          </a:p>
        </p:txBody>
      </p:sp>
      <p:sp>
        <p:nvSpPr>
          <p:cNvPr id="45" name="Rounded Rectangle 44"/>
          <p:cNvSpPr/>
          <p:nvPr/>
        </p:nvSpPr>
        <p:spPr>
          <a:xfrm>
            <a:off x="4434840" y="4773168"/>
            <a:ext cx="1536192" cy="649224"/>
          </a:xfrm>
          <a:prstGeom prst="roundRect">
            <a:avLst>
              <a:gd name="adj" fmla="val 14084"/>
            </a:avLst>
          </a:prstGeom>
          <a:solidFill>
            <a:srgbClr val="FFFFFF"/>
          </a:solidFill>
          <a:ln w="12700">
            <a:solidFill>
              <a:srgbClr val="DCDAF0"/>
            </a:solidFill>
          </a:ln>
        </p:spPr>
        <p:txBody>
          <a:bodyPr rtlCol="0" anchor="ctr" wrap="square" lIns="54864" rIns="54864" tIns="54864" bIns="54864"/>
          <a:lstStyle/>
          <a:p>
            <a:pPr algn="ctr">
              <a:spcAft>
                <a:spcPts val="0"/>
              </a:spcAft>
            </a:pPr>
            <a:r>
              <a:rPr sz="1100" b="1" i="0">
                <a:solidFill>
                  <a:srgbClr val="17153A"/>
                </a:solidFill>
                <a:latin typeface="Calibri"/>
              </a:rPr>
              <a:t>Long-term</a:t>
            </a:r>
          </a:p>
          <a:p>
            <a:pPr algn="ctr">
              <a:spcAft>
                <a:spcPts val="0"/>
              </a:spcAft>
            </a:pPr>
            <a:r>
              <a:rPr sz="1100" b="0" i="0">
                <a:solidFill>
                  <a:srgbClr val="6A6886"/>
                </a:solidFill>
                <a:latin typeface="Calibri"/>
              </a:rPr>
              <a:t>vector store / DB</a:t>
            </a:r>
          </a:p>
        </p:txBody>
      </p:sp>
      <p:sp>
        <p:nvSpPr>
          <p:cNvPr id="46" name="Rounded Rectangle 45"/>
          <p:cNvSpPr/>
          <p:nvPr/>
        </p:nvSpPr>
        <p:spPr>
          <a:xfrm>
            <a:off x="6080760" y="4773168"/>
            <a:ext cx="1536192" cy="649224"/>
          </a:xfrm>
          <a:prstGeom prst="roundRect">
            <a:avLst>
              <a:gd name="adj" fmla="val 14084"/>
            </a:avLst>
          </a:prstGeom>
          <a:solidFill>
            <a:srgbClr val="FFFFFF"/>
          </a:solidFill>
          <a:ln w="12700">
            <a:solidFill>
              <a:srgbClr val="DCDAF0"/>
            </a:solidFill>
          </a:ln>
        </p:spPr>
        <p:txBody>
          <a:bodyPr rtlCol="0" anchor="ctr" wrap="square" lIns="54864" rIns="54864" tIns="54864" bIns="54864"/>
          <a:lstStyle/>
          <a:p>
            <a:pPr algn="ctr">
              <a:spcAft>
                <a:spcPts val="0"/>
              </a:spcAft>
            </a:pPr>
            <a:r>
              <a:rPr sz="1100" b="1" i="0">
                <a:solidFill>
                  <a:srgbClr val="17153A"/>
                </a:solidFill>
                <a:latin typeface="Calibri"/>
              </a:rPr>
              <a:t>Shared</a:t>
            </a:r>
          </a:p>
          <a:p>
            <a:pPr algn="ctr">
              <a:spcAft>
                <a:spcPts val="0"/>
              </a:spcAft>
            </a:pPr>
            <a:r>
              <a:rPr sz="1100" b="0" i="0">
                <a:solidFill>
                  <a:srgbClr val="6A6886"/>
                </a:solidFill>
                <a:latin typeface="Calibri"/>
              </a:rPr>
              <a:t>multi-agent context</a:t>
            </a:r>
          </a:p>
        </p:txBody>
      </p:sp>
      <p:cxnSp>
        <p:nvCxnSpPr>
          <p:cNvPr id="47" name="Connector 46"/>
          <p:cNvCxnSpPr/>
          <p:nvPr/>
        </p:nvCxnSpPr>
        <p:spPr>
          <a:xfrm>
            <a:off x="4777740" y="4480560"/>
            <a:ext cx="0" cy="182880"/>
          </a:xfrm>
          <a:prstGeom prst="line">
            <a:avLst/>
          </a:prstGeom>
          <a:ln w="22225">
            <a:solidFill>
              <a:srgbClr val="5B4CDB"/>
            </a:solidFill>
            <a:headEnd type="triangle" w="med" len="med"/>
            <a:tailEnd type="triangle" w="med" len="med"/>
          </a:ln>
        </p:spPr>
      </p:cxnSp>
      <p:cxnSp>
        <p:nvCxnSpPr>
          <p:cNvPr id="48" name="Connector 47"/>
          <p:cNvCxnSpPr/>
          <p:nvPr/>
        </p:nvCxnSpPr>
        <p:spPr>
          <a:xfrm>
            <a:off x="8293608" y="3611880"/>
            <a:ext cx="0" cy="2331720"/>
          </a:xfrm>
          <a:prstGeom prst="line">
            <a:avLst/>
          </a:prstGeom>
          <a:ln w="22225">
            <a:solidFill>
              <a:srgbClr val="F2643D"/>
            </a:solidFill>
            <a:prstDash val="lgDash"/>
          </a:ln>
        </p:spPr>
      </p:cxnSp>
      <p:cxnSp>
        <p:nvCxnSpPr>
          <p:cNvPr id="49" name="Connector 48"/>
          <p:cNvCxnSpPr/>
          <p:nvPr/>
        </p:nvCxnSpPr>
        <p:spPr>
          <a:xfrm flipH="1">
            <a:off x="932688" y="5943600"/>
            <a:ext cx="7360920" cy="0"/>
          </a:xfrm>
          <a:prstGeom prst="line">
            <a:avLst/>
          </a:prstGeom>
          <a:ln w="22225">
            <a:solidFill>
              <a:srgbClr val="F2643D"/>
            </a:solidFill>
            <a:prstDash val="lgDash"/>
          </a:ln>
        </p:spPr>
      </p:cxnSp>
      <p:cxnSp>
        <p:nvCxnSpPr>
          <p:cNvPr id="50" name="Connector 49"/>
          <p:cNvCxnSpPr/>
          <p:nvPr/>
        </p:nvCxnSpPr>
        <p:spPr>
          <a:xfrm flipV="1">
            <a:off x="932688" y="3611880"/>
            <a:ext cx="0" cy="2331720"/>
          </a:xfrm>
          <a:prstGeom prst="line">
            <a:avLst/>
          </a:prstGeom>
          <a:ln w="22225">
            <a:solidFill>
              <a:srgbClr val="F2643D"/>
            </a:solidFill>
            <a:prstDash val="lgDash"/>
            <a:tailEnd type="triangle" w="med" len="med"/>
          </a:ln>
        </p:spPr>
      </p:cxnSp>
      <p:sp>
        <p:nvSpPr>
          <p:cNvPr id="51" name="Rounded Rectangle 50"/>
          <p:cNvSpPr/>
          <p:nvPr/>
        </p:nvSpPr>
        <p:spPr>
          <a:xfrm>
            <a:off x="3291840" y="5797296"/>
            <a:ext cx="2743200" cy="292608"/>
          </a:xfrm>
          <a:prstGeom prst="roundRect">
            <a:avLst>
              <a:gd name="adj" fmla="val 50000"/>
            </a:avLst>
          </a:prstGeom>
          <a:solidFill>
            <a:srgbClr val="FFFFFF"/>
          </a:solidFill>
          <a:ln w="12700">
            <a:solidFill>
              <a:srgbClr val="F2643D"/>
            </a:solidFill>
          </a:ln>
        </p:spPr>
        <p:txBody>
          <a:bodyPr rtlCol="0" anchor="ctr" wrap="square" lIns="18288" rIns="18288" tIns="18288" bIns="18288"/>
          <a:lstStyle/>
          <a:p>
            <a:pPr algn="ctr">
              <a:spcAft>
                <a:spcPts val="0"/>
              </a:spcAft>
            </a:pPr>
            <a:r>
              <a:rPr sz="1050" b="1" i="0">
                <a:solidFill>
                  <a:srgbClr val="F2643D"/>
                </a:solidFill>
                <a:latin typeface="Calibri"/>
              </a:rPr>
              <a:t>feedback  ·  verification  ·  replanning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07  ·  ALGORITHMS STUDIED</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ReAct: think, act, observe, repeat</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10</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6A6886"/>
                </a:solidFill>
                <a:latin typeface="Calibri"/>
              </a:rPr>
              <a:t>Algorithm 1 — reasoning and acting interleaved in a single loop [12]</a:t>
            </a:r>
          </a:p>
        </p:txBody>
      </p:sp>
      <p:sp>
        <p:nvSpPr>
          <p:cNvPr id="8" name="Oval 7"/>
          <p:cNvSpPr/>
          <p:nvPr/>
        </p:nvSpPr>
        <p:spPr>
          <a:xfrm>
            <a:off x="1947672" y="3383280"/>
            <a:ext cx="1133856" cy="914400"/>
          </a:xfrm>
          <a:prstGeom prst="ellipse">
            <a:avLst/>
          </a:prstGeom>
          <a:solidFill>
            <a:srgbClr val="EEEDFC"/>
          </a:solidFill>
          <a:ln>
            <a:noFill/>
          </a:ln>
        </p:spPr>
        <p:txBody>
          <a:bodyPr rtlCol="0" anchor="ctr" wrap="square" lIns="54864" rIns="54864" tIns="54864" bIns="54864"/>
          <a:lstStyle/>
          <a:p>
            <a:pPr algn="ctr">
              <a:spcAft>
                <a:spcPts val="0"/>
              </a:spcAft>
            </a:pPr>
            <a:r>
              <a:rPr sz="1200" b="1" i="0">
                <a:solidFill>
                  <a:srgbClr val="5B4CDB"/>
                </a:solidFill>
                <a:latin typeface="Calibri"/>
              </a:rPr>
              <a:t>Goal G</a:t>
            </a:r>
          </a:p>
          <a:p>
            <a:pPr algn="ctr">
              <a:spcAft>
                <a:spcPts val="0"/>
              </a:spcAft>
            </a:pPr>
            <a:r>
              <a:rPr sz="1200" b="0" i="0">
                <a:solidFill>
                  <a:srgbClr val="5B4CDB"/>
                </a:solidFill>
                <a:latin typeface="Calibri"/>
              </a:rPr>
              <a:t>history H</a:t>
            </a:r>
          </a:p>
        </p:txBody>
      </p:sp>
      <p:sp>
        <p:nvSpPr>
          <p:cNvPr id="9" name="Rounded Rectangle 8"/>
          <p:cNvSpPr/>
          <p:nvPr/>
        </p:nvSpPr>
        <p:spPr>
          <a:xfrm>
            <a:off x="1819656" y="2029968"/>
            <a:ext cx="1389888" cy="694944"/>
          </a:xfrm>
          <a:prstGeom prst="roundRect">
            <a:avLst>
              <a:gd name="adj" fmla="val 13157"/>
            </a:avLst>
          </a:prstGeom>
          <a:solidFill>
            <a:srgbClr val="17153A"/>
          </a:solidFill>
          <a:ln>
            <a:noFill/>
          </a:ln>
        </p:spPr>
        <p:txBody>
          <a:bodyPr rtlCol="0" anchor="ctr" wrap="square" lIns="54864" rIns="54864" tIns="54864" bIns="54864"/>
          <a:lstStyle/>
          <a:p>
            <a:pPr algn="ctr">
              <a:spcAft>
                <a:spcPts val="0"/>
              </a:spcAft>
            </a:pPr>
            <a:r>
              <a:rPr sz="1400" b="1" i="0">
                <a:solidFill>
                  <a:srgbClr val="FFFFFF"/>
                </a:solidFill>
                <a:latin typeface="Calibri"/>
              </a:rPr>
              <a:t>Thought</a:t>
            </a:r>
          </a:p>
          <a:p>
            <a:pPr algn="ctr">
              <a:spcAft>
                <a:spcPts val="0"/>
              </a:spcAft>
            </a:pPr>
            <a:r>
              <a:rPr sz="1050" b="0" i="0">
                <a:solidFill>
                  <a:srgbClr val="FFFFFF"/>
                </a:solidFill>
                <a:latin typeface="Calibri"/>
              </a:rPr>
              <a:t>reason about next step</a:t>
            </a:r>
          </a:p>
        </p:txBody>
      </p:sp>
      <p:sp>
        <p:nvSpPr>
          <p:cNvPr id="10" name="Rounded Rectangle 9"/>
          <p:cNvSpPr/>
          <p:nvPr/>
        </p:nvSpPr>
        <p:spPr>
          <a:xfrm>
            <a:off x="3300984" y="3493008"/>
            <a:ext cx="1389888" cy="694944"/>
          </a:xfrm>
          <a:prstGeom prst="roundRect">
            <a:avLst>
              <a:gd name="adj" fmla="val 13157"/>
            </a:avLst>
          </a:prstGeom>
          <a:solidFill>
            <a:srgbClr val="5B4CDB"/>
          </a:solidFill>
          <a:ln>
            <a:noFill/>
          </a:ln>
        </p:spPr>
        <p:txBody>
          <a:bodyPr rtlCol="0" anchor="ctr" wrap="square" lIns="54864" rIns="54864" tIns="54864" bIns="54864"/>
          <a:lstStyle/>
          <a:p>
            <a:pPr algn="ctr">
              <a:spcAft>
                <a:spcPts val="0"/>
              </a:spcAft>
            </a:pPr>
            <a:r>
              <a:rPr sz="1400" b="1" i="0">
                <a:solidFill>
                  <a:srgbClr val="FFFFFF"/>
                </a:solidFill>
                <a:latin typeface="Calibri"/>
              </a:rPr>
              <a:t>Action</a:t>
            </a:r>
          </a:p>
          <a:p>
            <a:pPr algn="ctr">
              <a:spcAft>
                <a:spcPts val="0"/>
              </a:spcAft>
            </a:pPr>
            <a:r>
              <a:rPr sz="1050" b="0" i="0">
                <a:solidFill>
                  <a:srgbClr val="FFFFFF"/>
                </a:solidFill>
                <a:latin typeface="Calibri"/>
              </a:rPr>
              <a:t>call a tool</a:t>
            </a:r>
          </a:p>
        </p:txBody>
      </p:sp>
      <p:sp>
        <p:nvSpPr>
          <p:cNvPr id="11" name="Rounded Rectangle 10"/>
          <p:cNvSpPr/>
          <p:nvPr/>
        </p:nvSpPr>
        <p:spPr>
          <a:xfrm>
            <a:off x="1819656" y="4956048"/>
            <a:ext cx="1389888" cy="694944"/>
          </a:xfrm>
          <a:prstGeom prst="roundRect">
            <a:avLst>
              <a:gd name="adj" fmla="val 13157"/>
            </a:avLst>
          </a:prstGeom>
          <a:solidFill>
            <a:srgbClr val="F2643D"/>
          </a:solidFill>
          <a:ln>
            <a:noFill/>
          </a:ln>
        </p:spPr>
        <p:txBody>
          <a:bodyPr rtlCol="0" anchor="ctr" wrap="square" lIns="54864" rIns="54864" tIns="54864" bIns="54864"/>
          <a:lstStyle/>
          <a:p>
            <a:pPr algn="ctr">
              <a:spcAft>
                <a:spcPts val="0"/>
              </a:spcAft>
            </a:pPr>
            <a:r>
              <a:rPr sz="1400" b="1" i="0">
                <a:solidFill>
                  <a:srgbClr val="FFFFFF"/>
                </a:solidFill>
                <a:latin typeface="Calibri"/>
              </a:rPr>
              <a:t>Observation</a:t>
            </a:r>
          </a:p>
          <a:p>
            <a:pPr algn="ctr">
              <a:spcAft>
                <a:spcPts val="0"/>
              </a:spcAft>
            </a:pPr>
            <a:r>
              <a:rPr sz="1050" b="0" i="0">
                <a:solidFill>
                  <a:srgbClr val="FFFFFF"/>
                </a:solidFill>
                <a:latin typeface="Calibri"/>
              </a:rPr>
              <a:t>read tool result</a:t>
            </a:r>
          </a:p>
        </p:txBody>
      </p:sp>
      <p:sp>
        <p:nvSpPr>
          <p:cNvPr id="12" name="Rounded Rectangle 11"/>
          <p:cNvSpPr/>
          <p:nvPr/>
        </p:nvSpPr>
        <p:spPr>
          <a:xfrm>
            <a:off x="338327" y="3493008"/>
            <a:ext cx="1389888" cy="694944"/>
          </a:xfrm>
          <a:prstGeom prst="roundRect">
            <a:avLst>
              <a:gd name="adj" fmla="val 13157"/>
            </a:avLst>
          </a:prstGeom>
          <a:solidFill>
            <a:srgbClr val="FFFFFF"/>
          </a:solidFill>
          <a:ln w="19050">
            <a:solidFill>
              <a:srgbClr val="5B4CDB"/>
            </a:solidFill>
          </a:ln>
        </p:spPr>
        <p:txBody>
          <a:bodyPr rtlCol="0" anchor="ctr" wrap="square" lIns="54864" rIns="54864" tIns="54864" bIns="54864"/>
          <a:lstStyle/>
          <a:p>
            <a:pPr algn="ctr">
              <a:spcAft>
                <a:spcPts val="0"/>
              </a:spcAft>
            </a:pPr>
            <a:r>
              <a:rPr sz="1400" b="1" i="0">
                <a:solidFill>
                  <a:srgbClr val="5B4CDB"/>
                </a:solidFill>
                <a:latin typeface="Calibri"/>
              </a:rPr>
              <a:t>Update</a:t>
            </a:r>
          </a:p>
          <a:p>
            <a:pPr algn="ctr">
              <a:spcAft>
                <a:spcPts val="0"/>
              </a:spcAft>
            </a:pPr>
            <a:r>
              <a:rPr sz="1050" b="0" i="0">
                <a:solidFill>
                  <a:srgbClr val="5B4CDB"/>
                </a:solidFill>
                <a:latin typeface="Calibri"/>
              </a:rPr>
              <a:t>add (r, a, o) to H</a:t>
            </a:r>
          </a:p>
        </p:txBody>
      </p:sp>
      <p:cxnSp>
        <p:nvCxnSpPr>
          <p:cNvPr id="13" name="Connector 12"/>
          <p:cNvCxnSpPr/>
          <p:nvPr/>
        </p:nvCxnSpPr>
        <p:spPr>
          <a:xfrm>
            <a:off x="3209544" y="2514600"/>
            <a:ext cx="585216" cy="978408"/>
          </a:xfrm>
          <a:prstGeom prst="line">
            <a:avLst/>
          </a:prstGeom>
          <a:ln w="22225">
            <a:solidFill>
              <a:srgbClr val="6A6886"/>
            </a:solidFill>
            <a:tailEnd type="triangle" w="med" len="med"/>
          </a:ln>
        </p:spPr>
      </p:cxnSp>
      <p:cxnSp>
        <p:nvCxnSpPr>
          <p:cNvPr id="14" name="Connector 13"/>
          <p:cNvCxnSpPr/>
          <p:nvPr/>
        </p:nvCxnSpPr>
        <p:spPr>
          <a:xfrm flipH="1">
            <a:off x="3209544" y="4187952"/>
            <a:ext cx="585216" cy="978408"/>
          </a:xfrm>
          <a:prstGeom prst="line">
            <a:avLst/>
          </a:prstGeom>
          <a:ln w="22225">
            <a:solidFill>
              <a:srgbClr val="6A6886"/>
            </a:solidFill>
            <a:tailEnd type="triangle" w="med" len="med"/>
          </a:ln>
        </p:spPr>
      </p:cxnSp>
      <p:cxnSp>
        <p:nvCxnSpPr>
          <p:cNvPr id="15" name="Connector 14"/>
          <p:cNvCxnSpPr/>
          <p:nvPr/>
        </p:nvCxnSpPr>
        <p:spPr>
          <a:xfrm flipH="1" flipV="1">
            <a:off x="1234440" y="4187952"/>
            <a:ext cx="585216" cy="978408"/>
          </a:xfrm>
          <a:prstGeom prst="line">
            <a:avLst/>
          </a:prstGeom>
          <a:ln w="22225">
            <a:solidFill>
              <a:srgbClr val="6A6886"/>
            </a:solidFill>
            <a:tailEnd type="triangle" w="med" len="med"/>
          </a:ln>
        </p:spPr>
      </p:cxnSp>
      <p:cxnSp>
        <p:nvCxnSpPr>
          <p:cNvPr id="16" name="Connector 15"/>
          <p:cNvCxnSpPr/>
          <p:nvPr/>
        </p:nvCxnSpPr>
        <p:spPr>
          <a:xfrm flipV="1">
            <a:off x="1234440" y="2514600"/>
            <a:ext cx="585216" cy="978408"/>
          </a:xfrm>
          <a:prstGeom prst="line">
            <a:avLst/>
          </a:prstGeom>
          <a:ln w="22225">
            <a:solidFill>
              <a:srgbClr val="6A6886"/>
            </a:solidFill>
            <a:tailEnd type="triangle" w="med" len="med"/>
          </a:ln>
        </p:spPr>
      </p:cxnSp>
      <p:sp>
        <p:nvSpPr>
          <p:cNvPr id="17" name="Rounded Rectangle 16"/>
          <p:cNvSpPr/>
          <p:nvPr/>
        </p:nvSpPr>
        <p:spPr>
          <a:xfrm>
            <a:off x="4892040" y="1737360"/>
            <a:ext cx="3703320" cy="3063240"/>
          </a:xfrm>
          <a:prstGeom prst="roundRect">
            <a:avLst>
              <a:gd name="adj" fmla="val 3582"/>
            </a:avLst>
          </a:prstGeom>
          <a:solidFill>
            <a:srgbClr val="17153A"/>
          </a:solidFill>
          <a:ln>
            <a:noFill/>
          </a:ln>
        </p:spPr>
        <p:txBody>
          <a:bodyPr rtlCol="0" anchor="ctr" wrap="square" lIns="54864" rIns="54864" tIns="54864" bIns="54864"/>
          <a:lstStyle/>
          <a:p>
            <a:pPr algn="ctr"/>
          </a:p>
        </p:txBody>
      </p:sp>
      <p:sp>
        <p:nvSpPr>
          <p:cNvPr id="18" name="TextBox 17"/>
          <p:cNvSpPr txBox="1"/>
          <p:nvPr/>
        </p:nvSpPr>
        <p:spPr>
          <a:xfrm>
            <a:off x="5093207" y="1883664"/>
            <a:ext cx="3337560" cy="237744"/>
          </a:xfrm>
          <a:prstGeom prst="rect">
            <a:avLst/>
          </a:prstGeom>
          <a:noFill/>
        </p:spPr>
        <p:txBody>
          <a:bodyPr wrap="square" anchor="t" lIns="0" rIns="0" tIns="0" bIns="0"/>
          <a:lstStyle/>
          <a:p>
            <a:pPr algn="l">
              <a:spcAft>
                <a:spcPts val="400"/>
              </a:spcAft>
            </a:pPr>
            <a:r>
              <a:rPr sz="950" b="1" i="0" spc="180">
                <a:solidFill>
                  <a:srgbClr val="F2643D"/>
                </a:solidFill>
                <a:latin typeface="Calibri"/>
              </a:rPr>
              <a:t>PSEUDOCODE</a:t>
            </a:r>
          </a:p>
        </p:txBody>
      </p:sp>
      <p:sp>
        <p:nvSpPr>
          <p:cNvPr id="19" name="TextBox 18"/>
          <p:cNvSpPr txBox="1"/>
          <p:nvPr/>
        </p:nvSpPr>
        <p:spPr>
          <a:xfrm>
            <a:off x="5074920" y="2194560"/>
            <a:ext cx="3383279" cy="2514600"/>
          </a:xfrm>
          <a:prstGeom prst="rect">
            <a:avLst/>
          </a:prstGeom>
          <a:noFill/>
        </p:spPr>
        <p:txBody>
          <a:bodyPr wrap="square" anchor="t" lIns="0" rIns="0" tIns="0" bIns="0"/>
          <a:lstStyle/>
          <a:p>
            <a:pPr algn="l">
              <a:spcAft>
                <a:spcPts val="200"/>
              </a:spcAft>
            </a:pPr>
            <a:r>
              <a:rPr sz="1150" b="0" i="0">
                <a:solidFill>
                  <a:srgbClr val="8A86B8"/>
                </a:solidFill>
                <a:latin typeface="Consolas"/>
              </a:rPr>
              <a:t> 1  </a:t>
            </a:r>
            <a:r>
              <a:rPr sz="1150" b="0" i="0">
                <a:solidFill>
                  <a:srgbClr val="F1F0FA"/>
                </a:solidFill>
                <a:latin typeface="Consolas"/>
              </a:rPr>
              <a:t>Input: goal G, environment E</a:t>
            </a:r>
          </a:p>
          <a:p>
            <a:pPr algn="l">
              <a:spcAft>
                <a:spcPts val="200"/>
              </a:spcAft>
            </a:pPr>
            <a:r>
              <a:rPr sz="1150" b="0" i="0">
                <a:solidFill>
                  <a:srgbClr val="8A86B8"/>
                </a:solidFill>
                <a:latin typeface="Consolas"/>
              </a:rPr>
              <a:t> 2  </a:t>
            </a:r>
            <a:r>
              <a:rPr sz="1150" b="0" i="0">
                <a:solidFill>
                  <a:srgbClr val="F1F0FA"/>
                </a:solidFill>
                <a:latin typeface="Consolas"/>
              </a:rPr>
              <a:t>H ← ∅                  </a:t>
            </a:r>
            <a:r>
              <a:rPr sz="1150" b="0" i="1">
                <a:solidFill>
                  <a:srgbClr val="B4B0E6"/>
                </a:solidFill>
                <a:latin typeface="Consolas"/>
              </a:rPr>
              <a:t># history</a:t>
            </a:r>
          </a:p>
          <a:p>
            <a:pPr algn="l">
              <a:spcAft>
                <a:spcPts val="200"/>
              </a:spcAft>
            </a:pPr>
            <a:r>
              <a:rPr sz="1150" b="0" i="0">
                <a:solidFill>
                  <a:srgbClr val="8A86B8"/>
                </a:solidFill>
                <a:latin typeface="Consolas"/>
              </a:rPr>
              <a:t> 3  </a:t>
            </a:r>
            <a:r>
              <a:rPr sz="1150" b="0" i="0">
                <a:solidFill>
                  <a:srgbClr val="F1F0FA"/>
                </a:solidFill>
                <a:latin typeface="Consolas"/>
              </a:rPr>
              <a:t>while not Done(G) do</a:t>
            </a:r>
          </a:p>
          <a:p>
            <a:pPr algn="l">
              <a:spcAft>
                <a:spcPts val="200"/>
              </a:spcAft>
            </a:pPr>
            <a:r>
              <a:rPr sz="1150" b="0" i="0">
                <a:solidFill>
                  <a:srgbClr val="8A86B8"/>
                </a:solidFill>
                <a:latin typeface="Consolas"/>
              </a:rPr>
              <a:t> 4  </a:t>
            </a:r>
            <a:r>
              <a:rPr sz="1150" b="0" i="0">
                <a:solidFill>
                  <a:srgbClr val="F1F0FA"/>
                </a:solidFill>
                <a:latin typeface="Consolas"/>
              </a:rPr>
              <a:t>  r ← LLM_Reason(G, H)  </a:t>
            </a:r>
            <a:r>
              <a:rPr sz="1150" b="0" i="1">
                <a:solidFill>
                  <a:srgbClr val="B4B0E6"/>
                </a:solidFill>
                <a:latin typeface="Consolas"/>
              </a:rPr>
              <a:t># thought</a:t>
            </a:r>
          </a:p>
          <a:p>
            <a:pPr algn="l">
              <a:spcAft>
                <a:spcPts val="200"/>
              </a:spcAft>
            </a:pPr>
            <a:r>
              <a:rPr sz="1150" b="0" i="0">
                <a:solidFill>
                  <a:srgbClr val="8A86B8"/>
                </a:solidFill>
                <a:latin typeface="Consolas"/>
              </a:rPr>
              <a:t> 5  </a:t>
            </a:r>
            <a:r>
              <a:rPr sz="1150" b="0" i="0">
                <a:solidFill>
                  <a:srgbClr val="F1F0FA"/>
                </a:solidFill>
                <a:latin typeface="Consolas"/>
              </a:rPr>
              <a:t>  a ← Select_Tool(r)    </a:t>
            </a:r>
            <a:r>
              <a:rPr sz="1150" b="0" i="1">
                <a:solidFill>
                  <a:srgbClr val="B4B0E6"/>
                </a:solidFill>
                <a:latin typeface="Consolas"/>
              </a:rPr>
              <a:t># action</a:t>
            </a:r>
          </a:p>
          <a:p>
            <a:pPr algn="l">
              <a:spcAft>
                <a:spcPts val="200"/>
              </a:spcAft>
            </a:pPr>
            <a:r>
              <a:rPr sz="1150" b="0" i="0">
                <a:solidFill>
                  <a:srgbClr val="8A86B8"/>
                </a:solidFill>
                <a:latin typeface="Consolas"/>
              </a:rPr>
              <a:t> 6  </a:t>
            </a:r>
            <a:r>
              <a:rPr sz="1150" b="0" i="0">
                <a:solidFill>
                  <a:srgbClr val="F1F0FA"/>
                </a:solidFill>
                <a:latin typeface="Consolas"/>
              </a:rPr>
              <a:t>  o ← Execute(a, E)     </a:t>
            </a:r>
            <a:r>
              <a:rPr sz="1150" b="0" i="1">
                <a:solidFill>
                  <a:srgbClr val="B4B0E6"/>
                </a:solidFill>
                <a:latin typeface="Consolas"/>
              </a:rPr>
              <a:t># observe</a:t>
            </a:r>
          </a:p>
          <a:p>
            <a:pPr algn="l">
              <a:spcAft>
                <a:spcPts val="200"/>
              </a:spcAft>
            </a:pPr>
            <a:r>
              <a:rPr sz="1150" b="0" i="0">
                <a:solidFill>
                  <a:srgbClr val="8A86B8"/>
                </a:solidFill>
                <a:latin typeface="Consolas"/>
              </a:rPr>
              <a:t> 7  </a:t>
            </a:r>
            <a:r>
              <a:rPr sz="1150" b="0" i="0">
                <a:solidFill>
                  <a:srgbClr val="F1F0FA"/>
                </a:solidFill>
                <a:latin typeface="Consolas"/>
              </a:rPr>
              <a:t>  H ← H ∪ {(r, a, o)}</a:t>
            </a:r>
          </a:p>
          <a:p>
            <a:pPr algn="l">
              <a:spcAft>
                <a:spcPts val="200"/>
              </a:spcAft>
            </a:pPr>
            <a:r>
              <a:rPr sz="1150" b="0" i="0">
                <a:solidFill>
                  <a:srgbClr val="8A86B8"/>
                </a:solidFill>
                <a:latin typeface="Consolas"/>
              </a:rPr>
              <a:t> 8  </a:t>
            </a:r>
            <a:r>
              <a:rPr sz="1150" b="0" i="0">
                <a:solidFill>
                  <a:srgbClr val="F1F0FA"/>
                </a:solidFill>
                <a:latin typeface="Consolas"/>
              </a:rPr>
              <a:t>  if Need_Replan(o):</a:t>
            </a:r>
          </a:p>
          <a:p>
            <a:pPr algn="l">
              <a:spcAft>
                <a:spcPts val="200"/>
              </a:spcAft>
            </a:pPr>
            <a:r>
              <a:rPr sz="1150" b="0" i="0">
                <a:solidFill>
                  <a:srgbClr val="8A86B8"/>
                </a:solidFill>
                <a:latin typeface="Consolas"/>
              </a:rPr>
              <a:t> 9  </a:t>
            </a:r>
            <a:r>
              <a:rPr sz="1150" b="0" i="0">
                <a:solidFill>
                  <a:srgbClr val="F1F0FA"/>
                </a:solidFill>
                <a:latin typeface="Consolas"/>
              </a:rPr>
              <a:t>      G ← Update(G, o)</a:t>
            </a:r>
          </a:p>
          <a:p>
            <a:pPr algn="l">
              <a:spcAft>
                <a:spcPts val="200"/>
              </a:spcAft>
            </a:pPr>
            <a:r>
              <a:rPr sz="1150" b="0" i="0">
                <a:solidFill>
                  <a:srgbClr val="8A86B8"/>
                </a:solidFill>
                <a:latin typeface="Consolas"/>
              </a:rPr>
              <a:t>10  </a:t>
            </a:r>
            <a:r>
              <a:rPr sz="1150" b="0" i="0">
                <a:solidFill>
                  <a:srgbClr val="F1F0FA"/>
                </a:solidFill>
                <a:latin typeface="Consolas"/>
              </a:rPr>
              <a:t>return FinalAnswer(G, H)</a:t>
            </a:r>
          </a:p>
        </p:txBody>
      </p:sp>
      <p:sp>
        <p:nvSpPr>
          <p:cNvPr id="20" name="Rounded Rectangle 19"/>
          <p:cNvSpPr/>
          <p:nvPr/>
        </p:nvSpPr>
        <p:spPr>
          <a:xfrm>
            <a:off x="4892040" y="4956048"/>
            <a:ext cx="3703320" cy="1234440"/>
          </a:xfrm>
          <a:prstGeom prst="roundRect">
            <a:avLst>
              <a:gd name="adj" fmla="val 8888"/>
            </a:avLst>
          </a:prstGeom>
          <a:solidFill>
            <a:srgbClr val="F5F5FA"/>
          </a:solidFill>
          <a:ln>
            <a:noFill/>
          </a:ln>
        </p:spPr>
        <p:txBody>
          <a:bodyPr rtlCol="0" anchor="ctr" wrap="square" lIns="54864" rIns="54864" tIns="54864" bIns="54864"/>
          <a:lstStyle/>
          <a:p>
            <a:pPr algn="ctr"/>
          </a:p>
        </p:txBody>
      </p:sp>
      <p:sp>
        <p:nvSpPr>
          <p:cNvPr id="21" name="TextBox 20"/>
          <p:cNvSpPr txBox="1"/>
          <p:nvPr/>
        </p:nvSpPr>
        <p:spPr>
          <a:xfrm>
            <a:off x="5093208" y="5047488"/>
            <a:ext cx="3383280" cy="228600"/>
          </a:xfrm>
          <a:prstGeom prst="rect">
            <a:avLst/>
          </a:prstGeom>
          <a:noFill/>
        </p:spPr>
        <p:txBody>
          <a:bodyPr wrap="square" anchor="t" lIns="0" rIns="0" tIns="0" bIns="0"/>
          <a:lstStyle/>
          <a:p>
            <a:pPr algn="l">
              <a:spcAft>
                <a:spcPts val="400"/>
              </a:spcAft>
            </a:pPr>
            <a:r>
              <a:rPr sz="950" b="1" i="0" spc="160">
                <a:solidFill>
                  <a:srgbClr val="5B4CDB"/>
                </a:solidFill>
                <a:latin typeface="Calibri"/>
              </a:rPr>
              <a:t>EXAMPLE</a:t>
            </a:r>
          </a:p>
        </p:txBody>
      </p:sp>
      <p:sp>
        <p:nvSpPr>
          <p:cNvPr id="22" name="TextBox 21"/>
          <p:cNvSpPr txBox="1"/>
          <p:nvPr/>
        </p:nvSpPr>
        <p:spPr>
          <a:xfrm>
            <a:off x="5093208" y="5303520"/>
            <a:ext cx="3383280" cy="868680"/>
          </a:xfrm>
          <a:prstGeom prst="rect">
            <a:avLst/>
          </a:prstGeom>
          <a:noFill/>
        </p:spPr>
        <p:txBody>
          <a:bodyPr wrap="square" anchor="t" lIns="0" rIns="0" tIns="0" bIns="0"/>
          <a:lstStyle/>
          <a:p>
            <a:pPr algn="l">
              <a:spcAft>
                <a:spcPts val="300"/>
              </a:spcAft>
            </a:pPr>
            <a:r>
              <a:rPr sz="1200" b="1" i="1">
                <a:solidFill>
                  <a:srgbClr val="17153A"/>
                </a:solidFill>
                <a:latin typeface="Calibri"/>
              </a:rPr>
              <a:t>“What is the weather in Wardha?”</a:t>
            </a:r>
          </a:p>
          <a:p>
            <a:pPr algn="l">
              <a:spcAft>
                <a:spcPts val="300"/>
              </a:spcAft>
            </a:pPr>
            <a:r>
              <a:rPr sz="1200" b="0" i="0">
                <a:solidFill>
                  <a:srgbClr val="1F1D33"/>
                </a:solidFill>
                <a:latin typeface="Calibri"/>
              </a:rPr>
              <a:t>Thought: needs live data → Action: weather_api("Wardha") → Observation: 31 °C, clear → Answer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07  ·  ALGORITHMS STUDIED</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Planning turns goals into a task graph</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11</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6A6886"/>
                </a:solidFill>
                <a:latin typeface="Calibri"/>
              </a:rPr>
              <a:t>Algorithm 2 — task decomposition and multi-agent coordination (example goal: a research report)</a:t>
            </a:r>
          </a:p>
        </p:txBody>
      </p:sp>
      <p:sp>
        <p:nvSpPr>
          <p:cNvPr id="8" name="Rounded Rectangle 7"/>
          <p:cNvSpPr/>
          <p:nvPr/>
        </p:nvSpPr>
        <p:spPr>
          <a:xfrm>
            <a:off x="548640" y="1965960"/>
            <a:ext cx="1188720" cy="914400"/>
          </a:xfrm>
          <a:prstGeom prst="roundRect">
            <a:avLst>
              <a:gd name="adj" fmla="val 10000"/>
            </a:avLst>
          </a:prstGeom>
          <a:solidFill>
            <a:srgbClr val="17153A"/>
          </a:solidFill>
          <a:ln>
            <a:noFill/>
          </a:ln>
        </p:spPr>
        <p:txBody>
          <a:bodyPr rtlCol="0" anchor="ctr" wrap="square" lIns="54864" rIns="54864" tIns="54864" bIns="54864"/>
          <a:lstStyle/>
          <a:p>
            <a:pPr algn="ctr">
              <a:spcAft>
                <a:spcPts val="0"/>
              </a:spcAft>
            </a:pPr>
            <a:r>
              <a:rPr sz="1400" b="1" i="0">
                <a:solidFill>
                  <a:srgbClr val="FFFFFF"/>
                </a:solidFill>
                <a:latin typeface="Calibri"/>
              </a:rPr>
              <a:t>Goal</a:t>
            </a:r>
          </a:p>
          <a:p>
            <a:pPr algn="ctr">
              <a:spcAft>
                <a:spcPts val="0"/>
              </a:spcAft>
            </a:pPr>
            <a:r>
              <a:rPr sz="1100" b="0" i="0">
                <a:solidFill>
                  <a:srgbClr val="FFFFFF"/>
                </a:solidFill>
                <a:latin typeface="Calibri"/>
              </a:rPr>
              <a:t>research report</a:t>
            </a:r>
          </a:p>
        </p:txBody>
      </p:sp>
      <p:sp>
        <p:nvSpPr>
          <p:cNvPr id="9" name="Rounded Rectangle 8"/>
          <p:cNvSpPr/>
          <p:nvPr/>
        </p:nvSpPr>
        <p:spPr>
          <a:xfrm>
            <a:off x="2011680" y="1691640"/>
            <a:ext cx="1463040" cy="658368"/>
          </a:xfrm>
          <a:prstGeom prst="roundRect">
            <a:avLst>
              <a:gd name="adj" fmla="val 13888"/>
            </a:avLst>
          </a:prstGeom>
          <a:solidFill>
            <a:srgbClr val="FFFFFF"/>
          </a:solidFill>
          <a:ln w="15875">
            <a:solidFill>
              <a:srgbClr val="DCDAF0"/>
            </a:solidFill>
          </a:ln>
        </p:spPr>
        <p:txBody>
          <a:bodyPr rtlCol="0" anchor="ctr" wrap="square" lIns="54864" rIns="54864" tIns="54864" bIns="54864"/>
          <a:lstStyle/>
          <a:p>
            <a:pPr algn="ctr">
              <a:spcAft>
                <a:spcPts val="0"/>
              </a:spcAft>
            </a:pPr>
            <a:r>
              <a:rPr sz="1200" b="1" i="0">
                <a:solidFill>
                  <a:srgbClr val="17153A"/>
                </a:solidFill>
                <a:latin typeface="Calibri"/>
              </a:rPr>
              <a:t>t1  Search news</a:t>
            </a:r>
          </a:p>
          <a:p>
            <a:pPr algn="ctr">
              <a:spcAft>
                <a:spcPts val="0"/>
              </a:spcAft>
            </a:pPr>
            <a:r>
              <a:rPr sz="1050" b="0" i="1">
                <a:solidFill>
                  <a:srgbClr val="F2643D"/>
                </a:solidFill>
                <a:latin typeface="Calibri"/>
              </a:rPr>
              <a:t>research agent</a:t>
            </a:r>
          </a:p>
        </p:txBody>
      </p:sp>
      <p:sp>
        <p:nvSpPr>
          <p:cNvPr id="10" name="Rounded Rectangle 9"/>
          <p:cNvSpPr/>
          <p:nvPr/>
        </p:nvSpPr>
        <p:spPr>
          <a:xfrm>
            <a:off x="2011680" y="2514600"/>
            <a:ext cx="1463040" cy="658368"/>
          </a:xfrm>
          <a:prstGeom prst="roundRect">
            <a:avLst>
              <a:gd name="adj" fmla="val 13888"/>
            </a:avLst>
          </a:prstGeom>
          <a:solidFill>
            <a:srgbClr val="FFFFFF"/>
          </a:solidFill>
          <a:ln w="15875">
            <a:solidFill>
              <a:srgbClr val="DCDAF0"/>
            </a:solidFill>
          </a:ln>
        </p:spPr>
        <p:txBody>
          <a:bodyPr rtlCol="0" anchor="ctr" wrap="square" lIns="54864" rIns="54864" tIns="54864" bIns="54864"/>
          <a:lstStyle/>
          <a:p>
            <a:pPr algn="ctr">
              <a:spcAft>
                <a:spcPts val="0"/>
              </a:spcAft>
            </a:pPr>
            <a:r>
              <a:rPr sz="1200" b="1" i="0">
                <a:solidFill>
                  <a:srgbClr val="17153A"/>
                </a:solidFill>
                <a:latin typeface="Calibri"/>
              </a:rPr>
              <a:t>t2  Search papers</a:t>
            </a:r>
          </a:p>
          <a:p>
            <a:pPr algn="ctr">
              <a:spcAft>
                <a:spcPts val="0"/>
              </a:spcAft>
            </a:pPr>
            <a:r>
              <a:rPr sz="1050" b="0" i="1">
                <a:solidFill>
                  <a:srgbClr val="F2643D"/>
                </a:solidFill>
                <a:latin typeface="Calibri"/>
              </a:rPr>
              <a:t>research agent</a:t>
            </a:r>
          </a:p>
        </p:txBody>
      </p:sp>
      <p:sp>
        <p:nvSpPr>
          <p:cNvPr id="11" name="Rounded Rectangle 10"/>
          <p:cNvSpPr/>
          <p:nvPr/>
        </p:nvSpPr>
        <p:spPr>
          <a:xfrm>
            <a:off x="3703320" y="2103120"/>
            <a:ext cx="1463040" cy="658368"/>
          </a:xfrm>
          <a:prstGeom prst="roundRect">
            <a:avLst>
              <a:gd name="adj" fmla="val 13888"/>
            </a:avLst>
          </a:prstGeom>
          <a:solidFill>
            <a:srgbClr val="FFFFFF"/>
          </a:solidFill>
          <a:ln w="15875">
            <a:solidFill>
              <a:srgbClr val="DCDAF0"/>
            </a:solidFill>
          </a:ln>
        </p:spPr>
        <p:txBody>
          <a:bodyPr rtlCol="0" anchor="ctr" wrap="square" lIns="54864" rIns="54864" tIns="54864" bIns="54864"/>
          <a:lstStyle/>
          <a:p>
            <a:pPr algn="ctr">
              <a:spcAft>
                <a:spcPts val="0"/>
              </a:spcAft>
            </a:pPr>
            <a:r>
              <a:rPr sz="1200" b="1" i="0">
                <a:solidFill>
                  <a:srgbClr val="17153A"/>
                </a:solidFill>
                <a:latin typeface="Calibri"/>
              </a:rPr>
              <a:t>t3  Analyse data</a:t>
            </a:r>
          </a:p>
          <a:p>
            <a:pPr algn="ctr">
              <a:spcAft>
                <a:spcPts val="0"/>
              </a:spcAft>
            </a:pPr>
            <a:r>
              <a:rPr sz="1050" b="0" i="1">
                <a:solidFill>
                  <a:srgbClr val="F2643D"/>
                </a:solidFill>
                <a:latin typeface="Calibri"/>
              </a:rPr>
              <a:t>coding agent</a:t>
            </a:r>
          </a:p>
        </p:txBody>
      </p:sp>
      <p:sp>
        <p:nvSpPr>
          <p:cNvPr id="12" name="Rounded Rectangle 11"/>
          <p:cNvSpPr/>
          <p:nvPr/>
        </p:nvSpPr>
        <p:spPr>
          <a:xfrm>
            <a:off x="5349240" y="2103120"/>
            <a:ext cx="1463040" cy="658368"/>
          </a:xfrm>
          <a:prstGeom prst="roundRect">
            <a:avLst>
              <a:gd name="adj" fmla="val 13888"/>
            </a:avLst>
          </a:prstGeom>
          <a:solidFill>
            <a:srgbClr val="FFFFFF"/>
          </a:solidFill>
          <a:ln w="15875">
            <a:solidFill>
              <a:srgbClr val="DCDAF0"/>
            </a:solidFill>
          </a:ln>
        </p:spPr>
        <p:txBody>
          <a:bodyPr rtlCol="0" anchor="ctr" wrap="square" lIns="54864" rIns="54864" tIns="54864" bIns="54864"/>
          <a:lstStyle/>
          <a:p>
            <a:pPr algn="ctr">
              <a:spcAft>
                <a:spcPts val="0"/>
              </a:spcAft>
            </a:pPr>
            <a:r>
              <a:rPr sz="1200" b="1" i="0">
                <a:solidFill>
                  <a:srgbClr val="17153A"/>
                </a:solidFill>
                <a:latin typeface="Calibri"/>
              </a:rPr>
              <a:t>t4  Draft report</a:t>
            </a:r>
          </a:p>
          <a:p>
            <a:pPr algn="ctr">
              <a:spcAft>
                <a:spcPts val="0"/>
              </a:spcAft>
            </a:pPr>
            <a:r>
              <a:rPr sz="1050" b="0" i="1">
                <a:solidFill>
                  <a:srgbClr val="F2643D"/>
                </a:solidFill>
                <a:latin typeface="Calibri"/>
              </a:rPr>
              <a:t>writer agent</a:t>
            </a:r>
          </a:p>
        </p:txBody>
      </p:sp>
      <p:sp>
        <p:nvSpPr>
          <p:cNvPr id="13" name="Rounded Rectangle 12"/>
          <p:cNvSpPr/>
          <p:nvPr/>
        </p:nvSpPr>
        <p:spPr>
          <a:xfrm>
            <a:off x="6995160" y="2103120"/>
            <a:ext cx="1463040" cy="658368"/>
          </a:xfrm>
          <a:prstGeom prst="roundRect">
            <a:avLst>
              <a:gd name="adj" fmla="val 13888"/>
            </a:avLst>
          </a:prstGeom>
          <a:solidFill>
            <a:srgbClr val="FFFFFF"/>
          </a:solidFill>
          <a:ln w="15875">
            <a:solidFill>
              <a:srgbClr val="DCDAF0"/>
            </a:solidFill>
          </a:ln>
        </p:spPr>
        <p:txBody>
          <a:bodyPr rtlCol="0" anchor="ctr" wrap="square" lIns="54864" rIns="54864" tIns="54864" bIns="54864"/>
          <a:lstStyle/>
          <a:p>
            <a:pPr algn="ctr">
              <a:spcAft>
                <a:spcPts val="0"/>
              </a:spcAft>
            </a:pPr>
            <a:r>
              <a:rPr sz="1200" b="1" i="0">
                <a:solidFill>
                  <a:srgbClr val="17153A"/>
                </a:solidFill>
                <a:latin typeface="Calibri"/>
              </a:rPr>
              <a:t>t5  Review &amp; fix</a:t>
            </a:r>
          </a:p>
          <a:p>
            <a:pPr algn="ctr">
              <a:spcAft>
                <a:spcPts val="0"/>
              </a:spcAft>
            </a:pPr>
            <a:r>
              <a:rPr sz="1050" b="0" i="1">
                <a:solidFill>
                  <a:srgbClr val="F2643D"/>
                </a:solidFill>
                <a:latin typeface="Calibri"/>
              </a:rPr>
              <a:t>critique agent</a:t>
            </a:r>
          </a:p>
        </p:txBody>
      </p:sp>
      <p:cxnSp>
        <p:nvCxnSpPr>
          <p:cNvPr id="14" name="Connector 13"/>
          <p:cNvCxnSpPr/>
          <p:nvPr/>
        </p:nvCxnSpPr>
        <p:spPr>
          <a:xfrm flipV="1">
            <a:off x="1737360" y="2020824"/>
            <a:ext cx="274320" cy="265176"/>
          </a:xfrm>
          <a:prstGeom prst="line">
            <a:avLst/>
          </a:prstGeom>
          <a:ln w="19050">
            <a:solidFill>
              <a:srgbClr val="6A6886"/>
            </a:solidFill>
            <a:tailEnd type="triangle" w="med" len="med"/>
          </a:ln>
        </p:spPr>
      </p:cxnSp>
      <p:cxnSp>
        <p:nvCxnSpPr>
          <p:cNvPr id="15" name="Connector 14"/>
          <p:cNvCxnSpPr/>
          <p:nvPr/>
        </p:nvCxnSpPr>
        <p:spPr>
          <a:xfrm>
            <a:off x="1737360" y="2560320"/>
            <a:ext cx="274320" cy="283464"/>
          </a:xfrm>
          <a:prstGeom prst="line">
            <a:avLst/>
          </a:prstGeom>
          <a:ln w="19050">
            <a:solidFill>
              <a:srgbClr val="6A6886"/>
            </a:solidFill>
            <a:tailEnd type="triangle" w="med" len="med"/>
          </a:ln>
        </p:spPr>
      </p:cxnSp>
      <p:cxnSp>
        <p:nvCxnSpPr>
          <p:cNvPr id="16" name="Connector 15"/>
          <p:cNvCxnSpPr/>
          <p:nvPr/>
        </p:nvCxnSpPr>
        <p:spPr>
          <a:xfrm>
            <a:off x="3474720" y="2020824"/>
            <a:ext cx="228600" cy="310896"/>
          </a:xfrm>
          <a:prstGeom prst="line">
            <a:avLst/>
          </a:prstGeom>
          <a:ln w="19050">
            <a:solidFill>
              <a:srgbClr val="6A6886"/>
            </a:solidFill>
            <a:tailEnd type="triangle" w="med" len="med"/>
          </a:ln>
        </p:spPr>
      </p:cxnSp>
      <p:cxnSp>
        <p:nvCxnSpPr>
          <p:cNvPr id="17" name="Connector 16"/>
          <p:cNvCxnSpPr/>
          <p:nvPr/>
        </p:nvCxnSpPr>
        <p:spPr>
          <a:xfrm flipV="1">
            <a:off x="3474720" y="2615184"/>
            <a:ext cx="228600" cy="228600"/>
          </a:xfrm>
          <a:prstGeom prst="line">
            <a:avLst/>
          </a:prstGeom>
          <a:ln w="19050">
            <a:solidFill>
              <a:srgbClr val="6A6886"/>
            </a:solidFill>
            <a:tailEnd type="triangle" w="med" len="med"/>
          </a:ln>
        </p:spPr>
      </p:cxnSp>
      <p:cxnSp>
        <p:nvCxnSpPr>
          <p:cNvPr id="18" name="Connector 17"/>
          <p:cNvCxnSpPr/>
          <p:nvPr/>
        </p:nvCxnSpPr>
        <p:spPr>
          <a:xfrm>
            <a:off x="5166360" y="2432304"/>
            <a:ext cx="182880" cy="0"/>
          </a:xfrm>
          <a:prstGeom prst="line">
            <a:avLst/>
          </a:prstGeom>
          <a:ln w="19050">
            <a:solidFill>
              <a:srgbClr val="6A6886"/>
            </a:solidFill>
            <a:tailEnd type="triangle" w="med" len="med"/>
          </a:ln>
        </p:spPr>
      </p:cxnSp>
      <p:cxnSp>
        <p:nvCxnSpPr>
          <p:cNvPr id="19" name="Connector 18"/>
          <p:cNvCxnSpPr/>
          <p:nvPr/>
        </p:nvCxnSpPr>
        <p:spPr>
          <a:xfrm>
            <a:off x="6812280" y="2432304"/>
            <a:ext cx="182880" cy="0"/>
          </a:xfrm>
          <a:prstGeom prst="line">
            <a:avLst/>
          </a:prstGeom>
          <a:ln w="19050">
            <a:solidFill>
              <a:srgbClr val="6A6886"/>
            </a:solidFill>
            <a:tailEnd type="triangle" w="med" len="med"/>
          </a:ln>
        </p:spPr>
      </p:cxnSp>
      <p:sp>
        <p:nvSpPr>
          <p:cNvPr id="20" name="TextBox 19"/>
          <p:cNvSpPr txBox="1"/>
          <p:nvPr/>
        </p:nvSpPr>
        <p:spPr>
          <a:xfrm>
            <a:off x="548640" y="3364992"/>
            <a:ext cx="8046720" cy="274320"/>
          </a:xfrm>
          <a:prstGeom prst="rect">
            <a:avLst/>
          </a:prstGeom>
          <a:noFill/>
        </p:spPr>
        <p:txBody>
          <a:bodyPr wrap="square" anchor="t" lIns="0" rIns="0" tIns="0" bIns="0"/>
          <a:lstStyle/>
          <a:p>
            <a:pPr algn="ctr">
              <a:spcAft>
                <a:spcPts val="400"/>
              </a:spcAft>
            </a:pPr>
            <a:r>
              <a:rPr sz="1150" b="0" i="0">
                <a:solidFill>
                  <a:srgbClr val="6A6886"/>
                </a:solidFill>
                <a:latin typeface="Consolas"/>
              </a:rPr>
              <a:t>P ← LLM_Plan(G);  T ← Decompose(P);  assign agents;  merge results</a:t>
            </a:r>
          </a:p>
        </p:txBody>
      </p:sp>
      <p:sp>
        <p:nvSpPr>
          <p:cNvPr id="21" name="TextBox 20"/>
          <p:cNvSpPr txBox="1"/>
          <p:nvPr/>
        </p:nvSpPr>
        <p:spPr>
          <a:xfrm>
            <a:off x="548640" y="3794760"/>
            <a:ext cx="4572000" cy="274320"/>
          </a:xfrm>
          <a:prstGeom prst="rect">
            <a:avLst/>
          </a:prstGeom>
          <a:noFill/>
        </p:spPr>
        <p:txBody>
          <a:bodyPr wrap="square" anchor="t" lIns="0" rIns="0" tIns="0" bIns="0"/>
          <a:lstStyle/>
          <a:p>
            <a:pPr algn="l">
              <a:spcAft>
                <a:spcPts val="400"/>
              </a:spcAft>
            </a:pPr>
            <a:r>
              <a:rPr sz="1000" b="1" i="0" spc="160">
                <a:solidFill>
                  <a:srgbClr val="5B4CDB"/>
                </a:solidFill>
                <a:latin typeface="Calibri"/>
              </a:rPr>
              <a:t>COORDINATION PATTERNS</a:t>
            </a:r>
          </a:p>
        </p:txBody>
      </p:sp>
      <p:sp>
        <p:nvSpPr>
          <p:cNvPr id="22" name="Rounded Rectangle 21"/>
          <p:cNvSpPr/>
          <p:nvPr/>
        </p:nvSpPr>
        <p:spPr>
          <a:xfrm>
            <a:off x="548640" y="4114800"/>
            <a:ext cx="2514600" cy="2103120"/>
          </a:xfrm>
          <a:prstGeom prst="roundRect">
            <a:avLst>
              <a:gd name="adj" fmla="val 5217"/>
            </a:avLst>
          </a:prstGeom>
          <a:solidFill>
            <a:srgbClr val="F5F5FA"/>
          </a:solidFill>
          <a:ln>
            <a:noFill/>
          </a:ln>
        </p:spPr>
        <p:txBody>
          <a:bodyPr rtlCol="0" anchor="ctr" wrap="square" lIns="54864" rIns="54864" tIns="54864" bIns="54864"/>
          <a:lstStyle/>
          <a:p>
            <a:pPr algn="ctr"/>
          </a:p>
        </p:txBody>
      </p:sp>
      <p:sp>
        <p:nvSpPr>
          <p:cNvPr id="23" name="TextBox 22"/>
          <p:cNvSpPr txBox="1"/>
          <p:nvPr/>
        </p:nvSpPr>
        <p:spPr>
          <a:xfrm>
            <a:off x="548640" y="4206240"/>
            <a:ext cx="2514600" cy="292608"/>
          </a:xfrm>
          <a:prstGeom prst="rect">
            <a:avLst/>
          </a:prstGeom>
          <a:noFill/>
        </p:spPr>
        <p:txBody>
          <a:bodyPr wrap="square" anchor="t" lIns="0" rIns="0" tIns="0" bIns="0"/>
          <a:lstStyle/>
          <a:p>
            <a:pPr algn="ctr">
              <a:spcAft>
                <a:spcPts val="400"/>
              </a:spcAft>
            </a:pPr>
            <a:r>
              <a:rPr sz="1400" b="1" i="0">
                <a:solidFill>
                  <a:srgbClr val="17153A"/>
                </a:solidFill>
                <a:latin typeface="Cambria"/>
              </a:rPr>
              <a:t>Centralized</a:t>
            </a:r>
          </a:p>
        </p:txBody>
      </p:sp>
      <p:cxnSp>
        <p:nvCxnSpPr>
          <p:cNvPr id="24" name="Connector 23"/>
          <p:cNvCxnSpPr/>
          <p:nvPr/>
        </p:nvCxnSpPr>
        <p:spPr>
          <a:xfrm flipH="1">
            <a:off x="1120140" y="4754879"/>
            <a:ext cx="685800" cy="429769"/>
          </a:xfrm>
          <a:prstGeom prst="line">
            <a:avLst/>
          </a:prstGeom>
          <a:ln w="19050">
            <a:solidFill>
              <a:srgbClr val="DCDAF0"/>
            </a:solidFill>
          </a:ln>
        </p:spPr>
      </p:cxnSp>
      <p:cxnSp>
        <p:nvCxnSpPr>
          <p:cNvPr id="25" name="Connector 24"/>
          <p:cNvCxnSpPr/>
          <p:nvPr/>
        </p:nvCxnSpPr>
        <p:spPr>
          <a:xfrm>
            <a:off x="1805940" y="4754879"/>
            <a:ext cx="0" cy="521209"/>
          </a:xfrm>
          <a:prstGeom prst="line">
            <a:avLst/>
          </a:prstGeom>
          <a:ln w="19050">
            <a:solidFill>
              <a:srgbClr val="DCDAF0"/>
            </a:solidFill>
          </a:ln>
        </p:spPr>
      </p:cxnSp>
      <p:cxnSp>
        <p:nvCxnSpPr>
          <p:cNvPr id="26" name="Connector 25"/>
          <p:cNvCxnSpPr/>
          <p:nvPr/>
        </p:nvCxnSpPr>
        <p:spPr>
          <a:xfrm>
            <a:off x="1805940" y="4754879"/>
            <a:ext cx="685800" cy="429769"/>
          </a:xfrm>
          <a:prstGeom prst="line">
            <a:avLst/>
          </a:prstGeom>
          <a:ln w="19050">
            <a:solidFill>
              <a:srgbClr val="DCDAF0"/>
            </a:solidFill>
          </a:ln>
        </p:spPr>
      </p:cxnSp>
      <p:sp>
        <p:nvSpPr>
          <p:cNvPr id="27" name="Oval 26"/>
          <p:cNvSpPr/>
          <p:nvPr/>
        </p:nvSpPr>
        <p:spPr>
          <a:xfrm>
            <a:off x="1650492" y="4562855"/>
            <a:ext cx="310896" cy="310896"/>
          </a:xfrm>
          <a:prstGeom prst="ellipse">
            <a:avLst/>
          </a:prstGeom>
          <a:solidFill>
            <a:srgbClr val="17153A"/>
          </a:solidFill>
          <a:ln>
            <a:noFill/>
          </a:ln>
        </p:spPr>
        <p:txBody>
          <a:bodyPr rtlCol="0" anchor="ctr" wrap="square" lIns="54864" rIns="54864" tIns="54864" bIns="54864"/>
          <a:lstStyle/>
          <a:p>
            <a:pPr algn="ctr"/>
          </a:p>
        </p:txBody>
      </p:sp>
      <p:sp>
        <p:nvSpPr>
          <p:cNvPr id="28" name="Oval 27"/>
          <p:cNvSpPr/>
          <p:nvPr/>
        </p:nvSpPr>
        <p:spPr>
          <a:xfrm>
            <a:off x="1010412" y="5074920"/>
            <a:ext cx="219456" cy="219456"/>
          </a:xfrm>
          <a:prstGeom prst="ellipse">
            <a:avLst/>
          </a:prstGeom>
          <a:solidFill>
            <a:srgbClr val="5B4CDB"/>
          </a:solidFill>
          <a:ln>
            <a:noFill/>
          </a:ln>
        </p:spPr>
        <p:txBody>
          <a:bodyPr rtlCol="0" anchor="ctr" wrap="square" lIns="54864" rIns="54864" tIns="54864" bIns="54864"/>
          <a:lstStyle/>
          <a:p>
            <a:pPr algn="ctr"/>
          </a:p>
        </p:txBody>
      </p:sp>
      <p:sp>
        <p:nvSpPr>
          <p:cNvPr id="29" name="Oval 28"/>
          <p:cNvSpPr/>
          <p:nvPr/>
        </p:nvSpPr>
        <p:spPr>
          <a:xfrm>
            <a:off x="1696212" y="5166359"/>
            <a:ext cx="219456" cy="219456"/>
          </a:xfrm>
          <a:prstGeom prst="ellipse">
            <a:avLst/>
          </a:prstGeom>
          <a:solidFill>
            <a:srgbClr val="5B4CDB"/>
          </a:solidFill>
          <a:ln>
            <a:noFill/>
          </a:ln>
        </p:spPr>
        <p:txBody>
          <a:bodyPr rtlCol="0" anchor="ctr" wrap="square" lIns="54864" rIns="54864" tIns="54864" bIns="54864"/>
          <a:lstStyle/>
          <a:p>
            <a:pPr algn="ctr"/>
          </a:p>
        </p:txBody>
      </p:sp>
      <p:sp>
        <p:nvSpPr>
          <p:cNvPr id="30" name="Oval 29"/>
          <p:cNvSpPr/>
          <p:nvPr/>
        </p:nvSpPr>
        <p:spPr>
          <a:xfrm>
            <a:off x="2382012" y="5074920"/>
            <a:ext cx="219456" cy="219456"/>
          </a:xfrm>
          <a:prstGeom prst="ellipse">
            <a:avLst/>
          </a:prstGeom>
          <a:solidFill>
            <a:srgbClr val="5B4CDB"/>
          </a:solidFill>
          <a:ln>
            <a:noFill/>
          </a:ln>
        </p:spPr>
        <p:txBody>
          <a:bodyPr rtlCol="0" anchor="ctr" wrap="square" lIns="54864" rIns="54864" tIns="54864" bIns="54864"/>
          <a:lstStyle/>
          <a:p>
            <a:pPr algn="ctr"/>
          </a:p>
        </p:txBody>
      </p:sp>
      <p:sp>
        <p:nvSpPr>
          <p:cNvPr id="31" name="TextBox 30"/>
          <p:cNvSpPr txBox="1"/>
          <p:nvPr/>
        </p:nvSpPr>
        <p:spPr>
          <a:xfrm>
            <a:off x="640080" y="5413248"/>
            <a:ext cx="2331720" cy="777240"/>
          </a:xfrm>
          <a:prstGeom prst="rect">
            <a:avLst/>
          </a:prstGeom>
          <a:noFill/>
        </p:spPr>
        <p:txBody>
          <a:bodyPr wrap="square" anchor="t" lIns="0" rIns="0" tIns="0" bIns="0"/>
          <a:lstStyle/>
          <a:p>
            <a:pPr algn="ctr">
              <a:spcAft>
                <a:spcPts val="100"/>
              </a:spcAft>
            </a:pPr>
            <a:r>
              <a:rPr sz="1200" b="0" i="0">
                <a:solidFill>
                  <a:srgbClr val="1F1D33"/>
                </a:solidFill>
                <a:latin typeface="Calibri"/>
              </a:rPr>
              <a:t>One orchestrator assigns all work</a:t>
            </a:r>
          </a:p>
          <a:p>
            <a:pPr algn="ctr">
              <a:spcAft>
                <a:spcPts val="100"/>
              </a:spcAft>
            </a:pPr>
            <a:r>
              <a:rPr sz="1200" b="1" i="0">
                <a:solidFill>
                  <a:srgbClr val="2E9E6A"/>
                </a:solidFill>
                <a:latin typeface="Calibri"/>
              </a:rPr>
              <a:t>+ simple control</a:t>
            </a:r>
          </a:p>
          <a:p>
            <a:pPr algn="ctr">
              <a:spcAft>
                <a:spcPts val="100"/>
              </a:spcAft>
            </a:pPr>
            <a:r>
              <a:rPr sz="1200" b="1" i="0">
                <a:solidFill>
                  <a:srgbClr val="D64545"/>
                </a:solidFill>
                <a:latin typeface="Calibri"/>
              </a:rPr>
              <a:t>− single bottleneck</a:t>
            </a:r>
          </a:p>
        </p:txBody>
      </p:sp>
      <p:sp>
        <p:nvSpPr>
          <p:cNvPr id="32" name="Rounded Rectangle 31"/>
          <p:cNvSpPr/>
          <p:nvPr/>
        </p:nvSpPr>
        <p:spPr>
          <a:xfrm>
            <a:off x="3314700" y="4114800"/>
            <a:ext cx="2514600" cy="2103120"/>
          </a:xfrm>
          <a:prstGeom prst="roundRect">
            <a:avLst>
              <a:gd name="adj" fmla="val 5217"/>
            </a:avLst>
          </a:prstGeom>
          <a:solidFill>
            <a:srgbClr val="F5F5FA"/>
          </a:solidFill>
          <a:ln>
            <a:noFill/>
          </a:ln>
        </p:spPr>
        <p:txBody>
          <a:bodyPr rtlCol="0" anchor="ctr" wrap="square" lIns="54864" rIns="54864" tIns="54864" bIns="54864"/>
          <a:lstStyle/>
          <a:p>
            <a:pPr algn="ctr"/>
          </a:p>
        </p:txBody>
      </p:sp>
      <p:sp>
        <p:nvSpPr>
          <p:cNvPr id="33" name="TextBox 32"/>
          <p:cNvSpPr txBox="1"/>
          <p:nvPr/>
        </p:nvSpPr>
        <p:spPr>
          <a:xfrm>
            <a:off x="3314700" y="4206240"/>
            <a:ext cx="2514600" cy="292608"/>
          </a:xfrm>
          <a:prstGeom prst="rect">
            <a:avLst/>
          </a:prstGeom>
          <a:noFill/>
        </p:spPr>
        <p:txBody>
          <a:bodyPr wrap="square" anchor="t" lIns="0" rIns="0" tIns="0" bIns="0"/>
          <a:lstStyle/>
          <a:p>
            <a:pPr algn="ctr">
              <a:spcAft>
                <a:spcPts val="400"/>
              </a:spcAft>
            </a:pPr>
            <a:r>
              <a:rPr sz="1400" b="1" i="0">
                <a:solidFill>
                  <a:srgbClr val="17153A"/>
                </a:solidFill>
                <a:latin typeface="Cambria"/>
              </a:rPr>
              <a:t>Hierarchical</a:t>
            </a:r>
          </a:p>
        </p:txBody>
      </p:sp>
      <p:cxnSp>
        <p:nvCxnSpPr>
          <p:cNvPr id="34" name="Connector 33"/>
          <p:cNvCxnSpPr/>
          <p:nvPr/>
        </p:nvCxnSpPr>
        <p:spPr>
          <a:xfrm flipH="1">
            <a:off x="4069080" y="4617720"/>
            <a:ext cx="502920" cy="320039"/>
          </a:xfrm>
          <a:prstGeom prst="line">
            <a:avLst/>
          </a:prstGeom>
          <a:ln w="19050">
            <a:solidFill>
              <a:srgbClr val="DCDAF0"/>
            </a:solidFill>
          </a:ln>
        </p:spPr>
      </p:cxnSp>
      <p:cxnSp>
        <p:nvCxnSpPr>
          <p:cNvPr id="35" name="Connector 34"/>
          <p:cNvCxnSpPr/>
          <p:nvPr/>
        </p:nvCxnSpPr>
        <p:spPr>
          <a:xfrm>
            <a:off x="4572000" y="4617720"/>
            <a:ext cx="502920" cy="320039"/>
          </a:xfrm>
          <a:prstGeom prst="line">
            <a:avLst/>
          </a:prstGeom>
          <a:ln w="19050">
            <a:solidFill>
              <a:srgbClr val="DCDAF0"/>
            </a:solidFill>
          </a:ln>
        </p:spPr>
      </p:cxnSp>
      <p:cxnSp>
        <p:nvCxnSpPr>
          <p:cNvPr id="36" name="Connector 35"/>
          <p:cNvCxnSpPr/>
          <p:nvPr/>
        </p:nvCxnSpPr>
        <p:spPr>
          <a:xfrm flipH="1">
            <a:off x="3794760" y="4937759"/>
            <a:ext cx="274320" cy="365761"/>
          </a:xfrm>
          <a:prstGeom prst="line">
            <a:avLst/>
          </a:prstGeom>
          <a:ln w="19050">
            <a:solidFill>
              <a:srgbClr val="DCDAF0"/>
            </a:solidFill>
          </a:ln>
        </p:spPr>
      </p:cxnSp>
      <p:cxnSp>
        <p:nvCxnSpPr>
          <p:cNvPr id="37" name="Connector 36"/>
          <p:cNvCxnSpPr/>
          <p:nvPr/>
        </p:nvCxnSpPr>
        <p:spPr>
          <a:xfrm>
            <a:off x="4069080" y="4937759"/>
            <a:ext cx="246888" cy="365761"/>
          </a:xfrm>
          <a:prstGeom prst="line">
            <a:avLst/>
          </a:prstGeom>
          <a:ln w="19050">
            <a:solidFill>
              <a:srgbClr val="DCDAF0"/>
            </a:solidFill>
          </a:ln>
        </p:spPr>
      </p:cxnSp>
      <p:cxnSp>
        <p:nvCxnSpPr>
          <p:cNvPr id="38" name="Connector 37"/>
          <p:cNvCxnSpPr/>
          <p:nvPr/>
        </p:nvCxnSpPr>
        <p:spPr>
          <a:xfrm flipH="1">
            <a:off x="4828032" y="4937759"/>
            <a:ext cx="246888" cy="365761"/>
          </a:xfrm>
          <a:prstGeom prst="line">
            <a:avLst/>
          </a:prstGeom>
          <a:ln w="19050">
            <a:solidFill>
              <a:srgbClr val="DCDAF0"/>
            </a:solidFill>
          </a:ln>
        </p:spPr>
      </p:cxnSp>
      <p:cxnSp>
        <p:nvCxnSpPr>
          <p:cNvPr id="39" name="Connector 38"/>
          <p:cNvCxnSpPr/>
          <p:nvPr/>
        </p:nvCxnSpPr>
        <p:spPr>
          <a:xfrm>
            <a:off x="5074920" y="4937759"/>
            <a:ext cx="274320" cy="365761"/>
          </a:xfrm>
          <a:prstGeom prst="line">
            <a:avLst/>
          </a:prstGeom>
          <a:ln w="19050">
            <a:solidFill>
              <a:srgbClr val="DCDAF0"/>
            </a:solidFill>
          </a:ln>
        </p:spPr>
      </p:cxnSp>
      <p:sp>
        <p:nvSpPr>
          <p:cNvPr id="40" name="Oval 39"/>
          <p:cNvSpPr/>
          <p:nvPr/>
        </p:nvSpPr>
        <p:spPr>
          <a:xfrm>
            <a:off x="4434840" y="4480559"/>
            <a:ext cx="274320" cy="274320"/>
          </a:xfrm>
          <a:prstGeom prst="ellipse">
            <a:avLst/>
          </a:prstGeom>
          <a:solidFill>
            <a:srgbClr val="17153A"/>
          </a:solidFill>
          <a:ln>
            <a:noFill/>
          </a:ln>
        </p:spPr>
        <p:txBody>
          <a:bodyPr rtlCol="0" anchor="ctr" wrap="square" lIns="54864" rIns="54864" tIns="54864" bIns="54864"/>
          <a:lstStyle/>
          <a:p>
            <a:pPr algn="ctr"/>
          </a:p>
        </p:txBody>
      </p:sp>
      <p:sp>
        <p:nvSpPr>
          <p:cNvPr id="41" name="Oval 40"/>
          <p:cNvSpPr/>
          <p:nvPr/>
        </p:nvSpPr>
        <p:spPr>
          <a:xfrm>
            <a:off x="3959352" y="4828031"/>
            <a:ext cx="219456" cy="219456"/>
          </a:xfrm>
          <a:prstGeom prst="ellipse">
            <a:avLst/>
          </a:prstGeom>
          <a:solidFill>
            <a:srgbClr val="5B4CDB"/>
          </a:solidFill>
          <a:ln>
            <a:noFill/>
          </a:ln>
        </p:spPr>
        <p:txBody>
          <a:bodyPr rtlCol="0" anchor="ctr" wrap="square" lIns="54864" rIns="54864" tIns="54864" bIns="54864"/>
          <a:lstStyle/>
          <a:p>
            <a:pPr algn="ctr"/>
          </a:p>
        </p:txBody>
      </p:sp>
      <p:sp>
        <p:nvSpPr>
          <p:cNvPr id="42" name="Oval 41"/>
          <p:cNvSpPr/>
          <p:nvPr/>
        </p:nvSpPr>
        <p:spPr>
          <a:xfrm>
            <a:off x="4965192" y="4828031"/>
            <a:ext cx="219456" cy="219456"/>
          </a:xfrm>
          <a:prstGeom prst="ellipse">
            <a:avLst/>
          </a:prstGeom>
          <a:solidFill>
            <a:srgbClr val="5B4CDB"/>
          </a:solidFill>
          <a:ln>
            <a:noFill/>
          </a:ln>
        </p:spPr>
        <p:txBody>
          <a:bodyPr rtlCol="0" anchor="ctr" wrap="square" lIns="54864" rIns="54864" tIns="54864" bIns="54864"/>
          <a:lstStyle/>
          <a:p>
            <a:pPr algn="ctr"/>
          </a:p>
        </p:txBody>
      </p:sp>
      <p:sp>
        <p:nvSpPr>
          <p:cNvPr id="43" name="Oval 42"/>
          <p:cNvSpPr/>
          <p:nvPr/>
        </p:nvSpPr>
        <p:spPr>
          <a:xfrm>
            <a:off x="3712464" y="5221224"/>
            <a:ext cx="164592" cy="164592"/>
          </a:xfrm>
          <a:prstGeom prst="ellipse">
            <a:avLst/>
          </a:prstGeom>
          <a:solidFill>
            <a:srgbClr val="F2643D"/>
          </a:solidFill>
          <a:ln>
            <a:noFill/>
          </a:ln>
        </p:spPr>
        <p:txBody>
          <a:bodyPr rtlCol="0" anchor="ctr" wrap="square" lIns="54864" rIns="54864" tIns="54864" bIns="54864"/>
          <a:lstStyle/>
          <a:p>
            <a:pPr algn="ctr"/>
          </a:p>
        </p:txBody>
      </p:sp>
      <p:sp>
        <p:nvSpPr>
          <p:cNvPr id="44" name="Oval 43"/>
          <p:cNvSpPr/>
          <p:nvPr/>
        </p:nvSpPr>
        <p:spPr>
          <a:xfrm>
            <a:off x="4233672" y="5221224"/>
            <a:ext cx="164592" cy="164592"/>
          </a:xfrm>
          <a:prstGeom prst="ellipse">
            <a:avLst/>
          </a:prstGeom>
          <a:solidFill>
            <a:srgbClr val="F2643D"/>
          </a:solidFill>
          <a:ln>
            <a:noFill/>
          </a:ln>
        </p:spPr>
        <p:txBody>
          <a:bodyPr rtlCol="0" anchor="ctr" wrap="square" lIns="54864" rIns="54864" tIns="54864" bIns="54864"/>
          <a:lstStyle/>
          <a:p>
            <a:pPr algn="ctr"/>
          </a:p>
        </p:txBody>
      </p:sp>
      <p:sp>
        <p:nvSpPr>
          <p:cNvPr id="45" name="Oval 44"/>
          <p:cNvSpPr/>
          <p:nvPr/>
        </p:nvSpPr>
        <p:spPr>
          <a:xfrm>
            <a:off x="4745736" y="5221224"/>
            <a:ext cx="164592" cy="164592"/>
          </a:xfrm>
          <a:prstGeom prst="ellipse">
            <a:avLst/>
          </a:prstGeom>
          <a:solidFill>
            <a:srgbClr val="F2643D"/>
          </a:solidFill>
          <a:ln>
            <a:noFill/>
          </a:ln>
        </p:spPr>
        <p:txBody>
          <a:bodyPr rtlCol="0" anchor="ctr" wrap="square" lIns="54864" rIns="54864" tIns="54864" bIns="54864"/>
          <a:lstStyle/>
          <a:p>
            <a:pPr algn="ctr"/>
          </a:p>
        </p:txBody>
      </p:sp>
      <p:sp>
        <p:nvSpPr>
          <p:cNvPr id="46" name="Oval 45"/>
          <p:cNvSpPr/>
          <p:nvPr/>
        </p:nvSpPr>
        <p:spPr>
          <a:xfrm>
            <a:off x="5266944" y="5221224"/>
            <a:ext cx="164592" cy="164592"/>
          </a:xfrm>
          <a:prstGeom prst="ellipse">
            <a:avLst/>
          </a:prstGeom>
          <a:solidFill>
            <a:srgbClr val="F2643D"/>
          </a:solidFill>
          <a:ln>
            <a:noFill/>
          </a:ln>
        </p:spPr>
        <p:txBody>
          <a:bodyPr rtlCol="0" anchor="ctr" wrap="square" lIns="54864" rIns="54864" tIns="54864" bIns="54864"/>
          <a:lstStyle/>
          <a:p>
            <a:pPr algn="ctr"/>
          </a:p>
        </p:txBody>
      </p:sp>
      <p:sp>
        <p:nvSpPr>
          <p:cNvPr id="47" name="TextBox 46"/>
          <p:cNvSpPr txBox="1"/>
          <p:nvPr/>
        </p:nvSpPr>
        <p:spPr>
          <a:xfrm>
            <a:off x="3406140" y="5413248"/>
            <a:ext cx="2331720" cy="777240"/>
          </a:xfrm>
          <a:prstGeom prst="rect">
            <a:avLst/>
          </a:prstGeom>
          <a:noFill/>
        </p:spPr>
        <p:txBody>
          <a:bodyPr wrap="square" anchor="t" lIns="0" rIns="0" tIns="0" bIns="0"/>
          <a:lstStyle/>
          <a:p>
            <a:pPr algn="ctr">
              <a:spcAft>
                <a:spcPts val="100"/>
              </a:spcAft>
            </a:pPr>
            <a:r>
              <a:rPr sz="1200" b="0" i="0">
                <a:solidFill>
                  <a:srgbClr val="1F1D33"/>
                </a:solidFill>
                <a:latin typeface="Calibri"/>
              </a:rPr>
              <a:t>Managers delegate to sub-teams</a:t>
            </a:r>
          </a:p>
          <a:p>
            <a:pPr algn="ctr">
              <a:spcAft>
                <a:spcPts val="100"/>
              </a:spcAft>
            </a:pPr>
            <a:r>
              <a:rPr sz="1200" b="1" i="0">
                <a:solidFill>
                  <a:srgbClr val="2E9E6A"/>
                </a:solidFill>
                <a:latin typeface="Calibri"/>
              </a:rPr>
              <a:t>+ scales to big tasks</a:t>
            </a:r>
          </a:p>
          <a:p>
            <a:pPr algn="ctr">
              <a:spcAft>
                <a:spcPts val="100"/>
              </a:spcAft>
            </a:pPr>
            <a:r>
              <a:rPr sz="1200" b="1" i="0">
                <a:solidFill>
                  <a:srgbClr val="D64545"/>
                </a:solidFill>
                <a:latin typeface="Calibri"/>
              </a:rPr>
              <a:t>− more delay</a:t>
            </a:r>
          </a:p>
        </p:txBody>
      </p:sp>
      <p:sp>
        <p:nvSpPr>
          <p:cNvPr id="48" name="Rounded Rectangle 47"/>
          <p:cNvSpPr/>
          <p:nvPr/>
        </p:nvSpPr>
        <p:spPr>
          <a:xfrm>
            <a:off x="6080759" y="4114800"/>
            <a:ext cx="2514600" cy="2103120"/>
          </a:xfrm>
          <a:prstGeom prst="roundRect">
            <a:avLst>
              <a:gd name="adj" fmla="val 5217"/>
            </a:avLst>
          </a:prstGeom>
          <a:solidFill>
            <a:srgbClr val="F5F5FA"/>
          </a:solidFill>
          <a:ln>
            <a:noFill/>
          </a:ln>
        </p:spPr>
        <p:txBody>
          <a:bodyPr rtlCol="0" anchor="ctr" wrap="square" lIns="54864" rIns="54864" tIns="54864" bIns="54864"/>
          <a:lstStyle/>
          <a:p>
            <a:pPr algn="ctr"/>
          </a:p>
        </p:txBody>
      </p:sp>
      <p:sp>
        <p:nvSpPr>
          <p:cNvPr id="49" name="TextBox 48"/>
          <p:cNvSpPr txBox="1"/>
          <p:nvPr/>
        </p:nvSpPr>
        <p:spPr>
          <a:xfrm>
            <a:off x="6080759" y="4206240"/>
            <a:ext cx="2514600" cy="292608"/>
          </a:xfrm>
          <a:prstGeom prst="rect">
            <a:avLst/>
          </a:prstGeom>
          <a:noFill/>
        </p:spPr>
        <p:txBody>
          <a:bodyPr wrap="square" anchor="t" lIns="0" rIns="0" tIns="0" bIns="0"/>
          <a:lstStyle/>
          <a:p>
            <a:pPr algn="ctr">
              <a:spcAft>
                <a:spcPts val="400"/>
              </a:spcAft>
            </a:pPr>
            <a:r>
              <a:rPr sz="1400" b="1" i="0">
                <a:solidFill>
                  <a:srgbClr val="17153A"/>
                </a:solidFill>
                <a:latin typeface="Cambria"/>
              </a:rPr>
              <a:t>Decentralized</a:t>
            </a:r>
          </a:p>
        </p:txBody>
      </p:sp>
      <p:cxnSp>
        <p:nvCxnSpPr>
          <p:cNvPr id="50" name="Connector 49"/>
          <p:cNvCxnSpPr/>
          <p:nvPr/>
        </p:nvCxnSpPr>
        <p:spPr>
          <a:xfrm>
            <a:off x="6835139" y="4617720"/>
            <a:ext cx="1005840" cy="0"/>
          </a:xfrm>
          <a:prstGeom prst="line">
            <a:avLst/>
          </a:prstGeom>
          <a:ln w="19050">
            <a:solidFill>
              <a:srgbClr val="DCDAF0"/>
            </a:solidFill>
          </a:ln>
        </p:spPr>
      </p:cxnSp>
      <p:cxnSp>
        <p:nvCxnSpPr>
          <p:cNvPr id="51" name="Connector 50"/>
          <p:cNvCxnSpPr/>
          <p:nvPr/>
        </p:nvCxnSpPr>
        <p:spPr>
          <a:xfrm>
            <a:off x="6835139" y="4617720"/>
            <a:ext cx="1005840" cy="594359"/>
          </a:xfrm>
          <a:prstGeom prst="line">
            <a:avLst/>
          </a:prstGeom>
          <a:ln w="19050">
            <a:solidFill>
              <a:srgbClr val="DCDAF0"/>
            </a:solidFill>
          </a:ln>
        </p:spPr>
      </p:cxnSp>
      <p:cxnSp>
        <p:nvCxnSpPr>
          <p:cNvPr id="52" name="Connector 51"/>
          <p:cNvCxnSpPr/>
          <p:nvPr/>
        </p:nvCxnSpPr>
        <p:spPr>
          <a:xfrm>
            <a:off x="6835139" y="4617720"/>
            <a:ext cx="0" cy="594359"/>
          </a:xfrm>
          <a:prstGeom prst="line">
            <a:avLst/>
          </a:prstGeom>
          <a:ln w="19050">
            <a:solidFill>
              <a:srgbClr val="DCDAF0"/>
            </a:solidFill>
          </a:ln>
        </p:spPr>
      </p:cxnSp>
      <p:cxnSp>
        <p:nvCxnSpPr>
          <p:cNvPr id="53" name="Connector 52"/>
          <p:cNvCxnSpPr/>
          <p:nvPr/>
        </p:nvCxnSpPr>
        <p:spPr>
          <a:xfrm>
            <a:off x="7840979" y="4617720"/>
            <a:ext cx="0" cy="594359"/>
          </a:xfrm>
          <a:prstGeom prst="line">
            <a:avLst/>
          </a:prstGeom>
          <a:ln w="19050">
            <a:solidFill>
              <a:srgbClr val="DCDAF0"/>
            </a:solidFill>
          </a:ln>
        </p:spPr>
      </p:cxnSp>
      <p:cxnSp>
        <p:nvCxnSpPr>
          <p:cNvPr id="54" name="Connector 53"/>
          <p:cNvCxnSpPr/>
          <p:nvPr/>
        </p:nvCxnSpPr>
        <p:spPr>
          <a:xfrm flipH="1">
            <a:off x="6835139" y="4617720"/>
            <a:ext cx="1005840" cy="594359"/>
          </a:xfrm>
          <a:prstGeom prst="line">
            <a:avLst/>
          </a:prstGeom>
          <a:ln w="19050">
            <a:solidFill>
              <a:srgbClr val="DCDAF0"/>
            </a:solidFill>
          </a:ln>
        </p:spPr>
      </p:cxnSp>
      <p:cxnSp>
        <p:nvCxnSpPr>
          <p:cNvPr id="55" name="Connector 54"/>
          <p:cNvCxnSpPr/>
          <p:nvPr/>
        </p:nvCxnSpPr>
        <p:spPr>
          <a:xfrm flipH="1">
            <a:off x="6835139" y="5212079"/>
            <a:ext cx="1005840" cy="0"/>
          </a:xfrm>
          <a:prstGeom prst="line">
            <a:avLst/>
          </a:prstGeom>
          <a:ln w="19050">
            <a:solidFill>
              <a:srgbClr val="DCDAF0"/>
            </a:solidFill>
          </a:ln>
        </p:spPr>
      </p:cxnSp>
      <p:sp>
        <p:nvSpPr>
          <p:cNvPr id="56" name="Oval 55"/>
          <p:cNvSpPr/>
          <p:nvPr/>
        </p:nvSpPr>
        <p:spPr>
          <a:xfrm>
            <a:off x="6725411" y="4507992"/>
            <a:ext cx="219456" cy="219456"/>
          </a:xfrm>
          <a:prstGeom prst="ellipse">
            <a:avLst/>
          </a:prstGeom>
          <a:solidFill>
            <a:srgbClr val="5B4CDB"/>
          </a:solidFill>
          <a:ln>
            <a:noFill/>
          </a:ln>
        </p:spPr>
        <p:txBody>
          <a:bodyPr rtlCol="0" anchor="ctr" wrap="square" lIns="54864" rIns="54864" tIns="54864" bIns="54864"/>
          <a:lstStyle/>
          <a:p>
            <a:pPr algn="ctr"/>
          </a:p>
        </p:txBody>
      </p:sp>
      <p:sp>
        <p:nvSpPr>
          <p:cNvPr id="57" name="Oval 56"/>
          <p:cNvSpPr/>
          <p:nvPr/>
        </p:nvSpPr>
        <p:spPr>
          <a:xfrm>
            <a:off x="7731252" y="4507992"/>
            <a:ext cx="219456" cy="219456"/>
          </a:xfrm>
          <a:prstGeom prst="ellipse">
            <a:avLst/>
          </a:prstGeom>
          <a:solidFill>
            <a:srgbClr val="5B4CDB"/>
          </a:solidFill>
          <a:ln>
            <a:noFill/>
          </a:ln>
        </p:spPr>
        <p:txBody>
          <a:bodyPr rtlCol="0" anchor="ctr" wrap="square" lIns="54864" rIns="54864" tIns="54864" bIns="54864"/>
          <a:lstStyle/>
          <a:p>
            <a:pPr algn="ctr"/>
          </a:p>
        </p:txBody>
      </p:sp>
      <p:sp>
        <p:nvSpPr>
          <p:cNvPr id="58" name="Oval 57"/>
          <p:cNvSpPr/>
          <p:nvPr/>
        </p:nvSpPr>
        <p:spPr>
          <a:xfrm>
            <a:off x="7731252" y="5102351"/>
            <a:ext cx="219456" cy="219456"/>
          </a:xfrm>
          <a:prstGeom prst="ellipse">
            <a:avLst/>
          </a:prstGeom>
          <a:solidFill>
            <a:srgbClr val="5B4CDB"/>
          </a:solidFill>
          <a:ln>
            <a:noFill/>
          </a:ln>
        </p:spPr>
        <p:txBody>
          <a:bodyPr rtlCol="0" anchor="ctr" wrap="square" lIns="54864" rIns="54864" tIns="54864" bIns="54864"/>
          <a:lstStyle/>
          <a:p>
            <a:pPr algn="ctr"/>
          </a:p>
        </p:txBody>
      </p:sp>
      <p:sp>
        <p:nvSpPr>
          <p:cNvPr id="59" name="Oval 58"/>
          <p:cNvSpPr/>
          <p:nvPr/>
        </p:nvSpPr>
        <p:spPr>
          <a:xfrm>
            <a:off x="6725411" y="5102351"/>
            <a:ext cx="219456" cy="219456"/>
          </a:xfrm>
          <a:prstGeom prst="ellipse">
            <a:avLst/>
          </a:prstGeom>
          <a:solidFill>
            <a:srgbClr val="5B4CDB"/>
          </a:solidFill>
          <a:ln>
            <a:noFill/>
          </a:ln>
        </p:spPr>
        <p:txBody>
          <a:bodyPr rtlCol="0" anchor="ctr" wrap="square" lIns="54864" rIns="54864" tIns="54864" bIns="54864"/>
          <a:lstStyle/>
          <a:p>
            <a:pPr algn="ctr"/>
          </a:p>
        </p:txBody>
      </p:sp>
      <p:sp>
        <p:nvSpPr>
          <p:cNvPr id="60" name="TextBox 59"/>
          <p:cNvSpPr txBox="1"/>
          <p:nvPr/>
        </p:nvSpPr>
        <p:spPr>
          <a:xfrm>
            <a:off x="6172199" y="5413248"/>
            <a:ext cx="2331720" cy="777240"/>
          </a:xfrm>
          <a:prstGeom prst="rect">
            <a:avLst/>
          </a:prstGeom>
          <a:noFill/>
        </p:spPr>
        <p:txBody>
          <a:bodyPr wrap="square" anchor="t" lIns="0" rIns="0" tIns="0" bIns="0"/>
          <a:lstStyle/>
          <a:p>
            <a:pPr algn="ctr">
              <a:spcAft>
                <a:spcPts val="100"/>
              </a:spcAft>
            </a:pPr>
            <a:r>
              <a:rPr sz="1200" b="0" i="0">
                <a:solidFill>
                  <a:srgbClr val="1F1D33"/>
                </a:solidFill>
                <a:latin typeface="Calibri"/>
              </a:rPr>
              <a:t>Peers negotiate directly</a:t>
            </a:r>
          </a:p>
          <a:p>
            <a:pPr algn="ctr">
              <a:spcAft>
                <a:spcPts val="100"/>
              </a:spcAft>
            </a:pPr>
            <a:r>
              <a:rPr sz="1200" b="1" i="0">
                <a:solidFill>
                  <a:srgbClr val="2E9E6A"/>
                </a:solidFill>
                <a:latin typeface="Calibri"/>
              </a:rPr>
              <a:t>+ no single point of failure</a:t>
            </a:r>
          </a:p>
          <a:p>
            <a:pPr algn="ctr">
              <a:spcAft>
                <a:spcPts val="100"/>
              </a:spcAft>
            </a:pPr>
            <a:r>
              <a:rPr sz="1200" b="1" i="0">
                <a:solidFill>
                  <a:srgbClr val="D64545"/>
                </a:solidFill>
                <a:latin typeface="Calibri"/>
              </a:rPr>
              <a:t>− hard to coordinate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07  ·  ALGORITHMS STUDIED</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17153A"/>
                </a:solidFill>
                <a:latin typeface="Cambria"/>
              </a:rPr>
              <a:t>Memory and protocols keep agents scalable</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12</a:t>
            </a:fld>
          </a:p>
        </p:txBody>
      </p:sp>
      <p:sp>
        <p:nvSpPr>
          <p:cNvPr id="7" name="TextBox 6"/>
          <p:cNvSpPr txBox="1"/>
          <p:nvPr/>
        </p:nvSpPr>
        <p:spPr>
          <a:xfrm>
            <a:off x="548640" y="1261872"/>
            <a:ext cx="8046720" cy="292608"/>
          </a:xfrm>
          <a:prstGeom prst="rect">
            <a:avLst/>
          </a:prstGeom>
          <a:noFill/>
        </p:spPr>
        <p:txBody>
          <a:bodyPr wrap="square" anchor="t" lIns="0" rIns="0" tIns="0" bIns="0"/>
          <a:lstStyle/>
          <a:p>
            <a:pPr algn="l">
              <a:spcAft>
                <a:spcPts val="400"/>
              </a:spcAft>
            </a:pPr>
            <a:r>
              <a:rPr sz="1300" b="0" i="1">
                <a:solidFill>
                  <a:srgbClr val="6A6886"/>
                </a:solidFill>
                <a:latin typeface="Calibri"/>
              </a:rPr>
              <a:t>Algorithm 3 — context management [5] and MCP / A2A interoperability [6]</a:t>
            </a:r>
          </a:p>
        </p:txBody>
      </p:sp>
      <p:sp>
        <p:nvSpPr>
          <p:cNvPr id="8" name="TextBox 7"/>
          <p:cNvSpPr txBox="1"/>
          <p:nvPr/>
        </p:nvSpPr>
        <p:spPr>
          <a:xfrm>
            <a:off x="548640" y="1737360"/>
            <a:ext cx="3840480" cy="274320"/>
          </a:xfrm>
          <a:prstGeom prst="rect">
            <a:avLst/>
          </a:prstGeom>
          <a:noFill/>
        </p:spPr>
        <p:txBody>
          <a:bodyPr wrap="square" anchor="t" lIns="0" rIns="0" tIns="0" bIns="0"/>
          <a:lstStyle/>
          <a:p>
            <a:pPr algn="l">
              <a:spcAft>
                <a:spcPts val="400"/>
              </a:spcAft>
            </a:pPr>
            <a:r>
              <a:rPr sz="1000" b="1" i="0" spc="160">
                <a:solidFill>
                  <a:srgbClr val="5B4CDB"/>
                </a:solidFill>
                <a:latin typeface="Calibri"/>
              </a:rPr>
              <a:t>CONTEXT MANAGEMENT</a:t>
            </a:r>
          </a:p>
        </p:txBody>
      </p:sp>
      <p:sp>
        <p:nvSpPr>
          <p:cNvPr id="9" name="Rounded Rectangle 8"/>
          <p:cNvSpPr/>
          <p:nvPr/>
        </p:nvSpPr>
        <p:spPr>
          <a:xfrm>
            <a:off x="548640" y="2103120"/>
            <a:ext cx="1828800" cy="658368"/>
          </a:xfrm>
          <a:prstGeom prst="roundRect">
            <a:avLst>
              <a:gd name="adj" fmla="val 13888"/>
            </a:avLst>
          </a:prstGeom>
          <a:solidFill>
            <a:srgbClr val="5B4CDB"/>
          </a:solidFill>
          <a:ln>
            <a:noFill/>
          </a:ln>
        </p:spPr>
        <p:txBody>
          <a:bodyPr rtlCol="0" anchor="ctr" wrap="square" lIns="54864" rIns="54864" tIns="54864" bIns="54864"/>
          <a:lstStyle/>
          <a:p>
            <a:pPr algn="ctr">
              <a:spcAft>
                <a:spcPts val="0"/>
              </a:spcAft>
            </a:pPr>
            <a:r>
              <a:rPr sz="1150" b="1" i="0">
                <a:solidFill>
                  <a:srgbClr val="FFFFFF"/>
                </a:solidFill>
                <a:latin typeface="Calibri"/>
              </a:rPr>
              <a:t>Short-term</a:t>
            </a:r>
          </a:p>
          <a:p>
            <a:pPr algn="ctr">
              <a:spcAft>
                <a:spcPts val="0"/>
              </a:spcAft>
            </a:pPr>
            <a:r>
              <a:rPr sz="1150" b="0" i="0">
                <a:solidFill>
                  <a:srgbClr val="FFFFFF"/>
                </a:solidFill>
                <a:latin typeface="Calibri"/>
              </a:rPr>
              <a:t>recent k turns</a:t>
            </a:r>
          </a:p>
        </p:txBody>
      </p:sp>
      <p:sp>
        <p:nvSpPr>
          <p:cNvPr id="10" name="Rounded Rectangle 9"/>
          <p:cNvSpPr/>
          <p:nvPr/>
        </p:nvSpPr>
        <p:spPr>
          <a:xfrm>
            <a:off x="2560320" y="2103120"/>
            <a:ext cx="1828800" cy="658368"/>
          </a:xfrm>
          <a:prstGeom prst="roundRect">
            <a:avLst>
              <a:gd name="adj" fmla="val 13888"/>
            </a:avLst>
          </a:prstGeom>
          <a:solidFill>
            <a:srgbClr val="5B4CDB"/>
          </a:solidFill>
          <a:ln>
            <a:noFill/>
          </a:ln>
        </p:spPr>
        <p:txBody>
          <a:bodyPr rtlCol="0" anchor="ctr" wrap="square" lIns="54864" rIns="54864" tIns="54864" bIns="54864"/>
          <a:lstStyle/>
          <a:p>
            <a:pPr algn="ctr">
              <a:spcAft>
                <a:spcPts val="0"/>
              </a:spcAft>
            </a:pPr>
            <a:r>
              <a:rPr sz="1150" b="1" i="0">
                <a:solidFill>
                  <a:srgbClr val="FFFFFF"/>
                </a:solidFill>
                <a:latin typeface="Calibri"/>
              </a:rPr>
              <a:t>Long-term</a:t>
            </a:r>
          </a:p>
          <a:p>
            <a:pPr algn="ctr">
              <a:spcAft>
                <a:spcPts val="0"/>
              </a:spcAft>
            </a:pPr>
            <a:r>
              <a:rPr sz="1150" b="0" i="0">
                <a:solidFill>
                  <a:srgbClr val="FFFFFF"/>
                </a:solidFill>
                <a:latin typeface="Calibri"/>
              </a:rPr>
              <a:t>vector DB retrieval</a:t>
            </a:r>
          </a:p>
        </p:txBody>
      </p:sp>
      <p:sp>
        <p:nvSpPr>
          <p:cNvPr id="11" name="Rounded Rectangle 10"/>
          <p:cNvSpPr/>
          <p:nvPr/>
        </p:nvSpPr>
        <p:spPr>
          <a:xfrm>
            <a:off x="1325880" y="2999232"/>
            <a:ext cx="2286000" cy="438912"/>
          </a:xfrm>
          <a:prstGeom prst="roundRect">
            <a:avLst>
              <a:gd name="adj" fmla="val 20833"/>
            </a:avLst>
          </a:prstGeom>
          <a:solidFill>
            <a:srgbClr val="FFFFFF"/>
          </a:solidFill>
          <a:ln w="15875">
            <a:solidFill>
              <a:srgbClr val="DCDAF0"/>
            </a:solidFill>
          </a:ln>
        </p:spPr>
        <p:txBody>
          <a:bodyPr rtlCol="0" anchor="ctr" wrap="square" lIns="54864" rIns="54864" tIns="54864" bIns="54864"/>
          <a:lstStyle/>
          <a:p>
            <a:pPr algn="ctr">
              <a:spcAft>
                <a:spcPts val="0"/>
              </a:spcAft>
            </a:pPr>
            <a:r>
              <a:rPr sz="1200" b="1" i="0">
                <a:solidFill>
                  <a:srgbClr val="17153A"/>
                </a:solidFill>
                <a:latin typeface="Calibri"/>
              </a:rPr>
              <a:t>Merge into context</a:t>
            </a:r>
          </a:p>
        </p:txBody>
      </p:sp>
      <p:cxnSp>
        <p:nvCxnSpPr>
          <p:cNvPr id="12" name="Connector 11"/>
          <p:cNvCxnSpPr/>
          <p:nvPr/>
        </p:nvCxnSpPr>
        <p:spPr>
          <a:xfrm>
            <a:off x="1463040" y="2761488"/>
            <a:ext cx="365760" cy="237744"/>
          </a:xfrm>
          <a:prstGeom prst="line">
            <a:avLst/>
          </a:prstGeom>
          <a:ln w="19050">
            <a:solidFill>
              <a:srgbClr val="6A6886"/>
            </a:solidFill>
            <a:tailEnd type="triangle" w="med" len="med"/>
          </a:ln>
        </p:spPr>
      </p:cxnSp>
      <p:cxnSp>
        <p:nvCxnSpPr>
          <p:cNvPr id="13" name="Connector 12"/>
          <p:cNvCxnSpPr/>
          <p:nvPr/>
        </p:nvCxnSpPr>
        <p:spPr>
          <a:xfrm flipH="1">
            <a:off x="3108960" y="2761488"/>
            <a:ext cx="365760" cy="237744"/>
          </a:xfrm>
          <a:prstGeom prst="line">
            <a:avLst/>
          </a:prstGeom>
          <a:ln w="19050">
            <a:solidFill>
              <a:srgbClr val="6A6886"/>
            </a:solidFill>
            <a:tailEnd type="triangle" w="med" len="med"/>
          </a:ln>
        </p:spPr>
      </p:cxnSp>
      <p:sp>
        <p:nvSpPr>
          <p:cNvPr id="14" name="Diamond 13"/>
          <p:cNvSpPr/>
          <p:nvPr/>
        </p:nvSpPr>
        <p:spPr>
          <a:xfrm>
            <a:off x="1508760" y="3639312"/>
            <a:ext cx="1920240" cy="841248"/>
          </a:xfrm>
          <a:prstGeom prst="diamond">
            <a:avLst/>
          </a:prstGeom>
          <a:solidFill>
            <a:srgbClr val="F2C94C"/>
          </a:solidFill>
          <a:ln>
            <a:noFill/>
          </a:ln>
        </p:spPr>
        <p:txBody>
          <a:bodyPr rtlCol="0" anchor="ctr" wrap="square" lIns="54864" rIns="54864" tIns="54864" bIns="54864"/>
          <a:lstStyle/>
          <a:p>
            <a:pPr algn="ctr">
              <a:spcAft>
                <a:spcPts val="0"/>
              </a:spcAft>
            </a:pPr>
            <a:r>
              <a:rPr sz="1200" b="1" i="0">
                <a:solidFill>
                  <a:srgbClr val="17153A"/>
                </a:solidFill>
                <a:latin typeface="Calibri"/>
              </a:rPr>
              <a:t>Too long?</a:t>
            </a:r>
          </a:p>
        </p:txBody>
      </p:sp>
      <p:cxnSp>
        <p:nvCxnSpPr>
          <p:cNvPr id="15" name="Connector 14"/>
          <p:cNvCxnSpPr/>
          <p:nvPr/>
        </p:nvCxnSpPr>
        <p:spPr>
          <a:xfrm>
            <a:off x="2468880" y="3438144"/>
            <a:ext cx="0" cy="201168"/>
          </a:xfrm>
          <a:prstGeom prst="line">
            <a:avLst/>
          </a:prstGeom>
          <a:ln w="19050">
            <a:solidFill>
              <a:srgbClr val="6A6886"/>
            </a:solidFill>
            <a:tailEnd type="triangle" w="med" len="med"/>
          </a:ln>
        </p:spPr>
      </p:cxnSp>
      <p:sp>
        <p:nvSpPr>
          <p:cNvPr id="16" name="Rounded Rectangle 15"/>
          <p:cNvSpPr/>
          <p:nvPr/>
        </p:nvSpPr>
        <p:spPr>
          <a:xfrm>
            <a:off x="1325880" y="4709160"/>
            <a:ext cx="2286000" cy="457200"/>
          </a:xfrm>
          <a:prstGeom prst="roundRect">
            <a:avLst>
              <a:gd name="adj" fmla="val 20000"/>
            </a:avLst>
          </a:prstGeom>
          <a:solidFill>
            <a:srgbClr val="FFFFFF"/>
          </a:solidFill>
          <a:ln w="15875">
            <a:solidFill>
              <a:srgbClr val="F2643D"/>
            </a:solidFill>
          </a:ln>
        </p:spPr>
        <p:txBody>
          <a:bodyPr rtlCol="0" anchor="ctr" wrap="square" lIns="54864" rIns="54864" tIns="54864" bIns="54864"/>
          <a:lstStyle/>
          <a:p>
            <a:pPr algn="ctr">
              <a:spcAft>
                <a:spcPts val="0"/>
              </a:spcAft>
            </a:pPr>
            <a:r>
              <a:rPr sz="1150" b="0" i="0">
                <a:solidFill>
                  <a:srgbClr val="17153A"/>
                </a:solidFill>
                <a:latin typeface="Calibri"/>
              </a:rPr>
              <a:t>Summarize / prune old items</a:t>
            </a:r>
          </a:p>
        </p:txBody>
      </p:sp>
      <p:cxnSp>
        <p:nvCxnSpPr>
          <p:cNvPr id="17" name="Connector 16"/>
          <p:cNvCxnSpPr/>
          <p:nvPr/>
        </p:nvCxnSpPr>
        <p:spPr>
          <a:xfrm>
            <a:off x="2468880" y="4480560"/>
            <a:ext cx="0" cy="228600"/>
          </a:xfrm>
          <a:prstGeom prst="line">
            <a:avLst/>
          </a:prstGeom>
          <a:ln w="19050">
            <a:solidFill>
              <a:srgbClr val="6A6886"/>
            </a:solidFill>
            <a:tailEnd type="triangle" w="med" len="med"/>
          </a:ln>
        </p:spPr>
      </p:cxnSp>
      <p:sp>
        <p:nvSpPr>
          <p:cNvPr id="18" name="TextBox 17"/>
          <p:cNvSpPr txBox="1"/>
          <p:nvPr/>
        </p:nvSpPr>
        <p:spPr>
          <a:xfrm>
            <a:off x="2542032" y="4462272"/>
            <a:ext cx="457200" cy="228600"/>
          </a:xfrm>
          <a:prstGeom prst="rect">
            <a:avLst/>
          </a:prstGeom>
          <a:noFill/>
        </p:spPr>
        <p:txBody>
          <a:bodyPr wrap="square" anchor="t" lIns="0" rIns="0" tIns="0" bIns="0"/>
          <a:lstStyle/>
          <a:p>
            <a:pPr algn="l">
              <a:spcAft>
                <a:spcPts val="400"/>
              </a:spcAft>
            </a:pPr>
            <a:r>
              <a:rPr sz="1000" b="0" i="0">
                <a:solidFill>
                  <a:srgbClr val="6A6886"/>
                </a:solidFill>
                <a:latin typeface="Calibri"/>
              </a:rPr>
              <a:t>yes</a:t>
            </a:r>
          </a:p>
        </p:txBody>
      </p:sp>
      <p:sp>
        <p:nvSpPr>
          <p:cNvPr id="19" name="Rounded Rectangle 18"/>
          <p:cNvSpPr/>
          <p:nvPr/>
        </p:nvSpPr>
        <p:spPr>
          <a:xfrm>
            <a:off x="1325880" y="5394960"/>
            <a:ext cx="2286000" cy="502920"/>
          </a:xfrm>
          <a:prstGeom prst="roundRect">
            <a:avLst>
              <a:gd name="adj" fmla="val 18181"/>
            </a:avLst>
          </a:prstGeom>
          <a:solidFill>
            <a:srgbClr val="17153A"/>
          </a:solidFill>
          <a:ln>
            <a:noFill/>
          </a:ln>
        </p:spPr>
        <p:txBody>
          <a:bodyPr rtlCol="0" anchor="ctr" wrap="square" lIns="54864" rIns="54864" tIns="54864" bIns="54864"/>
          <a:lstStyle/>
          <a:p>
            <a:pPr algn="ctr">
              <a:spcAft>
                <a:spcPts val="0"/>
              </a:spcAft>
            </a:pPr>
            <a:r>
              <a:rPr sz="1250" b="1" i="0">
                <a:solidFill>
                  <a:srgbClr val="FFFFFF"/>
                </a:solidFill>
                <a:latin typeface="Calibri"/>
              </a:rPr>
              <a:t>Context sent to LLM</a:t>
            </a:r>
          </a:p>
        </p:txBody>
      </p:sp>
      <p:cxnSp>
        <p:nvCxnSpPr>
          <p:cNvPr id="20" name="Connector 19"/>
          <p:cNvCxnSpPr/>
          <p:nvPr/>
        </p:nvCxnSpPr>
        <p:spPr>
          <a:xfrm>
            <a:off x="2468880" y="5166360"/>
            <a:ext cx="0" cy="228600"/>
          </a:xfrm>
          <a:prstGeom prst="line">
            <a:avLst/>
          </a:prstGeom>
          <a:ln w="19050">
            <a:solidFill>
              <a:srgbClr val="6A6886"/>
            </a:solidFill>
            <a:tailEnd type="triangle" w="med" len="med"/>
          </a:ln>
        </p:spPr>
      </p:cxnSp>
      <p:cxnSp>
        <p:nvCxnSpPr>
          <p:cNvPr id="21" name="Connector 20"/>
          <p:cNvCxnSpPr/>
          <p:nvPr/>
        </p:nvCxnSpPr>
        <p:spPr>
          <a:xfrm flipH="1">
            <a:off x="777240" y="4059936"/>
            <a:ext cx="731520" cy="0"/>
          </a:xfrm>
          <a:prstGeom prst="line">
            <a:avLst/>
          </a:prstGeom>
          <a:ln w="19050">
            <a:solidFill>
              <a:srgbClr val="6A6886"/>
            </a:solidFill>
          </a:ln>
        </p:spPr>
      </p:cxnSp>
      <p:cxnSp>
        <p:nvCxnSpPr>
          <p:cNvPr id="22" name="Connector 21"/>
          <p:cNvCxnSpPr/>
          <p:nvPr/>
        </p:nvCxnSpPr>
        <p:spPr>
          <a:xfrm>
            <a:off x="777240" y="4059936"/>
            <a:ext cx="0" cy="1581912"/>
          </a:xfrm>
          <a:prstGeom prst="line">
            <a:avLst/>
          </a:prstGeom>
          <a:ln w="19050">
            <a:solidFill>
              <a:srgbClr val="6A6886"/>
            </a:solidFill>
          </a:ln>
        </p:spPr>
      </p:cxnSp>
      <p:cxnSp>
        <p:nvCxnSpPr>
          <p:cNvPr id="23" name="Connector 22"/>
          <p:cNvCxnSpPr/>
          <p:nvPr/>
        </p:nvCxnSpPr>
        <p:spPr>
          <a:xfrm>
            <a:off x="777240" y="5641848"/>
            <a:ext cx="548640" cy="0"/>
          </a:xfrm>
          <a:prstGeom prst="line">
            <a:avLst/>
          </a:prstGeom>
          <a:ln w="19050">
            <a:solidFill>
              <a:srgbClr val="6A6886"/>
            </a:solidFill>
            <a:tailEnd type="triangle" w="med" len="med"/>
          </a:ln>
        </p:spPr>
      </p:cxnSp>
      <p:sp>
        <p:nvSpPr>
          <p:cNvPr id="24" name="TextBox 23"/>
          <p:cNvSpPr txBox="1"/>
          <p:nvPr/>
        </p:nvSpPr>
        <p:spPr>
          <a:xfrm>
            <a:off x="822960" y="3803904"/>
            <a:ext cx="457200" cy="228600"/>
          </a:xfrm>
          <a:prstGeom prst="rect">
            <a:avLst/>
          </a:prstGeom>
          <a:noFill/>
        </p:spPr>
        <p:txBody>
          <a:bodyPr wrap="square" anchor="t" lIns="0" rIns="0" tIns="0" bIns="0"/>
          <a:lstStyle/>
          <a:p>
            <a:pPr algn="l">
              <a:spcAft>
                <a:spcPts val="400"/>
              </a:spcAft>
            </a:pPr>
            <a:r>
              <a:rPr sz="1000" b="0" i="0">
                <a:solidFill>
                  <a:srgbClr val="6A6886"/>
                </a:solidFill>
                <a:latin typeface="Calibri"/>
              </a:rPr>
              <a:t>no</a:t>
            </a:r>
          </a:p>
        </p:txBody>
      </p:sp>
      <p:cxnSp>
        <p:nvCxnSpPr>
          <p:cNvPr id="25" name="Connector 24"/>
          <p:cNvCxnSpPr/>
          <p:nvPr/>
        </p:nvCxnSpPr>
        <p:spPr>
          <a:xfrm>
            <a:off x="4572000" y="1783080"/>
            <a:ext cx="0" cy="4389120"/>
          </a:xfrm>
          <a:prstGeom prst="line">
            <a:avLst/>
          </a:prstGeom>
          <a:ln w="12700">
            <a:solidFill>
              <a:srgbClr val="DCDAF0"/>
            </a:solidFill>
          </a:ln>
        </p:spPr>
      </p:cxnSp>
      <p:sp>
        <p:nvSpPr>
          <p:cNvPr id="26" name="TextBox 25"/>
          <p:cNvSpPr txBox="1"/>
          <p:nvPr/>
        </p:nvSpPr>
        <p:spPr>
          <a:xfrm>
            <a:off x="4754880" y="1737360"/>
            <a:ext cx="3840480" cy="274320"/>
          </a:xfrm>
          <a:prstGeom prst="rect">
            <a:avLst/>
          </a:prstGeom>
          <a:noFill/>
        </p:spPr>
        <p:txBody>
          <a:bodyPr wrap="square" anchor="t" lIns="0" rIns="0" tIns="0" bIns="0"/>
          <a:lstStyle/>
          <a:p>
            <a:pPr algn="l">
              <a:spcAft>
                <a:spcPts val="400"/>
              </a:spcAft>
            </a:pPr>
            <a:r>
              <a:rPr sz="1000" b="1" i="0" spc="160">
                <a:solidFill>
                  <a:srgbClr val="5B4CDB"/>
                </a:solidFill>
                <a:latin typeface="Calibri"/>
              </a:rPr>
              <a:t>MCP &amp; A2A PROTOCOLS</a:t>
            </a:r>
          </a:p>
        </p:txBody>
      </p:sp>
      <p:sp>
        <p:nvSpPr>
          <p:cNvPr id="27" name="Rounded Rectangle 26"/>
          <p:cNvSpPr/>
          <p:nvPr/>
        </p:nvSpPr>
        <p:spPr>
          <a:xfrm>
            <a:off x="4754880" y="2148840"/>
            <a:ext cx="1417320" cy="566928"/>
          </a:xfrm>
          <a:prstGeom prst="roundRect">
            <a:avLst>
              <a:gd name="adj" fmla="val 16129"/>
            </a:avLst>
          </a:prstGeom>
          <a:solidFill>
            <a:srgbClr val="17153A"/>
          </a:solidFill>
          <a:ln>
            <a:noFill/>
          </a:ln>
        </p:spPr>
        <p:txBody>
          <a:bodyPr rtlCol="0" anchor="ctr" wrap="square" lIns="54864" rIns="54864" tIns="54864" bIns="54864"/>
          <a:lstStyle/>
          <a:p>
            <a:pPr algn="ctr">
              <a:spcAft>
                <a:spcPts val="0"/>
              </a:spcAft>
            </a:pPr>
            <a:r>
              <a:rPr sz="1300" b="1" i="0">
                <a:solidFill>
                  <a:srgbClr val="FFFFFF"/>
                </a:solidFill>
                <a:latin typeface="Calibri"/>
              </a:rPr>
              <a:t>Agent A</a:t>
            </a:r>
          </a:p>
        </p:txBody>
      </p:sp>
      <p:sp>
        <p:nvSpPr>
          <p:cNvPr id="28" name="Rounded Rectangle 27"/>
          <p:cNvSpPr/>
          <p:nvPr/>
        </p:nvSpPr>
        <p:spPr>
          <a:xfrm>
            <a:off x="7178040" y="2148840"/>
            <a:ext cx="1417320" cy="566928"/>
          </a:xfrm>
          <a:prstGeom prst="roundRect">
            <a:avLst>
              <a:gd name="adj" fmla="val 16129"/>
            </a:avLst>
          </a:prstGeom>
          <a:solidFill>
            <a:srgbClr val="17153A"/>
          </a:solidFill>
          <a:ln>
            <a:noFill/>
          </a:ln>
        </p:spPr>
        <p:txBody>
          <a:bodyPr rtlCol="0" anchor="ctr" wrap="square" lIns="54864" rIns="54864" tIns="54864" bIns="54864"/>
          <a:lstStyle/>
          <a:p>
            <a:pPr algn="ctr">
              <a:spcAft>
                <a:spcPts val="0"/>
              </a:spcAft>
            </a:pPr>
            <a:r>
              <a:rPr sz="1300" b="1" i="0">
                <a:solidFill>
                  <a:srgbClr val="FFFFFF"/>
                </a:solidFill>
                <a:latin typeface="Calibri"/>
              </a:rPr>
              <a:t>Agent B</a:t>
            </a:r>
          </a:p>
        </p:txBody>
      </p:sp>
      <p:cxnSp>
        <p:nvCxnSpPr>
          <p:cNvPr id="29" name="Connector 28"/>
          <p:cNvCxnSpPr/>
          <p:nvPr/>
        </p:nvCxnSpPr>
        <p:spPr>
          <a:xfrm>
            <a:off x="6172200" y="2432304"/>
            <a:ext cx="1005840" cy="0"/>
          </a:xfrm>
          <a:prstGeom prst="line">
            <a:avLst/>
          </a:prstGeom>
          <a:ln w="28575">
            <a:solidFill>
              <a:srgbClr val="F2643D"/>
            </a:solidFill>
            <a:headEnd type="triangle" w="med" len="med"/>
            <a:tailEnd type="triangle" w="med" len="med"/>
          </a:ln>
        </p:spPr>
      </p:cxnSp>
      <p:sp>
        <p:nvSpPr>
          <p:cNvPr id="30" name="Rounded Rectangle 29"/>
          <p:cNvSpPr/>
          <p:nvPr/>
        </p:nvSpPr>
        <p:spPr>
          <a:xfrm>
            <a:off x="6355080" y="2258568"/>
            <a:ext cx="640080" cy="329184"/>
          </a:xfrm>
          <a:prstGeom prst="roundRect">
            <a:avLst>
              <a:gd name="adj" fmla="val 50000"/>
            </a:avLst>
          </a:prstGeom>
          <a:solidFill>
            <a:srgbClr val="FFFFFF"/>
          </a:solidFill>
          <a:ln w="12700">
            <a:solidFill>
              <a:srgbClr val="F2643D"/>
            </a:solidFill>
          </a:ln>
        </p:spPr>
        <p:txBody>
          <a:bodyPr rtlCol="0" anchor="ctr" wrap="square" lIns="9144" rIns="9144" tIns="9144" bIns="9144"/>
          <a:lstStyle/>
          <a:p>
            <a:pPr algn="ctr">
              <a:spcAft>
                <a:spcPts val="0"/>
              </a:spcAft>
            </a:pPr>
            <a:r>
              <a:rPr sz="1100" b="1" i="0">
                <a:solidFill>
                  <a:srgbClr val="F2643D"/>
                </a:solidFill>
                <a:latin typeface="Calibri"/>
              </a:rPr>
              <a:t>A2A</a:t>
            </a:r>
          </a:p>
        </p:txBody>
      </p:sp>
      <p:sp>
        <p:nvSpPr>
          <p:cNvPr id="31" name="Rounded Rectangle 30"/>
          <p:cNvSpPr/>
          <p:nvPr/>
        </p:nvSpPr>
        <p:spPr>
          <a:xfrm>
            <a:off x="4709160" y="3337560"/>
            <a:ext cx="713232" cy="420624"/>
          </a:xfrm>
          <a:prstGeom prst="roundRect">
            <a:avLst>
              <a:gd name="adj" fmla="val 21739"/>
            </a:avLst>
          </a:prstGeom>
          <a:solidFill>
            <a:srgbClr val="EEEDFC"/>
          </a:solidFill>
          <a:ln>
            <a:noFill/>
          </a:ln>
        </p:spPr>
        <p:txBody>
          <a:bodyPr rtlCol="0" anchor="ctr" wrap="square" lIns="54864" rIns="54864" tIns="54864" bIns="54864"/>
          <a:lstStyle/>
          <a:p>
            <a:pPr algn="ctr">
              <a:spcAft>
                <a:spcPts val="0"/>
              </a:spcAft>
            </a:pPr>
            <a:r>
              <a:rPr sz="1050" b="0" i="0">
                <a:solidFill>
                  <a:srgbClr val="17153A"/>
                </a:solidFill>
                <a:latin typeface="Calibri"/>
              </a:rPr>
              <a:t>Database</a:t>
            </a:r>
          </a:p>
        </p:txBody>
      </p:sp>
      <p:cxnSp>
        <p:nvCxnSpPr>
          <p:cNvPr id="32" name="Connector 31"/>
          <p:cNvCxnSpPr/>
          <p:nvPr/>
        </p:nvCxnSpPr>
        <p:spPr>
          <a:xfrm flipH="1">
            <a:off x="5065776" y="2715768"/>
            <a:ext cx="397764" cy="621792"/>
          </a:xfrm>
          <a:prstGeom prst="line">
            <a:avLst/>
          </a:prstGeom>
          <a:ln w="15875">
            <a:solidFill>
              <a:srgbClr val="5B4CDB"/>
            </a:solidFill>
            <a:tailEnd type="triangle" w="med" len="med"/>
          </a:ln>
        </p:spPr>
      </p:cxnSp>
      <p:sp>
        <p:nvSpPr>
          <p:cNvPr id="33" name="Rounded Rectangle 32"/>
          <p:cNvSpPr/>
          <p:nvPr/>
        </p:nvSpPr>
        <p:spPr>
          <a:xfrm>
            <a:off x="5458968" y="3337560"/>
            <a:ext cx="713232" cy="420624"/>
          </a:xfrm>
          <a:prstGeom prst="roundRect">
            <a:avLst>
              <a:gd name="adj" fmla="val 21739"/>
            </a:avLst>
          </a:prstGeom>
          <a:solidFill>
            <a:srgbClr val="EEEDFC"/>
          </a:solidFill>
          <a:ln>
            <a:noFill/>
          </a:ln>
        </p:spPr>
        <p:txBody>
          <a:bodyPr rtlCol="0" anchor="ctr" wrap="square" lIns="54864" rIns="54864" tIns="54864" bIns="54864"/>
          <a:lstStyle/>
          <a:p>
            <a:pPr algn="ctr">
              <a:spcAft>
                <a:spcPts val="0"/>
              </a:spcAft>
            </a:pPr>
            <a:r>
              <a:rPr sz="1050" b="0" i="0">
                <a:solidFill>
                  <a:srgbClr val="17153A"/>
                </a:solidFill>
                <a:latin typeface="Calibri"/>
              </a:rPr>
              <a:t>GitHub</a:t>
            </a:r>
          </a:p>
        </p:txBody>
      </p:sp>
      <p:cxnSp>
        <p:nvCxnSpPr>
          <p:cNvPr id="34" name="Connector 33"/>
          <p:cNvCxnSpPr/>
          <p:nvPr/>
        </p:nvCxnSpPr>
        <p:spPr>
          <a:xfrm>
            <a:off x="5463540" y="2715768"/>
            <a:ext cx="352044" cy="621792"/>
          </a:xfrm>
          <a:prstGeom prst="line">
            <a:avLst/>
          </a:prstGeom>
          <a:ln w="15875">
            <a:solidFill>
              <a:srgbClr val="5B4CDB"/>
            </a:solidFill>
            <a:tailEnd type="triangle" w="med" len="med"/>
          </a:ln>
        </p:spPr>
      </p:cxnSp>
      <p:sp>
        <p:nvSpPr>
          <p:cNvPr id="35" name="Rounded Rectangle 34"/>
          <p:cNvSpPr/>
          <p:nvPr/>
        </p:nvSpPr>
        <p:spPr>
          <a:xfrm>
            <a:off x="5184648" y="2880360"/>
            <a:ext cx="566928" cy="274320"/>
          </a:xfrm>
          <a:prstGeom prst="roundRect">
            <a:avLst>
              <a:gd name="adj" fmla="val 50000"/>
            </a:avLst>
          </a:prstGeom>
          <a:solidFill>
            <a:srgbClr val="FFFFFF"/>
          </a:solidFill>
          <a:ln w="12700">
            <a:solidFill>
              <a:srgbClr val="5B4CDB"/>
            </a:solidFill>
          </a:ln>
        </p:spPr>
        <p:txBody>
          <a:bodyPr rtlCol="0" anchor="ctr" wrap="square" lIns="9144" rIns="9144" tIns="9144" bIns="9144"/>
          <a:lstStyle/>
          <a:p>
            <a:pPr algn="ctr">
              <a:spcAft>
                <a:spcPts val="0"/>
              </a:spcAft>
            </a:pPr>
            <a:r>
              <a:rPr sz="1050" b="1" i="0">
                <a:solidFill>
                  <a:srgbClr val="5B4CDB"/>
                </a:solidFill>
                <a:latin typeface="Calibri"/>
              </a:rPr>
              <a:t>MCP</a:t>
            </a:r>
          </a:p>
        </p:txBody>
      </p:sp>
      <p:sp>
        <p:nvSpPr>
          <p:cNvPr id="36" name="Rounded Rectangle 35"/>
          <p:cNvSpPr/>
          <p:nvPr/>
        </p:nvSpPr>
        <p:spPr>
          <a:xfrm>
            <a:off x="7132320" y="3337560"/>
            <a:ext cx="713232" cy="420624"/>
          </a:xfrm>
          <a:prstGeom prst="roundRect">
            <a:avLst>
              <a:gd name="adj" fmla="val 21739"/>
            </a:avLst>
          </a:prstGeom>
          <a:solidFill>
            <a:srgbClr val="EEEDFC"/>
          </a:solidFill>
          <a:ln>
            <a:noFill/>
          </a:ln>
        </p:spPr>
        <p:txBody>
          <a:bodyPr rtlCol="0" anchor="ctr" wrap="square" lIns="54864" rIns="54864" tIns="54864" bIns="54864"/>
          <a:lstStyle/>
          <a:p>
            <a:pPr algn="ctr">
              <a:spcAft>
                <a:spcPts val="0"/>
              </a:spcAft>
            </a:pPr>
            <a:r>
              <a:rPr sz="1050" b="0" i="0">
                <a:solidFill>
                  <a:srgbClr val="17153A"/>
                </a:solidFill>
                <a:latin typeface="Calibri"/>
              </a:rPr>
              <a:t>Files</a:t>
            </a:r>
          </a:p>
        </p:txBody>
      </p:sp>
      <p:cxnSp>
        <p:nvCxnSpPr>
          <p:cNvPr id="37" name="Connector 36"/>
          <p:cNvCxnSpPr/>
          <p:nvPr/>
        </p:nvCxnSpPr>
        <p:spPr>
          <a:xfrm flipH="1">
            <a:off x="7488936" y="2715768"/>
            <a:ext cx="397764" cy="621792"/>
          </a:xfrm>
          <a:prstGeom prst="line">
            <a:avLst/>
          </a:prstGeom>
          <a:ln w="15875">
            <a:solidFill>
              <a:srgbClr val="5B4CDB"/>
            </a:solidFill>
            <a:tailEnd type="triangle" w="med" len="med"/>
          </a:ln>
        </p:spPr>
      </p:cxnSp>
      <p:sp>
        <p:nvSpPr>
          <p:cNvPr id="38" name="Rounded Rectangle 37"/>
          <p:cNvSpPr/>
          <p:nvPr/>
        </p:nvSpPr>
        <p:spPr>
          <a:xfrm>
            <a:off x="7882127" y="3337560"/>
            <a:ext cx="713232" cy="420624"/>
          </a:xfrm>
          <a:prstGeom prst="roundRect">
            <a:avLst>
              <a:gd name="adj" fmla="val 21739"/>
            </a:avLst>
          </a:prstGeom>
          <a:solidFill>
            <a:srgbClr val="EEEDFC"/>
          </a:solidFill>
          <a:ln>
            <a:noFill/>
          </a:ln>
        </p:spPr>
        <p:txBody>
          <a:bodyPr rtlCol="0" anchor="ctr" wrap="square" lIns="54864" rIns="54864" tIns="54864" bIns="54864"/>
          <a:lstStyle/>
          <a:p>
            <a:pPr algn="ctr">
              <a:spcAft>
                <a:spcPts val="0"/>
              </a:spcAft>
            </a:pPr>
            <a:r>
              <a:rPr sz="1050" b="0" i="0">
                <a:solidFill>
                  <a:srgbClr val="17153A"/>
                </a:solidFill>
                <a:latin typeface="Calibri"/>
              </a:rPr>
              <a:t>Web API</a:t>
            </a:r>
          </a:p>
        </p:txBody>
      </p:sp>
      <p:cxnSp>
        <p:nvCxnSpPr>
          <p:cNvPr id="39" name="Connector 38"/>
          <p:cNvCxnSpPr/>
          <p:nvPr/>
        </p:nvCxnSpPr>
        <p:spPr>
          <a:xfrm>
            <a:off x="7886700" y="2715768"/>
            <a:ext cx="352044" cy="621792"/>
          </a:xfrm>
          <a:prstGeom prst="line">
            <a:avLst/>
          </a:prstGeom>
          <a:ln w="15875">
            <a:solidFill>
              <a:srgbClr val="5B4CDB"/>
            </a:solidFill>
            <a:tailEnd type="triangle" w="med" len="med"/>
          </a:ln>
        </p:spPr>
      </p:cxnSp>
      <p:sp>
        <p:nvSpPr>
          <p:cNvPr id="40" name="Rounded Rectangle 39"/>
          <p:cNvSpPr/>
          <p:nvPr/>
        </p:nvSpPr>
        <p:spPr>
          <a:xfrm>
            <a:off x="7607808" y="2880360"/>
            <a:ext cx="566928" cy="274320"/>
          </a:xfrm>
          <a:prstGeom prst="roundRect">
            <a:avLst>
              <a:gd name="adj" fmla="val 50000"/>
            </a:avLst>
          </a:prstGeom>
          <a:solidFill>
            <a:srgbClr val="FFFFFF"/>
          </a:solidFill>
          <a:ln w="12700">
            <a:solidFill>
              <a:srgbClr val="5B4CDB"/>
            </a:solidFill>
          </a:ln>
        </p:spPr>
        <p:txBody>
          <a:bodyPr rtlCol="0" anchor="ctr" wrap="square" lIns="9144" rIns="9144" tIns="9144" bIns="9144"/>
          <a:lstStyle/>
          <a:p>
            <a:pPr algn="ctr">
              <a:spcAft>
                <a:spcPts val="0"/>
              </a:spcAft>
            </a:pPr>
            <a:r>
              <a:rPr sz="1050" b="1" i="0">
                <a:solidFill>
                  <a:srgbClr val="5B4CDB"/>
                </a:solidFill>
                <a:latin typeface="Calibri"/>
              </a:rPr>
              <a:t>MCP</a:t>
            </a:r>
          </a:p>
        </p:txBody>
      </p:sp>
      <p:sp>
        <p:nvSpPr>
          <p:cNvPr id="41" name="Rounded Rectangle 40"/>
          <p:cNvSpPr/>
          <p:nvPr/>
        </p:nvSpPr>
        <p:spPr>
          <a:xfrm>
            <a:off x="4754880" y="4023360"/>
            <a:ext cx="1874519" cy="2148840"/>
          </a:xfrm>
          <a:prstGeom prst="roundRect">
            <a:avLst>
              <a:gd name="adj" fmla="val 5853"/>
            </a:avLst>
          </a:prstGeom>
          <a:solidFill>
            <a:srgbClr val="F5F5FA"/>
          </a:solidFill>
          <a:ln>
            <a:noFill/>
          </a:ln>
        </p:spPr>
        <p:txBody>
          <a:bodyPr rtlCol="0" anchor="ctr" wrap="square" lIns="54864" rIns="54864" tIns="54864" bIns="54864"/>
          <a:lstStyle/>
          <a:p>
            <a:pPr algn="ctr"/>
          </a:p>
        </p:txBody>
      </p:sp>
      <p:sp>
        <p:nvSpPr>
          <p:cNvPr id="42" name="TextBox 41"/>
          <p:cNvSpPr txBox="1"/>
          <p:nvPr/>
        </p:nvSpPr>
        <p:spPr>
          <a:xfrm>
            <a:off x="4892040" y="4114800"/>
            <a:ext cx="1600200" cy="365760"/>
          </a:xfrm>
          <a:prstGeom prst="rect">
            <a:avLst/>
          </a:prstGeom>
          <a:noFill/>
        </p:spPr>
        <p:txBody>
          <a:bodyPr wrap="square" anchor="t" lIns="0" rIns="0" tIns="0" bIns="0"/>
          <a:lstStyle/>
          <a:p>
            <a:pPr algn="l">
              <a:spcAft>
                <a:spcPts val="400"/>
              </a:spcAft>
            </a:pPr>
            <a:r>
              <a:rPr sz="1800" b="1" i="0">
                <a:solidFill>
                  <a:srgbClr val="5B4CDB"/>
                </a:solidFill>
                <a:latin typeface="Cambria"/>
              </a:rPr>
              <a:t>MCP</a:t>
            </a:r>
          </a:p>
        </p:txBody>
      </p:sp>
      <p:sp>
        <p:nvSpPr>
          <p:cNvPr id="43" name="TextBox 42"/>
          <p:cNvSpPr txBox="1"/>
          <p:nvPr/>
        </p:nvSpPr>
        <p:spPr>
          <a:xfrm>
            <a:off x="4892040" y="4498848"/>
            <a:ext cx="1645920" cy="1645920"/>
          </a:xfrm>
          <a:prstGeom prst="rect">
            <a:avLst/>
          </a:prstGeom>
          <a:noFill/>
        </p:spPr>
        <p:txBody>
          <a:bodyPr wrap="square" anchor="t" lIns="0" rIns="0" tIns="0" bIns="0"/>
          <a:lstStyle/>
          <a:p>
            <a:pPr algn="l">
              <a:spcAft>
                <a:spcPts val="600"/>
              </a:spcAft>
            </a:pPr>
            <a:r>
              <a:rPr sz="1200" b="0" i="0">
                <a:solidFill>
                  <a:srgbClr val="1F1D33"/>
                </a:solidFill>
                <a:latin typeface="Calibri"/>
              </a:rPr>
              <a:t>Standard way for an agent to discover and call tools and data (agent ↔ tool).</a:t>
            </a:r>
          </a:p>
          <a:p>
            <a:pPr algn="l">
              <a:spcAft>
                <a:spcPts val="600"/>
              </a:spcAft>
            </a:pPr>
            <a:r>
              <a:rPr sz="1100" b="0" i="1">
                <a:solidFill>
                  <a:srgbClr val="6A6886"/>
                </a:solidFill>
                <a:latin typeface="Calibri"/>
              </a:rPr>
              <a:t>e.g. query a database or GitHub through an MCP server</a:t>
            </a:r>
          </a:p>
        </p:txBody>
      </p:sp>
      <p:sp>
        <p:nvSpPr>
          <p:cNvPr id="44" name="Rounded Rectangle 43"/>
          <p:cNvSpPr/>
          <p:nvPr/>
        </p:nvSpPr>
        <p:spPr>
          <a:xfrm>
            <a:off x="6720840" y="4023360"/>
            <a:ext cx="1874519" cy="2148840"/>
          </a:xfrm>
          <a:prstGeom prst="roundRect">
            <a:avLst>
              <a:gd name="adj" fmla="val 5853"/>
            </a:avLst>
          </a:prstGeom>
          <a:solidFill>
            <a:srgbClr val="F5F5FA"/>
          </a:solidFill>
          <a:ln>
            <a:noFill/>
          </a:ln>
        </p:spPr>
        <p:txBody>
          <a:bodyPr rtlCol="0" anchor="ctr" wrap="square" lIns="54864" rIns="54864" tIns="54864" bIns="54864"/>
          <a:lstStyle/>
          <a:p>
            <a:pPr algn="ctr"/>
          </a:p>
        </p:txBody>
      </p:sp>
      <p:sp>
        <p:nvSpPr>
          <p:cNvPr id="45" name="TextBox 44"/>
          <p:cNvSpPr txBox="1"/>
          <p:nvPr/>
        </p:nvSpPr>
        <p:spPr>
          <a:xfrm>
            <a:off x="6858000" y="4114800"/>
            <a:ext cx="1600200" cy="365760"/>
          </a:xfrm>
          <a:prstGeom prst="rect">
            <a:avLst/>
          </a:prstGeom>
          <a:noFill/>
        </p:spPr>
        <p:txBody>
          <a:bodyPr wrap="square" anchor="t" lIns="0" rIns="0" tIns="0" bIns="0"/>
          <a:lstStyle/>
          <a:p>
            <a:pPr algn="l">
              <a:spcAft>
                <a:spcPts val="400"/>
              </a:spcAft>
            </a:pPr>
            <a:r>
              <a:rPr sz="1800" b="1" i="0">
                <a:solidFill>
                  <a:srgbClr val="F2643D"/>
                </a:solidFill>
                <a:latin typeface="Cambria"/>
              </a:rPr>
              <a:t>A2A</a:t>
            </a:r>
          </a:p>
        </p:txBody>
      </p:sp>
      <p:sp>
        <p:nvSpPr>
          <p:cNvPr id="46" name="TextBox 45"/>
          <p:cNvSpPr txBox="1"/>
          <p:nvPr/>
        </p:nvSpPr>
        <p:spPr>
          <a:xfrm>
            <a:off x="6858000" y="4498848"/>
            <a:ext cx="1645920" cy="1645920"/>
          </a:xfrm>
          <a:prstGeom prst="rect">
            <a:avLst/>
          </a:prstGeom>
          <a:noFill/>
        </p:spPr>
        <p:txBody>
          <a:bodyPr wrap="square" anchor="t" lIns="0" rIns="0" tIns="0" bIns="0"/>
          <a:lstStyle/>
          <a:p>
            <a:pPr algn="l">
              <a:spcAft>
                <a:spcPts val="600"/>
              </a:spcAft>
            </a:pPr>
            <a:r>
              <a:rPr sz="1200" b="0" i="0">
                <a:solidFill>
                  <a:srgbClr val="1F1D33"/>
                </a:solidFill>
                <a:latin typeface="Calibri"/>
              </a:rPr>
              <a:t>Standard way for agents to delegate tasks and share results (agent ↔ agent).</a:t>
            </a:r>
          </a:p>
          <a:p>
            <a:pPr algn="l">
              <a:spcAft>
                <a:spcPts val="600"/>
              </a:spcAft>
            </a:pPr>
            <a:r>
              <a:rPr sz="1100" b="0" i="1">
                <a:solidFill>
                  <a:srgbClr val="6A6886"/>
                </a:solidFill>
                <a:latin typeface="Calibri"/>
              </a:rPr>
              <a:t>e.g. a planner hands a coding task to a coding agent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08  ·  FEATURES, ADVANTAGES &amp; DISADVANTAGES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Powerful, but not free of trade-offs</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13</a:t>
            </a:fld>
          </a:p>
        </p:txBody>
      </p:sp>
      <p:sp>
        <p:nvSpPr>
          <p:cNvPr id="7" name="Rounded Rectangle 6"/>
          <p:cNvSpPr/>
          <p:nvPr/>
        </p:nvSpPr>
        <p:spPr>
          <a:xfrm>
            <a:off x="548640" y="1508760"/>
            <a:ext cx="2514600" cy="4709160"/>
          </a:xfrm>
          <a:prstGeom prst="roundRect">
            <a:avLst>
              <a:gd name="adj" fmla="val 4363"/>
            </a:avLst>
          </a:prstGeom>
          <a:solidFill>
            <a:srgbClr val="F5F5FA"/>
          </a:solidFill>
          <a:ln>
            <a:noFill/>
          </a:ln>
        </p:spPr>
        <p:txBody>
          <a:bodyPr rtlCol="0" anchor="ctr" wrap="square" lIns="54864" rIns="54864" tIns="54864" bIns="54864"/>
          <a:lstStyle/>
          <a:p>
            <a:pPr algn="ctr"/>
          </a:p>
        </p:txBody>
      </p:sp>
      <p:sp>
        <p:nvSpPr>
          <p:cNvPr id="8" name="Oval 7"/>
          <p:cNvSpPr/>
          <p:nvPr/>
        </p:nvSpPr>
        <p:spPr>
          <a:xfrm>
            <a:off x="731520" y="1691639"/>
            <a:ext cx="420624" cy="420624"/>
          </a:xfrm>
          <a:prstGeom prst="ellipse">
            <a:avLst/>
          </a:prstGeom>
          <a:solidFill>
            <a:srgbClr val="5B4CDB"/>
          </a:solidFill>
          <a:ln>
            <a:noFill/>
          </a:ln>
        </p:spPr>
        <p:txBody>
          <a:bodyPr rtlCol="0" anchor="ctr" wrap="square" lIns="54864" rIns="54864" tIns="54864" bIns="54864"/>
          <a:lstStyle/>
          <a:p>
            <a:pPr algn="ctr"/>
          </a:p>
        </p:txBody>
      </p:sp>
      <p:pic>
        <p:nvPicPr>
          <p:cNvPr id="9" name="Picture 8" descr="star_w.png"/>
          <p:cNvPicPr>
            <a:picLocks noChangeAspect="1"/>
          </p:cNvPicPr>
          <p:nvPr/>
        </p:nvPicPr>
        <p:blipFill>
          <a:blip r:embed="rId3"/>
          <a:stretch>
            <a:fillRect/>
          </a:stretch>
        </p:blipFill>
        <p:spPr>
          <a:xfrm>
            <a:off x="832103" y="1792224"/>
            <a:ext cx="219456" cy="219456"/>
          </a:xfrm>
          <a:prstGeom prst="rect">
            <a:avLst/>
          </a:prstGeom>
        </p:spPr>
      </p:pic>
      <p:sp>
        <p:nvSpPr>
          <p:cNvPr id="10" name="TextBox 9"/>
          <p:cNvSpPr txBox="1"/>
          <p:nvPr/>
        </p:nvSpPr>
        <p:spPr>
          <a:xfrm>
            <a:off x="1261872" y="1673351"/>
            <a:ext cx="1691640" cy="457200"/>
          </a:xfrm>
          <a:prstGeom prst="rect">
            <a:avLst/>
          </a:prstGeom>
          <a:noFill/>
        </p:spPr>
        <p:txBody>
          <a:bodyPr wrap="square" anchor="ctr" lIns="0" rIns="0" tIns="0" bIns="0"/>
          <a:lstStyle/>
          <a:p>
            <a:pPr algn="l">
              <a:spcAft>
                <a:spcPts val="400"/>
              </a:spcAft>
            </a:pPr>
            <a:r>
              <a:rPr sz="1600" b="1" i="0">
                <a:solidFill>
                  <a:srgbClr val="5B4CDB"/>
                </a:solidFill>
                <a:latin typeface="Cambria"/>
              </a:rPr>
              <a:t>Features</a:t>
            </a:r>
          </a:p>
        </p:txBody>
      </p:sp>
      <p:sp>
        <p:nvSpPr>
          <p:cNvPr id="11" name="TextBox 10"/>
          <p:cNvSpPr txBox="1"/>
          <p:nvPr/>
        </p:nvSpPr>
        <p:spPr>
          <a:xfrm>
            <a:off x="731520" y="2331720"/>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Autonomy</a:t>
            </a:r>
          </a:p>
          <a:p>
            <a:pPr algn="l">
              <a:spcAft>
                <a:spcPts val="100"/>
              </a:spcAft>
            </a:pPr>
            <a:r>
              <a:rPr sz="1200" b="0" i="0">
                <a:solidFill>
                  <a:srgbClr val="6A6886"/>
                </a:solidFill>
                <a:latin typeface="Calibri"/>
              </a:rPr>
              <a:t>pursues a goal over many steps</a:t>
            </a:r>
          </a:p>
        </p:txBody>
      </p:sp>
      <p:cxnSp>
        <p:nvCxnSpPr>
          <p:cNvPr id="12" name="Connector 11"/>
          <p:cNvCxnSpPr/>
          <p:nvPr/>
        </p:nvCxnSpPr>
        <p:spPr>
          <a:xfrm>
            <a:off x="731520" y="3072384"/>
            <a:ext cx="2148840" cy="0"/>
          </a:xfrm>
          <a:prstGeom prst="line">
            <a:avLst/>
          </a:prstGeom>
          <a:ln w="9525">
            <a:solidFill>
              <a:srgbClr val="DCDAF0"/>
            </a:solidFill>
          </a:ln>
        </p:spPr>
      </p:cxnSp>
      <p:sp>
        <p:nvSpPr>
          <p:cNvPr id="13" name="TextBox 12"/>
          <p:cNvSpPr txBox="1"/>
          <p:nvPr/>
        </p:nvSpPr>
        <p:spPr>
          <a:xfrm>
            <a:off x="731520" y="3099815"/>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Planning</a:t>
            </a:r>
          </a:p>
          <a:p>
            <a:pPr algn="l">
              <a:spcAft>
                <a:spcPts val="100"/>
              </a:spcAft>
            </a:pPr>
            <a:r>
              <a:rPr sz="1200" b="0" i="0">
                <a:solidFill>
                  <a:srgbClr val="6A6886"/>
                </a:solidFill>
                <a:latin typeface="Calibri"/>
              </a:rPr>
              <a:t>breaks goals into subtasks</a:t>
            </a:r>
          </a:p>
        </p:txBody>
      </p:sp>
      <p:cxnSp>
        <p:nvCxnSpPr>
          <p:cNvPr id="14" name="Connector 13"/>
          <p:cNvCxnSpPr/>
          <p:nvPr/>
        </p:nvCxnSpPr>
        <p:spPr>
          <a:xfrm>
            <a:off x="731520" y="3840479"/>
            <a:ext cx="2148840" cy="0"/>
          </a:xfrm>
          <a:prstGeom prst="line">
            <a:avLst/>
          </a:prstGeom>
          <a:ln w="9525">
            <a:solidFill>
              <a:srgbClr val="DCDAF0"/>
            </a:solidFill>
          </a:ln>
        </p:spPr>
      </p:cxnSp>
      <p:sp>
        <p:nvSpPr>
          <p:cNvPr id="15" name="TextBox 14"/>
          <p:cNvSpPr txBox="1"/>
          <p:nvPr/>
        </p:nvSpPr>
        <p:spPr>
          <a:xfrm>
            <a:off x="731520" y="3867911"/>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Tool use</a:t>
            </a:r>
          </a:p>
          <a:p>
            <a:pPr algn="l">
              <a:spcAft>
                <a:spcPts val="100"/>
              </a:spcAft>
            </a:pPr>
            <a:r>
              <a:rPr sz="1200" b="0" i="0">
                <a:solidFill>
                  <a:srgbClr val="6A6886"/>
                </a:solidFill>
                <a:latin typeface="Calibri"/>
              </a:rPr>
              <a:t>web, code, APIs, databases</a:t>
            </a:r>
          </a:p>
        </p:txBody>
      </p:sp>
      <p:cxnSp>
        <p:nvCxnSpPr>
          <p:cNvPr id="16" name="Connector 15"/>
          <p:cNvCxnSpPr/>
          <p:nvPr/>
        </p:nvCxnSpPr>
        <p:spPr>
          <a:xfrm>
            <a:off x="731520" y="4608575"/>
            <a:ext cx="2148840" cy="0"/>
          </a:xfrm>
          <a:prstGeom prst="line">
            <a:avLst/>
          </a:prstGeom>
          <a:ln w="9525">
            <a:solidFill>
              <a:srgbClr val="DCDAF0"/>
            </a:solidFill>
          </a:ln>
        </p:spPr>
      </p:cxnSp>
      <p:sp>
        <p:nvSpPr>
          <p:cNvPr id="17" name="TextBox 16"/>
          <p:cNvSpPr txBox="1"/>
          <p:nvPr/>
        </p:nvSpPr>
        <p:spPr>
          <a:xfrm>
            <a:off x="731520" y="4636008"/>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Memory</a:t>
            </a:r>
          </a:p>
          <a:p>
            <a:pPr algn="l">
              <a:spcAft>
                <a:spcPts val="100"/>
              </a:spcAft>
            </a:pPr>
            <a:r>
              <a:rPr sz="1200" b="0" i="0">
                <a:solidFill>
                  <a:srgbClr val="6A6886"/>
                </a:solidFill>
                <a:latin typeface="Calibri"/>
              </a:rPr>
              <a:t>short- and long-term context</a:t>
            </a:r>
          </a:p>
        </p:txBody>
      </p:sp>
      <p:cxnSp>
        <p:nvCxnSpPr>
          <p:cNvPr id="18" name="Connector 17"/>
          <p:cNvCxnSpPr/>
          <p:nvPr/>
        </p:nvCxnSpPr>
        <p:spPr>
          <a:xfrm>
            <a:off x="731520" y="5376672"/>
            <a:ext cx="2148840" cy="0"/>
          </a:xfrm>
          <a:prstGeom prst="line">
            <a:avLst/>
          </a:prstGeom>
          <a:ln w="9525">
            <a:solidFill>
              <a:srgbClr val="DCDAF0"/>
            </a:solidFill>
          </a:ln>
        </p:spPr>
      </p:cxnSp>
      <p:sp>
        <p:nvSpPr>
          <p:cNvPr id="19" name="TextBox 18"/>
          <p:cNvSpPr txBox="1"/>
          <p:nvPr/>
        </p:nvSpPr>
        <p:spPr>
          <a:xfrm>
            <a:off x="731520" y="5404104"/>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Reflection</a:t>
            </a:r>
          </a:p>
          <a:p>
            <a:pPr algn="l">
              <a:spcAft>
                <a:spcPts val="100"/>
              </a:spcAft>
            </a:pPr>
            <a:r>
              <a:rPr sz="1200" b="0" i="0">
                <a:solidFill>
                  <a:srgbClr val="6A6886"/>
                </a:solidFill>
                <a:latin typeface="Calibri"/>
              </a:rPr>
              <a:t>verifies and replans</a:t>
            </a:r>
          </a:p>
        </p:txBody>
      </p:sp>
      <p:sp>
        <p:nvSpPr>
          <p:cNvPr id="20" name="Rounded Rectangle 19"/>
          <p:cNvSpPr/>
          <p:nvPr/>
        </p:nvSpPr>
        <p:spPr>
          <a:xfrm>
            <a:off x="3314700" y="1508760"/>
            <a:ext cx="2514600" cy="4709160"/>
          </a:xfrm>
          <a:prstGeom prst="roundRect">
            <a:avLst>
              <a:gd name="adj" fmla="val 4363"/>
            </a:avLst>
          </a:prstGeom>
          <a:solidFill>
            <a:srgbClr val="F5F5FA"/>
          </a:solidFill>
          <a:ln>
            <a:noFill/>
          </a:ln>
        </p:spPr>
        <p:txBody>
          <a:bodyPr rtlCol="0" anchor="ctr" wrap="square" lIns="54864" rIns="54864" tIns="54864" bIns="54864"/>
          <a:lstStyle/>
          <a:p>
            <a:pPr algn="ctr"/>
          </a:p>
        </p:txBody>
      </p:sp>
      <p:sp>
        <p:nvSpPr>
          <p:cNvPr id="21" name="Oval 20"/>
          <p:cNvSpPr/>
          <p:nvPr/>
        </p:nvSpPr>
        <p:spPr>
          <a:xfrm>
            <a:off x="3497580" y="1691639"/>
            <a:ext cx="420624" cy="420624"/>
          </a:xfrm>
          <a:prstGeom prst="ellipse">
            <a:avLst/>
          </a:prstGeom>
          <a:solidFill>
            <a:srgbClr val="2E9E6A"/>
          </a:solidFill>
          <a:ln>
            <a:noFill/>
          </a:ln>
        </p:spPr>
        <p:txBody>
          <a:bodyPr rtlCol="0" anchor="ctr" wrap="square" lIns="54864" rIns="54864" tIns="54864" bIns="54864"/>
          <a:lstStyle/>
          <a:p>
            <a:pPr algn="ctr"/>
          </a:p>
        </p:txBody>
      </p:sp>
      <p:pic>
        <p:nvPicPr>
          <p:cNvPr id="22" name="Picture 21" descr="check_w.png"/>
          <p:cNvPicPr>
            <a:picLocks noChangeAspect="1"/>
          </p:cNvPicPr>
          <p:nvPr/>
        </p:nvPicPr>
        <p:blipFill>
          <a:blip r:embed="rId4"/>
          <a:stretch>
            <a:fillRect/>
          </a:stretch>
        </p:blipFill>
        <p:spPr>
          <a:xfrm>
            <a:off x="3598164" y="1792224"/>
            <a:ext cx="219456" cy="219456"/>
          </a:xfrm>
          <a:prstGeom prst="rect">
            <a:avLst/>
          </a:prstGeom>
        </p:spPr>
      </p:pic>
      <p:sp>
        <p:nvSpPr>
          <p:cNvPr id="23" name="TextBox 22"/>
          <p:cNvSpPr txBox="1"/>
          <p:nvPr/>
        </p:nvSpPr>
        <p:spPr>
          <a:xfrm>
            <a:off x="4027932" y="1673351"/>
            <a:ext cx="1691640" cy="457200"/>
          </a:xfrm>
          <a:prstGeom prst="rect">
            <a:avLst/>
          </a:prstGeom>
          <a:noFill/>
        </p:spPr>
        <p:txBody>
          <a:bodyPr wrap="square" anchor="ctr" lIns="0" rIns="0" tIns="0" bIns="0"/>
          <a:lstStyle/>
          <a:p>
            <a:pPr algn="l">
              <a:spcAft>
                <a:spcPts val="400"/>
              </a:spcAft>
            </a:pPr>
            <a:r>
              <a:rPr sz="1600" b="1" i="0">
                <a:solidFill>
                  <a:srgbClr val="2E9E6A"/>
                </a:solidFill>
                <a:latin typeface="Cambria"/>
              </a:rPr>
              <a:t>Advantages</a:t>
            </a:r>
          </a:p>
        </p:txBody>
      </p:sp>
      <p:sp>
        <p:nvSpPr>
          <p:cNvPr id="24" name="TextBox 23"/>
          <p:cNvSpPr txBox="1"/>
          <p:nvPr/>
        </p:nvSpPr>
        <p:spPr>
          <a:xfrm>
            <a:off x="3497580" y="2331720"/>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Complex tasks</a:t>
            </a:r>
          </a:p>
          <a:p>
            <a:pPr algn="l">
              <a:spcAft>
                <a:spcPts val="100"/>
              </a:spcAft>
            </a:pPr>
            <a:r>
              <a:rPr sz="1200" b="0" i="0">
                <a:solidFill>
                  <a:srgbClr val="6A6886"/>
                </a:solidFill>
                <a:latin typeface="Calibri"/>
              </a:rPr>
              <a:t>handles multi-step workflows</a:t>
            </a:r>
          </a:p>
        </p:txBody>
      </p:sp>
      <p:cxnSp>
        <p:nvCxnSpPr>
          <p:cNvPr id="25" name="Connector 24"/>
          <p:cNvCxnSpPr/>
          <p:nvPr/>
        </p:nvCxnSpPr>
        <p:spPr>
          <a:xfrm>
            <a:off x="3497580" y="3072384"/>
            <a:ext cx="2148840" cy="0"/>
          </a:xfrm>
          <a:prstGeom prst="line">
            <a:avLst/>
          </a:prstGeom>
          <a:ln w="9525">
            <a:solidFill>
              <a:srgbClr val="DCDAF0"/>
            </a:solidFill>
          </a:ln>
        </p:spPr>
      </p:cxnSp>
      <p:sp>
        <p:nvSpPr>
          <p:cNvPr id="26" name="TextBox 25"/>
          <p:cNvSpPr txBox="1"/>
          <p:nvPr/>
        </p:nvSpPr>
        <p:spPr>
          <a:xfrm>
            <a:off x="3497580" y="3099815"/>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Specialisation</a:t>
            </a:r>
          </a:p>
          <a:p>
            <a:pPr algn="l">
              <a:spcAft>
                <a:spcPts val="100"/>
              </a:spcAft>
            </a:pPr>
            <a:r>
              <a:rPr sz="1200" b="0" i="0">
                <a:solidFill>
                  <a:srgbClr val="6A6886"/>
                </a:solidFill>
                <a:latin typeface="Calibri"/>
              </a:rPr>
              <a:t>agents work in parallel</a:t>
            </a:r>
          </a:p>
        </p:txBody>
      </p:sp>
      <p:cxnSp>
        <p:nvCxnSpPr>
          <p:cNvPr id="27" name="Connector 26"/>
          <p:cNvCxnSpPr/>
          <p:nvPr/>
        </p:nvCxnSpPr>
        <p:spPr>
          <a:xfrm>
            <a:off x="3497580" y="3840479"/>
            <a:ext cx="2148840" cy="0"/>
          </a:xfrm>
          <a:prstGeom prst="line">
            <a:avLst/>
          </a:prstGeom>
          <a:ln w="9525">
            <a:solidFill>
              <a:srgbClr val="DCDAF0"/>
            </a:solidFill>
          </a:ln>
        </p:spPr>
      </p:cxnSp>
      <p:sp>
        <p:nvSpPr>
          <p:cNvPr id="28" name="TextBox 27"/>
          <p:cNvSpPr txBox="1"/>
          <p:nvPr/>
        </p:nvSpPr>
        <p:spPr>
          <a:xfrm>
            <a:off x="3497580" y="3867911"/>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Live data</a:t>
            </a:r>
          </a:p>
          <a:p>
            <a:pPr algn="l">
              <a:spcAft>
                <a:spcPts val="100"/>
              </a:spcAft>
            </a:pPr>
            <a:r>
              <a:rPr sz="1200" b="0" i="0">
                <a:solidFill>
                  <a:srgbClr val="6A6886"/>
                </a:solidFill>
                <a:latin typeface="Calibri"/>
              </a:rPr>
              <a:t>external tools and sources</a:t>
            </a:r>
          </a:p>
        </p:txBody>
      </p:sp>
      <p:cxnSp>
        <p:nvCxnSpPr>
          <p:cNvPr id="29" name="Connector 28"/>
          <p:cNvCxnSpPr/>
          <p:nvPr/>
        </p:nvCxnSpPr>
        <p:spPr>
          <a:xfrm>
            <a:off x="3497580" y="4608575"/>
            <a:ext cx="2148840" cy="0"/>
          </a:xfrm>
          <a:prstGeom prst="line">
            <a:avLst/>
          </a:prstGeom>
          <a:ln w="9525">
            <a:solidFill>
              <a:srgbClr val="DCDAF0"/>
            </a:solidFill>
          </a:ln>
        </p:spPr>
      </p:cxnSp>
      <p:sp>
        <p:nvSpPr>
          <p:cNvPr id="30" name="TextBox 29"/>
          <p:cNvSpPr txBox="1"/>
          <p:nvPr/>
        </p:nvSpPr>
        <p:spPr>
          <a:xfrm>
            <a:off x="3497580" y="4636008"/>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Productivity</a:t>
            </a:r>
          </a:p>
          <a:p>
            <a:pPr algn="l">
              <a:spcAft>
                <a:spcPts val="100"/>
              </a:spcAft>
            </a:pPr>
            <a:r>
              <a:rPr sz="1200" b="0" i="0">
                <a:solidFill>
                  <a:srgbClr val="6A6886"/>
                </a:solidFill>
                <a:latin typeface="Calibri"/>
              </a:rPr>
              <a:t>less repetitive human effort</a:t>
            </a:r>
          </a:p>
        </p:txBody>
      </p:sp>
      <p:cxnSp>
        <p:nvCxnSpPr>
          <p:cNvPr id="31" name="Connector 30"/>
          <p:cNvCxnSpPr/>
          <p:nvPr/>
        </p:nvCxnSpPr>
        <p:spPr>
          <a:xfrm>
            <a:off x="3497580" y="5376672"/>
            <a:ext cx="2148840" cy="0"/>
          </a:xfrm>
          <a:prstGeom prst="line">
            <a:avLst/>
          </a:prstGeom>
          <a:ln w="9525">
            <a:solidFill>
              <a:srgbClr val="DCDAF0"/>
            </a:solidFill>
          </a:ln>
        </p:spPr>
      </p:cxnSp>
      <p:sp>
        <p:nvSpPr>
          <p:cNvPr id="32" name="TextBox 31"/>
          <p:cNvSpPr txBox="1"/>
          <p:nvPr/>
        </p:nvSpPr>
        <p:spPr>
          <a:xfrm>
            <a:off x="3497580" y="5404104"/>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Interoperable</a:t>
            </a:r>
          </a:p>
          <a:p>
            <a:pPr algn="l">
              <a:spcAft>
                <a:spcPts val="100"/>
              </a:spcAft>
            </a:pPr>
            <a:r>
              <a:rPr sz="1200" b="0" i="0">
                <a:solidFill>
                  <a:srgbClr val="6A6886"/>
                </a:solidFill>
                <a:latin typeface="Calibri"/>
              </a:rPr>
              <a:t>MCP / A2A ease scaling [6]</a:t>
            </a:r>
          </a:p>
        </p:txBody>
      </p:sp>
      <p:sp>
        <p:nvSpPr>
          <p:cNvPr id="33" name="Rounded Rectangle 32"/>
          <p:cNvSpPr/>
          <p:nvPr/>
        </p:nvSpPr>
        <p:spPr>
          <a:xfrm>
            <a:off x="6080759" y="1508760"/>
            <a:ext cx="2514600" cy="4709160"/>
          </a:xfrm>
          <a:prstGeom prst="roundRect">
            <a:avLst>
              <a:gd name="adj" fmla="val 4363"/>
            </a:avLst>
          </a:prstGeom>
          <a:solidFill>
            <a:srgbClr val="F5F5FA"/>
          </a:solidFill>
          <a:ln>
            <a:noFill/>
          </a:ln>
        </p:spPr>
        <p:txBody>
          <a:bodyPr rtlCol="0" anchor="ctr" wrap="square" lIns="54864" rIns="54864" tIns="54864" bIns="54864"/>
          <a:lstStyle/>
          <a:p>
            <a:pPr algn="ctr"/>
          </a:p>
        </p:txBody>
      </p:sp>
      <p:sp>
        <p:nvSpPr>
          <p:cNvPr id="34" name="Oval 33"/>
          <p:cNvSpPr/>
          <p:nvPr/>
        </p:nvSpPr>
        <p:spPr>
          <a:xfrm>
            <a:off x="6263640" y="1691639"/>
            <a:ext cx="420624" cy="420624"/>
          </a:xfrm>
          <a:prstGeom prst="ellipse">
            <a:avLst/>
          </a:prstGeom>
          <a:solidFill>
            <a:srgbClr val="D64545"/>
          </a:solidFill>
          <a:ln>
            <a:noFill/>
          </a:ln>
        </p:spPr>
        <p:txBody>
          <a:bodyPr rtlCol="0" anchor="ctr" wrap="square" lIns="54864" rIns="54864" tIns="54864" bIns="54864"/>
          <a:lstStyle/>
          <a:p>
            <a:pPr algn="ctr"/>
          </a:p>
        </p:txBody>
      </p:sp>
      <p:pic>
        <p:nvPicPr>
          <p:cNvPr id="35" name="Picture 34" descr="warn_w.png"/>
          <p:cNvPicPr>
            <a:picLocks noChangeAspect="1"/>
          </p:cNvPicPr>
          <p:nvPr/>
        </p:nvPicPr>
        <p:blipFill>
          <a:blip r:embed="rId5"/>
          <a:stretch>
            <a:fillRect/>
          </a:stretch>
        </p:blipFill>
        <p:spPr>
          <a:xfrm>
            <a:off x="6364223" y="1792224"/>
            <a:ext cx="219456" cy="219456"/>
          </a:xfrm>
          <a:prstGeom prst="rect">
            <a:avLst/>
          </a:prstGeom>
        </p:spPr>
      </p:pic>
      <p:sp>
        <p:nvSpPr>
          <p:cNvPr id="36" name="TextBox 35"/>
          <p:cNvSpPr txBox="1"/>
          <p:nvPr/>
        </p:nvSpPr>
        <p:spPr>
          <a:xfrm>
            <a:off x="6793992" y="1673351"/>
            <a:ext cx="1691640" cy="457200"/>
          </a:xfrm>
          <a:prstGeom prst="rect">
            <a:avLst/>
          </a:prstGeom>
          <a:noFill/>
        </p:spPr>
        <p:txBody>
          <a:bodyPr wrap="square" anchor="ctr" lIns="0" rIns="0" tIns="0" bIns="0"/>
          <a:lstStyle/>
          <a:p>
            <a:pPr algn="l">
              <a:spcAft>
                <a:spcPts val="400"/>
              </a:spcAft>
            </a:pPr>
            <a:r>
              <a:rPr sz="1600" b="1" i="0">
                <a:solidFill>
                  <a:srgbClr val="D64545"/>
                </a:solidFill>
                <a:latin typeface="Cambria"/>
              </a:rPr>
              <a:t>Disadvantages</a:t>
            </a:r>
          </a:p>
        </p:txBody>
      </p:sp>
      <p:sp>
        <p:nvSpPr>
          <p:cNvPr id="37" name="TextBox 36"/>
          <p:cNvSpPr txBox="1"/>
          <p:nvPr/>
        </p:nvSpPr>
        <p:spPr>
          <a:xfrm>
            <a:off x="6263640" y="2331720"/>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Error chains</a:t>
            </a:r>
          </a:p>
          <a:p>
            <a:pPr algn="l">
              <a:spcAft>
                <a:spcPts val="100"/>
              </a:spcAft>
            </a:pPr>
            <a:r>
              <a:rPr sz="1200" b="0" i="0">
                <a:solidFill>
                  <a:srgbClr val="6A6886"/>
                </a:solidFill>
                <a:latin typeface="Calibri"/>
              </a:rPr>
              <a:t>mistakes compound over steps</a:t>
            </a:r>
          </a:p>
        </p:txBody>
      </p:sp>
      <p:cxnSp>
        <p:nvCxnSpPr>
          <p:cNvPr id="38" name="Connector 37"/>
          <p:cNvCxnSpPr/>
          <p:nvPr/>
        </p:nvCxnSpPr>
        <p:spPr>
          <a:xfrm>
            <a:off x="6263640" y="3072384"/>
            <a:ext cx="2148840" cy="0"/>
          </a:xfrm>
          <a:prstGeom prst="line">
            <a:avLst/>
          </a:prstGeom>
          <a:ln w="9525">
            <a:solidFill>
              <a:srgbClr val="DCDAF0"/>
            </a:solidFill>
          </a:ln>
        </p:spPr>
      </p:cxnSp>
      <p:sp>
        <p:nvSpPr>
          <p:cNvPr id="39" name="TextBox 38"/>
          <p:cNvSpPr txBox="1"/>
          <p:nvPr/>
        </p:nvSpPr>
        <p:spPr>
          <a:xfrm>
            <a:off x="6263640" y="3099815"/>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Security</a:t>
            </a:r>
          </a:p>
          <a:p>
            <a:pPr algn="l">
              <a:spcAft>
                <a:spcPts val="100"/>
              </a:spcAft>
            </a:pPr>
            <a:r>
              <a:rPr sz="1200" b="0" i="0">
                <a:solidFill>
                  <a:srgbClr val="6A6886"/>
                </a:solidFill>
                <a:latin typeface="Calibri"/>
              </a:rPr>
              <a:t>prompt injection, tool abuse [8]</a:t>
            </a:r>
          </a:p>
        </p:txBody>
      </p:sp>
      <p:cxnSp>
        <p:nvCxnSpPr>
          <p:cNvPr id="40" name="Connector 39"/>
          <p:cNvCxnSpPr/>
          <p:nvPr/>
        </p:nvCxnSpPr>
        <p:spPr>
          <a:xfrm>
            <a:off x="6263640" y="3840479"/>
            <a:ext cx="2148840" cy="0"/>
          </a:xfrm>
          <a:prstGeom prst="line">
            <a:avLst/>
          </a:prstGeom>
          <a:ln w="9525">
            <a:solidFill>
              <a:srgbClr val="DCDAF0"/>
            </a:solidFill>
          </a:ln>
        </p:spPr>
      </p:cxnSp>
      <p:sp>
        <p:nvSpPr>
          <p:cNvPr id="41" name="TextBox 40"/>
          <p:cNvSpPr txBox="1"/>
          <p:nvPr/>
        </p:nvSpPr>
        <p:spPr>
          <a:xfrm>
            <a:off x="6263640" y="3867911"/>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Cost</a:t>
            </a:r>
          </a:p>
          <a:p>
            <a:pPr algn="l">
              <a:spcAft>
                <a:spcPts val="100"/>
              </a:spcAft>
            </a:pPr>
            <a:r>
              <a:rPr sz="1200" b="0" i="0">
                <a:solidFill>
                  <a:srgbClr val="6A6886"/>
                </a:solidFill>
                <a:latin typeface="Calibri"/>
              </a:rPr>
              <a:t>many LLM calls, higher latency</a:t>
            </a:r>
          </a:p>
        </p:txBody>
      </p:sp>
      <p:cxnSp>
        <p:nvCxnSpPr>
          <p:cNvPr id="42" name="Connector 41"/>
          <p:cNvCxnSpPr/>
          <p:nvPr/>
        </p:nvCxnSpPr>
        <p:spPr>
          <a:xfrm>
            <a:off x="6263640" y="4608575"/>
            <a:ext cx="2148840" cy="0"/>
          </a:xfrm>
          <a:prstGeom prst="line">
            <a:avLst/>
          </a:prstGeom>
          <a:ln w="9525">
            <a:solidFill>
              <a:srgbClr val="DCDAF0"/>
            </a:solidFill>
          </a:ln>
        </p:spPr>
      </p:cxnSp>
      <p:sp>
        <p:nvSpPr>
          <p:cNvPr id="43" name="TextBox 42"/>
          <p:cNvSpPr txBox="1"/>
          <p:nvPr/>
        </p:nvSpPr>
        <p:spPr>
          <a:xfrm>
            <a:off x="6263640" y="4636008"/>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Evaluation</a:t>
            </a:r>
          </a:p>
          <a:p>
            <a:pPr algn="l">
              <a:spcAft>
                <a:spcPts val="100"/>
              </a:spcAft>
            </a:pPr>
            <a:r>
              <a:rPr sz="1200" b="0" i="0">
                <a:solidFill>
                  <a:srgbClr val="6A6886"/>
                </a:solidFill>
                <a:latin typeface="Calibri"/>
              </a:rPr>
              <a:t>hard to test reliably [2]</a:t>
            </a:r>
          </a:p>
        </p:txBody>
      </p:sp>
      <p:cxnSp>
        <p:nvCxnSpPr>
          <p:cNvPr id="44" name="Connector 43"/>
          <p:cNvCxnSpPr/>
          <p:nvPr/>
        </p:nvCxnSpPr>
        <p:spPr>
          <a:xfrm>
            <a:off x="6263640" y="5376672"/>
            <a:ext cx="2148840" cy="0"/>
          </a:xfrm>
          <a:prstGeom prst="line">
            <a:avLst/>
          </a:prstGeom>
          <a:ln w="9525">
            <a:solidFill>
              <a:srgbClr val="DCDAF0"/>
            </a:solidFill>
          </a:ln>
        </p:spPr>
      </p:cxnSp>
      <p:sp>
        <p:nvSpPr>
          <p:cNvPr id="45" name="TextBox 44"/>
          <p:cNvSpPr txBox="1"/>
          <p:nvPr/>
        </p:nvSpPr>
        <p:spPr>
          <a:xfrm>
            <a:off x="6263640" y="5404104"/>
            <a:ext cx="2194560" cy="713232"/>
          </a:xfrm>
          <a:prstGeom prst="rect">
            <a:avLst/>
          </a:prstGeom>
          <a:noFill/>
        </p:spPr>
        <p:txBody>
          <a:bodyPr wrap="square" anchor="ctr" lIns="0" rIns="0" tIns="0" bIns="0"/>
          <a:lstStyle/>
          <a:p>
            <a:pPr algn="l">
              <a:spcAft>
                <a:spcPts val="100"/>
              </a:spcAft>
            </a:pPr>
            <a:r>
              <a:rPr sz="1400" b="1" i="0">
                <a:solidFill>
                  <a:srgbClr val="17153A"/>
                </a:solidFill>
                <a:latin typeface="Calibri"/>
              </a:rPr>
              <a:t>Oversight</a:t>
            </a:r>
          </a:p>
          <a:p>
            <a:pPr algn="l">
              <a:spcAft>
                <a:spcPts val="100"/>
              </a:spcAft>
            </a:pPr>
            <a:r>
              <a:rPr sz="1200" b="0" i="0">
                <a:solidFill>
                  <a:srgbClr val="6A6886"/>
                </a:solidFill>
                <a:latin typeface="Calibri"/>
              </a:rPr>
              <a:t>still needs human checks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09  ·  APPLICATIONS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Where agents are already at work</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14</a:t>
            </a:fld>
          </a:p>
        </p:txBody>
      </p:sp>
      <p:sp>
        <p:nvSpPr>
          <p:cNvPr id="7" name="Rounded Rectangle 6"/>
          <p:cNvSpPr/>
          <p:nvPr/>
        </p:nvSpPr>
        <p:spPr>
          <a:xfrm>
            <a:off x="548640" y="1508760"/>
            <a:ext cx="3931920" cy="1417320"/>
          </a:xfrm>
          <a:prstGeom prst="roundRect">
            <a:avLst>
              <a:gd name="adj" fmla="val 7741"/>
            </a:avLst>
          </a:prstGeom>
          <a:solidFill>
            <a:srgbClr val="F5F5FA"/>
          </a:solidFill>
          <a:ln>
            <a:noFill/>
          </a:ln>
        </p:spPr>
        <p:txBody>
          <a:bodyPr rtlCol="0" anchor="ctr" wrap="square" lIns="54864" rIns="54864" tIns="54864" bIns="54864"/>
          <a:lstStyle/>
          <a:p>
            <a:pPr algn="ctr"/>
          </a:p>
        </p:txBody>
      </p:sp>
      <p:sp>
        <p:nvSpPr>
          <p:cNvPr id="8" name="Oval 7"/>
          <p:cNvSpPr/>
          <p:nvPr/>
        </p:nvSpPr>
        <p:spPr>
          <a:xfrm>
            <a:off x="777240" y="1874519"/>
            <a:ext cx="685800" cy="685800"/>
          </a:xfrm>
          <a:prstGeom prst="ellipse">
            <a:avLst/>
          </a:prstGeom>
          <a:solidFill>
            <a:srgbClr val="5B4CDB"/>
          </a:solidFill>
          <a:ln>
            <a:noFill/>
          </a:ln>
        </p:spPr>
        <p:txBody>
          <a:bodyPr rtlCol="0" anchor="ctr" wrap="square" lIns="54864" rIns="54864" tIns="54864" bIns="54864"/>
          <a:lstStyle/>
          <a:p>
            <a:pPr algn="ctr"/>
          </a:p>
        </p:txBody>
      </p:sp>
      <p:pic>
        <p:nvPicPr>
          <p:cNvPr id="9" name="Picture 8" descr="code_w.png"/>
          <p:cNvPicPr>
            <a:picLocks noChangeAspect="1"/>
          </p:cNvPicPr>
          <p:nvPr/>
        </p:nvPicPr>
        <p:blipFill>
          <a:blip r:embed="rId3"/>
          <a:stretch>
            <a:fillRect/>
          </a:stretch>
        </p:blipFill>
        <p:spPr>
          <a:xfrm>
            <a:off x="948690" y="2045969"/>
            <a:ext cx="342900" cy="342900"/>
          </a:xfrm>
          <a:prstGeom prst="rect">
            <a:avLst/>
          </a:prstGeom>
        </p:spPr>
      </p:pic>
      <p:sp>
        <p:nvSpPr>
          <p:cNvPr id="10" name="TextBox 9"/>
          <p:cNvSpPr txBox="1"/>
          <p:nvPr/>
        </p:nvSpPr>
        <p:spPr>
          <a:xfrm>
            <a:off x="1691640" y="1691639"/>
            <a:ext cx="2651760" cy="384048"/>
          </a:xfrm>
          <a:prstGeom prst="rect">
            <a:avLst/>
          </a:prstGeom>
          <a:noFill/>
        </p:spPr>
        <p:txBody>
          <a:bodyPr wrap="square" anchor="ctr" lIns="0" rIns="0" tIns="0" bIns="0"/>
          <a:lstStyle/>
          <a:p>
            <a:pPr algn="l">
              <a:spcAft>
                <a:spcPts val="400"/>
              </a:spcAft>
            </a:pPr>
            <a:r>
              <a:rPr sz="1600" b="1" i="0">
                <a:solidFill>
                  <a:srgbClr val="17153A"/>
                </a:solidFill>
                <a:latin typeface="Cambria"/>
              </a:rPr>
              <a:t>Software engineering</a:t>
            </a:r>
          </a:p>
        </p:txBody>
      </p:sp>
      <p:sp>
        <p:nvSpPr>
          <p:cNvPr id="11" name="TextBox 10"/>
          <p:cNvSpPr txBox="1"/>
          <p:nvPr/>
        </p:nvSpPr>
        <p:spPr>
          <a:xfrm>
            <a:off x="1691640" y="2093976"/>
            <a:ext cx="2651760" cy="777240"/>
          </a:xfrm>
          <a:prstGeom prst="rect">
            <a:avLst/>
          </a:prstGeom>
          <a:noFill/>
        </p:spPr>
        <p:txBody>
          <a:bodyPr wrap="square" anchor="t" lIns="0" rIns="0" tIns="0" bIns="0"/>
          <a:lstStyle/>
          <a:p>
            <a:pPr algn="l">
              <a:spcAft>
                <a:spcPts val="400"/>
              </a:spcAft>
            </a:pPr>
            <a:r>
              <a:rPr sz="1300" b="0" i="0">
                <a:solidFill>
                  <a:srgbClr val="6A6886"/>
                </a:solidFill>
                <a:latin typeface="Calibri"/>
              </a:rPr>
              <a:t>Coding agents write, run, test and debug code in a loop.</a:t>
            </a:r>
          </a:p>
        </p:txBody>
      </p:sp>
      <p:sp>
        <p:nvSpPr>
          <p:cNvPr id="12" name="Rounded Rectangle 11"/>
          <p:cNvSpPr/>
          <p:nvPr/>
        </p:nvSpPr>
        <p:spPr>
          <a:xfrm>
            <a:off x="4663440" y="1508760"/>
            <a:ext cx="3931920" cy="1417320"/>
          </a:xfrm>
          <a:prstGeom prst="roundRect">
            <a:avLst>
              <a:gd name="adj" fmla="val 7741"/>
            </a:avLst>
          </a:prstGeom>
          <a:solidFill>
            <a:srgbClr val="F5F5FA"/>
          </a:solidFill>
          <a:ln>
            <a:noFill/>
          </a:ln>
        </p:spPr>
        <p:txBody>
          <a:bodyPr rtlCol="0" anchor="ctr" wrap="square" lIns="54864" rIns="54864" tIns="54864" bIns="54864"/>
          <a:lstStyle/>
          <a:p>
            <a:pPr algn="ctr"/>
          </a:p>
        </p:txBody>
      </p:sp>
      <p:sp>
        <p:nvSpPr>
          <p:cNvPr id="13" name="Oval 12"/>
          <p:cNvSpPr/>
          <p:nvPr/>
        </p:nvSpPr>
        <p:spPr>
          <a:xfrm>
            <a:off x="4892040" y="1874519"/>
            <a:ext cx="685800" cy="685800"/>
          </a:xfrm>
          <a:prstGeom prst="ellipse">
            <a:avLst/>
          </a:prstGeom>
          <a:solidFill>
            <a:srgbClr val="F2643D"/>
          </a:solidFill>
          <a:ln>
            <a:noFill/>
          </a:ln>
        </p:spPr>
        <p:txBody>
          <a:bodyPr rtlCol="0" anchor="ctr" wrap="square" lIns="54864" rIns="54864" tIns="54864" bIns="54864"/>
          <a:lstStyle/>
          <a:p>
            <a:pPr algn="ctr"/>
          </a:p>
        </p:txBody>
      </p:sp>
      <p:pic>
        <p:nvPicPr>
          <p:cNvPr id="14" name="Picture 13" descr="search_w.png"/>
          <p:cNvPicPr>
            <a:picLocks noChangeAspect="1"/>
          </p:cNvPicPr>
          <p:nvPr/>
        </p:nvPicPr>
        <p:blipFill>
          <a:blip r:embed="rId4"/>
          <a:stretch>
            <a:fillRect/>
          </a:stretch>
        </p:blipFill>
        <p:spPr>
          <a:xfrm>
            <a:off x="5063490" y="2045969"/>
            <a:ext cx="342900" cy="342900"/>
          </a:xfrm>
          <a:prstGeom prst="rect">
            <a:avLst/>
          </a:prstGeom>
        </p:spPr>
      </p:pic>
      <p:sp>
        <p:nvSpPr>
          <p:cNvPr id="15" name="TextBox 14"/>
          <p:cNvSpPr txBox="1"/>
          <p:nvPr/>
        </p:nvSpPr>
        <p:spPr>
          <a:xfrm>
            <a:off x="5806440" y="1691639"/>
            <a:ext cx="2651760" cy="384048"/>
          </a:xfrm>
          <a:prstGeom prst="rect">
            <a:avLst/>
          </a:prstGeom>
          <a:noFill/>
        </p:spPr>
        <p:txBody>
          <a:bodyPr wrap="square" anchor="ctr" lIns="0" rIns="0" tIns="0" bIns="0"/>
          <a:lstStyle/>
          <a:p>
            <a:pPr algn="l">
              <a:spcAft>
                <a:spcPts val="400"/>
              </a:spcAft>
            </a:pPr>
            <a:r>
              <a:rPr sz="1600" b="1" i="0">
                <a:solidFill>
                  <a:srgbClr val="17153A"/>
                </a:solidFill>
                <a:latin typeface="Cambria"/>
              </a:rPr>
              <a:t>Research assistants</a:t>
            </a:r>
          </a:p>
        </p:txBody>
      </p:sp>
      <p:sp>
        <p:nvSpPr>
          <p:cNvPr id="16" name="TextBox 15"/>
          <p:cNvSpPr txBox="1"/>
          <p:nvPr/>
        </p:nvSpPr>
        <p:spPr>
          <a:xfrm>
            <a:off x="5806440" y="2093976"/>
            <a:ext cx="2651760" cy="777240"/>
          </a:xfrm>
          <a:prstGeom prst="rect">
            <a:avLst/>
          </a:prstGeom>
          <a:noFill/>
        </p:spPr>
        <p:txBody>
          <a:bodyPr wrap="square" anchor="t" lIns="0" rIns="0" tIns="0" bIns="0"/>
          <a:lstStyle/>
          <a:p>
            <a:pPr algn="l">
              <a:spcAft>
                <a:spcPts val="400"/>
              </a:spcAft>
            </a:pPr>
            <a:r>
              <a:rPr sz="1300" b="0" i="0">
                <a:solidFill>
                  <a:srgbClr val="6A6886"/>
                </a:solidFill>
                <a:latin typeface="Calibri"/>
              </a:rPr>
              <a:t>An orchestrator runs parallel search agents to compile reports [11].</a:t>
            </a:r>
          </a:p>
        </p:txBody>
      </p:sp>
      <p:sp>
        <p:nvSpPr>
          <p:cNvPr id="17" name="Rounded Rectangle 16"/>
          <p:cNvSpPr/>
          <p:nvPr/>
        </p:nvSpPr>
        <p:spPr>
          <a:xfrm>
            <a:off x="548640" y="3081528"/>
            <a:ext cx="3931920" cy="1417320"/>
          </a:xfrm>
          <a:prstGeom prst="roundRect">
            <a:avLst>
              <a:gd name="adj" fmla="val 7741"/>
            </a:avLst>
          </a:prstGeom>
          <a:solidFill>
            <a:srgbClr val="F5F5FA"/>
          </a:solidFill>
          <a:ln>
            <a:noFill/>
          </a:ln>
        </p:spPr>
        <p:txBody>
          <a:bodyPr rtlCol="0" anchor="ctr" wrap="square" lIns="54864" rIns="54864" tIns="54864" bIns="54864"/>
          <a:lstStyle/>
          <a:p>
            <a:pPr algn="ctr"/>
          </a:p>
        </p:txBody>
      </p:sp>
      <p:sp>
        <p:nvSpPr>
          <p:cNvPr id="18" name="Oval 17"/>
          <p:cNvSpPr/>
          <p:nvPr/>
        </p:nvSpPr>
        <p:spPr>
          <a:xfrm>
            <a:off x="777240" y="3447288"/>
            <a:ext cx="685800" cy="685800"/>
          </a:xfrm>
          <a:prstGeom prst="ellipse">
            <a:avLst/>
          </a:prstGeom>
          <a:solidFill>
            <a:srgbClr val="5B4CDB"/>
          </a:solidFill>
          <a:ln>
            <a:noFill/>
          </a:ln>
        </p:spPr>
        <p:txBody>
          <a:bodyPr rtlCol="0" anchor="ctr" wrap="square" lIns="54864" rIns="54864" tIns="54864" bIns="54864"/>
          <a:lstStyle/>
          <a:p>
            <a:pPr algn="ctr"/>
          </a:p>
        </p:txBody>
      </p:sp>
      <p:pic>
        <p:nvPicPr>
          <p:cNvPr id="19" name="Picture 18" descr="bug_w.png"/>
          <p:cNvPicPr>
            <a:picLocks noChangeAspect="1"/>
          </p:cNvPicPr>
          <p:nvPr/>
        </p:nvPicPr>
        <p:blipFill>
          <a:blip r:embed="rId5"/>
          <a:stretch>
            <a:fillRect/>
          </a:stretch>
        </p:blipFill>
        <p:spPr>
          <a:xfrm>
            <a:off x="948690" y="3618738"/>
            <a:ext cx="342900" cy="342900"/>
          </a:xfrm>
          <a:prstGeom prst="rect">
            <a:avLst/>
          </a:prstGeom>
        </p:spPr>
      </p:pic>
      <p:sp>
        <p:nvSpPr>
          <p:cNvPr id="20" name="TextBox 19"/>
          <p:cNvSpPr txBox="1"/>
          <p:nvPr/>
        </p:nvSpPr>
        <p:spPr>
          <a:xfrm>
            <a:off x="1691640" y="3264408"/>
            <a:ext cx="2651760" cy="384048"/>
          </a:xfrm>
          <a:prstGeom prst="rect">
            <a:avLst/>
          </a:prstGeom>
          <a:noFill/>
        </p:spPr>
        <p:txBody>
          <a:bodyPr wrap="square" anchor="ctr" lIns="0" rIns="0" tIns="0" bIns="0"/>
          <a:lstStyle/>
          <a:p>
            <a:pPr algn="l">
              <a:spcAft>
                <a:spcPts val="400"/>
              </a:spcAft>
            </a:pPr>
            <a:r>
              <a:rPr sz="1600" b="1" i="0">
                <a:solidFill>
                  <a:srgbClr val="17153A"/>
                </a:solidFill>
                <a:latin typeface="Cambria"/>
              </a:rPr>
              <a:t>Cybersecurity</a:t>
            </a:r>
          </a:p>
        </p:txBody>
      </p:sp>
      <p:sp>
        <p:nvSpPr>
          <p:cNvPr id="21" name="TextBox 20"/>
          <p:cNvSpPr txBox="1"/>
          <p:nvPr/>
        </p:nvSpPr>
        <p:spPr>
          <a:xfrm>
            <a:off x="1691640" y="3666744"/>
            <a:ext cx="2651760" cy="777240"/>
          </a:xfrm>
          <a:prstGeom prst="rect">
            <a:avLst/>
          </a:prstGeom>
          <a:noFill/>
        </p:spPr>
        <p:txBody>
          <a:bodyPr wrap="square" anchor="t" lIns="0" rIns="0" tIns="0" bIns="0"/>
          <a:lstStyle/>
          <a:p>
            <a:pPr algn="l">
              <a:spcAft>
                <a:spcPts val="400"/>
              </a:spcAft>
            </a:pPr>
            <a:r>
              <a:rPr sz="1300" b="0" i="0">
                <a:solidFill>
                  <a:srgbClr val="6A6886"/>
                </a:solidFill>
                <a:latin typeface="Calibri"/>
              </a:rPr>
              <a:t>Agents discover vulnerabilities and run security tests [7].</a:t>
            </a:r>
          </a:p>
        </p:txBody>
      </p:sp>
      <p:sp>
        <p:nvSpPr>
          <p:cNvPr id="22" name="Rounded Rectangle 21"/>
          <p:cNvSpPr/>
          <p:nvPr/>
        </p:nvSpPr>
        <p:spPr>
          <a:xfrm>
            <a:off x="4663440" y="3081528"/>
            <a:ext cx="3931920" cy="1417320"/>
          </a:xfrm>
          <a:prstGeom prst="roundRect">
            <a:avLst>
              <a:gd name="adj" fmla="val 7741"/>
            </a:avLst>
          </a:prstGeom>
          <a:solidFill>
            <a:srgbClr val="F5F5FA"/>
          </a:solidFill>
          <a:ln>
            <a:noFill/>
          </a:ln>
        </p:spPr>
        <p:txBody>
          <a:bodyPr rtlCol="0" anchor="ctr" wrap="square" lIns="54864" rIns="54864" tIns="54864" bIns="54864"/>
          <a:lstStyle/>
          <a:p>
            <a:pPr algn="ctr"/>
          </a:p>
        </p:txBody>
      </p:sp>
      <p:sp>
        <p:nvSpPr>
          <p:cNvPr id="23" name="Oval 22"/>
          <p:cNvSpPr/>
          <p:nvPr/>
        </p:nvSpPr>
        <p:spPr>
          <a:xfrm>
            <a:off x="4892040" y="3447288"/>
            <a:ext cx="685800" cy="685800"/>
          </a:xfrm>
          <a:prstGeom prst="ellipse">
            <a:avLst/>
          </a:prstGeom>
          <a:solidFill>
            <a:srgbClr val="5B4CDB"/>
          </a:solidFill>
          <a:ln>
            <a:noFill/>
          </a:ln>
        </p:spPr>
        <p:txBody>
          <a:bodyPr rtlCol="0" anchor="ctr" wrap="square" lIns="54864" rIns="54864" tIns="54864" bIns="54864"/>
          <a:lstStyle/>
          <a:p>
            <a:pPr algn="ctr"/>
          </a:p>
        </p:txBody>
      </p:sp>
      <p:pic>
        <p:nvPicPr>
          <p:cNvPr id="24" name="Picture 23" descr="robot_w.png"/>
          <p:cNvPicPr>
            <a:picLocks noChangeAspect="1"/>
          </p:cNvPicPr>
          <p:nvPr/>
        </p:nvPicPr>
        <p:blipFill>
          <a:blip r:embed="rId6"/>
          <a:stretch>
            <a:fillRect/>
          </a:stretch>
        </p:blipFill>
        <p:spPr>
          <a:xfrm>
            <a:off x="5063490" y="3618738"/>
            <a:ext cx="342900" cy="342900"/>
          </a:xfrm>
          <a:prstGeom prst="rect">
            <a:avLst/>
          </a:prstGeom>
        </p:spPr>
      </p:pic>
      <p:sp>
        <p:nvSpPr>
          <p:cNvPr id="25" name="TextBox 24"/>
          <p:cNvSpPr txBox="1"/>
          <p:nvPr/>
        </p:nvSpPr>
        <p:spPr>
          <a:xfrm>
            <a:off x="5806440" y="3264408"/>
            <a:ext cx="2651760" cy="384048"/>
          </a:xfrm>
          <a:prstGeom prst="rect">
            <a:avLst/>
          </a:prstGeom>
          <a:noFill/>
        </p:spPr>
        <p:txBody>
          <a:bodyPr wrap="square" anchor="ctr" lIns="0" rIns="0" tIns="0" bIns="0"/>
          <a:lstStyle/>
          <a:p>
            <a:pPr algn="l">
              <a:spcAft>
                <a:spcPts val="400"/>
              </a:spcAft>
            </a:pPr>
            <a:r>
              <a:rPr sz="1600" b="1" i="0">
                <a:solidFill>
                  <a:srgbClr val="17153A"/>
                </a:solidFill>
                <a:latin typeface="Cambria"/>
              </a:rPr>
              <a:t>Industrial robotics</a:t>
            </a:r>
          </a:p>
        </p:txBody>
      </p:sp>
      <p:sp>
        <p:nvSpPr>
          <p:cNvPr id="26" name="TextBox 25"/>
          <p:cNvSpPr txBox="1"/>
          <p:nvPr/>
        </p:nvSpPr>
        <p:spPr>
          <a:xfrm>
            <a:off x="5806440" y="3666744"/>
            <a:ext cx="2651760" cy="777240"/>
          </a:xfrm>
          <a:prstGeom prst="rect">
            <a:avLst/>
          </a:prstGeom>
          <a:noFill/>
        </p:spPr>
        <p:txBody>
          <a:bodyPr wrap="square" anchor="t" lIns="0" rIns="0" tIns="0" bIns="0"/>
          <a:lstStyle/>
          <a:p>
            <a:pPr algn="l">
              <a:spcAft>
                <a:spcPts val="400"/>
              </a:spcAft>
            </a:pPr>
            <a:r>
              <a:rPr sz="1300" b="0" i="0">
                <a:solidFill>
                  <a:srgbClr val="6A6886"/>
                </a:solidFill>
                <a:latin typeface="Calibri"/>
              </a:rPr>
              <a:t>Long-horizon task planning with failure-aware replanning [9].</a:t>
            </a:r>
          </a:p>
        </p:txBody>
      </p:sp>
      <p:sp>
        <p:nvSpPr>
          <p:cNvPr id="27" name="Rounded Rectangle 26"/>
          <p:cNvSpPr/>
          <p:nvPr/>
        </p:nvSpPr>
        <p:spPr>
          <a:xfrm>
            <a:off x="548640" y="4654296"/>
            <a:ext cx="3931920" cy="1417320"/>
          </a:xfrm>
          <a:prstGeom prst="roundRect">
            <a:avLst>
              <a:gd name="adj" fmla="val 7741"/>
            </a:avLst>
          </a:prstGeom>
          <a:solidFill>
            <a:srgbClr val="F5F5FA"/>
          </a:solidFill>
          <a:ln>
            <a:noFill/>
          </a:ln>
        </p:spPr>
        <p:txBody>
          <a:bodyPr rtlCol="0" anchor="ctr" wrap="square" lIns="54864" rIns="54864" tIns="54864" bIns="54864"/>
          <a:lstStyle/>
          <a:p>
            <a:pPr algn="ctr"/>
          </a:p>
        </p:txBody>
      </p:sp>
      <p:sp>
        <p:nvSpPr>
          <p:cNvPr id="28" name="Oval 27"/>
          <p:cNvSpPr/>
          <p:nvPr/>
        </p:nvSpPr>
        <p:spPr>
          <a:xfrm>
            <a:off x="777240" y="5020056"/>
            <a:ext cx="685800" cy="685800"/>
          </a:xfrm>
          <a:prstGeom prst="ellipse">
            <a:avLst/>
          </a:prstGeom>
          <a:solidFill>
            <a:srgbClr val="F2643D"/>
          </a:solidFill>
          <a:ln>
            <a:noFill/>
          </a:ln>
        </p:spPr>
        <p:txBody>
          <a:bodyPr rtlCol="0" anchor="ctr" wrap="square" lIns="54864" rIns="54864" tIns="54864" bIns="54864"/>
          <a:lstStyle/>
          <a:p>
            <a:pPr algn="ctr"/>
          </a:p>
        </p:txBody>
      </p:sp>
      <p:pic>
        <p:nvPicPr>
          <p:cNvPr id="29" name="Picture 28" descr="cogs_w.png"/>
          <p:cNvPicPr>
            <a:picLocks noChangeAspect="1"/>
          </p:cNvPicPr>
          <p:nvPr/>
        </p:nvPicPr>
        <p:blipFill>
          <a:blip r:embed="rId7"/>
          <a:stretch>
            <a:fillRect/>
          </a:stretch>
        </p:blipFill>
        <p:spPr>
          <a:xfrm>
            <a:off x="948690" y="5191506"/>
            <a:ext cx="342900" cy="342900"/>
          </a:xfrm>
          <a:prstGeom prst="rect">
            <a:avLst/>
          </a:prstGeom>
        </p:spPr>
      </p:pic>
      <p:sp>
        <p:nvSpPr>
          <p:cNvPr id="30" name="TextBox 29"/>
          <p:cNvSpPr txBox="1"/>
          <p:nvPr/>
        </p:nvSpPr>
        <p:spPr>
          <a:xfrm>
            <a:off x="1691640" y="4837176"/>
            <a:ext cx="2651760" cy="384048"/>
          </a:xfrm>
          <a:prstGeom prst="rect">
            <a:avLst/>
          </a:prstGeom>
          <a:noFill/>
        </p:spPr>
        <p:txBody>
          <a:bodyPr wrap="square" anchor="ctr" lIns="0" rIns="0" tIns="0" bIns="0"/>
          <a:lstStyle/>
          <a:p>
            <a:pPr algn="l">
              <a:spcAft>
                <a:spcPts val="400"/>
              </a:spcAft>
            </a:pPr>
            <a:r>
              <a:rPr sz="1600" b="1" i="0">
                <a:solidFill>
                  <a:srgbClr val="17153A"/>
                </a:solidFill>
                <a:latin typeface="Cambria"/>
              </a:rPr>
              <a:t>Business workflows</a:t>
            </a:r>
          </a:p>
        </p:txBody>
      </p:sp>
      <p:sp>
        <p:nvSpPr>
          <p:cNvPr id="31" name="TextBox 30"/>
          <p:cNvSpPr txBox="1"/>
          <p:nvPr/>
        </p:nvSpPr>
        <p:spPr>
          <a:xfrm>
            <a:off x="1691640" y="5239512"/>
            <a:ext cx="2651760" cy="777240"/>
          </a:xfrm>
          <a:prstGeom prst="rect">
            <a:avLst/>
          </a:prstGeom>
          <a:noFill/>
        </p:spPr>
        <p:txBody>
          <a:bodyPr wrap="square" anchor="t" lIns="0" rIns="0" tIns="0" bIns="0"/>
          <a:lstStyle/>
          <a:p>
            <a:pPr algn="l">
              <a:spcAft>
                <a:spcPts val="400"/>
              </a:spcAft>
            </a:pPr>
            <a:r>
              <a:rPr sz="1300" b="0" i="0">
                <a:solidFill>
                  <a:srgbClr val="6A6886"/>
                </a:solidFill>
                <a:latin typeface="Calibri"/>
              </a:rPr>
              <a:t>Automating support tickets, data entry and reporting.</a:t>
            </a:r>
          </a:p>
        </p:txBody>
      </p:sp>
      <p:sp>
        <p:nvSpPr>
          <p:cNvPr id="32" name="Rounded Rectangle 31"/>
          <p:cNvSpPr/>
          <p:nvPr/>
        </p:nvSpPr>
        <p:spPr>
          <a:xfrm>
            <a:off x="4663440" y="4654296"/>
            <a:ext cx="3931920" cy="1417320"/>
          </a:xfrm>
          <a:prstGeom prst="roundRect">
            <a:avLst>
              <a:gd name="adj" fmla="val 7741"/>
            </a:avLst>
          </a:prstGeom>
          <a:solidFill>
            <a:srgbClr val="F5F5FA"/>
          </a:solidFill>
          <a:ln>
            <a:noFill/>
          </a:ln>
        </p:spPr>
        <p:txBody>
          <a:bodyPr rtlCol="0" anchor="ctr" wrap="square" lIns="54864" rIns="54864" tIns="54864" bIns="54864"/>
          <a:lstStyle/>
          <a:p>
            <a:pPr algn="ctr"/>
          </a:p>
        </p:txBody>
      </p:sp>
      <p:sp>
        <p:nvSpPr>
          <p:cNvPr id="33" name="Oval 32"/>
          <p:cNvSpPr/>
          <p:nvPr/>
        </p:nvSpPr>
        <p:spPr>
          <a:xfrm>
            <a:off x="4892040" y="5020056"/>
            <a:ext cx="685800" cy="685800"/>
          </a:xfrm>
          <a:prstGeom prst="ellipse">
            <a:avLst/>
          </a:prstGeom>
          <a:solidFill>
            <a:srgbClr val="5B4CDB"/>
          </a:solidFill>
          <a:ln>
            <a:noFill/>
          </a:ln>
        </p:spPr>
        <p:txBody>
          <a:bodyPr rtlCol="0" anchor="ctr" wrap="square" lIns="54864" rIns="54864" tIns="54864" bIns="54864"/>
          <a:lstStyle/>
          <a:p>
            <a:pPr algn="ctr"/>
          </a:p>
        </p:txBody>
      </p:sp>
      <p:pic>
        <p:nvPicPr>
          <p:cNvPr id="34" name="Picture 33" descr="user_w.png"/>
          <p:cNvPicPr>
            <a:picLocks noChangeAspect="1"/>
          </p:cNvPicPr>
          <p:nvPr/>
        </p:nvPicPr>
        <p:blipFill>
          <a:blip r:embed="rId8"/>
          <a:stretch>
            <a:fillRect/>
          </a:stretch>
        </p:blipFill>
        <p:spPr>
          <a:xfrm>
            <a:off x="5063490" y="5191506"/>
            <a:ext cx="342900" cy="342900"/>
          </a:xfrm>
          <a:prstGeom prst="rect">
            <a:avLst/>
          </a:prstGeom>
        </p:spPr>
      </p:pic>
      <p:sp>
        <p:nvSpPr>
          <p:cNvPr id="35" name="TextBox 34"/>
          <p:cNvSpPr txBox="1"/>
          <p:nvPr/>
        </p:nvSpPr>
        <p:spPr>
          <a:xfrm>
            <a:off x="5806440" y="4837176"/>
            <a:ext cx="2651760" cy="384048"/>
          </a:xfrm>
          <a:prstGeom prst="rect">
            <a:avLst/>
          </a:prstGeom>
          <a:noFill/>
        </p:spPr>
        <p:txBody>
          <a:bodyPr wrap="square" anchor="ctr" lIns="0" rIns="0" tIns="0" bIns="0"/>
          <a:lstStyle/>
          <a:p>
            <a:pPr algn="l">
              <a:spcAft>
                <a:spcPts val="400"/>
              </a:spcAft>
            </a:pPr>
            <a:r>
              <a:rPr sz="1600" b="1" i="0">
                <a:solidFill>
                  <a:srgbClr val="17153A"/>
                </a:solidFill>
                <a:latin typeface="Cambria"/>
              </a:rPr>
              <a:t>Personal assistants</a:t>
            </a:r>
          </a:p>
        </p:txBody>
      </p:sp>
      <p:sp>
        <p:nvSpPr>
          <p:cNvPr id="36" name="TextBox 35"/>
          <p:cNvSpPr txBox="1"/>
          <p:nvPr/>
        </p:nvSpPr>
        <p:spPr>
          <a:xfrm>
            <a:off x="5806440" y="5239512"/>
            <a:ext cx="2651760" cy="777240"/>
          </a:xfrm>
          <a:prstGeom prst="rect">
            <a:avLst/>
          </a:prstGeom>
          <a:noFill/>
        </p:spPr>
        <p:txBody>
          <a:bodyPr wrap="square" anchor="t" lIns="0" rIns="0" tIns="0" bIns="0"/>
          <a:lstStyle/>
          <a:p>
            <a:pPr algn="l">
              <a:spcAft>
                <a:spcPts val="400"/>
              </a:spcAft>
            </a:pPr>
            <a:r>
              <a:rPr sz="1300" b="0" i="0">
                <a:solidFill>
                  <a:srgbClr val="6A6886"/>
                </a:solidFill>
                <a:latin typeface="Calibri"/>
              </a:rPr>
              <a:t>Email, scheduling and travel booking through tools.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10  ·  ANALYSIS &amp; COMPARISON</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17153A"/>
                </a:solidFill>
                <a:latin typeface="Cambria"/>
              </a:rPr>
              <a:t>More autonomy: more capability, more cost</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15</a:t>
            </a:fld>
          </a:p>
        </p:txBody>
      </p:sp>
      <p:sp>
        <p:nvSpPr>
          <p:cNvPr id="7" name="TextBox 6"/>
          <p:cNvSpPr txBox="1"/>
          <p:nvPr/>
        </p:nvSpPr>
        <p:spPr>
          <a:xfrm>
            <a:off x="2194560" y="1417320"/>
            <a:ext cx="6400800" cy="256032"/>
          </a:xfrm>
          <a:prstGeom prst="rect">
            <a:avLst/>
          </a:prstGeom>
          <a:noFill/>
        </p:spPr>
        <p:txBody>
          <a:bodyPr wrap="square" anchor="t" lIns="0" rIns="0" tIns="0" bIns="0"/>
          <a:lstStyle/>
          <a:p>
            <a:pPr algn="r">
              <a:spcAft>
                <a:spcPts val="400"/>
              </a:spcAft>
            </a:pPr>
            <a:r>
              <a:rPr sz="1100" b="0" i="1">
                <a:solidFill>
                  <a:srgbClr val="6A6886"/>
                </a:solidFill>
                <a:latin typeface="Calibri"/>
              </a:rPr>
              <a:t>more autonomy  ·  more capability  ·  more cost</a:t>
            </a:r>
          </a:p>
        </p:txBody>
      </p:sp>
      <p:cxnSp>
        <p:nvCxnSpPr>
          <p:cNvPr id="8" name="Connector 7"/>
          <p:cNvCxnSpPr/>
          <p:nvPr/>
        </p:nvCxnSpPr>
        <p:spPr>
          <a:xfrm>
            <a:off x="2194560" y="1737360"/>
            <a:ext cx="6400800" cy="0"/>
          </a:xfrm>
          <a:prstGeom prst="line">
            <a:avLst/>
          </a:prstGeom>
          <a:ln w="25400">
            <a:solidFill>
              <a:srgbClr val="F2643D"/>
            </a:solidFill>
            <a:tailEnd type="triangle" w="med" len="med"/>
          </a:ln>
        </p:spPr>
      </p:cxnSp>
      <p:graphicFrame>
        <p:nvGraphicFramePr>
          <p:cNvPr id="9" name="Table 8"/>
          <p:cNvGraphicFramePr>
            <a:graphicFrameLocks noGrp="1"/>
          </p:cNvGraphicFramePr>
          <p:nvPr/>
        </p:nvGraphicFramePr>
        <p:xfrm>
          <a:off x="548640" y="1920240"/>
          <a:ext cx="8046720" cy="3200400"/>
        </p:xfrm>
        <a:graphic>
          <a:graphicData uri="http://schemas.openxmlformats.org/drawingml/2006/table">
            <a:tbl>
              <a:tblPr firstRow="0" bandRow="0">
                <a:tableStyleId>{5C22544A-7EE6-4342-B048-85BDC9FD1C3A}</a:tableStyleId>
              </a:tblPr>
              <a:tblGrid>
                <a:gridCol w="1600200"/>
                <a:gridCol w="1920240"/>
                <a:gridCol w="2240280"/>
                <a:gridCol w="2286000"/>
              </a:tblGrid>
              <a:tr h="457200">
                <a:tc>
                  <a:txBody>
                    <a:bodyPr wrap="square"/>
                    <a:lstStyle/>
                    <a:p>
                      <a:pPr algn="l">
                        <a:spcAft>
                          <a:spcPts val="400"/>
                        </a:spcAft>
                      </a:pPr>
                      <a:r>
                        <a:rPr sz="1200" b="1" i="0">
                          <a:solidFill>
                            <a:srgbClr val="FFFFFF"/>
                          </a:solidFill>
                          <a:latin typeface="Calibri"/>
                        </a:rPr>
                        <a:t>Aspect</a:t>
                      </a:r>
                    </a:p>
                  </a:txBody>
                  <a:tcPr marL="91440" marR="91440" marT="36576" marB="36576" anchor="ctr">
                    <a:solidFill>
                      <a:srgbClr val="17153A"/>
                    </a:solidFill>
                  </a:tcPr>
                </a:tc>
                <a:tc>
                  <a:txBody>
                    <a:bodyPr wrap="square"/>
                    <a:lstStyle/>
                    <a:p>
                      <a:pPr algn="l">
                        <a:spcAft>
                          <a:spcPts val="400"/>
                        </a:spcAft>
                      </a:pPr>
                      <a:r>
                        <a:rPr sz="1200" b="1" i="0">
                          <a:solidFill>
                            <a:srgbClr val="FFFFFF"/>
                          </a:solidFill>
                          <a:latin typeface="Calibri"/>
                        </a:rPr>
                        <a:t>Single LLM</a:t>
                      </a:r>
                    </a:p>
                  </a:txBody>
                  <a:tcPr marL="91440" marR="91440" marT="36576" marB="36576" anchor="ctr">
                    <a:solidFill>
                      <a:srgbClr val="17153A"/>
                    </a:solidFill>
                  </a:tcPr>
                </a:tc>
                <a:tc>
                  <a:txBody>
                    <a:bodyPr wrap="square"/>
                    <a:lstStyle/>
                    <a:p>
                      <a:pPr algn="l">
                        <a:spcAft>
                          <a:spcPts val="400"/>
                        </a:spcAft>
                      </a:pPr>
                      <a:r>
                        <a:rPr sz="1200" b="1" i="0">
                          <a:solidFill>
                            <a:srgbClr val="FFFFFF"/>
                          </a:solidFill>
                          <a:latin typeface="Calibri"/>
                        </a:rPr>
                        <a:t>Single agent (ReAct + tools)</a:t>
                      </a:r>
                    </a:p>
                  </a:txBody>
                  <a:tcPr marL="91440" marR="91440" marT="36576" marB="36576" anchor="ctr">
                    <a:solidFill>
                      <a:srgbClr val="17153A"/>
                    </a:solidFill>
                  </a:tcPr>
                </a:tc>
                <a:tc>
                  <a:txBody>
                    <a:bodyPr wrap="square"/>
                    <a:lstStyle/>
                    <a:p>
                      <a:pPr algn="l">
                        <a:spcAft>
                          <a:spcPts val="400"/>
                        </a:spcAft>
                      </a:pPr>
                      <a:r>
                        <a:rPr sz="1200" b="1" i="0">
                          <a:solidFill>
                            <a:srgbClr val="FFFFFF"/>
                          </a:solidFill>
                          <a:latin typeface="Calibri"/>
                        </a:rPr>
                        <a:t>Multi-agent system</a:t>
                      </a:r>
                    </a:p>
                  </a:txBody>
                  <a:tcPr marL="91440" marR="91440" marT="36576" marB="36576" anchor="ctr">
                    <a:solidFill>
                      <a:srgbClr val="5B4CDB"/>
                    </a:solidFill>
                  </a:tcPr>
                </a:tc>
              </a:tr>
              <a:tr h="457200">
                <a:tc>
                  <a:txBody>
                    <a:bodyPr wrap="square"/>
                    <a:lstStyle/>
                    <a:p>
                      <a:pPr algn="l">
                        <a:spcAft>
                          <a:spcPts val="400"/>
                        </a:spcAft>
                      </a:pPr>
                      <a:r>
                        <a:rPr sz="1250" b="1" i="0">
                          <a:solidFill>
                            <a:srgbClr val="17153A"/>
                          </a:solidFill>
                          <a:latin typeface="Calibri"/>
                        </a:rPr>
                        <a:t>Task type</a:t>
                      </a:r>
                    </a:p>
                  </a:txBody>
                  <a:tcPr marL="91440" marR="91440" marT="36576" marB="36576" anchor="ctr">
                    <a:solidFill>
                      <a:srgbClr val="FFFFFF"/>
                    </a:solidFill>
                  </a:tcPr>
                </a:tc>
                <a:tc>
                  <a:txBody>
                    <a:bodyPr wrap="square"/>
                    <a:lstStyle/>
                    <a:p>
                      <a:pPr algn="l">
                        <a:spcAft>
                          <a:spcPts val="400"/>
                        </a:spcAft>
                      </a:pPr>
                      <a:r>
                        <a:rPr sz="1250" b="0" i="0">
                          <a:solidFill>
                            <a:srgbClr val="1F1D33"/>
                          </a:solidFill>
                          <a:latin typeface="Calibri"/>
                        </a:rPr>
                        <a:t>One-shot answers</a:t>
                      </a:r>
                    </a:p>
                  </a:txBody>
                  <a:tcPr marL="91440" marR="91440" marT="36576" marB="36576" anchor="ctr">
                    <a:solidFill>
                      <a:srgbClr val="FFFFFF"/>
                    </a:solidFill>
                  </a:tcPr>
                </a:tc>
                <a:tc>
                  <a:txBody>
                    <a:bodyPr wrap="square"/>
                    <a:lstStyle/>
                    <a:p>
                      <a:pPr algn="l">
                        <a:spcAft>
                          <a:spcPts val="400"/>
                        </a:spcAft>
                      </a:pPr>
                      <a:r>
                        <a:rPr sz="1250" b="0" i="0">
                          <a:solidFill>
                            <a:srgbClr val="1F1D33"/>
                          </a:solidFill>
                          <a:latin typeface="Calibri"/>
                        </a:rPr>
                        <a:t>Multi-step tasks</a:t>
                      </a:r>
                    </a:p>
                  </a:txBody>
                  <a:tcPr marL="91440" marR="91440" marT="36576" marB="36576" anchor="ctr">
                    <a:solidFill>
                      <a:srgbClr val="FFFFFF"/>
                    </a:solidFill>
                  </a:tcPr>
                </a:tc>
                <a:tc>
                  <a:txBody>
                    <a:bodyPr wrap="square"/>
                    <a:lstStyle/>
                    <a:p>
                      <a:pPr algn="l">
                        <a:spcAft>
                          <a:spcPts val="400"/>
                        </a:spcAft>
                      </a:pPr>
                      <a:r>
                        <a:rPr sz="1250" b="0" i="0">
                          <a:solidFill>
                            <a:srgbClr val="1F1D33"/>
                          </a:solidFill>
                          <a:latin typeface="Calibri"/>
                        </a:rPr>
                        <a:t>Large, parallel, multi-skill tasks</a:t>
                      </a:r>
                    </a:p>
                  </a:txBody>
                  <a:tcPr marL="91440" marR="91440" marT="36576" marB="36576" anchor="ctr">
                    <a:solidFill>
                      <a:srgbClr val="EEEDFC"/>
                    </a:solidFill>
                  </a:tcPr>
                </a:tc>
              </a:tr>
              <a:tr h="457200">
                <a:tc>
                  <a:txBody>
                    <a:bodyPr wrap="square"/>
                    <a:lstStyle/>
                    <a:p>
                      <a:pPr algn="l">
                        <a:spcAft>
                          <a:spcPts val="400"/>
                        </a:spcAft>
                      </a:pPr>
                      <a:r>
                        <a:rPr sz="1250" b="1" i="0">
                          <a:solidFill>
                            <a:srgbClr val="17153A"/>
                          </a:solidFill>
                          <a:latin typeface="Calibri"/>
                        </a:rPr>
                        <a:t>Tools</a:t>
                      </a:r>
                    </a:p>
                  </a:txBody>
                  <a:tcPr marL="91440" marR="91440" marT="36576" marB="36576" anchor="ctr">
                    <a:solidFill>
                      <a:srgbClr val="F5F5FA"/>
                    </a:solidFill>
                  </a:tcPr>
                </a:tc>
                <a:tc>
                  <a:txBody>
                    <a:bodyPr wrap="square"/>
                    <a:lstStyle/>
                    <a:p>
                      <a:pPr algn="l">
                        <a:spcAft>
                          <a:spcPts val="400"/>
                        </a:spcAft>
                      </a:pPr>
                      <a:r>
                        <a:rPr sz="1250" b="0" i="0">
                          <a:solidFill>
                            <a:srgbClr val="1F1D33"/>
                          </a:solidFill>
                          <a:latin typeface="Calibri"/>
                        </a:rPr>
                        <a:t>None</a:t>
                      </a:r>
                    </a:p>
                  </a:txBody>
                  <a:tcPr marL="91440" marR="91440" marT="36576" marB="36576" anchor="ctr">
                    <a:solidFill>
                      <a:srgbClr val="F5F5FA"/>
                    </a:solidFill>
                  </a:tcPr>
                </a:tc>
                <a:tc>
                  <a:txBody>
                    <a:bodyPr wrap="square"/>
                    <a:lstStyle/>
                    <a:p>
                      <a:pPr algn="l">
                        <a:spcAft>
                          <a:spcPts val="400"/>
                        </a:spcAft>
                      </a:pPr>
                      <a:r>
                        <a:rPr sz="1250" b="0" i="0">
                          <a:solidFill>
                            <a:srgbClr val="1F1D33"/>
                          </a:solidFill>
                          <a:latin typeface="Calibri"/>
                        </a:rPr>
                        <a:t>Yes</a:t>
                      </a:r>
                    </a:p>
                  </a:txBody>
                  <a:tcPr marL="91440" marR="91440" marT="36576" marB="36576" anchor="ctr">
                    <a:solidFill>
                      <a:srgbClr val="F5F5FA"/>
                    </a:solidFill>
                  </a:tcPr>
                </a:tc>
                <a:tc>
                  <a:txBody>
                    <a:bodyPr wrap="square"/>
                    <a:lstStyle/>
                    <a:p>
                      <a:pPr algn="l">
                        <a:spcAft>
                          <a:spcPts val="400"/>
                        </a:spcAft>
                      </a:pPr>
                      <a:r>
                        <a:rPr sz="1250" b="0" i="0">
                          <a:solidFill>
                            <a:srgbClr val="1F1D33"/>
                          </a:solidFill>
                          <a:latin typeface="Calibri"/>
                        </a:rPr>
                        <a:t>Specialised tools per agent</a:t>
                      </a:r>
                    </a:p>
                  </a:txBody>
                  <a:tcPr marL="91440" marR="91440" marT="36576" marB="36576" anchor="ctr">
                    <a:solidFill>
                      <a:srgbClr val="EEEDFC"/>
                    </a:solidFill>
                  </a:tcPr>
                </a:tc>
              </a:tr>
              <a:tr h="457200">
                <a:tc>
                  <a:txBody>
                    <a:bodyPr wrap="square"/>
                    <a:lstStyle/>
                    <a:p>
                      <a:pPr algn="l">
                        <a:spcAft>
                          <a:spcPts val="400"/>
                        </a:spcAft>
                      </a:pPr>
                      <a:r>
                        <a:rPr sz="1250" b="1" i="0">
                          <a:solidFill>
                            <a:srgbClr val="17153A"/>
                          </a:solidFill>
                          <a:latin typeface="Calibri"/>
                        </a:rPr>
                        <a:t>Memory</a:t>
                      </a:r>
                    </a:p>
                  </a:txBody>
                  <a:tcPr marL="91440" marR="91440" marT="36576" marB="36576" anchor="ctr">
                    <a:solidFill>
                      <a:srgbClr val="FFFFFF"/>
                    </a:solidFill>
                  </a:tcPr>
                </a:tc>
                <a:tc>
                  <a:txBody>
                    <a:bodyPr wrap="square"/>
                    <a:lstStyle/>
                    <a:p>
                      <a:pPr algn="l">
                        <a:spcAft>
                          <a:spcPts val="400"/>
                        </a:spcAft>
                      </a:pPr>
                      <a:r>
                        <a:rPr sz="1250" b="0" i="0">
                          <a:solidFill>
                            <a:srgbClr val="1F1D33"/>
                          </a:solidFill>
                          <a:latin typeface="Calibri"/>
                        </a:rPr>
                        <a:t>Prompt window only</a:t>
                      </a:r>
                    </a:p>
                  </a:txBody>
                  <a:tcPr marL="91440" marR="91440" marT="36576" marB="36576" anchor="ctr">
                    <a:solidFill>
                      <a:srgbClr val="FFFFFF"/>
                    </a:solidFill>
                  </a:tcPr>
                </a:tc>
                <a:tc>
                  <a:txBody>
                    <a:bodyPr wrap="square"/>
                    <a:lstStyle/>
                    <a:p>
                      <a:pPr algn="l">
                        <a:spcAft>
                          <a:spcPts val="400"/>
                        </a:spcAft>
                      </a:pPr>
                      <a:r>
                        <a:rPr sz="1250" b="0" i="0">
                          <a:solidFill>
                            <a:srgbClr val="1F1D33"/>
                          </a:solidFill>
                          <a:latin typeface="Calibri"/>
                        </a:rPr>
                        <a:t>Short + long-term</a:t>
                      </a:r>
                    </a:p>
                  </a:txBody>
                  <a:tcPr marL="91440" marR="91440" marT="36576" marB="36576" anchor="ctr">
                    <a:solidFill>
                      <a:srgbClr val="FFFFFF"/>
                    </a:solidFill>
                  </a:tcPr>
                </a:tc>
                <a:tc>
                  <a:txBody>
                    <a:bodyPr wrap="square"/>
                    <a:lstStyle/>
                    <a:p>
                      <a:pPr algn="l">
                        <a:spcAft>
                          <a:spcPts val="400"/>
                        </a:spcAft>
                      </a:pPr>
                      <a:r>
                        <a:rPr sz="1250" b="0" i="0">
                          <a:solidFill>
                            <a:srgbClr val="1F1D33"/>
                          </a:solidFill>
                          <a:latin typeface="Calibri"/>
                        </a:rPr>
                        <a:t>Per-agent + shared</a:t>
                      </a:r>
                    </a:p>
                  </a:txBody>
                  <a:tcPr marL="91440" marR="91440" marT="36576" marB="36576" anchor="ctr">
                    <a:solidFill>
                      <a:srgbClr val="EEEDFC"/>
                    </a:solidFill>
                  </a:tcPr>
                </a:tc>
              </a:tr>
              <a:tr h="457200">
                <a:tc>
                  <a:txBody>
                    <a:bodyPr wrap="square"/>
                    <a:lstStyle/>
                    <a:p>
                      <a:pPr algn="l">
                        <a:spcAft>
                          <a:spcPts val="400"/>
                        </a:spcAft>
                      </a:pPr>
                      <a:r>
                        <a:rPr sz="1250" b="1" i="0">
                          <a:solidFill>
                            <a:srgbClr val="17153A"/>
                          </a:solidFill>
                          <a:latin typeface="Calibri"/>
                        </a:rPr>
                        <a:t>Error handling</a:t>
                      </a:r>
                    </a:p>
                  </a:txBody>
                  <a:tcPr marL="91440" marR="91440" marT="36576" marB="36576" anchor="ctr">
                    <a:solidFill>
                      <a:srgbClr val="F5F5FA"/>
                    </a:solidFill>
                  </a:tcPr>
                </a:tc>
                <a:tc>
                  <a:txBody>
                    <a:bodyPr wrap="square"/>
                    <a:lstStyle/>
                    <a:p>
                      <a:pPr algn="l">
                        <a:spcAft>
                          <a:spcPts val="400"/>
                        </a:spcAft>
                      </a:pPr>
                      <a:r>
                        <a:rPr sz="1250" b="0" i="0">
                          <a:solidFill>
                            <a:srgbClr val="1F1D33"/>
                          </a:solidFill>
                          <a:latin typeface="Calibri"/>
                        </a:rPr>
                        <a:t>User re-prompts</a:t>
                      </a:r>
                    </a:p>
                  </a:txBody>
                  <a:tcPr marL="91440" marR="91440" marT="36576" marB="36576" anchor="ctr">
                    <a:solidFill>
                      <a:srgbClr val="F5F5FA"/>
                    </a:solidFill>
                  </a:tcPr>
                </a:tc>
                <a:tc>
                  <a:txBody>
                    <a:bodyPr wrap="square"/>
                    <a:lstStyle/>
                    <a:p>
                      <a:pPr algn="l">
                        <a:spcAft>
                          <a:spcPts val="400"/>
                        </a:spcAft>
                      </a:pPr>
                      <a:r>
                        <a:rPr sz="1250" b="0" i="0">
                          <a:solidFill>
                            <a:srgbClr val="1F1D33"/>
                          </a:solidFill>
                          <a:latin typeface="Calibri"/>
                        </a:rPr>
                        <a:t>Self-reflection loop</a:t>
                      </a:r>
                    </a:p>
                  </a:txBody>
                  <a:tcPr marL="91440" marR="91440" marT="36576" marB="36576" anchor="ctr">
                    <a:solidFill>
                      <a:srgbClr val="F5F5FA"/>
                    </a:solidFill>
                  </a:tcPr>
                </a:tc>
                <a:tc>
                  <a:txBody>
                    <a:bodyPr wrap="square"/>
                    <a:lstStyle/>
                    <a:p>
                      <a:pPr algn="l">
                        <a:spcAft>
                          <a:spcPts val="400"/>
                        </a:spcAft>
                      </a:pPr>
                      <a:r>
                        <a:rPr sz="1250" b="0" i="0">
                          <a:solidFill>
                            <a:srgbClr val="1F1D33"/>
                          </a:solidFill>
                          <a:latin typeface="Calibri"/>
                        </a:rPr>
                        <a:t>Critique agents + verification</a:t>
                      </a:r>
                    </a:p>
                  </a:txBody>
                  <a:tcPr marL="91440" marR="91440" marT="36576" marB="36576" anchor="ctr">
                    <a:solidFill>
                      <a:srgbClr val="EEEDFC"/>
                    </a:solidFill>
                  </a:tcPr>
                </a:tc>
              </a:tr>
              <a:tr h="457200">
                <a:tc>
                  <a:txBody>
                    <a:bodyPr wrap="square"/>
                    <a:lstStyle/>
                    <a:p>
                      <a:pPr algn="l">
                        <a:spcAft>
                          <a:spcPts val="400"/>
                        </a:spcAft>
                      </a:pPr>
                      <a:r>
                        <a:rPr sz="1250" b="1" i="0">
                          <a:solidFill>
                            <a:srgbClr val="17153A"/>
                          </a:solidFill>
                          <a:latin typeface="Calibri"/>
                        </a:rPr>
                        <a:t>Cost / latency</a:t>
                      </a:r>
                    </a:p>
                  </a:txBody>
                  <a:tcPr marL="91440" marR="91440" marT="36576" marB="36576" anchor="ctr">
                    <a:solidFill>
                      <a:srgbClr val="FFFFFF"/>
                    </a:solidFill>
                  </a:tcPr>
                </a:tc>
                <a:tc>
                  <a:txBody>
                    <a:bodyPr wrap="square"/>
                    <a:lstStyle/>
                    <a:p>
                      <a:pPr algn="l">
                        <a:spcAft>
                          <a:spcPts val="400"/>
                        </a:spcAft>
                      </a:pPr>
                      <a:r>
                        <a:rPr sz="1250" b="0" i="0">
                          <a:solidFill>
                            <a:srgbClr val="1F1D33"/>
                          </a:solidFill>
                          <a:latin typeface="Calibri"/>
                        </a:rPr>
                        <a:t>Low</a:t>
                      </a:r>
                    </a:p>
                  </a:txBody>
                  <a:tcPr marL="91440" marR="91440" marT="36576" marB="36576" anchor="ctr">
                    <a:solidFill>
                      <a:srgbClr val="FFFFFF"/>
                    </a:solidFill>
                  </a:tcPr>
                </a:tc>
                <a:tc>
                  <a:txBody>
                    <a:bodyPr wrap="square"/>
                    <a:lstStyle/>
                    <a:p>
                      <a:pPr algn="l">
                        <a:spcAft>
                          <a:spcPts val="400"/>
                        </a:spcAft>
                      </a:pPr>
                      <a:r>
                        <a:rPr sz="1250" b="0" i="0">
                          <a:solidFill>
                            <a:srgbClr val="1F1D33"/>
                          </a:solidFill>
                          <a:latin typeface="Calibri"/>
                        </a:rPr>
                        <a:t>Medium</a:t>
                      </a:r>
                    </a:p>
                  </a:txBody>
                  <a:tcPr marL="91440" marR="91440" marT="36576" marB="36576" anchor="ctr">
                    <a:solidFill>
                      <a:srgbClr val="FFFFFF"/>
                    </a:solidFill>
                  </a:tcPr>
                </a:tc>
                <a:tc>
                  <a:txBody>
                    <a:bodyPr wrap="square"/>
                    <a:lstStyle/>
                    <a:p>
                      <a:pPr algn="l">
                        <a:spcAft>
                          <a:spcPts val="400"/>
                        </a:spcAft>
                      </a:pPr>
                      <a:r>
                        <a:rPr sz="1250" b="0" i="0">
                          <a:solidFill>
                            <a:srgbClr val="1F1D33"/>
                          </a:solidFill>
                          <a:latin typeface="Calibri"/>
                        </a:rPr>
                        <a:t>High — many LLM calls [11]</a:t>
                      </a:r>
                    </a:p>
                  </a:txBody>
                  <a:tcPr marL="91440" marR="91440" marT="36576" marB="36576" anchor="ctr">
                    <a:solidFill>
                      <a:srgbClr val="EEEDFC"/>
                    </a:solidFill>
                  </a:tcPr>
                </a:tc>
              </a:tr>
              <a:tr h="457200">
                <a:tc>
                  <a:txBody>
                    <a:bodyPr wrap="square"/>
                    <a:lstStyle/>
                    <a:p>
                      <a:pPr algn="l">
                        <a:spcAft>
                          <a:spcPts val="400"/>
                        </a:spcAft>
                      </a:pPr>
                      <a:r>
                        <a:rPr sz="1250" b="1" i="0">
                          <a:solidFill>
                            <a:srgbClr val="17153A"/>
                          </a:solidFill>
                          <a:latin typeface="Calibri"/>
                        </a:rPr>
                        <a:t>Main risk</a:t>
                      </a:r>
                    </a:p>
                  </a:txBody>
                  <a:tcPr marL="91440" marR="91440" marT="36576" marB="36576" anchor="ctr">
                    <a:solidFill>
                      <a:srgbClr val="F5F5FA"/>
                    </a:solidFill>
                  </a:tcPr>
                </a:tc>
                <a:tc>
                  <a:txBody>
                    <a:bodyPr wrap="square"/>
                    <a:lstStyle/>
                    <a:p>
                      <a:pPr algn="l">
                        <a:spcAft>
                          <a:spcPts val="400"/>
                        </a:spcAft>
                      </a:pPr>
                      <a:r>
                        <a:rPr sz="1250" b="0" i="0">
                          <a:solidFill>
                            <a:srgbClr val="1F1D33"/>
                          </a:solidFill>
                          <a:latin typeface="Calibri"/>
                        </a:rPr>
                        <a:t>Hallucination</a:t>
                      </a:r>
                    </a:p>
                  </a:txBody>
                  <a:tcPr marL="91440" marR="91440" marT="36576" marB="36576" anchor="ctr">
                    <a:solidFill>
                      <a:srgbClr val="F5F5FA"/>
                    </a:solidFill>
                  </a:tcPr>
                </a:tc>
                <a:tc>
                  <a:txBody>
                    <a:bodyPr wrap="square"/>
                    <a:lstStyle/>
                    <a:p>
                      <a:pPr algn="l">
                        <a:spcAft>
                          <a:spcPts val="400"/>
                        </a:spcAft>
                      </a:pPr>
                      <a:r>
                        <a:rPr sz="1250" b="0" i="0">
                          <a:solidFill>
                            <a:srgbClr val="1F1D33"/>
                          </a:solidFill>
                          <a:latin typeface="Calibri"/>
                        </a:rPr>
                        <a:t>Tool misuse, loops</a:t>
                      </a:r>
                    </a:p>
                  </a:txBody>
                  <a:tcPr marL="91440" marR="91440" marT="36576" marB="36576" anchor="ctr">
                    <a:solidFill>
                      <a:srgbClr val="F5F5FA"/>
                    </a:solidFill>
                  </a:tcPr>
                </a:tc>
                <a:tc>
                  <a:txBody>
                    <a:bodyPr wrap="square"/>
                    <a:lstStyle/>
                    <a:p>
                      <a:pPr algn="l">
                        <a:spcAft>
                          <a:spcPts val="400"/>
                        </a:spcAft>
                      </a:pPr>
                      <a:r>
                        <a:rPr sz="1250" b="0" i="0">
                          <a:solidFill>
                            <a:srgbClr val="1F1D33"/>
                          </a:solidFill>
                          <a:latin typeface="Calibri"/>
                        </a:rPr>
                        <a:t>Coordination failures</a:t>
                      </a:r>
                    </a:p>
                  </a:txBody>
                  <a:tcPr marL="91440" marR="91440" marT="36576" marB="36576" anchor="ctr">
                    <a:solidFill>
                      <a:srgbClr val="EEEDFC"/>
                    </a:solidFill>
                  </a:tcPr>
                </a:tc>
              </a:tr>
            </a:tbl>
          </a:graphicData>
        </a:graphic>
      </p:graphicFrame>
      <p:sp>
        <p:nvSpPr>
          <p:cNvPr id="10" name="Rounded Rectangle 9"/>
          <p:cNvSpPr/>
          <p:nvPr/>
        </p:nvSpPr>
        <p:spPr>
          <a:xfrm>
            <a:off x="548640" y="5349240"/>
            <a:ext cx="3931920" cy="868680"/>
          </a:xfrm>
          <a:prstGeom prst="roundRect">
            <a:avLst>
              <a:gd name="adj" fmla="val 12631"/>
            </a:avLst>
          </a:prstGeom>
          <a:solidFill>
            <a:srgbClr val="F5F5FA"/>
          </a:solidFill>
          <a:ln>
            <a:noFill/>
          </a:ln>
        </p:spPr>
        <p:txBody>
          <a:bodyPr rtlCol="0" anchor="ctr" wrap="square" lIns="164592" rIns="164592" tIns="164592" bIns="164592"/>
          <a:lstStyle/>
          <a:p>
            <a:pPr algn="l">
              <a:spcAft>
                <a:spcPts val="0"/>
              </a:spcAft>
            </a:pPr>
            <a:r>
              <a:rPr sz="1200" b="1" i="0">
                <a:solidFill>
                  <a:srgbClr val="5B4CDB"/>
                </a:solidFill>
                <a:latin typeface="Calibri"/>
              </a:rPr>
              <a:t>Framework study [10]  </a:t>
            </a:r>
            <a:r>
              <a:rPr sz="1200" b="0" i="0">
                <a:solidFill>
                  <a:srgbClr val="1F1D33"/>
                </a:solidFill>
                <a:latin typeface="Calibri"/>
              </a:rPr>
              <a:t>CrewAI, AutoGen and LangChain suit different workloads; a hybrid is proposed (its own benchmark).</a:t>
            </a:r>
          </a:p>
        </p:txBody>
      </p:sp>
      <p:sp>
        <p:nvSpPr>
          <p:cNvPr id="11" name="Rounded Rectangle 10"/>
          <p:cNvSpPr/>
          <p:nvPr/>
        </p:nvSpPr>
        <p:spPr>
          <a:xfrm>
            <a:off x="4663440" y="5349240"/>
            <a:ext cx="3931920" cy="868680"/>
          </a:xfrm>
          <a:prstGeom prst="roundRect">
            <a:avLst>
              <a:gd name="adj" fmla="val 12631"/>
            </a:avLst>
          </a:prstGeom>
          <a:solidFill>
            <a:srgbClr val="17153A"/>
          </a:solidFill>
          <a:ln>
            <a:noFill/>
          </a:ln>
        </p:spPr>
        <p:txBody>
          <a:bodyPr rtlCol="0" anchor="ctr" wrap="square" lIns="164592" rIns="164592" tIns="164592" bIns="164592"/>
          <a:lstStyle/>
          <a:p>
            <a:pPr algn="l">
              <a:spcAft>
                <a:spcPts val="0"/>
              </a:spcAft>
            </a:pPr>
            <a:r>
              <a:rPr sz="1200" b="1" i="0">
                <a:solidFill>
                  <a:srgbClr val="F2643D"/>
                </a:solidFill>
                <a:latin typeface="Calibri"/>
              </a:rPr>
              <a:t>Design rule  </a:t>
            </a:r>
            <a:r>
              <a:rPr sz="1200" b="0" i="0">
                <a:solidFill>
                  <a:srgbClr val="FFFFFF"/>
                </a:solidFill>
                <a:latin typeface="Calibri"/>
              </a:rPr>
              <a:t>use the simplest design that works; add agents only for parallelism or specialisation.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153A"/>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CONCLUSION &amp; FUTURE SCOPE</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300" b="1" i="0">
                <a:solidFill>
                  <a:srgbClr val="FFFFFF"/>
                </a:solidFill>
                <a:latin typeface="Cambria"/>
              </a:rPr>
              <a:t>Reliability is a system property, not a model property</a:t>
            </a:r>
          </a:p>
        </p:txBody>
      </p:sp>
      <p:sp>
        <p:nvSpPr>
          <p:cNvPr id="4" name="Rounded Rectangle 3"/>
          <p:cNvSpPr/>
          <p:nvPr/>
        </p:nvSpPr>
        <p:spPr>
          <a:xfrm>
            <a:off x="7973568" y="256032"/>
            <a:ext cx="658368" cy="658368"/>
          </a:xfrm>
          <a:prstGeom prst="roundRect">
            <a:avLst>
              <a:gd name="adj" fmla="val 16666"/>
            </a:avLst>
          </a:prstGeom>
          <a:solidFill>
            <a:srgbClr val="FFFFFF"/>
          </a:solidFill>
          <a:ln>
            <a:noFill/>
          </a:ln>
        </p:spPr>
        <p:txBody>
          <a:bodyPr rtlCol="0" anchor="ctr" wrap="square" lIns="54864" rIns="54864" tIns="54864" bIns="54864"/>
          <a:lstStyle/>
          <a:p>
            <a:pPr algn="ctr"/>
          </a:p>
        </p:txBody>
      </p:sp>
      <p:pic>
        <p:nvPicPr>
          <p:cNvPr id="5" name="Picture 4" descr="image.jpg"/>
          <p:cNvPicPr>
            <a:picLocks noChangeAspect="1"/>
          </p:cNvPicPr>
          <p:nvPr/>
        </p:nvPicPr>
        <p:blipFill>
          <a:blip r:embed="rId2"/>
          <a:stretch>
            <a:fillRect/>
          </a:stretch>
        </p:blipFill>
        <p:spPr>
          <a:xfrm>
            <a:off x="8010144" y="320040"/>
            <a:ext cx="585216" cy="440763"/>
          </a:xfrm>
          <a:prstGeom prst="rect">
            <a:avLst/>
          </a:prstGeom>
        </p:spPr>
      </p:pic>
      <p:sp>
        <p:nvSpPr>
          <p:cNvPr id="6" name="TextBox 5"/>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B4B0E6"/>
                </a:solidFill>
                <a:latin typeface="Calibri"/>
              </a:rPr>
              <a:t>Agentic AI  ·  Utkarsh Kale (B342)</a:t>
            </a:r>
          </a:p>
        </p:txBody>
      </p:sp>
      <p:sp>
        <p:nvSpPr>
          <p:cNvPr id="7" name="TextBox 6"/>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B4B0E6"/>
                </a:solidFill>
                <a:latin typeface="Calibri"/>
              </a:rPr>
              <a:t>16</a:t>
            </a:fld>
          </a:p>
        </p:txBody>
      </p:sp>
      <p:sp>
        <p:nvSpPr>
          <p:cNvPr id="8" name="TextBox 7"/>
          <p:cNvSpPr txBox="1"/>
          <p:nvPr/>
        </p:nvSpPr>
        <p:spPr>
          <a:xfrm>
            <a:off x="548640" y="1508760"/>
            <a:ext cx="3840480" cy="274320"/>
          </a:xfrm>
          <a:prstGeom prst="rect">
            <a:avLst/>
          </a:prstGeom>
          <a:noFill/>
        </p:spPr>
        <p:txBody>
          <a:bodyPr wrap="square" anchor="t" lIns="0" rIns="0" tIns="0" bIns="0"/>
          <a:lstStyle/>
          <a:p>
            <a:pPr algn="l">
              <a:spcAft>
                <a:spcPts val="400"/>
              </a:spcAft>
            </a:pPr>
            <a:r>
              <a:rPr sz="1050" b="1" i="0" spc="180">
                <a:solidFill>
                  <a:srgbClr val="F2643D"/>
                </a:solidFill>
                <a:latin typeface="Calibri"/>
              </a:rPr>
              <a:t>KEY TAKEAWAYS</a:t>
            </a:r>
          </a:p>
        </p:txBody>
      </p:sp>
      <p:pic>
        <p:nvPicPr>
          <p:cNvPr id="9" name="Picture 8" descr="check_w.png"/>
          <p:cNvPicPr>
            <a:picLocks noChangeAspect="1"/>
          </p:cNvPicPr>
          <p:nvPr/>
        </p:nvPicPr>
        <p:blipFill>
          <a:blip r:embed="rId3"/>
          <a:stretch>
            <a:fillRect/>
          </a:stretch>
        </p:blipFill>
        <p:spPr>
          <a:xfrm>
            <a:off x="548640" y="2057400"/>
            <a:ext cx="274320" cy="274320"/>
          </a:xfrm>
          <a:prstGeom prst="rect">
            <a:avLst/>
          </a:prstGeom>
        </p:spPr>
      </p:pic>
      <p:sp>
        <p:nvSpPr>
          <p:cNvPr id="10" name="TextBox 9"/>
          <p:cNvSpPr txBox="1"/>
          <p:nvPr/>
        </p:nvSpPr>
        <p:spPr>
          <a:xfrm>
            <a:off x="987552" y="187451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Agentic AI moves LLMs from answering prompts to completing goals.</a:t>
            </a:r>
          </a:p>
        </p:txBody>
      </p:sp>
      <p:cxnSp>
        <p:nvCxnSpPr>
          <p:cNvPr id="11" name="Connector 10"/>
          <p:cNvCxnSpPr/>
          <p:nvPr/>
        </p:nvCxnSpPr>
        <p:spPr>
          <a:xfrm>
            <a:off x="548640" y="2651760"/>
            <a:ext cx="3840480" cy="0"/>
          </a:xfrm>
          <a:prstGeom prst="line">
            <a:avLst/>
          </a:prstGeom>
          <a:ln w="9525">
            <a:solidFill>
              <a:srgbClr val="34315E"/>
            </a:solidFill>
          </a:ln>
        </p:spPr>
      </p:cxnSp>
      <p:pic>
        <p:nvPicPr>
          <p:cNvPr id="12" name="Picture 11" descr="check_w.png"/>
          <p:cNvPicPr>
            <a:picLocks noChangeAspect="1"/>
          </p:cNvPicPr>
          <p:nvPr/>
        </p:nvPicPr>
        <p:blipFill>
          <a:blip r:embed="rId3"/>
          <a:stretch>
            <a:fillRect/>
          </a:stretch>
        </p:blipFill>
        <p:spPr>
          <a:xfrm>
            <a:off x="548640" y="2880360"/>
            <a:ext cx="274320" cy="274320"/>
          </a:xfrm>
          <a:prstGeom prst="rect">
            <a:avLst/>
          </a:prstGeom>
        </p:spPr>
      </p:pic>
      <p:sp>
        <p:nvSpPr>
          <p:cNvPr id="13" name="TextBox 12"/>
          <p:cNvSpPr txBox="1"/>
          <p:nvPr/>
        </p:nvSpPr>
        <p:spPr>
          <a:xfrm>
            <a:off x="987552" y="269747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ReAct loops, task decomposition and memory are the core building blocks.</a:t>
            </a:r>
          </a:p>
        </p:txBody>
      </p:sp>
      <p:cxnSp>
        <p:nvCxnSpPr>
          <p:cNvPr id="14" name="Connector 13"/>
          <p:cNvCxnSpPr/>
          <p:nvPr/>
        </p:nvCxnSpPr>
        <p:spPr>
          <a:xfrm>
            <a:off x="548640" y="3474720"/>
            <a:ext cx="3840480" cy="0"/>
          </a:xfrm>
          <a:prstGeom prst="line">
            <a:avLst/>
          </a:prstGeom>
          <a:ln w="9525">
            <a:solidFill>
              <a:srgbClr val="34315E"/>
            </a:solidFill>
          </a:ln>
        </p:spPr>
      </p:cxnSp>
      <p:pic>
        <p:nvPicPr>
          <p:cNvPr id="15" name="Picture 14" descr="check_w.png"/>
          <p:cNvPicPr>
            <a:picLocks noChangeAspect="1"/>
          </p:cNvPicPr>
          <p:nvPr/>
        </p:nvPicPr>
        <p:blipFill>
          <a:blip r:embed="rId3"/>
          <a:stretch>
            <a:fillRect/>
          </a:stretch>
        </p:blipFill>
        <p:spPr>
          <a:xfrm>
            <a:off x="548640" y="3703320"/>
            <a:ext cx="274320" cy="274320"/>
          </a:xfrm>
          <a:prstGeom prst="rect">
            <a:avLst/>
          </a:prstGeom>
        </p:spPr>
      </p:pic>
      <p:sp>
        <p:nvSpPr>
          <p:cNvPr id="16" name="TextBox 15"/>
          <p:cNvSpPr txBox="1"/>
          <p:nvPr/>
        </p:nvSpPr>
        <p:spPr>
          <a:xfrm>
            <a:off x="987552" y="352043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Multi-agent designs add specialisation and parallelism — at higher cost.</a:t>
            </a:r>
          </a:p>
        </p:txBody>
      </p:sp>
      <p:cxnSp>
        <p:nvCxnSpPr>
          <p:cNvPr id="17" name="Connector 16"/>
          <p:cNvCxnSpPr/>
          <p:nvPr/>
        </p:nvCxnSpPr>
        <p:spPr>
          <a:xfrm>
            <a:off x="548640" y="4297679"/>
            <a:ext cx="3840480" cy="0"/>
          </a:xfrm>
          <a:prstGeom prst="line">
            <a:avLst/>
          </a:prstGeom>
          <a:ln w="9525">
            <a:solidFill>
              <a:srgbClr val="34315E"/>
            </a:solidFill>
          </a:ln>
        </p:spPr>
      </p:cxnSp>
      <p:pic>
        <p:nvPicPr>
          <p:cNvPr id="18" name="Picture 17" descr="check_w.png"/>
          <p:cNvPicPr>
            <a:picLocks noChangeAspect="1"/>
          </p:cNvPicPr>
          <p:nvPr/>
        </p:nvPicPr>
        <p:blipFill>
          <a:blip r:embed="rId3"/>
          <a:stretch>
            <a:fillRect/>
          </a:stretch>
        </p:blipFill>
        <p:spPr>
          <a:xfrm>
            <a:off x="548640" y="4526280"/>
            <a:ext cx="274320" cy="274320"/>
          </a:xfrm>
          <a:prstGeom prst="rect">
            <a:avLst/>
          </a:prstGeom>
        </p:spPr>
      </p:pic>
      <p:sp>
        <p:nvSpPr>
          <p:cNvPr id="19" name="TextBox 18"/>
          <p:cNvSpPr txBox="1"/>
          <p:nvPr/>
        </p:nvSpPr>
        <p:spPr>
          <a:xfrm>
            <a:off x="987552" y="4343400"/>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MCP and A2A make tools and agents interoperable.</a:t>
            </a:r>
          </a:p>
        </p:txBody>
      </p:sp>
      <p:sp>
        <p:nvSpPr>
          <p:cNvPr id="20" name="TextBox 19"/>
          <p:cNvSpPr txBox="1"/>
          <p:nvPr/>
        </p:nvSpPr>
        <p:spPr>
          <a:xfrm>
            <a:off x="4709159" y="1508760"/>
            <a:ext cx="3840480" cy="274320"/>
          </a:xfrm>
          <a:prstGeom prst="rect">
            <a:avLst/>
          </a:prstGeom>
          <a:noFill/>
        </p:spPr>
        <p:txBody>
          <a:bodyPr wrap="square" anchor="t" lIns="0" rIns="0" tIns="0" bIns="0"/>
          <a:lstStyle/>
          <a:p>
            <a:pPr algn="l">
              <a:spcAft>
                <a:spcPts val="400"/>
              </a:spcAft>
            </a:pPr>
            <a:r>
              <a:rPr sz="1050" b="1" i="0" spc="180">
                <a:solidFill>
                  <a:srgbClr val="F2643D"/>
                </a:solidFill>
                <a:latin typeface="Calibri"/>
              </a:rPr>
              <a:t>FUTURE SCOPE</a:t>
            </a:r>
          </a:p>
        </p:txBody>
      </p:sp>
      <p:pic>
        <p:nvPicPr>
          <p:cNvPr id="21" name="Picture 20" descr="arrowr_aa.png"/>
          <p:cNvPicPr>
            <a:picLocks noChangeAspect="1"/>
          </p:cNvPicPr>
          <p:nvPr/>
        </p:nvPicPr>
        <p:blipFill>
          <a:blip r:embed="rId4"/>
          <a:stretch>
            <a:fillRect/>
          </a:stretch>
        </p:blipFill>
        <p:spPr>
          <a:xfrm>
            <a:off x="4709159" y="2057400"/>
            <a:ext cx="274320" cy="274320"/>
          </a:xfrm>
          <a:prstGeom prst="rect">
            <a:avLst/>
          </a:prstGeom>
        </p:spPr>
      </p:pic>
      <p:sp>
        <p:nvSpPr>
          <p:cNvPr id="22" name="TextBox 21"/>
          <p:cNvSpPr txBox="1"/>
          <p:nvPr/>
        </p:nvSpPr>
        <p:spPr>
          <a:xfrm>
            <a:off x="5148071" y="187451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Learned long-term memory management [5]</a:t>
            </a:r>
          </a:p>
        </p:txBody>
      </p:sp>
      <p:cxnSp>
        <p:nvCxnSpPr>
          <p:cNvPr id="23" name="Connector 22"/>
          <p:cNvCxnSpPr/>
          <p:nvPr/>
        </p:nvCxnSpPr>
        <p:spPr>
          <a:xfrm>
            <a:off x="4709159" y="2651760"/>
            <a:ext cx="3840481" cy="0"/>
          </a:xfrm>
          <a:prstGeom prst="line">
            <a:avLst/>
          </a:prstGeom>
          <a:ln w="9525">
            <a:solidFill>
              <a:srgbClr val="34315E"/>
            </a:solidFill>
          </a:ln>
        </p:spPr>
      </p:cxnSp>
      <p:pic>
        <p:nvPicPr>
          <p:cNvPr id="24" name="Picture 23" descr="arrowr_aa.png"/>
          <p:cNvPicPr>
            <a:picLocks noChangeAspect="1"/>
          </p:cNvPicPr>
          <p:nvPr/>
        </p:nvPicPr>
        <p:blipFill>
          <a:blip r:embed="rId4"/>
          <a:stretch>
            <a:fillRect/>
          </a:stretch>
        </p:blipFill>
        <p:spPr>
          <a:xfrm>
            <a:off x="4709159" y="2880360"/>
            <a:ext cx="274320" cy="274320"/>
          </a:xfrm>
          <a:prstGeom prst="rect">
            <a:avLst/>
          </a:prstGeom>
        </p:spPr>
      </p:pic>
      <p:sp>
        <p:nvSpPr>
          <p:cNvPr id="25" name="TextBox 24"/>
          <p:cNvSpPr txBox="1"/>
          <p:nvPr/>
        </p:nvSpPr>
        <p:spPr>
          <a:xfrm>
            <a:off x="5148071" y="269747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Standard benchmarks for agent reliability [2]</a:t>
            </a:r>
          </a:p>
        </p:txBody>
      </p:sp>
      <p:cxnSp>
        <p:nvCxnSpPr>
          <p:cNvPr id="26" name="Connector 25"/>
          <p:cNvCxnSpPr/>
          <p:nvPr/>
        </p:nvCxnSpPr>
        <p:spPr>
          <a:xfrm>
            <a:off x="4709159" y="3474720"/>
            <a:ext cx="3840481" cy="0"/>
          </a:xfrm>
          <a:prstGeom prst="line">
            <a:avLst/>
          </a:prstGeom>
          <a:ln w="9525">
            <a:solidFill>
              <a:srgbClr val="34315E"/>
            </a:solidFill>
          </a:ln>
        </p:spPr>
      </p:cxnSp>
      <p:pic>
        <p:nvPicPr>
          <p:cNvPr id="27" name="Picture 26" descr="arrowr_aa.png"/>
          <p:cNvPicPr>
            <a:picLocks noChangeAspect="1"/>
          </p:cNvPicPr>
          <p:nvPr/>
        </p:nvPicPr>
        <p:blipFill>
          <a:blip r:embed="rId4"/>
          <a:stretch>
            <a:fillRect/>
          </a:stretch>
        </p:blipFill>
        <p:spPr>
          <a:xfrm>
            <a:off x="4709159" y="3703320"/>
            <a:ext cx="274320" cy="274320"/>
          </a:xfrm>
          <a:prstGeom prst="rect">
            <a:avLst/>
          </a:prstGeom>
        </p:spPr>
      </p:pic>
      <p:sp>
        <p:nvSpPr>
          <p:cNvPr id="28" name="TextBox 27"/>
          <p:cNvSpPr txBox="1"/>
          <p:nvPr/>
        </p:nvSpPr>
        <p:spPr>
          <a:xfrm>
            <a:off x="5148071" y="3520439"/>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Stronger defences against prompt injection [8]</a:t>
            </a:r>
          </a:p>
        </p:txBody>
      </p:sp>
      <p:cxnSp>
        <p:nvCxnSpPr>
          <p:cNvPr id="29" name="Connector 28"/>
          <p:cNvCxnSpPr/>
          <p:nvPr/>
        </p:nvCxnSpPr>
        <p:spPr>
          <a:xfrm>
            <a:off x="4709159" y="4297679"/>
            <a:ext cx="3840481" cy="0"/>
          </a:xfrm>
          <a:prstGeom prst="line">
            <a:avLst/>
          </a:prstGeom>
          <a:ln w="9525">
            <a:solidFill>
              <a:srgbClr val="34315E"/>
            </a:solidFill>
          </a:ln>
        </p:spPr>
      </p:cxnSp>
      <p:pic>
        <p:nvPicPr>
          <p:cNvPr id="30" name="Picture 29" descr="arrowr_aa.png"/>
          <p:cNvPicPr>
            <a:picLocks noChangeAspect="1"/>
          </p:cNvPicPr>
          <p:nvPr/>
        </p:nvPicPr>
        <p:blipFill>
          <a:blip r:embed="rId4"/>
          <a:stretch>
            <a:fillRect/>
          </a:stretch>
        </p:blipFill>
        <p:spPr>
          <a:xfrm>
            <a:off x="4709159" y="4526280"/>
            <a:ext cx="274320" cy="274320"/>
          </a:xfrm>
          <a:prstGeom prst="rect">
            <a:avLst/>
          </a:prstGeom>
        </p:spPr>
      </p:pic>
      <p:sp>
        <p:nvSpPr>
          <p:cNvPr id="31" name="TextBox 30"/>
          <p:cNvSpPr txBox="1"/>
          <p:nvPr/>
        </p:nvSpPr>
        <p:spPr>
          <a:xfrm>
            <a:off x="5148071" y="4343400"/>
            <a:ext cx="3429000" cy="713232"/>
          </a:xfrm>
          <a:prstGeom prst="rect">
            <a:avLst/>
          </a:prstGeom>
          <a:noFill/>
        </p:spPr>
        <p:txBody>
          <a:bodyPr wrap="square" anchor="ctr" lIns="0" rIns="0" tIns="0" bIns="0"/>
          <a:lstStyle/>
          <a:p>
            <a:pPr algn="l">
              <a:spcAft>
                <a:spcPts val="400"/>
              </a:spcAft>
            </a:pPr>
            <a:r>
              <a:rPr sz="1450" b="0" i="0">
                <a:solidFill>
                  <a:srgbClr val="FFFFFF"/>
                </a:solidFill>
                <a:latin typeface="Calibri"/>
              </a:rPr>
              <a:t>Domain agents in software, security and robotics [7], [9]</a:t>
            </a:r>
          </a:p>
        </p:txBody>
      </p:sp>
      <p:sp>
        <p:nvSpPr>
          <p:cNvPr id="32" name="Rounded Rectangle 31"/>
          <p:cNvSpPr/>
          <p:nvPr/>
        </p:nvSpPr>
        <p:spPr>
          <a:xfrm>
            <a:off x="548640" y="5303520"/>
            <a:ext cx="8046720" cy="868680"/>
          </a:xfrm>
          <a:prstGeom prst="roundRect">
            <a:avLst>
              <a:gd name="adj" fmla="val 12631"/>
            </a:avLst>
          </a:prstGeom>
          <a:solidFill>
            <a:srgbClr val="5B4CDB"/>
          </a:solidFill>
          <a:ln>
            <a:noFill/>
          </a:ln>
        </p:spPr>
        <p:txBody>
          <a:bodyPr rtlCol="0" anchor="ctr" wrap="square" lIns="182880" rIns="182880" tIns="182880" bIns="182880"/>
          <a:lstStyle/>
          <a:p>
            <a:pPr algn="ctr">
              <a:spcAft>
                <a:spcPts val="0"/>
              </a:spcAft>
            </a:pPr>
            <a:r>
              <a:rPr sz="1600" b="1" i="1">
                <a:solidFill>
                  <a:srgbClr val="FFFFFF"/>
                </a:solidFill>
                <a:latin typeface="Cambria"/>
              </a:rPr>
              <a:t>Reliable agents = orchestration + memory + coordination + evaluation + safeguards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REFERENCES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References (1/2)</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17</a:t>
            </a:fld>
          </a:p>
        </p:txBody>
      </p:sp>
      <p:sp>
        <p:nvSpPr>
          <p:cNvPr id="7" name="TextBox 6"/>
          <p:cNvSpPr txBox="1"/>
          <p:nvPr/>
        </p:nvSpPr>
        <p:spPr>
          <a:xfrm>
            <a:off x="548640" y="1508760"/>
            <a:ext cx="8046720" cy="4754880"/>
          </a:xfrm>
          <a:prstGeom prst="rect">
            <a:avLst/>
          </a:prstGeom>
          <a:noFill/>
        </p:spPr>
        <p:txBody>
          <a:bodyPr wrap="square" anchor="t" lIns="0" rIns="0" tIns="0" bIns="0"/>
          <a:lstStyle/>
          <a:p>
            <a:pPr algn="l" marL="411480" indent="-411480">
              <a:spcAft>
                <a:spcPts val="1200"/>
              </a:spcAft>
            </a:pPr>
            <a:r>
              <a:rPr sz="1400" b="1" i="0">
                <a:solidFill>
                  <a:srgbClr val="5B4CDB"/>
                </a:solidFill>
                <a:latin typeface="Calibri"/>
              </a:rPr>
              <a:t>[1]	</a:t>
            </a:r>
            <a:r>
              <a:rPr sz="1400" b="0" i="0">
                <a:solidFill>
                  <a:srgbClr val="1F1D33"/>
                </a:solidFill>
                <a:latin typeface="Calibri"/>
              </a:rPr>
              <a:t>“A Survey on LLM Agents: Architecture, Applications, and Challenges,” in Proc. Int. Conf. Information Networking (ICOIN), IEEE, 2026. [Online]. Available: https://ieeexplore.ieee.org/document/11480623/</a:t>
            </a:r>
          </a:p>
          <a:p>
            <a:pPr algn="l" marL="411480" indent="-411480">
              <a:spcAft>
                <a:spcPts val="1200"/>
              </a:spcAft>
            </a:pPr>
            <a:r>
              <a:rPr sz="1400" b="1" i="0">
                <a:solidFill>
                  <a:srgbClr val="5B4CDB"/>
                </a:solidFill>
                <a:latin typeface="Calibri"/>
              </a:rPr>
              <a:t>[2]	</a:t>
            </a:r>
            <a:r>
              <a:rPr sz="1400" b="0" i="0">
                <a:solidFill>
                  <a:srgbClr val="1F1D33"/>
                </a:solidFill>
                <a:latin typeface="Calibri"/>
              </a:rPr>
              <a:t>V. Arunkumar, G. R. Gangadharan, and R. Buyya, “Agentic Artificial Intelligence (AI): Architectures, Taxonomies, and Evaluation of Large Language Model Agents,” arXiv:2601.12560, 2026.</a:t>
            </a:r>
          </a:p>
          <a:p>
            <a:pPr algn="l" marL="411480" indent="-411480">
              <a:spcAft>
                <a:spcPts val="1200"/>
              </a:spcAft>
            </a:pPr>
            <a:r>
              <a:rPr sz="1400" b="1" i="0">
                <a:solidFill>
                  <a:srgbClr val="5B4CDB"/>
                </a:solidFill>
                <a:latin typeface="Calibri"/>
              </a:rPr>
              <a:t>[3]	</a:t>
            </a:r>
            <a:r>
              <a:rPr sz="1400" b="0" i="0">
                <a:solidFill>
                  <a:srgbClr val="1F1D33"/>
                </a:solidFill>
                <a:latin typeface="Calibri"/>
              </a:rPr>
              <a:t>M. Alenezi, “From Prompt-Response to Goal-Directed Systems: The Evolution of Agentic AI Software Architecture,” arXiv:2602.10479, 2026.</a:t>
            </a:r>
          </a:p>
          <a:p>
            <a:pPr algn="l" marL="411480" indent="-411480">
              <a:spcAft>
                <a:spcPts val="1200"/>
              </a:spcAft>
            </a:pPr>
            <a:r>
              <a:rPr sz="1400" b="1" i="0">
                <a:solidFill>
                  <a:srgbClr val="5B4CDB"/>
                </a:solidFill>
                <a:latin typeface="Calibri"/>
              </a:rPr>
              <a:t>[4]	</a:t>
            </a:r>
            <a:r>
              <a:rPr sz="1400" b="0" i="0">
                <a:solidFill>
                  <a:srgbClr val="1F1D33"/>
                </a:solidFill>
                <a:latin typeface="Calibri"/>
              </a:rPr>
              <a:t>S. Cao et al., “The Auton Agentic AI Framework,” arXiv:2602.23720, 2026.</a:t>
            </a:r>
          </a:p>
          <a:p>
            <a:pPr algn="l" marL="411480" indent="-411480">
              <a:spcAft>
                <a:spcPts val="1200"/>
              </a:spcAft>
            </a:pPr>
            <a:r>
              <a:rPr sz="1400" b="1" i="0">
                <a:solidFill>
                  <a:srgbClr val="5B4CDB"/>
                </a:solidFill>
                <a:latin typeface="Calibri"/>
              </a:rPr>
              <a:t>[5]	</a:t>
            </a:r>
            <a:r>
              <a:rPr sz="1400" b="0" i="0">
                <a:solidFill>
                  <a:srgbClr val="1F1D33"/>
                </a:solidFill>
                <a:latin typeface="Calibri"/>
              </a:rPr>
              <a:t>Y. Yu et al., “Agentic Memory: Learning Unified Long-Term and Short-Term Memory Management for Large Language Model Agents,” in Proc. 64th Annu. Meeting Assoc. Comput. Linguistics (ACL), 2026.</a:t>
            </a:r>
          </a:p>
          <a:p>
            <a:pPr algn="l" marL="411480" indent="-411480">
              <a:spcAft>
                <a:spcPts val="1200"/>
              </a:spcAft>
            </a:pPr>
            <a:r>
              <a:rPr sz="1400" b="1" i="0">
                <a:solidFill>
                  <a:srgbClr val="5B4CDB"/>
                </a:solidFill>
                <a:latin typeface="Calibri"/>
              </a:rPr>
              <a:t>[6]	</a:t>
            </a:r>
            <a:r>
              <a:rPr sz="1400" b="0" i="0">
                <a:solidFill>
                  <a:srgbClr val="1F1D33"/>
                </a:solidFill>
                <a:latin typeface="Calibri"/>
              </a:rPr>
              <a:t>“Model Context Protocol (MCP) and Agent-to-Agent (A2A) Protocol for Scalable Agentic AI Systems,” in Proc. IEEE ICICDS, 2026. [Online]. Available: https://ieeexplore.ieee.org/document/11604962/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6949440" cy="274320"/>
          </a:xfrm>
          <a:prstGeom prst="rect">
            <a:avLst/>
          </a:prstGeom>
          <a:noFill/>
        </p:spPr>
        <p:txBody>
          <a:bodyPr wrap="square" anchor="t" lIns="0" rIns="0" tIns="0" bIns="0"/>
          <a:lstStyle/>
          <a:p>
            <a:pPr algn="l">
              <a:spcAft>
                <a:spcPts val="400"/>
              </a:spcAft>
            </a:pPr>
            <a:r>
              <a:rPr sz="1050" b="1" i="0" spc="160">
                <a:solidFill>
                  <a:srgbClr val="F2643D"/>
                </a:solidFill>
                <a:latin typeface="Calibri"/>
              </a:rPr>
              <a:t>REFERENCES</a:t>
            </a:r>
          </a:p>
        </p:txBody>
      </p:sp>
      <p:sp>
        <p:nvSpPr>
          <p:cNvPr id="3" name="TextBox 2"/>
          <p:cNvSpPr txBox="1"/>
          <p:nvPr/>
        </p:nvSpPr>
        <p:spPr>
          <a:xfrm>
            <a:off x="548640" y="640080"/>
            <a:ext cx="7223760" cy="685800"/>
          </a:xfrm>
          <a:prstGeom prst="rect">
            <a:avLst/>
          </a:prstGeom>
          <a:noFill/>
        </p:spPr>
        <p:txBody>
          <a:bodyPr wrap="square" anchor="t" lIns="0" rIns="0" tIns="0" bIns="0"/>
          <a:lstStyle/>
          <a:p>
            <a:pPr algn="l">
              <a:spcAft>
                <a:spcPts val="400"/>
              </a:spcAft>
            </a:pPr>
            <a:r>
              <a:rPr sz="2600" b="1" i="0">
                <a:solidFill>
                  <a:srgbClr val="17153A"/>
                </a:solidFill>
                <a:latin typeface="Cambria"/>
              </a:rPr>
              <a:t>References (2/2)</a:t>
            </a:r>
          </a:p>
        </p:txBody>
      </p:sp>
      <p:pic>
        <p:nvPicPr>
          <p:cNvPr id="4" name="Picture 3" descr="image.jpg"/>
          <p:cNvPicPr>
            <a:picLocks noChangeAspect="1"/>
          </p:cNvPicPr>
          <p:nvPr/>
        </p:nvPicPr>
        <p:blipFill>
          <a:blip r:embed="rId2"/>
          <a:stretch>
            <a:fillRect/>
          </a:stretch>
        </p:blipFill>
        <p:spPr>
          <a:xfrm>
            <a:off x="7955279" y="274320"/>
            <a:ext cx="658368" cy="495859"/>
          </a:xfrm>
          <a:prstGeom prst="rect">
            <a:avLst/>
          </a:prstGeom>
        </p:spPr>
      </p:pic>
      <p:sp>
        <p:nvSpPr>
          <p:cNvPr id="5" name="TextBox 4"/>
          <p:cNvSpPr txBox="1"/>
          <p:nvPr/>
        </p:nvSpPr>
        <p:spPr>
          <a:xfrm>
            <a:off x="548640" y="6400800"/>
            <a:ext cx="5943600" cy="274320"/>
          </a:xfrm>
          <a:prstGeom prst="rect">
            <a:avLst/>
          </a:prstGeom>
          <a:noFill/>
        </p:spPr>
        <p:txBody>
          <a:bodyPr wrap="square" anchor="t" lIns="0" rIns="0" tIns="0" bIns="0"/>
          <a:lstStyle/>
          <a:p>
            <a:pPr algn="l">
              <a:spcAft>
                <a:spcPts val="400"/>
              </a:spcAft>
            </a:pPr>
            <a:r>
              <a:rPr sz="900" b="0" i="0">
                <a:solidFill>
                  <a:srgbClr val="6A6886"/>
                </a:solidFill>
                <a:latin typeface="Calibri"/>
              </a:rPr>
              <a:t>Agentic AI  ·  Utkarsh Kale (B342)</a:t>
            </a:r>
          </a:p>
        </p:txBody>
      </p:sp>
      <p:sp>
        <p:nvSpPr>
          <p:cNvPr id="6" name="TextBox 5"/>
          <p:cNvSpPr txBox="1"/>
          <p:nvPr/>
        </p:nvSpPr>
        <p:spPr>
          <a:xfrm>
            <a:off x="7680960" y="6400800"/>
            <a:ext cx="914400" cy="274320"/>
          </a:xfrm>
          <a:prstGeom prst="rect">
            <a:avLst/>
          </a:prstGeom>
          <a:noFill/>
        </p:spPr>
        <p:txBody>
          <a:bodyPr wrap="none" lIns="0" rIns="0" tIns="0" bIns="0">
            <a:spAutoFit/>
          </a:bodyPr>
          <a:lstStyle/>
          <a:p>
            <a:pPr algn="r"/>
            <a:fld id="{8A1F7C52-5D3B-4C1E-9E0B-2B7F1C3D4E5F}" type="slidenum">
              <a:rPr lang="en-US" sz="900" b="1">
                <a:solidFill>
                  <a:srgbClr val="6A6886"/>
                </a:solidFill>
                <a:latin typeface="Calibri"/>
              </a:rPr>
              <a:t>18</a:t>
            </a:fld>
          </a:p>
        </p:txBody>
      </p:sp>
      <p:sp>
        <p:nvSpPr>
          <p:cNvPr id="7" name="TextBox 6"/>
          <p:cNvSpPr txBox="1"/>
          <p:nvPr/>
        </p:nvSpPr>
        <p:spPr>
          <a:xfrm>
            <a:off x="548640" y="1508760"/>
            <a:ext cx="8046720" cy="4754880"/>
          </a:xfrm>
          <a:prstGeom prst="rect">
            <a:avLst/>
          </a:prstGeom>
          <a:noFill/>
        </p:spPr>
        <p:txBody>
          <a:bodyPr wrap="square" anchor="t" lIns="0" rIns="0" tIns="0" bIns="0"/>
          <a:lstStyle/>
          <a:p>
            <a:pPr algn="l" marL="411480" indent="-411480">
              <a:spcAft>
                <a:spcPts val="1200"/>
              </a:spcAft>
            </a:pPr>
            <a:r>
              <a:rPr sz="1400" b="1" i="0">
                <a:solidFill>
                  <a:srgbClr val="5B4CDB"/>
                </a:solidFill>
                <a:latin typeface="Calibri"/>
              </a:rPr>
              <a:t>[7]	</a:t>
            </a:r>
            <a:r>
              <a:rPr sz="1400" b="0" i="0">
                <a:solidFill>
                  <a:srgbClr val="1F1D33"/>
                </a:solidFill>
                <a:latin typeface="Calibri"/>
              </a:rPr>
              <a:t>“LLM-Based Intelligent Agents for Cybersecurity: A Tutorial and Survey of Automated Vulnerability Discovery,” IEEE Access, 2026. [Online]. Available: https://ieeexplore.ieee.org/document/11580353/</a:t>
            </a:r>
          </a:p>
          <a:p>
            <a:pPr algn="l" marL="411480" indent="-411480">
              <a:spcAft>
                <a:spcPts val="1200"/>
              </a:spcAft>
            </a:pPr>
            <a:r>
              <a:rPr sz="1400" b="1" i="0">
                <a:solidFill>
                  <a:srgbClr val="5B4CDB"/>
                </a:solidFill>
                <a:latin typeface="Calibri"/>
              </a:rPr>
              <a:t>[8]	</a:t>
            </a:r>
            <a:r>
              <a:rPr sz="1400" b="0" i="0">
                <a:solidFill>
                  <a:srgbClr val="1F1D33"/>
                </a:solidFill>
                <a:latin typeface="Calibri"/>
              </a:rPr>
              <a:t>“A Survey of Fuzzing Techniques for Large Language Model Agents: Challenges, Methods, and Future Directions,” in Proc. IEEE BDAI, 2026. [Online]. Available: https://ieeexplore.ieee.org/document/11655176/</a:t>
            </a:r>
          </a:p>
          <a:p>
            <a:pPr algn="l" marL="411480" indent="-411480">
              <a:spcAft>
                <a:spcPts val="1200"/>
              </a:spcAft>
            </a:pPr>
            <a:r>
              <a:rPr sz="1400" b="1" i="0">
                <a:solidFill>
                  <a:srgbClr val="5B4CDB"/>
                </a:solidFill>
                <a:latin typeface="Calibri"/>
              </a:rPr>
              <a:t>[9]	</a:t>
            </a:r>
            <a:r>
              <a:rPr sz="1400" b="0" i="0">
                <a:solidFill>
                  <a:srgbClr val="1F1D33"/>
                </a:solidFill>
                <a:latin typeface="Calibri"/>
              </a:rPr>
              <a:t>“GLaMP: A Grounded Language Model-Based Multiagent System for Long-Horizon Robotic Task Planning in Industrial Settings,” IEEE Trans. Ind. Electron., 2026. [Online]. Available: https://ieeexplore.ieee.org/document/11641677/</a:t>
            </a:r>
          </a:p>
          <a:p>
            <a:pPr algn="l" marL="411480" indent="-411480">
              <a:spcAft>
                <a:spcPts val="1200"/>
              </a:spcAft>
            </a:pPr>
            <a:r>
              <a:rPr sz="1400" b="1" i="0">
                <a:solidFill>
                  <a:srgbClr val="5B4CDB"/>
                </a:solidFill>
                <a:latin typeface="Calibri"/>
              </a:rPr>
              <a:t>[10]	</a:t>
            </a:r>
            <a:r>
              <a:rPr sz="1400" b="0" i="0">
                <a:solidFill>
                  <a:srgbClr val="1F1D33"/>
                </a:solidFill>
                <a:latin typeface="Calibri"/>
              </a:rPr>
              <a:t>“Beyond Single-Framework Architectures: A Systematic Evaluation and Hybrid Design for Scalable Multi-Agent Coordination,” IEEE Access, 2026. [Online]. Available: https://ieeexplore.ieee.org/document/11481053/</a:t>
            </a:r>
          </a:p>
          <a:p>
            <a:pPr algn="l" marL="411480" indent="-411480">
              <a:spcAft>
                <a:spcPts val="1200"/>
              </a:spcAft>
            </a:pPr>
            <a:r>
              <a:rPr sz="1400" b="1" i="0">
                <a:solidFill>
                  <a:srgbClr val="5B4CDB"/>
                </a:solidFill>
                <a:latin typeface="Calibri"/>
              </a:rPr>
              <a:t>[11]	</a:t>
            </a:r>
            <a:r>
              <a:rPr sz="1400" b="0" i="0">
                <a:solidFill>
                  <a:srgbClr val="1F1D33"/>
                </a:solidFill>
                <a:latin typeface="Calibri"/>
              </a:rPr>
              <a:t>Anthropic, “How we built our multi-agent research system,” Anthropic Engineering Blog, Jun. 2025. [Online]. Available: https://www.anthropic.com/engineering/multi-agent-research-system</a:t>
            </a:r>
          </a:p>
          <a:p>
            <a:pPr algn="l" marL="411480" indent="-411480">
              <a:spcAft>
                <a:spcPts val="1200"/>
              </a:spcAft>
            </a:pPr>
            <a:r>
              <a:rPr sz="1400" b="1" i="0">
                <a:solidFill>
                  <a:srgbClr val="5B4CDB"/>
                </a:solidFill>
                <a:latin typeface="Calibri"/>
              </a:rPr>
              <a:t>[12]	</a:t>
            </a:r>
            <a:r>
              <a:rPr sz="1400" b="0" i="0">
                <a:solidFill>
                  <a:srgbClr val="1F1D33"/>
                </a:solidFill>
                <a:latin typeface="Calibri"/>
              </a:rPr>
              <a:t>S. Yao et al., “ReAct: Synergizing Reasoning and Acting in Language Models,” in Proc. Int. Conf. Learning Representations (ICLR), 2023, arXiv:2210.03629.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153A"/>
        </a:solidFill>
        <a:effectLst/>
      </p:bgPr>
    </p:bg>
    <p:spTree>
      <p:nvGrpSpPr>
        <p:cNvPr id="1" name=""/>
        <p:cNvGrpSpPr/>
        <p:nvPr/>
      </p:nvGrpSpPr>
      <p:grpSpPr/>
      <p:sp>
        <p:nvSpPr>
          <p:cNvPr id="2" name="Rectangle 1"/>
          <p:cNvSpPr/>
          <p:nvPr/>
        </p:nvSpPr>
        <p:spPr>
          <a:xfrm>
            <a:off x="0" y="0"/>
            <a:ext cx="9144000" cy="1371600"/>
          </a:xfrm>
          <a:prstGeom prst="rect">
            <a:avLst/>
          </a:prstGeom>
          <a:solidFill>
            <a:srgbClr val="FFFFFF"/>
          </a:solidFill>
          <a:ln>
            <a:noFill/>
          </a:ln>
        </p:spPr>
        <p:txBody>
          <a:bodyPr rtlCol="0" anchor="ctr" wrap="square" lIns="54864" rIns="54864" tIns="54864" bIns="54864"/>
          <a:lstStyle/>
          <a:p>
            <a:pPr algn="ctr"/>
          </a:p>
        </p:txBody>
      </p:sp>
      <p:pic>
        <p:nvPicPr>
          <p:cNvPr id="3" name="Picture 2" descr="image.jpg"/>
          <p:cNvPicPr>
            <a:picLocks noChangeAspect="1"/>
          </p:cNvPicPr>
          <p:nvPr/>
        </p:nvPicPr>
        <p:blipFill>
          <a:blip r:embed="rId2"/>
          <a:stretch>
            <a:fillRect/>
          </a:stretch>
        </p:blipFill>
        <p:spPr>
          <a:xfrm>
            <a:off x="320040" y="182880"/>
            <a:ext cx="1280160" cy="964171"/>
          </a:xfrm>
          <a:prstGeom prst="rect">
            <a:avLst/>
          </a:prstGeom>
        </p:spPr>
      </p:pic>
      <p:pic>
        <p:nvPicPr>
          <p:cNvPr id="4" name="Picture 3" descr="image.png"/>
          <p:cNvPicPr>
            <a:picLocks noChangeAspect="1"/>
          </p:cNvPicPr>
          <p:nvPr/>
        </p:nvPicPr>
        <p:blipFill>
          <a:blip r:embed="rId3"/>
          <a:srcRect l="11745" r="3185"/>
          <a:stretch>
            <a:fillRect/>
          </a:stretch>
        </p:blipFill>
        <p:spPr>
          <a:xfrm>
            <a:off x="1691640" y="155448"/>
            <a:ext cx="7178040" cy="1069848"/>
          </a:xfrm>
          <a:prstGeom prst="rect">
            <a:avLst/>
          </a:prstGeom>
        </p:spPr>
      </p:pic>
      <p:cxnSp>
        <p:nvCxnSpPr>
          <p:cNvPr id="5" name="Connector 4"/>
          <p:cNvCxnSpPr/>
          <p:nvPr/>
        </p:nvCxnSpPr>
        <p:spPr>
          <a:xfrm flipV="1">
            <a:off x="6629400" y="1874519"/>
            <a:ext cx="1280160" cy="182881"/>
          </a:xfrm>
          <a:prstGeom prst="line">
            <a:avLst/>
          </a:prstGeom>
          <a:ln w="15875">
            <a:solidFill>
              <a:srgbClr val="B4B0E6">
                <a:alpha val="45000"/>
              </a:srgbClr>
            </a:solidFill>
          </a:ln>
        </p:spPr>
      </p:cxnSp>
      <p:cxnSp>
        <p:nvCxnSpPr>
          <p:cNvPr id="6" name="Connector 5"/>
          <p:cNvCxnSpPr/>
          <p:nvPr/>
        </p:nvCxnSpPr>
        <p:spPr>
          <a:xfrm>
            <a:off x="6629400" y="2057400"/>
            <a:ext cx="685800" cy="914400"/>
          </a:xfrm>
          <a:prstGeom prst="line">
            <a:avLst/>
          </a:prstGeom>
          <a:ln w="15875">
            <a:solidFill>
              <a:srgbClr val="B4B0E6">
                <a:alpha val="45000"/>
              </a:srgbClr>
            </a:solidFill>
          </a:ln>
        </p:spPr>
      </p:cxnSp>
      <p:cxnSp>
        <p:nvCxnSpPr>
          <p:cNvPr id="7" name="Connector 6"/>
          <p:cNvCxnSpPr/>
          <p:nvPr/>
        </p:nvCxnSpPr>
        <p:spPr>
          <a:xfrm>
            <a:off x="7909560" y="1874519"/>
            <a:ext cx="594360" cy="822961"/>
          </a:xfrm>
          <a:prstGeom prst="line">
            <a:avLst/>
          </a:prstGeom>
          <a:ln w="15875">
            <a:solidFill>
              <a:srgbClr val="B4B0E6">
                <a:alpha val="45000"/>
              </a:srgbClr>
            </a:solidFill>
          </a:ln>
        </p:spPr>
      </p:cxnSp>
      <p:cxnSp>
        <p:nvCxnSpPr>
          <p:cNvPr id="8" name="Connector 7"/>
          <p:cNvCxnSpPr/>
          <p:nvPr/>
        </p:nvCxnSpPr>
        <p:spPr>
          <a:xfrm flipH="1">
            <a:off x="7315200" y="1874519"/>
            <a:ext cx="594360" cy="1097281"/>
          </a:xfrm>
          <a:prstGeom prst="line">
            <a:avLst/>
          </a:prstGeom>
          <a:ln w="15875">
            <a:solidFill>
              <a:srgbClr val="B4B0E6">
                <a:alpha val="45000"/>
              </a:srgbClr>
            </a:solidFill>
          </a:ln>
        </p:spPr>
      </p:cxnSp>
      <p:cxnSp>
        <p:nvCxnSpPr>
          <p:cNvPr id="9" name="Connector 8"/>
          <p:cNvCxnSpPr/>
          <p:nvPr/>
        </p:nvCxnSpPr>
        <p:spPr>
          <a:xfrm flipH="1">
            <a:off x="7863840" y="2697480"/>
            <a:ext cx="640080" cy="1097280"/>
          </a:xfrm>
          <a:prstGeom prst="line">
            <a:avLst/>
          </a:prstGeom>
          <a:ln w="15875">
            <a:solidFill>
              <a:srgbClr val="B4B0E6">
                <a:alpha val="45000"/>
              </a:srgbClr>
            </a:solidFill>
          </a:ln>
        </p:spPr>
      </p:cxnSp>
      <p:cxnSp>
        <p:nvCxnSpPr>
          <p:cNvPr id="10" name="Connector 9"/>
          <p:cNvCxnSpPr/>
          <p:nvPr/>
        </p:nvCxnSpPr>
        <p:spPr>
          <a:xfrm flipH="1">
            <a:off x="6446520" y="2971800"/>
            <a:ext cx="868680" cy="640080"/>
          </a:xfrm>
          <a:prstGeom prst="line">
            <a:avLst/>
          </a:prstGeom>
          <a:ln w="15875">
            <a:solidFill>
              <a:srgbClr val="B4B0E6">
                <a:alpha val="45000"/>
              </a:srgbClr>
            </a:solidFill>
          </a:ln>
        </p:spPr>
      </p:cxnSp>
      <p:cxnSp>
        <p:nvCxnSpPr>
          <p:cNvPr id="11" name="Connector 10"/>
          <p:cNvCxnSpPr/>
          <p:nvPr/>
        </p:nvCxnSpPr>
        <p:spPr>
          <a:xfrm>
            <a:off x="7315200" y="2971800"/>
            <a:ext cx="548640" cy="822960"/>
          </a:xfrm>
          <a:prstGeom prst="line">
            <a:avLst/>
          </a:prstGeom>
          <a:ln w="15875">
            <a:solidFill>
              <a:srgbClr val="B4B0E6">
                <a:alpha val="45000"/>
              </a:srgbClr>
            </a:solidFill>
          </a:ln>
        </p:spPr>
      </p:cxnSp>
      <p:cxnSp>
        <p:nvCxnSpPr>
          <p:cNvPr id="12" name="Connector 11"/>
          <p:cNvCxnSpPr/>
          <p:nvPr/>
        </p:nvCxnSpPr>
        <p:spPr>
          <a:xfrm>
            <a:off x="6446520" y="3611880"/>
            <a:ext cx="548640" cy="868680"/>
          </a:xfrm>
          <a:prstGeom prst="line">
            <a:avLst/>
          </a:prstGeom>
          <a:ln w="15875">
            <a:solidFill>
              <a:srgbClr val="B4B0E6">
                <a:alpha val="45000"/>
              </a:srgbClr>
            </a:solidFill>
          </a:ln>
        </p:spPr>
      </p:cxnSp>
      <p:cxnSp>
        <p:nvCxnSpPr>
          <p:cNvPr id="13" name="Connector 12"/>
          <p:cNvCxnSpPr/>
          <p:nvPr/>
        </p:nvCxnSpPr>
        <p:spPr>
          <a:xfrm>
            <a:off x="7863840" y="3794760"/>
            <a:ext cx="594360" cy="640080"/>
          </a:xfrm>
          <a:prstGeom prst="line">
            <a:avLst/>
          </a:prstGeom>
          <a:ln w="15875">
            <a:solidFill>
              <a:srgbClr val="B4B0E6">
                <a:alpha val="45000"/>
              </a:srgbClr>
            </a:solidFill>
          </a:ln>
        </p:spPr>
      </p:cxnSp>
      <p:cxnSp>
        <p:nvCxnSpPr>
          <p:cNvPr id="14" name="Connector 13"/>
          <p:cNvCxnSpPr/>
          <p:nvPr/>
        </p:nvCxnSpPr>
        <p:spPr>
          <a:xfrm flipH="1">
            <a:off x="6995160" y="3794760"/>
            <a:ext cx="868680" cy="685800"/>
          </a:xfrm>
          <a:prstGeom prst="line">
            <a:avLst/>
          </a:prstGeom>
          <a:ln w="15875">
            <a:solidFill>
              <a:srgbClr val="B4B0E6">
                <a:alpha val="45000"/>
              </a:srgbClr>
            </a:solidFill>
          </a:ln>
        </p:spPr>
      </p:cxnSp>
      <p:cxnSp>
        <p:nvCxnSpPr>
          <p:cNvPr id="15" name="Connector 14"/>
          <p:cNvCxnSpPr/>
          <p:nvPr/>
        </p:nvCxnSpPr>
        <p:spPr>
          <a:xfrm flipH="1">
            <a:off x="8458200" y="2697480"/>
            <a:ext cx="45720" cy="1737360"/>
          </a:xfrm>
          <a:prstGeom prst="line">
            <a:avLst/>
          </a:prstGeom>
          <a:ln w="15875">
            <a:solidFill>
              <a:srgbClr val="B4B0E6">
                <a:alpha val="45000"/>
              </a:srgbClr>
            </a:solidFill>
          </a:ln>
        </p:spPr>
      </p:cxnSp>
      <p:cxnSp>
        <p:nvCxnSpPr>
          <p:cNvPr id="16" name="Connector 15"/>
          <p:cNvCxnSpPr/>
          <p:nvPr/>
        </p:nvCxnSpPr>
        <p:spPr>
          <a:xfrm flipV="1">
            <a:off x="6263640" y="2057400"/>
            <a:ext cx="365760" cy="640080"/>
          </a:xfrm>
          <a:prstGeom prst="line">
            <a:avLst/>
          </a:prstGeom>
          <a:ln w="15875">
            <a:solidFill>
              <a:srgbClr val="B4B0E6">
                <a:alpha val="45000"/>
              </a:srgbClr>
            </a:solidFill>
          </a:ln>
        </p:spPr>
      </p:cxnSp>
      <p:cxnSp>
        <p:nvCxnSpPr>
          <p:cNvPr id="17" name="Connector 16"/>
          <p:cNvCxnSpPr/>
          <p:nvPr/>
        </p:nvCxnSpPr>
        <p:spPr>
          <a:xfrm>
            <a:off x="6263640" y="2697480"/>
            <a:ext cx="182880" cy="914400"/>
          </a:xfrm>
          <a:prstGeom prst="line">
            <a:avLst/>
          </a:prstGeom>
          <a:ln w="15875">
            <a:solidFill>
              <a:srgbClr val="B4B0E6">
                <a:alpha val="45000"/>
              </a:srgbClr>
            </a:solidFill>
          </a:ln>
        </p:spPr>
      </p:cxnSp>
      <p:sp>
        <p:nvSpPr>
          <p:cNvPr id="18" name="Oval 17"/>
          <p:cNvSpPr/>
          <p:nvPr/>
        </p:nvSpPr>
        <p:spPr>
          <a:xfrm>
            <a:off x="6510528" y="1938528"/>
            <a:ext cx="237744" cy="237744"/>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19" name="Oval 18"/>
          <p:cNvSpPr/>
          <p:nvPr/>
        </p:nvSpPr>
        <p:spPr>
          <a:xfrm>
            <a:off x="7818120" y="1783079"/>
            <a:ext cx="182880" cy="182880"/>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0" name="Oval 19"/>
          <p:cNvSpPr/>
          <p:nvPr/>
        </p:nvSpPr>
        <p:spPr>
          <a:xfrm>
            <a:off x="8366760" y="2560320"/>
            <a:ext cx="274320" cy="274320"/>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1" name="Oval 20"/>
          <p:cNvSpPr/>
          <p:nvPr/>
        </p:nvSpPr>
        <p:spPr>
          <a:xfrm>
            <a:off x="6978700" y="2635300"/>
            <a:ext cx="672998" cy="672998"/>
          </a:xfrm>
          <a:prstGeom prst="ellipse">
            <a:avLst/>
          </a:prstGeom>
          <a:solidFill>
            <a:srgbClr val="F2643D">
              <a:alpha val="25000"/>
            </a:srgbClr>
          </a:solidFill>
          <a:ln>
            <a:noFill/>
          </a:ln>
        </p:spPr>
        <p:txBody>
          <a:bodyPr rtlCol="0" anchor="ctr" wrap="square" lIns="54864" rIns="54864" tIns="54864" bIns="54864"/>
          <a:lstStyle/>
          <a:p>
            <a:pPr algn="ctr"/>
          </a:p>
        </p:txBody>
      </p:sp>
      <p:sp>
        <p:nvSpPr>
          <p:cNvPr id="22" name="Oval 21"/>
          <p:cNvSpPr/>
          <p:nvPr/>
        </p:nvSpPr>
        <p:spPr>
          <a:xfrm>
            <a:off x="7104888" y="2761488"/>
            <a:ext cx="420624" cy="420624"/>
          </a:xfrm>
          <a:prstGeom prst="ellipse">
            <a:avLst/>
          </a:prstGeom>
          <a:solidFill>
            <a:srgbClr val="F2643D"/>
          </a:solidFill>
          <a:ln>
            <a:noFill/>
          </a:ln>
        </p:spPr>
        <p:txBody>
          <a:bodyPr rtlCol="0" anchor="ctr" wrap="square" lIns="54864" rIns="54864" tIns="54864" bIns="54864"/>
          <a:lstStyle/>
          <a:p>
            <a:pPr algn="ctr"/>
          </a:p>
        </p:txBody>
      </p:sp>
      <p:sp>
        <p:nvSpPr>
          <p:cNvPr id="23" name="Oval 22"/>
          <p:cNvSpPr/>
          <p:nvPr/>
        </p:nvSpPr>
        <p:spPr>
          <a:xfrm>
            <a:off x="6345936" y="3511296"/>
            <a:ext cx="201168" cy="201168"/>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4" name="Oval 23"/>
          <p:cNvSpPr/>
          <p:nvPr/>
        </p:nvSpPr>
        <p:spPr>
          <a:xfrm>
            <a:off x="7726679" y="3657600"/>
            <a:ext cx="274320" cy="274320"/>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5" name="Oval 24"/>
          <p:cNvSpPr/>
          <p:nvPr/>
        </p:nvSpPr>
        <p:spPr>
          <a:xfrm>
            <a:off x="8366760" y="4343400"/>
            <a:ext cx="182880" cy="182880"/>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6" name="Oval 25"/>
          <p:cNvSpPr/>
          <p:nvPr/>
        </p:nvSpPr>
        <p:spPr>
          <a:xfrm>
            <a:off x="6867144" y="4352544"/>
            <a:ext cx="256032" cy="256032"/>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7" name="Oval 26"/>
          <p:cNvSpPr/>
          <p:nvPr/>
        </p:nvSpPr>
        <p:spPr>
          <a:xfrm>
            <a:off x="6190488" y="2624328"/>
            <a:ext cx="146304" cy="146304"/>
          </a:xfrm>
          <a:prstGeom prst="ellipse">
            <a:avLst/>
          </a:prstGeom>
          <a:solidFill>
            <a:srgbClr val="5B4CDB">
              <a:alpha val="85000"/>
            </a:srgbClr>
          </a:solidFill>
          <a:ln>
            <a:noFill/>
          </a:ln>
        </p:spPr>
        <p:txBody>
          <a:bodyPr rtlCol="0" anchor="ctr" wrap="square" lIns="54864" rIns="54864" tIns="54864" bIns="54864"/>
          <a:lstStyle/>
          <a:p>
            <a:pPr algn="ctr"/>
          </a:p>
        </p:txBody>
      </p:sp>
      <p:sp>
        <p:nvSpPr>
          <p:cNvPr id="28" name="TextBox 27"/>
          <p:cNvSpPr txBox="1"/>
          <p:nvPr/>
        </p:nvSpPr>
        <p:spPr>
          <a:xfrm>
            <a:off x="548640" y="1828800"/>
            <a:ext cx="5943600" cy="274320"/>
          </a:xfrm>
          <a:prstGeom prst="rect">
            <a:avLst/>
          </a:prstGeom>
          <a:noFill/>
        </p:spPr>
        <p:txBody>
          <a:bodyPr wrap="square" anchor="t" lIns="0" rIns="0" tIns="0" bIns="0"/>
          <a:lstStyle/>
          <a:p>
            <a:pPr algn="l">
              <a:spcAft>
                <a:spcPts val="400"/>
              </a:spcAft>
            </a:pPr>
            <a:r>
              <a:rPr sz="1100" b="1" i="0" spc="200">
                <a:solidFill>
                  <a:srgbClr val="F2643D"/>
                </a:solidFill>
                <a:latin typeface="Calibri"/>
              </a:rPr>
              <a:t>SEMINAR-I  ·  2025–26</a:t>
            </a:r>
          </a:p>
        </p:txBody>
      </p:sp>
      <p:sp>
        <p:nvSpPr>
          <p:cNvPr id="29" name="TextBox 28"/>
          <p:cNvSpPr txBox="1"/>
          <p:nvPr/>
        </p:nvSpPr>
        <p:spPr>
          <a:xfrm>
            <a:off x="548640" y="2148840"/>
            <a:ext cx="5760720" cy="1645920"/>
          </a:xfrm>
          <a:prstGeom prst="rect">
            <a:avLst/>
          </a:prstGeom>
          <a:noFill/>
        </p:spPr>
        <p:txBody>
          <a:bodyPr wrap="square" anchor="t" lIns="0" rIns="0" tIns="0" bIns="0"/>
          <a:lstStyle/>
          <a:p>
            <a:pPr algn="l">
              <a:spcAft>
                <a:spcPts val="0"/>
              </a:spcAft>
            </a:pPr>
            <a:r>
              <a:rPr sz="5400" b="1" i="0">
                <a:solidFill>
                  <a:srgbClr val="FFFFFF"/>
                </a:solidFill>
                <a:latin typeface="Cambria"/>
              </a:rPr>
              <a:t>Thank you</a:t>
            </a:r>
          </a:p>
        </p:txBody>
      </p:sp>
      <p:sp>
        <p:nvSpPr>
          <p:cNvPr id="30" name="TextBox 29"/>
          <p:cNvSpPr txBox="1"/>
          <p:nvPr/>
        </p:nvSpPr>
        <p:spPr>
          <a:xfrm>
            <a:off x="548640" y="3154680"/>
            <a:ext cx="5486400" cy="548640"/>
          </a:xfrm>
          <a:prstGeom prst="rect">
            <a:avLst/>
          </a:prstGeom>
          <a:noFill/>
        </p:spPr>
        <p:txBody>
          <a:bodyPr wrap="square" anchor="t" lIns="0" rIns="0" tIns="0" bIns="0"/>
          <a:lstStyle/>
          <a:p>
            <a:pPr algn="l">
              <a:spcAft>
                <a:spcPts val="400"/>
              </a:spcAft>
            </a:pPr>
            <a:r>
              <a:rPr sz="2200" b="0" i="1">
                <a:solidFill>
                  <a:srgbClr val="B4B0E6"/>
                </a:solidFill>
                <a:latin typeface="Cambria"/>
              </a:rPr>
              <a:t>Questions &amp; discussion</a:t>
            </a:r>
          </a:p>
        </p:txBody>
      </p:sp>
      <p:sp>
        <p:nvSpPr>
          <p:cNvPr id="31" name="TextBox 30"/>
          <p:cNvSpPr txBox="1"/>
          <p:nvPr/>
        </p:nvSpPr>
        <p:spPr>
          <a:xfrm>
            <a:off x="548640" y="5257800"/>
            <a:ext cx="5486400" cy="411480"/>
          </a:xfrm>
          <a:prstGeom prst="rect">
            <a:avLst/>
          </a:prstGeom>
          <a:noFill/>
        </p:spPr>
        <p:txBody>
          <a:bodyPr wrap="square" anchor="t" lIns="0" rIns="0" tIns="0" bIns="0"/>
          <a:lstStyle/>
          <a:p>
            <a:pPr algn="l">
              <a:spcAft>
                <a:spcPts val="400"/>
              </a:spcAft>
            </a:pPr>
            <a:r>
              <a:rPr sz="1700" b="1" i="0">
                <a:solidFill>
                  <a:srgbClr val="FFFFFF"/>
                </a:solidFill>
                <a:latin typeface="Cambria"/>
              </a:rPr>
              <a:t>Utkarsh Kale  ·  Roll No. B342</a:t>
            </a:r>
          </a:p>
        </p:txBody>
      </p:sp>
      <p:sp>
        <p:nvSpPr>
          <p:cNvPr id="32" name="TextBox 31"/>
          <p:cNvSpPr txBox="1"/>
          <p:nvPr/>
        </p:nvSpPr>
        <p:spPr>
          <a:xfrm>
            <a:off x="548640" y="5669280"/>
            <a:ext cx="7315200" cy="320040"/>
          </a:xfrm>
          <a:prstGeom prst="rect">
            <a:avLst/>
          </a:prstGeom>
          <a:noFill/>
        </p:spPr>
        <p:txBody>
          <a:bodyPr wrap="square" anchor="t" lIns="0" rIns="0" tIns="0" bIns="0"/>
          <a:lstStyle/>
          <a:p>
            <a:pPr algn="l">
              <a:spcAft>
                <a:spcPts val="400"/>
              </a:spcAft>
            </a:pPr>
            <a:r>
              <a:rPr sz="1100" b="0" i="0">
                <a:solidFill>
                  <a:srgbClr val="B4B0E6"/>
                </a:solidFill>
                <a:latin typeface="Calibri"/>
              </a:rPr>
              <a:t>Department of Computer Engineering  ·  Bajaj Institute of Technology, Wardha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Median</Template>
  <TotalTime>17307</TotalTime>
  <Words>822</Words>
  <Application>Microsoft Office PowerPoint</Application>
  <PresentationFormat>On-screen Show (4:3)</PresentationFormat>
  <Paragraphs>87</Paragraphs>
  <Slides>16</Slides>
  <Notes>1</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16</vt:i4>
      </vt:variant>
    </vt:vector>
  </HeadingPairs>
  <TitlesOfParts>
    <vt:vector size="21" baseType="lpstr">
      <vt:lpstr>Arial</vt:lpstr>
      <vt:lpstr>Calibri</vt:lpstr>
      <vt:lpstr>Times New Roman</vt:lpstr>
      <vt:lpstr>Office Theme</vt:lpstr>
      <vt:lpstr>2_Office Theme</vt:lpstr>
      <vt:lpstr>Points to Note</vt:lpstr>
      <vt:lpstr>PowerPoint Presentation</vt:lpstr>
      <vt:lpstr>Title   Delivered By:  Name of Student  Department of Computer Engineering Bajaj Institute of Technology, Wardha.  Under Supervision of:    Name of Faculty Designation of faculty  Computer Engineering Department, BIT, Wardha     </vt:lpstr>
      <vt:lpstr>Index</vt:lpstr>
      <vt:lpstr>PowerPoint Presentation</vt:lpstr>
      <vt:lpstr>Objective </vt:lpstr>
      <vt:lpstr> Literature Review </vt:lpstr>
      <vt:lpstr>PowerPoint Presentation</vt:lpstr>
      <vt:lpstr> Baseline Papers Selected for Seminar Work </vt:lpstr>
      <vt:lpstr>System architecture/Algorithms Studied</vt:lpstr>
      <vt:lpstr>Features/Advantages/Disadvantages </vt:lpstr>
      <vt:lpstr>Applications </vt:lpstr>
      <vt:lpstr>Analysis/Comparison </vt:lpstr>
      <vt:lpstr>Conclusion </vt:lpstr>
      <vt:lpstr>References </vt:lpstr>
      <vt:lpstr>References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Kevin Hickey</dc:creator>
  <cp:lastModifiedBy>Gajanan Tikhe</cp:lastModifiedBy>
  <cp:revision>764</cp:revision>
  <dcterms:created xsi:type="dcterms:W3CDTF">2010-06-24T14:41:07Z</dcterms:created>
  <dcterms:modified xsi:type="dcterms:W3CDTF">2026-09-05T04:49:03Z</dcterms:modified>
</cp:coreProperties>
</file>