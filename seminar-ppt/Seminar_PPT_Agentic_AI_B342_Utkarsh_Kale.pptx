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 id="2147483804" r:id="rId2"/>
  </p:sldMasterIdLst>
  <p:notesMasterIdLst>
    <p:notesMasterId r:id="rId19"/>
  </p:notesMasterIdLst>
  <p:handoutMasterIdLst>
    <p:handoutMasterId r:id="rId20"/>
  </p:handoutMasterIdLst>
  <p:sldIdLst>
    <p:sldId id="256" r:id="rId9"/>
    <p:sldId id="257" r:id="rId10"/>
    <p:sldId id="258" r:id="rId11"/>
    <p:sldId id="259" r:id="rId12"/>
    <p:sldId id="260" r:id="rId13"/>
    <p:sldId id="261" r:id="rId14"/>
    <p:sldId id="262" r:id="rId15"/>
    <p:sldId id="263" r:id="rId16"/>
    <p:sldId id="264" r:id="rId17"/>
    <p:sldId id="265" r:id="rId18"/>
    <p:sldId id="266" r:id="rId8"/>
    <p:sldId id="267" r:id="rId7"/>
    <p:sldId id="268" r:id="rId6"/>
    <p:sldId id="269" r:id="rId5"/>
    <p:sldId id="270" r:id="rId4"/>
    <p:sldId id="271" r:id="rId3"/>
    <p:sldId id="272"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FEA"/>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24" autoAdjust="0"/>
  </p:normalViewPr>
  <p:slideViewPr>
    <p:cSldViewPr>
      <p:cViewPr varScale="1">
        <p:scale>
          <a:sx n="65" d="100"/>
          <a:sy n="65" d="100"/>
        </p:scale>
        <p:origin x="155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51B6C61-D26D-4CEA-A1F0-27D95809EFC3}" type="datetimeFigureOut">
              <a:rPr lang="en-US" smtClean="0"/>
              <a:pPr/>
              <a:t>9/5/2026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F6C1F1A-88C9-4BF9-8699-F22C6D8974EF}" type="slidenum">
              <a:rPr lang="en-US" smtClean="0"/>
              <a:pPr/>
              <a:t>‹#›</a:t>
            </a:fld>
            <a:endParaRPr lang="en-US"/>
          </a:p>
        </p:txBody>
      </p:sp>
    </p:spTree>
    <p:extLst>
      <p:ext uri="{BB962C8B-B14F-4D97-AF65-F5344CB8AC3E}">
        <p14:creationId xmlns:p14="http://schemas.microsoft.com/office/powerpoint/2010/main" val="22679753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05/09/2026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175171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seminar topic is Agentic AI: autonomous agents built on large language models that can plan, reason, coordinate with other agents and execute tasks. I will cover how these systems work, the main algorithms, applications, and their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my presentation, following the Seminar-I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LLM use is prompt-response: you ask, it answers once. Agentic AI turns the model into the brain of a loop: it breaks a goal into steps, calls tools such as web search or a code interpreter, stores what it learns, and checks its own output. Historically this grew from narrow rule-based agents, to LLMs in 2020-22, to reasoning-and-acting methods like ReAct, to multi-agent frameworks, and now to open protocols like MCP and A2A.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seminar I aim to explain the internal architecture of an agent, compare ways of coordinating several agents, explain memory management, show real applications, and critically discuss the open challenges. Together they answer one question: how do we build reliable autonomous agents?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studied twelve sources: six IEEE papers, five arXiv, ACL and ICLR papers, and one industry engineering report. I grouped them into six themes, each feeding one part of the architecture. The IEEE ICOIN 2026 survey was my architectural starting point. My own interpretation: a strong model is not enough - orchestration, memory and checking matter just as much.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each paper and what it reports. The first five cover the overall architecture, taxonomy, software evolution, runtime framework and memory.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each paper and what it reports. These five cover protocols, security, fuzzing, grounded robotic planning and a comparison of agent frameworks.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selected the ICOIN 2026 survey as my primary baseline because it covers the full agent architecture. The taxonomy paper by Arunkumar, Gangadharan and Buyya helped me classify agents and their failure modes, and the MCP/A2A paper explains the interoperability layer. Focused papers 4, 5 and 7 to 10 then supplied the runtime, memory, security and multi-agent details.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overall architecture. The user gives a goal; the planner understands it, decomposes it and builds a task graph. The orchestrator agent assigns subtasks to specialised worker agents - research, coding, testing and critique - which talk to each other through A2A and reach external tools through MCP. A memory layer keeps short-term, long-term and shared context. The output is verified, and on failure the system replans.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 proposed by Yao et al., is the core loop inside most agents. At each step the model first produces a Thought - its reasoning about what to do. It then picks an Action, usually a tool call, and reads the Observation. These go into the history so the next step is better informed. The loop stops when the goal is met. In the example the agent realises it needs live data and calls a weather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complex goals the planner asks the LLM for a plan and decomposes it into subtasks with dependencies - a task graph. Independent tasks such as the two searches run in parallel. Each subtask goes to a specialised agent. Agents can be coordinated centrally, hierarchically or in a decentralized way, each with trade-offs. Finally, context management keeps the prompt lean: it merges recent turns with retrieved long-term memory and summarises when the context gets too long, as studied in the AgeMem paper.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features are autonomy, planning, tool use, memory and reflection. The advantages follow: agents handle complex workflows, specialise and parallelise, and use live data. The disadvantages are important: one wrong step can cascade, external content can inject malicious instructions, multi-agent systems are costly, and reliable evaluation is still an open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AI is already used in software engineering, where agents write and test code; in research, where Anthropic describes an orchestrator that runs several search agents in parallel; in cybersecurity for vulnerability discovery; in industrial robotics for long-horizon planning such as GLaMP; and in business and personal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three levels: a single LLM is cheap but cannot act; a single agent with ReAct and tools handles multi-step tasks; a multi-agent system handles large parallel work but costs more. Among frameworks, CrewAI organises agents as role-based crews, AutoGen as conversations between agents, and LangGraph as stateful graphs. Paper 10 compares CrewAI, AutoGen and LangChain and proposes a hybrid; its numbers apply to its own benchmark. The main benefit is moving from answering to acting and verifying.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agentic AI is a shift from prompt-response to goal-directed systems. Its building blocks are the ReAct loop, planning, memory and tools; multi-agent systems add specialisation; MCP and A2A connect everything. Future work is in learned memory, standard evaluation, security and domain-specific agents. My main conclusion is that reliability comes from the whole system design, not just a bigger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format; numbers in square brackets on the slides point to this list.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format; numbers in square brackets on the slides point to this list. Reference 11 is an industry engineering report, not a peer-reviewed paper.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A9361A-5752-4A3F-B317-24EB821E62FC}"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84ABE7-6F46-483A-A318-EB7CEB294141}"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677C19-3876-44A2-A0CE-E292A435F0D3}"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47744B-983E-408C-A292-CA00D1954083}"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3B162A-B07D-4289-86AD-0FFE81BAD1C7}" type="datetime1">
              <a:rPr lang="en-GB" smtClean="0"/>
              <a:t>05/09/2026</a:t>
            </a:fld>
            <a:endParaRPr lang="en-GB"/>
          </a:p>
        </p:txBody>
      </p:sp>
      <p:sp>
        <p:nvSpPr>
          <p:cNvPr id="8" name="Footer Placeholder 7"/>
          <p:cNvSpPr>
            <a:spLocks noGrp="1"/>
          </p:cNvSpPr>
          <p:nvPr>
            <p:ph type="ftr" sz="quarter" idx="11"/>
          </p:nvPr>
        </p:nvSpPr>
        <p:spPr/>
        <p:txBody>
          <a:bodyPr/>
          <a:lstStyle/>
          <a:p>
            <a:r>
              <a:rPr lang="en-GB"/>
              <a:t>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661FC8-3BD0-4B3E-92B0-041560FB0C80}" type="datetime1">
              <a:rPr lang="en-GB" smtClean="0"/>
              <a:t>05/09/2026</a:t>
            </a:fld>
            <a:endParaRPr lang="en-GB"/>
          </a:p>
        </p:txBody>
      </p:sp>
      <p:sp>
        <p:nvSpPr>
          <p:cNvPr id="4" name="Footer Placeholder 3"/>
          <p:cNvSpPr>
            <a:spLocks noGrp="1"/>
          </p:cNvSpPr>
          <p:nvPr>
            <p:ph type="ftr" sz="quarter" idx="11"/>
          </p:nvPr>
        </p:nvSpPr>
        <p:spPr/>
        <p:txBody>
          <a:bodyPr/>
          <a:lstStyle/>
          <a:p>
            <a:r>
              <a:rPr lang="en-GB"/>
              <a:t>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02F35F-FAE8-42C5-8897-AB27EC360220}" type="datetime1">
              <a:rPr lang="en-GB" smtClean="0"/>
              <a:t>05/09/2026</a:t>
            </a:fld>
            <a:endParaRPr lang="en-GB"/>
          </a:p>
        </p:txBody>
      </p:sp>
      <p:sp>
        <p:nvSpPr>
          <p:cNvPr id="3" name="Footer Placeholder 2"/>
          <p:cNvSpPr>
            <a:spLocks noGrp="1"/>
          </p:cNvSpPr>
          <p:nvPr>
            <p:ph type="ftr" sz="quarter" idx="11"/>
          </p:nvPr>
        </p:nvSpPr>
        <p:spPr/>
        <p:txBody>
          <a:bodyPr/>
          <a:lstStyle/>
          <a:p>
            <a:r>
              <a:rPr lang="en-GB"/>
              <a:t>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7C1F6-3D22-4CB7-8FE7-C5A85987562C}"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DA32B8-8311-4207-ADB6-15A12511FDD5}"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FA4A5E-0E72-4911-9A6C-0A673FF39788}"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DF5CE2-47B1-41AD-9B44-AEAA57961DF6}"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448341-C165-4832-A930-9C14941FE0C1}"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333B3-7E08-4232-BF01-CEA4A255EC85}"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250C1-0B22-40BA-8D3C-820F66690A62}"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6D7607-6B78-432E-ACEE-70CC6F79C167}"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B2FA96-2CB9-4FF3-985F-7F96F41E8B43}" type="datetime1">
              <a:rPr lang="en-GB" smtClean="0"/>
              <a:t>05/09/2026</a:t>
            </a:fld>
            <a:endParaRPr lang="en-GB"/>
          </a:p>
        </p:txBody>
      </p:sp>
      <p:sp>
        <p:nvSpPr>
          <p:cNvPr id="8" name="Footer Placeholder 7"/>
          <p:cNvSpPr>
            <a:spLocks noGrp="1"/>
          </p:cNvSpPr>
          <p:nvPr>
            <p:ph type="ftr" sz="quarter" idx="11"/>
          </p:nvPr>
        </p:nvSpPr>
        <p:spPr/>
        <p:txBody>
          <a:bodyPr/>
          <a:lstStyle/>
          <a:p>
            <a:r>
              <a:rPr lang="en-GB"/>
              <a:t>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8717EC-8CF9-4F7A-A293-4675CA811524}" type="datetime1">
              <a:rPr lang="en-GB" smtClean="0"/>
              <a:t>05/09/2026</a:t>
            </a:fld>
            <a:endParaRPr lang="en-GB"/>
          </a:p>
        </p:txBody>
      </p:sp>
      <p:sp>
        <p:nvSpPr>
          <p:cNvPr id="4" name="Footer Placeholder 3"/>
          <p:cNvSpPr>
            <a:spLocks noGrp="1"/>
          </p:cNvSpPr>
          <p:nvPr>
            <p:ph type="ftr" sz="quarter" idx="11"/>
          </p:nvPr>
        </p:nvSpPr>
        <p:spPr/>
        <p:txBody>
          <a:bodyPr/>
          <a:lstStyle/>
          <a:p>
            <a:r>
              <a:rPr lang="en-GB"/>
              <a:t>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A5CBD2-66C1-423B-A11A-13158259126E}" type="datetime1">
              <a:rPr lang="en-GB" smtClean="0"/>
              <a:t>05/09/2026</a:t>
            </a:fld>
            <a:endParaRPr lang="en-GB"/>
          </a:p>
        </p:txBody>
      </p:sp>
      <p:sp>
        <p:nvSpPr>
          <p:cNvPr id="3" name="Footer Placeholder 2"/>
          <p:cNvSpPr>
            <a:spLocks noGrp="1"/>
          </p:cNvSpPr>
          <p:nvPr>
            <p:ph type="ftr" sz="quarter" idx="11"/>
          </p:nvPr>
        </p:nvSpPr>
        <p:spPr/>
        <p:txBody>
          <a:bodyPr/>
          <a:lstStyle/>
          <a:p>
            <a:r>
              <a:rPr lang="en-GB"/>
              <a:t>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65167D-FA03-46DF-85C9-4E3D5ADDD51D}"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27E4E-DF66-43CE-8D2C-97EC90D9C7A6}"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F1A745-BAE3-4F75-B15E-70CC5EF55A39}"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DBEF5-61E2-41D4-ADC0-52B6DDA9D0E3}"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60F32-3C46-499F-A5B1-466BADF91087}" type="datetime1">
              <a:rPr lang="en-GB" smtClean="0"/>
              <a:t>05/09/2026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advClick="0" advTm="20000"/>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4274D-0DB2-4E56-B769-729881BF81BB}" type="datetime1">
              <a:rPr lang="en-GB" smtClean="0"/>
              <a:t>05/09/2026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advClick="0" advTm="20000"/>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image" Target="../media/image3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ver.jpg"/>
          <p:cNvPicPr>
            <a:picLocks noChangeAspect="1"/>
          </p:cNvPicPr>
          <p:nvPr/>
        </p:nvPicPr>
        <p:blipFill>
          <a:blip r:embed="rId2"/>
          <a:stretch>
            <a:fillRect/>
          </a:stretch>
        </p:blipFill>
        <p:spPr>
          <a:xfrm>
            <a:off x="0" y="0"/>
            <a:ext cx="9144000" cy="6858000"/>
          </a:xfrm>
          <a:prstGeom prst="rect">
            <a:avLst/>
          </a:prstGeom>
        </p:spPr>
      </p:pic>
      <p:sp>
        <p:nvSpPr>
          <p:cNvPr id="3" name="Rounded Rectangle 2"/>
          <p:cNvSpPr/>
          <p:nvPr/>
        </p:nvSpPr>
        <p:spPr>
          <a:xfrm>
            <a:off x="365760" y="274320"/>
            <a:ext cx="8412480" cy="1234440"/>
          </a:xfrm>
          <a:prstGeom prst="roundRect">
            <a:avLst>
              <a:gd name="adj" fmla="val 11851"/>
            </a:avLst>
          </a:prstGeom>
          <a:solidFill>
            <a:srgbClr val="FFFFFF"/>
          </a:solidFill>
          <a:ln>
            <a:noFill/>
          </a:ln>
        </p:spPr>
        <p:txBody>
          <a:bodyPr rtlCol="0" anchor="ctr" wrap="square" lIns="54864" rIns="54864" tIns="54864" bIns="54864"/>
          <a:lstStyle/>
          <a:p>
            <a:pPr algn="ctr"/>
          </a:p>
        </p:txBody>
      </p:sp>
      <p:pic>
        <p:nvPicPr>
          <p:cNvPr id="4" name="Picture 3" descr="image.jpg"/>
          <p:cNvPicPr>
            <a:picLocks noChangeAspect="1"/>
          </p:cNvPicPr>
          <p:nvPr/>
        </p:nvPicPr>
        <p:blipFill>
          <a:blip r:embed="rId3"/>
          <a:stretch>
            <a:fillRect/>
          </a:stretch>
        </p:blipFill>
        <p:spPr>
          <a:xfrm>
            <a:off x="548640" y="347472"/>
            <a:ext cx="1143000" cy="860867"/>
          </a:xfrm>
          <a:prstGeom prst="rect">
            <a:avLst/>
          </a:prstGeom>
        </p:spPr>
      </p:pic>
      <p:pic>
        <p:nvPicPr>
          <p:cNvPr id="5" name="Picture 4" descr="image.png"/>
          <p:cNvPicPr>
            <a:picLocks noChangeAspect="1"/>
          </p:cNvPicPr>
          <p:nvPr/>
        </p:nvPicPr>
        <p:blipFill>
          <a:blip r:embed="rId4"/>
          <a:srcRect l="11745" r="3185"/>
          <a:stretch>
            <a:fillRect/>
          </a:stretch>
        </p:blipFill>
        <p:spPr>
          <a:xfrm>
            <a:off x="1783080" y="365760"/>
            <a:ext cx="6812280" cy="1014984"/>
          </a:xfrm>
          <a:prstGeom prst="rect">
            <a:avLst/>
          </a:prstGeom>
        </p:spPr>
      </p:pic>
      <p:sp>
        <p:nvSpPr>
          <p:cNvPr id="6" name="TextBox 5"/>
          <p:cNvSpPr txBox="1"/>
          <p:nvPr/>
        </p:nvSpPr>
        <p:spPr>
          <a:xfrm>
            <a:off x="548640" y="1828800"/>
            <a:ext cx="45720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SEMINAR-I  ·  2025–26</a:t>
            </a:r>
          </a:p>
        </p:txBody>
      </p:sp>
      <p:sp>
        <p:nvSpPr>
          <p:cNvPr id="7" name="TextBox 6"/>
          <p:cNvSpPr txBox="1"/>
          <p:nvPr/>
        </p:nvSpPr>
        <p:spPr>
          <a:xfrm>
            <a:off x="548640" y="2103120"/>
            <a:ext cx="5120640" cy="868680"/>
          </a:xfrm>
          <a:prstGeom prst="rect">
            <a:avLst/>
          </a:prstGeom>
          <a:noFill/>
        </p:spPr>
        <p:txBody>
          <a:bodyPr wrap="square" anchor="ctr" lIns="0" rIns="0" tIns="0" bIns="0"/>
          <a:lstStyle/>
          <a:p>
            <a:pPr algn="l">
              <a:spcAft>
                <a:spcPts val="400"/>
              </a:spcAft>
            </a:pPr>
            <a:r>
              <a:rPr sz="5200" b="1" i="0">
                <a:solidFill>
                  <a:srgbClr val="EEF2FF"/>
                </a:solidFill>
                <a:latin typeface="Calibri"/>
              </a:rPr>
              <a:t>Agentic </a:t>
            </a:r>
            <a:r>
              <a:rPr sz="5200" b="1" i="0">
                <a:solidFill>
                  <a:srgbClr val="22D3EE"/>
                </a:solidFill>
                <a:latin typeface="Calibri"/>
              </a:rPr>
              <a:t>AI</a:t>
            </a:r>
          </a:p>
        </p:txBody>
      </p:sp>
      <p:sp>
        <p:nvSpPr>
          <p:cNvPr id="8" name="TextBox 7"/>
          <p:cNvSpPr txBox="1"/>
          <p:nvPr/>
        </p:nvSpPr>
        <p:spPr>
          <a:xfrm>
            <a:off x="548640" y="3017520"/>
            <a:ext cx="4846320" cy="914400"/>
          </a:xfrm>
          <a:prstGeom prst="rect">
            <a:avLst/>
          </a:prstGeom>
          <a:noFill/>
        </p:spPr>
        <p:txBody>
          <a:bodyPr wrap="square" anchor="t" lIns="0" rIns="0" tIns="0" bIns="0"/>
          <a:lstStyle/>
          <a:p>
            <a:pPr algn="l">
              <a:spcAft>
                <a:spcPts val="400"/>
              </a:spcAft>
            </a:pPr>
            <a:r>
              <a:rPr sz="1700" b="0" i="0">
                <a:solidFill>
                  <a:srgbClr val="A3ADC8"/>
                </a:solidFill>
                <a:latin typeface="Calibri"/>
              </a:rPr>
              <a:t>Autonomous LLM Agents for Planning, Reasoning, Coordination and Task Execution</a:t>
            </a:r>
          </a:p>
        </p:txBody>
      </p:sp>
      <p:sp>
        <p:nvSpPr>
          <p:cNvPr id="9" name="Oval 8"/>
          <p:cNvSpPr/>
          <p:nvPr/>
        </p:nvSpPr>
        <p:spPr>
          <a:xfrm>
            <a:off x="5943600" y="1965960"/>
            <a:ext cx="2286000" cy="2286000"/>
          </a:xfrm>
          <a:prstGeom prst="ellipse">
            <a:avLst/>
          </a:prstGeom>
          <a:noFill/>
          <a:ln w="15875">
            <a:solidFill>
              <a:srgbClr val="A78BFA">
                <a:alpha val="45000"/>
              </a:srgbClr>
            </a:solidFill>
          </a:ln>
        </p:spPr>
        <p:txBody>
          <a:bodyPr rtlCol="0" anchor="ctr" wrap="square" lIns="54864" rIns="54864" tIns="54864" bIns="54864"/>
          <a:lstStyle/>
          <a:p>
            <a:pPr algn="ctr"/>
          </a:p>
        </p:txBody>
      </p:sp>
      <p:sp>
        <p:nvSpPr>
          <p:cNvPr id="10" name="Oval 9"/>
          <p:cNvSpPr/>
          <p:nvPr/>
        </p:nvSpPr>
        <p:spPr>
          <a:xfrm>
            <a:off x="6377940" y="2400300"/>
            <a:ext cx="1417320" cy="1417320"/>
          </a:xfrm>
          <a:prstGeom prst="ellipse">
            <a:avLst/>
          </a:prstGeom>
          <a:noFill/>
          <a:ln w="12700">
            <a:solidFill>
              <a:srgbClr val="22D3EE">
                <a:alpha val="35000"/>
              </a:srgbClr>
            </a:solidFill>
          </a:ln>
        </p:spPr>
        <p:txBody>
          <a:bodyPr rtlCol="0" anchor="ctr" wrap="square" lIns="54864" rIns="54864" tIns="54864" bIns="54864"/>
          <a:lstStyle/>
          <a:p>
            <a:pPr algn="ctr"/>
          </a:p>
        </p:txBody>
      </p:sp>
      <p:sp>
        <p:nvSpPr>
          <p:cNvPr id="11" name="Oval 10"/>
          <p:cNvSpPr/>
          <p:nvPr/>
        </p:nvSpPr>
        <p:spPr>
          <a:xfrm>
            <a:off x="6519672" y="2542032"/>
            <a:ext cx="1133856" cy="1133856"/>
          </a:xfrm>
          <a:prstGeom prst="ellipse">
            <a:avLst/>
          </a:prstGeom>
          <a:solidFill>
            <a:srgbClr val="7C3AED">
              <a:alpha val="30000"/>
            </a:srgbClr>
          </a:solidFill>
          <a:ln>
            <a:noFill/>
          </a:ln>
        </p:spPr>
        <p:txBody>
          <a:bodyPr rtlCol="0" anchor="ctr" wrap="square" lIns="54864" rIns="54864" tIns="54864" bIns="54864"/>
          <a:lstStyle/>
          <a:p>
            <a:pPr algn="ctr"/>
          </a:p>
        </p:txBody>
      </p:sp>
      <p:sp>
        <p:nvSpPr>
          <p:cNvPr id="12" name="Oval 11"/>
          <p:cNvSpPr/>
          <p:nvPr/>
        </p:nvSpPr>
        <p:spPr>
          <a:xfrm>
            <a:off x="6675120" y="2697479"/>
            <a:ext cx="822960" cy="82296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spcAft>
                <a:spcPts val="0"/>
              </a:spcAft>
            </a:pPr>
            <a:r>
              <a:rPr sz="1500" b="1" i="0">
                <a:solidFill>
                  <a:srgbClr val="FFFFFF"/>
                </a:solidFill>
                <a:latin typeface="Consolas"/>
              </a:rPr>
              <a:t>LLM</a:t>
            </a:r>
          </a:p>
        </p:txBody>
      </p:sp>
      <p:sp>
        <p:nvSpPr>
          <p:cNvPr id="13" name="Oval 12"/>
          <p:cNvSpPr/>
          <p:nvPr/>
        </p:nvSpPr>
        <p:spPr>
          <a:xfrm>
            <a:off x="6812280" y="1691639"/>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14" name="Picture 13" descr="plan_uc.png"/>
          <p:cNvPicPr>
            <a:picLocks noChangeAspect="1"/>
          </p:cNvPicPr>
          <p:nvPr/>
        </p:nvPicPr>
        <p:blipFill>
          <a:blip r:embed="rId5"/>
          <a:stretch>
            <a:fillRect/>
          </a:stretch>
        </p:blipFill>
        <p:spPr>
          <a:xfrm>
            <a:off x="6940296" y="1819656"/>
            <a:ext cx="292608" cy="292608"/>
          </a:xfrm>
          <a:prstGeom prst="rect">
            <a:avLst/>
          </a:prstGeom>
        </p:spPr>
      </p:pic>
      <p:sp>
        <p:nvSpPr>
          <p:cNvPr id="15" name="TextBox 14"/>
          <p:cNvSpPr txBox="1"/>
          <p:nvPr/>
        </p:nvSpPr>
        <p:spPr>
          <a:xfrm>
            <a:off x="7415783" y="1847088"/>
            <a:ext cx="914400" cy="237744"/>
          </a:xfrm>
          <a:prstGeom prst="rect">
            <a:avLst/>
          </a:prstGeom>
          <a:noFill/>
        </p:spPr>
        <p:txBody>
          <a:bodyPr wrap="square" anchor="t" lIns="0" rIns="0" tIns="0" bIns="0"/>
          <a:lstStyle/>
          <a:p>
            <a:pPr algn="l">
              <a:spcAft>
                <a:spcPts val="400"/>
              </a:spcAft>
            </a:pPr>
            <a:r>
              <a:rPr sz="1050" b="0" i="0">
                <a:solidFill>
                  <a:srgbClr val="A3ADC8"/>
                </a:solidFill>
                <a:latin typeface="Consolas"/>
              </a:rPr>
              <a:t>Plan</a:t>
            </a:r>
          </a:p>
        </p:txBody>
      </p:sp>
      <p:sp>
        <p:nvSpPr>
          <p:cNvPr id="16" name="Oval 15"/>
          <p:cNvSpPr/>
          <p:nvPr/>
        </p:nvSpPr>
        <p:spPr>
          <a:xfrm>
            <a:off x="7955279" y="283464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17" name="Picture 16" descr="tools_uc.png"/>
          <p:cNvPicPr>
            <a:picLocks noChangeAspect="1"/>
          </p:cNvPicPr>
          <p:nvPr/>
        </p:nvPicPr>
        <p:blipFill>
          <a:blip r:embed="rId6"/>
          <a:stretch>
            <a:fillRect/>
          </a:stretch>
        </p:blipFill>
        <p:spPr>
          <a:xfrm>
            <a:off x="8083296" y="2962656"/>
            <a:ext cx="292608" cy="292608"/>
          </a:xfrm>
          <a:prstGeom prst="rect">
            <a:avLst/>
          </a:prstGeom>
        </p:spPr>
      </p:pic>
      <p:sp>
        <p:nvSpPr>
          <p:cNvPr id="18" name="TextBox 17"/>
          <p:cNvSpPr txBox="1"/>
          <p:nvPr/>
        </p:nvSpPr>
        <p:spPr>
          <a:xfrm>
            <a:off x="7680960" y="341071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Tools</a:t>
            </a:r>
          </a:p>
        </p:txBody>
      </p:sp>
      <p:sp>
        <p:nvSpPr>
          <p:cNvPr id="19" name="Oval 18"/>
          <p:cNvSpPr/>
          <p:nvPr/>
        </p:nvSpPr>
        <p:spPr>
          <a:xfrm>
            <a:off x="6812280" y="397764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20" name="Picture 19" descr="db_uc.png"/>
          <p:cNvPicPr>
            <a:picLocks noChangeAspect="1"/>
          </p:cNvPicPr>
          <p:nvPr/>
        </p:nvPicPr>
        <p:blipFill>
          <a:blip r:embed="rId7"/>
          <a:stretch>
            <a:fillRect/>
          </a:stretch>
        </p:blipFill>
        <p:spPr>
          <a:xfrm>
            <a:off x="6940296" y="4105656"/>
            <a:ext cx="292608" cy="292608"/>
          </a:xfrm>
          <a:prstGeom prst="rect">
            <a:avLst/>
          </a:prstGeom>
        </p:spPr>
      </p:pic>
      <p:sp>
        <p:nvSpPr>
          <p:cNvPr id="21" name="TextBox 20"/>
          <p:cNvSpPr txBox="1"/>
          <p:nvPr/>
        </p:nvSpPr>
        <p:spPr>
          <a:xfrm>
            <a:off x="6537960" y="455371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Memory</a:t>
            </a:r>
          </a:p>
        </p:txBody>
      </p:sp>
      <p:sp>
        <p:nvSpPr>
          <p:cNvPr id="22" name="Oval 21"/>
          <p:cNvSpPr/>
          <p:nvPr/>
        </p:nvSpPr>
        <p:spPr>
          <a:xfrm>
            <a:off x="5669280" y="283464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23" name="Picture 22" descr="sync_uc.png"/>
          <p:cNvPicPr>
            <a:picLocks noChangeAspect="1"/>
          </p:cNvPicPr>
          <p:nvPr/>
        </p:nvPicPr>
        <p:blipFill>
          <a:blip r:embed="rId8"/>
          <a:stretch>
            <a:fillRect/>
          </a:stretch>
        </p:blipFill>
        <p:spPr>
          <a:xfrm>
            <a:off x="5797296" y="2962656"/>
            <a:ext cx="292608" cy="292608"/>
          </a:xfrm>
          <a:prstGeom prst="rect">
            <a:avLst/>
          </a:prstGeom>
        </p:spPr>
      </p:pic>
      <p:sp>
        <p:nvSpPr>
          <p:cNvPr id="24" name="TextBox 23"/>
          <p:cNvSpPr txBox="1"/>
          <p:nvPr/>
        </p:nvSpPr>
        <p:spPr>
          <a:xfrm>
            <a:off x="5394960" y="341071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Reflect</a:t>
            </a:r>
          </a:p>
        </p:txBody>
      </p:sp>
      <p:sp>
        <p:nvSpPr>
          <p:cNvPr id="25" name="Rounded Rectangle 24"/>
          <p:cNvSpPr/>
          <p:nvPr/>
        </p:nvSpPr>
        <p:spPr>
          <a:xfrm>
            <a:off x="548640" y="4754880"/>
            <a:ext cx="3931920" cy="1600200"/>
          </a:xfrm>
          <a:prstGeom prst="roundRect">
            <a:avLst>
              <a:gd name="adj" fmla="val 8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6" name="TextBox 25"/>
          <p:cNvSpPr txBox="1"/>
          <p:nvPr/>
        </p:nvSpPr>
        <p:spPr>
          <a:xfrm>
            <a:off x="749808" y="4864608"/>
            <a:ext cx="3566160" cy="256032"/>
          </a:xfrm>
          <a:prstGeom prst="rect">
            <a:avLst/>
          </a:prstGeom>
          <a:noFill/>
        </p:spPr>
        <p:txBody>
          <a:bodyPr wrap="square" anchor="t" lIns="0" rIns="0" tIns="0" bIns="0"/>
          <a:lstStyle/>
          <a:p>
            <a:pPr algn="l">
              <a:spcAft>
                <a:spcPts val="400"/>
              </a:spcAft>
            </a:pPr>
            <a:r>
              <a:rPr sz="1050" b="1" i="0">
                <a:solidFill>
                  <a:srgbClr val="22D3EE"/>
                </a:solidFill>
                <a:latin typeface="Consolas"/>
              </a:rPr>
              <a:t>DELIVERED BY:</a:t>
            </a:r>
          </a:p>
        </p:txBody>
      </p:sp>
      <p:sp>
        <p:nvSpPr>
          <p:cNvPr id="27" name="TextBox 26"/>
          <p:cNvSpPr txBox="1"/>
          <p:nvPr/>
        </p:nvSpPr>
        <p:spPr>
          <a:xfrm>
            <a:off x="749808" y="5138928"/>
            <a:ext cx="3566160" cy="384048"/>
          </a:xfrm>
          <a:prstGeom prst="rect">
            <a:avLst/>
          </a:prstGeom>
          <a:noFill/>
        </p:spPr>
        <p:txBody>
          <a:bodyPr wrap="square" anchor="t" lIns="0" rIns="0" tIns="0" bIns="0"/>
          <a:lstStyle/>
          <a:p>
            <a:pPr algn="l">
              <a:spcAft>
                <a:spcPts val="400"/>
              </a:spcAft>
            </a:pPr>
            <a:r>
              <a:rPr sz="1900" b="1" i="0">
                <a:solidFill>
                  <a:srgbClr val="EEF2FF"/>
                </a:solidFill>
                <a:latin typeface="Calibri"/>
              </a:rPr>
              <a:t>Utkarsh Kale</a:t>
            </a:r>
          </a:p>
        </p:txBody>
      </p:sp>
      <p:sp>
        <p:nvSpPr>
          <p:cNvPr id="28" name="TextBox 27"/>
          <p:cNvSpPr txBox="1"/>
          <p:nvPr/>
        </p:nvSpPr>
        <p:spPr>
          <a:xfrm>
            <a:off x="749808" y="5522976"/>
            <a:ext cx="3566160" cy="274320"/>
          </a:xfrm>
          <a:prstGeom prst="rect">
            <a:avLst/>
          </a:prstGeom>
          <a:noFill/>
        </p:spPr>
        <p:txBody>
          <a:bodyPr wrap="square" anchor="t" lIns="0" rIns="0" tIns="0" bIns="0"/>
          <a:lstStyle/>
          <a:p>
            <a:pPr algn="l">
              <a:spcAft>
                <a:spcPts val="400"/>
              </a:spcAft>
            </a:pPr>
            <a:r>
              <a:rPr sz="1200" b="0" i="0">
                <a:solidFill>
                  <a:srgbClr val="A3ADC8"/>
                </a:solidFill>
                <a:latin typeface="Calibri"/>
              </a:rPr>
              <a:t>Roll No. B342  ·  Third Year, Semester V</a:t>
            </a:r>
          </a:p>
        </p:txBody>
      </p:sp>
      <p:sp>
        <p:nvSpPr>
          <p:cNvPr id="29" name="TextBox 28"/>
          <p:cNvSpPr txBox="1"/>
          <p:nvPr/>
        </p:nvSpPr>
        <p:spPr>
          <a:xfrm>
            <a:off x="749808" y="5779008"/>
            <a:ext cx="3566160" cy="502920"/>
          </a:xfrm>
          <a:prstGeom prst="rect">
            <a:avLst/>
          </a:prstGeom>
          <a:noFill/>
        </p:spPr>
        <p:txBody>
          <a:bodyPr wrap="square" anchor="t" lIns="0" rIns="0" tIns="0" bIns="0"/>
          <a:lstStyle/>
          <a:p>
            <a:pPr algn="l">
              <a:spcAft>
                <a:spcPts val="400"/>
              </a:spcAft>
            </a:pPr>
            <a:r>
              <a:rPr sz="1100" b="0" i="0">
                <a:solidFill>
                  <a:srgbClr val="A3ADC8"/>
                </a:solidFill>
                <a:latin typeface="Calibri"/>
              </a:rPr>
              <a:t>Department of Computer Engineering, Bajaj Institute of Technology, Wardha.</a:t>
            </a:r>
          </a:p>
        </p:txBody>
      </p:sp>
      <p:sp>
        <p:nvSpPr>
          <p:cNvPr id="30" name="Rounded Rectangle 29"/>
          <p:cNvSpPr/>
          <p:nvPr/>
        </p:nvSpPr>
        <p:spPr>
          <a:xfrm>
            <a:off x="4663440" y="4754880"/>
            <a:ext cx="3931920" cy="1600200"/>
          </a:xfrm>
          <a:prstGeom prst="roundRect">
            <a:avLst>
              <a:gd name="adj" fmla="val 8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1" name="TextBox 30"/>
          <p:cNvSpPr txBox="1"/>
          <p:nvPr/>
        </p:nvSpPr>
        <p:spPr>
          <a:xfrm>
            <a:off x="4864607" y="4864608"/>
            <a:ext cx="3566160" cy="256032"/>
          </a:xfrm>
          <a:prstGeom prst="rect">
            <a:avLst/>
          </a:prstGeom>
          <a:noFill/>
        </p:spPr>
        <p:txBody>
          <a:bodyPr wrap="square" anchor="t" lIns="0" rIns="0" tIns="0" bIns="0"/>
          <a:lstStyle/>
          <a:p>
            <a:pPr algn="l">
              <a:spcAft>
                <a:spcPts val="400"/>
              </a:spcAft>
            </a:pPr>
            <a:r>
              <a:rPr sz="1050" b="1" i="0">
                <a:solidFill>
                  <a:srgbClr val="F472B6"/>
                </a:solidFill>
                <a:latin typeface="Consolas"/>
              </a:rPr>
              <a:t>UNDER SUPERVISION OF:</a:t>
            </a:r>
          </a:p>
        </p:txBody>
      </p:sp>
      <p:sp>
        <p:nvSpPr>
          <p:cNvPr id="32" name="TextBox 31"/>
          <p:cNvSpPr txBox="1"/>
          <p:nvPr/>
        </p:nvSpPr>
        <p:spPr>
          <a:xfrm>
            <a:off x="4864607" y="5138928"/>
            <a:ext cx="3566160" cy="384048"/>
          </a:xfrm>
          <a:prstGeom prst="rect">
            <a:avLst/>
          </a:prstGeom>
          <a:noFill/>
        </p:spPr>
        <p:txBody>
          <a:bodyPr wrap="square" anchor="t" lIns="0" rIns="0" tIns="0" bIns="0"/>
          <a:lstStyle/>
          <a:p>
            <a:pPr algn="l">
              <a:spcAft>
                <a:spcPts val="400"/>
              </a:spcAft>
            </a:pPr>
            <a:r>
              <a:rPr sz="1900" b="1" i="0">
                <a:solidFill>
                  <a:srgbClr val="EEF2FF"/>
                </a:solidFill>
                <a:latin typeface="Calibri"/>
              </a:rPr>
              <a:t>Name of Faculty</a:t>
            </a:r>
          </a:p>
        </p:txBody>
      </p:sp>
      <p:sp>
        <p:nvSpPr>
          <p:cNvPr id="33" name="TextBox 32"/>
          <p:cNvSpPr txBox="1"/>
          <p:nvPr/>
        </p:nvSpPr>
        <p:spPr>
          <a:xfrm>
            <a:off x="4864607" y="5522976"/>
            <a:ext cx="3566160" cy="274320"/>
          </a:xfrm>
          <a:prstGeom prst="rect">
            <a:avLst/>
          </a:prstGeom>
          <a:noFill/>
        </p:spPr>
        <p:txBody>
          <a:bodyPr wrap="square" anchor="t" lIns="0" rIns="0" tIns="0" bIns="0"/>
          <a:lstStyle/>
          <a:p>
            <a:pPr algn="l">
              <a:spcAft>
                <a:spcPts val="400"/>
              </a:spcAft>
            </a:pPr>
            <a:r>
              <a:rPr sz="1200" b="0" i="0">
                <a:solidFill>
                  <a:srgbClr val="A3ADC8"/>
                </a:solidFill>
                <a:latin typeface="Calibri"/>
              </a:rPr>
              <a:t>Designation of faculty</a:t>
            </a:r>
          </a:p>
        </p:txBody>
      </p:sp>
      <p:sp>
        <p:nvSpPr>
          <p:cNvPr id="34" name="TextBox 33"/>
          <p:cNvSpPr txBox="1"/>
          <p:nvPr/>
        </p:nvSpPr>
        <p:spPr>
          <a:xfrm>
            <a:off x="4864607" y="5779008"/>
            <a:ext cx="3566160" cy="502920"/>
          </a:xfrm>
          <a:prstGeom prst="rect">
            <a:avLst/>
          </a:prstGeom>
          <a:noFill/>
        </p:spPr>
        <p:txBody>
          <a:bodyPr wrap="square" anchor="t" lIns="0" rIns="0" tIns="0" bIns="0"/>
          <a:lstStyle/>
          <a:p>
            <a:pPr algn="l">
              <a:spcAft>
                <a:spcPts val="400"/>
              </a:spcAft>
            </a:pPr>
            <a:r>
              <a:rPr sz="1100" b="0" i="0">
                <a:solidFill>
                  <a:srgbClr val="A3ADC8"/>
                </a:solidFill>
                <a:latin typeface="Calibri"/>
              </a:rPr>
              <a:t>Computer Engineering Department, BIT, Wardha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index</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Index</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2</a:t>
            </a:fld>
            <a:r>
              <a:rPr sz="900">
                <a:solidFill>
                  <a:srgbClr val="6B7699"/>
                </a:solidFill>
                <a:latin typeface="Consolas"/>
              </a:rPr>
              <a:t> / 18</a:t>
            </a:r>
          </a:p>
        </p:txBody>
      </p:sp>
      <p:cxnSp>
        <p:nvCxnSpPr>
          <p:cNvPr id="9" name="Connector 8"/>
          <p:cNvCxnSpPr/>
          <p:nvPr/>
        </p:nvCxnSpPr>
        <p:spPr>
          <a:xfrm>
            <a:off x="841248" y="1664208"/>
            <a:ext cx="0" cy="3931920"/>
          </a:xfrm>
          <a:prstGeom prst="line">
            <a:avLst/>
          </a:prstGeom>
          <a:ln w="19050">
            <a:solidFill>
              <a:srgbClr val="2C3870"/>
            </a:solidFill>
          </a:ln>
        </p:spPr>
      </p:cxnSp>
      <p:sp>
        <p:nvSpPr>
          <p:cNvPr id="10" name="Oval 9"/>
          <p:cNvSpPr/>
          <p:nvPr/>
        </p:nvSpPr>
        <p:spPr>
          <a:xfrm>
            <a:off x="685800" y="1508760"/>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01</a:t>
            </a:r>
          </a:p>
        </p:txBody>
      </p:sp>
      <p:sp>
        <p:nvSpPr>
          <p:cNvPr id="11" name="TextBox 10"/>
          <p:cNvSpPr txBox="1"/>
          <p:nvPr/>
        </p:nvSpPr>
        <p:spPr>
          <a:xfrm>
            <a:off x="1188720" y="1435607"/>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Introduction</a:t>
            </a:r>
          </a:p>
        </p:txBody>
      </p:sp>
      <p:sp>
        <p:nvSpPr>
          <p:cNvPr id="12" name="TextBox 11"/>
          <p:cNvSpPr txBox="1"/>
          <p:nvPr/>
        </p:nvSpPr>
        <p:spPr>
          <a:xfrm>
            <a:off x="1188720" y="1746504"/>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origins and inspiration</a:t>
            </a:r>
          </a:p>
        </p:txBody>
      </p:sp>
      <p:sp>
        <p:nvSpPr>
          <p:cNvPr id="13" name="Oval 12"/>
          <p:cNvSpPr/>
          <p:nvPr/>
        </p:nvSpPr>
        <p:spPr>
          <a:xfrm>
            <a:off x="685800" y="2295144"/>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02</a:t>
            </a:r>
          </a:p>
        </p:txBody>
      </p:sp>
      <p:sp>
        <p:nvSpPr>
          <p:cNvPr id="14" name="TextBox 13"/>
          <p:cNvSpPr txBox="1"/>
          <p:nvPr/>
        </p:nvSpPr>
        <p:spPr>
          <a:xfrm>
            <a:off x="1188720" y="2221991"/>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Objectives</a:t>
            </a:r>
          </a:p>
        </p:txBody>
      </p:sp>
      <p:sp>
        <p:nvSpPr>
          <p:cNvPr id="15" name="TextBox 14"/>
          <p:cNvSpPr txBox="1"/>
          <p:nvPr/>
        </p:nvSpPr>
        <p:spPr>
          <a:xfrm>
            <a:off x="1188720" y="2532887"/>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of the seminar topic</a:t>
            </a:r>
          </a:p>
        </p:txBody>
      </p:sp>
      <p:sp>
        <p:nvSpPr>
          <p:cNvPr id="16" name="Oval 15"/>
          <p:cNvSpPr/>
          <p:nvPr/>
        </p:nvSpPr>
        <p:spPr>
          <a:xfrm>
            <a:off x="685800" y="3081528"/>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03</a:t>
            </a:r>
          </a:p>
        </p:txBody>
      </p:sp>
      <p:sp>
        <p:nvSpPr>
          <p:cNvPr id="17" name="TextBox 16"/>
          <p:cNvSpPr txBox="1"/>
          <p:nvPr/>
        </p:nvSpPr>
        <p:spPr>
          <a:xfrm>
            <a:off x="1188720" y="3008376"/>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Literature Review</a:t>
            </a:r>
          </a:p>
        </p:txBody>
      </p:sp>
      <p:sp>
        <p:nvSpPr>
          <p:cNvPr id="18" name="TextBox 17"/>
          <p:cNvSpPr txBox="1"/>
          <p:nvPr/>
        </p:nvSpPr>
        <p:spPr>
          <a:xfrm>
            <a:off x="1188720" y="3319272"/>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methods and algorithms studied</a:t>
            </a:r>
          </a:p>
        </p:txBody>
      </p:sp>
      <p:sp>
        <p:nvSpPr>
          <p:cNvPr id="19" name="Oval 18"/>
          <p:cNvSpPr/>
          <p:nvPr/>
        </p:nvSpPr>
        <p:spPr>
          <a:xfrm>
            <a:off x="685800" y="3867912"/>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04</a:t>
            </a:r>
          </a:p>
        </p:txBody>
      </p:sp>
      <p:sp>
        <p:nvSpPr>
          <p:cNvPr id="20" name="TextBox 19"/>
          <p:cNvSpPr txBox="1"/>
          <p:nvPr/>
        </p:nvSpPr>
        <p:spPr>
          <a:xfrm>
            <a:off x="1188720" y="3794760"/>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Literature Survey</a:t>
            </a:r>
          </a:p>
        </p:txBody>
      </p:sp>
      <p:sp>
        <p:nvSpPr>
          <p:cNvPr id="21" name="TextBox 20"/>
          <p:cNvSpPr txBox="1"/>
          <p:nvPr/>
        </p:nvSpPr>
        <p:spPr>
          <a:xfrm>
            <a:off x="1188720" y="4105656"/>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in tabular form</a:t>
            </a:r>
          </a:p>
        </p:txBody>
      </p:sp>
      <p:sp>
        <p:nvSpPr>
          <p:cNvPr id="22" name="Oval 21"/>
          <p:cNvSpPr/>
          <p:nvPr/>
        </p:nvSpPr>
        <p:spPr>
          <a:xfrm>
            <a:off x="685800" y="4654296"/>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05</a:t>
            </a:r>
          </a:p>
        </p:txBody>
      </p:sp>
      <p:sp>
        <p:nvSpPr>
          <p:cNvPr id="23" name="TextBox 22"/>
          <p:cNvSpPr txBox="1"/>
          <p:nvPr/>
        </p:nvSpPr>
        <p:spPr>
          <a:xfrm>
            <a:off x="1188720" y="4581144"/>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Baseline Papers</a:t>
            </a:r>
          </a:p>
        </p:txBody>
      </p:sp>
      <p:sp>
        <p:nvSpPr>
          <p:cNvPr id="24" name="TextBox 23"/>
          <p:cNvSpPr txBox="1"/>
          <p:nvPr/>
        </p:nvSpPr>
        <p:spPr>
          <a:xfrm>
            <a:off x="1188720" y="4892040"/>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selected for seminar work</a:t>
            </a:r>
          </a:p>
        </p:txBody>
      </p:sp>
      <p:sp>
        <p:nvSpPr>
          <p:cNvPr id="25" name="Oval 24"/>
          <p:cNvSpPr/>
          <p:nvPr/>
        </p:nvSpPr>
        <p:spPr>
          <a:xfrm>
            <a:off x="685800" y="5440679"/>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06</a:t>
            </a:r>
          </a:p>
        </p:txBody>
      </p:sp>
      <p:sp>
        <p:nvSpPr>
          <p:cNvPr id="26" name="TextBox 25"/>
          <p:cNvSpPr txBox="1"/>
          <p:nvPr/>
        </p:nvSpPr>
        <p:spPr>
          <a:xfrm>
            <a:off x="1188720" y="5367527"/>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System Architecture</a:t>
            </a:r>
          </a:p>
        </p:txBody>
      </p:sp>
      <p:sp>
        <p:nvSpPr>
          <p:cNvPr id="27" name="TextBox 26"/>
          <p:cNvSpPr txBox="1"/>
          <p:nvPr/>
        </p:nvSpPr>
        <p:spPr>
          <a:xfrm>
            <a:off x="1188720" y="5678423"/>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and algorithms studied</a:t>
            </a:r>
          </a:p>
        </p:txBody>
      </p:sp>
      <p:cxnSp>
        <p:nvCxnSpPr>
          <p:cNvPr id="28" name="Connector 27"/>
          <p:cNvCxnSpPr/>
          <p:nvPr/>
        </p:nvCxnSpPr>
        <p:spPr>
          <a:xfrm>
            <a:off x="5001768" y="1664208"/>
            <a:ext cx="0" cy="3145536"/>
          </a:xfrm>
          <a:prstGeom prst="line">
            <a:avLst/>
          </a:prstGeom>
          <a:ln w="19050">
            <a:solidFill>
              <a:srgbClr val="2C3870"/>
            </a:solidFill>
          </a:ln>
        </p:spPr>
      </p:cxnSp>
      <p:sp>
        <p:nvSpPr>
          <p:cNvPr id="29" name="Oval 28"/>
          <p:cNvSpPr/>
          <p:nvPr/>
        </p:nvSpPr>
        <p:spPr>
          <a:xfrm>
            <a:off x="4846320" y="1508760"/>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07</a:t>
            </a:r>
          </a:p>
        </p:txBody>
      </p:sp>
      <p:sp>
        <p:nvSpPr>
          <p:cNvPr id="30" name="TextBox 29"/>
          <p:cNvSpPr txBox="1"/>
          <p:nvPr/>
        </p:nvSpPr>
        <p:spPr>
          <a:xfrm>
            <a:off x="5349240" y="1435607"/>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Features</a:t>
            </a:r>
          </a:p>
        </p:txBody>
      </p:sp>
      <p:sp>
        <p:nvSpPr>
          <p:cNvPr id="31" name="TextBox 30"/>
          <p:cNvSpPr txBox="1"/>
          <p:nvPr/>
        </p:nvSpPr>
        <p:spPr>
          <a:xfrm>
            <a:off x="5349240" y="1746504"/>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advantages / disadvantages</a:t>
            </a:r>
          </a:p>
        </p:txBody>
      </p:sp>
      <p:sp>
        <p:nvSpPr>
          <p:cNvPr id="32" name="Oval 31"/>
          <p:cNvSpPr/>
          <p:nvPr/>
        </p:nvSpPr>
        <p:spPr>
          <a:xfrm>
            <a:off x="4846320" y="2295144"/>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08</a:t>
            </a:r>
          </a:p>
        </p:txBody>
      </p:sp>
      <p:sp>
        <p:nvSpPr>
          <p:cNvPr id="33" name="TextBox 32"/>
          <p:cNvSpPr txBox="1"/>
          <p:nvPr/>
        </p:nvSpPr>
        <p:spPr>
          <a:xfrm>
            <a:off x="5349240" y="2221991"/>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Applications</a:t>
            </a:r>
          </a:p>
        </p:txBody>
      </p:sp>
      <p:sp>
        <p:nvSpPr>
          <p:cNvPr id="34" name="TextBox 33"/>
          <p:cNvSpPr txBox="1"/>
          <p:nvPr/>
        </p:nvSpPr>
        <p:spPr>
          <a:xfrm>
            <a:off x="5349240" y="2532887"/>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where agents are used</a:t>
            </a:r>
          </a:p>
        </p:txBody>
      </p:sp>
      <p:sp>
        <p:nvSpPr>
          <p:cNvPr id="35" name="Oval 34"/>
          <p:cNvSpPr/>
          <p:nvPr/>
        </p:nvSpPr>
        <p:spPr>
          <a:xfrm>
            <a:off x="4846320" y="3081528"/>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09</a:t>
            </a:r>
          </a:p>
        </p:txBody>
      </p:sp>
      <p:sp>
        <p:nvSpPr>
          <p:cNvPr id="36" name="TextBox 35"/>
          <p:cNvSpPr txBox="1"/>
          <p:nvPr/>
        </p:nvSpPr>
        <p:spPr>
          <a:xfrm>
            <a:off x="5349240" y="3008376"/>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Analysis / Comparison</a:t>
            </a:r>
          </a:p>
        </p:txBody>
      </p:sp>
      <p:sp>
        <p:nvSpPr>
          <p:cNvPr id="37" name="TextBox 36"/>
          <p:cNvSpPr txBox="1"/>
          <p:nvPr/>
        </p:nvSpPr>
        <p:spPr>
          <a:xfrm>
            <a:off x="5349240" y="3319272"/>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with other tools and technologies</a:t>
            </a:r>
          </a:p>
        </p:txBody>
      </p:sp>
      <p:sp>
        <p:nvSpPr>
          <p:cNvPr id="38" name="Oval 37"/>
          <p:cNvSpPr/>
          <p:nvPr/>
        </p:nvSpPr>
        <p:spPr>
          <a:xfrm>
            <a:off x="4846320" y="3867912"/>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10</a:t>
            </a:r>
          </a:p>
        </p:txBody>
      </p:sp>
      <p:sp>
        <p:nvSpPr>
          <p:cNvPr id="39" name="TextBox 38"/>
          <p:cNvSpPr txBox="1"/>
          <p:nvPr/>
        </p:nvSpPr>
        <p:spPr>
          <a:xfrm>
            <a:off x="5349240" y="3794760"/>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Conclusion</a:t>
            </a:r>
          </a:p>
        </p:txBody>
      </p:sp>
      <p:sp>
        <p:nvSpPr>
          <p:cNvPr id="40" name="TextBox 39"/>
          <p:cNvSpPr txBox="1"/>
          <p:nvPr/>
        </p:nvSpPr>
        <p:spPr>
          <a:xfrm>
            <a:off x="5349240" y="4105656"/>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main ideas and future scope</a:t>
            </a:r>
          </a:p>
        </p:txBody>
      </p:sp>
      <p:sp>
        <p:nvSpPr>
          <p:cNvPr id="41" name="Oval 40"/>
          <p:cNvSpPr/>
          <p:nvPr/>
        </p:nvSpPr>
        <p:spPr>
          <a:xfrm>
            <a:off x="4846320" y="4654296"/>
            <a:ext cx="310896" cy="310896"/>
          </a:xfrm>
          <a:prstGeom prst="ellipse">
            <a:avLst/>
          </a:prstGeom>
          <a:gradFill rotWithShape="1">
            <a:gsLst>
              <a:gs pos="0">
                <a:srgbClr val="7C3AED"/>
              </a:gs>
              <a:gs pos="100000">
                <a:srgbClr val="0891B2"/>
              </a:gs>
            </a:gsLst>
            <a:lin scaled="0" ang="18900000"/>
          </a:gradFill>
          <a:ln>
            <a:noFill/>
          </a:ln>
        </p:spPr>
        <p:txBody>
          <a:bodyPr rtlCol="0" anchor="ctr" wrap="square" lIns="0" rIns="0" tIns="0" bIns="0"/>
          <a:lstStyle/>
          <a:p>
            <a:pPr algn="ctr">
              <a:spcAft>
                <a:spcPts val="0"/>
              </a:spcAft>
            </a:pPr>
            <a:r>
              <a:rPr sz="900" b="1" i="0">
                <a:solidFill>
                  <a:srgbClr val="FFFFFF"/>
                </a:solidFill>
                <a:latin typeface="Consolas"/>
              </a:rPr>
              <a:t>11</a:t>
            </a:r>
          </a:p>
        </p:txBody>
      </p:sp>
      <p:sp>
        <p:nvSpPr>
          <p:cNvPr id="42" name="TextBox 41"/>
          <p:cNvSpPr txBox="1"/>
          <p:nvPr/>
        </p:nvSpPr>
        <p:spPr>
          <a:xfrm>
            <a:off x="5349240" y="4581144"/>
            <a:ext cx="3383280" cy="310896"/>
          </a:xfrm>
          <a:prstGeom prst="rect">
            <a:avLst/>
          </a:prstGeom>
          <a:noFill/>
        </p:spPr>
        <p:txBody>
          <a:bodyPr wrap="square" anchor="t" lIns="0" rIns="0" tIns="0" bIns="0"/>
          <a:lstStyle/>
          <a:p>
            <a:pPr algn="l">
              <a:spcAft>
                <a:spcPts val="400"/>
              </a:spcAft>
            </a:pPr>
            <a:r>
              <a:rPr sz="1600" b="1" i="0">
                <a:solidFill>
                  <a:srgbClr val="EEF2FF"/>
                </a:solidFill>
                <a:latin typeface="Calibri"/>
              </a:rPr>
              <a:t>References</a:t>
            </a:r>
          </a:p>
        </p:txBody>
      </p:sp>
      <p:sp>
        <p:nvSpPr>
          <p:cNvPr id="43" name="TextBox 42"/>
          <p:cNvSpPr txBox="1"/>
          <p:nvPr/>
        </p:nvSpPr>
        <p:spPr>
          <a:xfrm>
            <a:off x="5349240" y="4892040"/>
            <a:ext cx="3383280" cy="274320"/>
          </a:xfrm>
          <a:prstGeom prst="rect">
            <a:avLst/>
          </a:prstGeom>
          <a:noFill/>
        </p:spPr>
        <p:txBody>
          <a:bodyPr wrap="square" anchor="t" lIns="0" rIns="0" tIns="0" bIns="0"/>
          <a:lstStyle/>
          <a:p>
            <a:pPr algn="l">
              <a:spcAft>
                <a:spcPts val="400"/>
              </a:spcAft>
            </a:pPr>
            <a:r>
              <a:rPr sz="1150" b="0" i="0">
                <a:solidFill>
                  <a:srgbClr val="A3ADC8"/>
                </a:solidFill>
                <a:latin typeface="Consolas"/>
              </a:rPr>
              <a:t>IEEE format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01 · introduction — origins &amp; inspiration</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Introduction: From Chatbots to Agents</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3</a:t>
            </a:fld>
            <a:r>
              <a:rPr sz="900">
                <a:solidFill>
                  <a:srgbClr val="6B7699"/>
                </a:solidFill>
                <a:latin typeface="Consolas"/>
              </a:rPr>
              <a:t> / 18</a:t>
            </a:r>
          </a:p>
        </p:txBody>
      </p:sp>
      <p:sp>
        <p:nvSpPr>
          <p:cNvPr id="9" name="Rounded Rectangle 8"/>
          <p:cNvSpPr/>
          <p:nvPr/>
        </p:nvSpPr>
        <p:spPr>
          <a:xfrm>
            <a:off x="548640" y="1463040"/>
            <a:ext cx="8046720" cy="868680"/>
          </a:xfrm>
          <a:prstGeom prst="roundRect">
            <a:avLst>
              <a:gd name="adj" fmla="val 14736"/>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0" name="Oval 9"/>
          <p:cNvSpPr/>
          <p:nvPr/>
        </p:nvSpPr>
        <p:spPr>
          <a:xfrm>
            <a:off x="731520" y="1600200"/>
            <a:ext cx="594360" cy="59436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11" name="Picture 10" descr="robot_w.png"/>
          <p:cNvPicPr>
            <a:picLocks noChangeAspect="1"/>
          </p:cNvPicPr>
          <p:nvPr/>
        </p:nvPicPr>
        <p:blipFill>
          <a:blip r:embed="rId4"/>
          <a:stretch>
            <a:fillRect/>
          </a:stretch>
        </p:blipFill>
        <p:spPr>
          <a:xfrm>
            <a:off x="880110" y="1748790"/>
            <a:ext cx="297180" cy="297180"/>
          </a:xfrm>
          <a:prstGeom prst="rect">
            <a:avLst/>
          </a:prstGeom>
        </p:spPr>
      </p:pic>
      <p:sp>
        <p:nvSpPr>
          <p:cNvPr id="12" name="TextBox 11"/>
          <p:cNvSpPr txBox="1"/>
          <p:nvPr/>
        </p:nvSpPr>
        <p:spPr>
          <a:xfrm>
            <a:off x="1508760" y="1463040"/>
            <a:ext cx="6949440" cy="868680"/>
          </a:xfrm>
          <a:prstGeom prst="rect">
            <a:avLst/>
          </a:prstGeom>
          <a:noFill/>
        </p:spPr>
        <p:txBody>
          <a:bodyPr wrap="square" anchor="ctr" lIns="0" rIns="0" tIns="0" bIns="0"/>
          <a:lstStyle/>
          <a:p>
            <a:pPr algn="l">
              <a:spcAft>
                <a:spcPts val="400"/>
              </a:spcAft>
            </a:pPr>
            <a:r>
              <a:rPr sz="1400" b="1" i="0">
                <a:solidFill>
                  <a:srgbClr val="22D3EE"/>
                </a:solidFill>
                <a:latin typeface="Calibri"/>
              </a:rPr>
              <a:t>Agentic AI </a:t>
            </a:r>
            <a:r>
              <a:rPr sz="1400" b="0" i="0">
                <a:solidFill>
                  <a:srgbClr val="EEF2FF"/>
                </a:solidFill>
                <a:latin typeface="Calibri"/>
              </a:rPr>
              <a:t>— LLM-based systems that pursue goals autonomously: they plan, use tools, remember context and verify results with limited human supervision [1], [2].</a:t>
            </a:r>
          </a:p>
        </p:txBody>
      </p:sp>
      <p:sp>
        <p:nvSpPr>
          <p:cNvPr id="13" name="TextBox 12"/>
          <p:cNvSpPr txBox="1"/>
          <p:nvPr/>
        </p:nvSpPr>
        <p:spPr>
          <a:xfrm>
            <a:off x="548640" y="2578608"/>
            <a:ext cx="45720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BACKGROUND &amp; HISTORY</a:t>
            </a:r>
          </a:p>
        </p:txBody>
      </p:sp>
      <p:sp>
        <p:nvSpPr>
          <p:cNvPr id="14" name="Rectangle 13"/>
          <p:cNvSpPr/>
          <p:nvPr/>
        </p:nvSpPr>
        <p:spPr>
          <a:xfrm>
            <a:off x="731520" y="3291840"/>
            <a:ext cx="7680960" cy="45720"/>
          </a:xfrm>
          <a:prstGeom prst="rect">
            <a:avLst/>
          </a:prstGeom>
          <a:gradFill rotWithShape="1">
            <a:gsLst>
              <a:gs pos="0">
                <a:srgbClr val="7C3AED"/>
              </a:gs>
              <a:gs pos="100000">
                <a:srgbClr val="0891B2"/>
              </a:gs>
            </a:gsLst>
            <a:lin scaled="0" ang="0"/>
          </a:gradFill>
          <a:ln>
            <a:noFill/>
          </a:ln>
        </p:spPr>
        <p:txBody>
          <a:bodyPr rtlCol="0" anchor="ctr" wrap="square" lIns="54864" rIns="54864" tIns="54864" bIns="54864"/>
          <a:lstStyle/>
          <a:p>
            <a:pPr algn="ctr"/>
          </a:p>
        </p:txBody>
      </p:sp>
      <p:sp>
        <p:nvSpPr>
          <p:cNvPr id="15" name="TextBox 14"/>
          <p:cNvSpPr txBox="1"/>
          <p:nvPr/>
        </p:nvSpPr>
        <p:spPr>
          <a:xfrm>
            <a:off x="411480" y="2898648"/>
            <a:ext cx="1554480" cy="292608"/>
          </a:xfrm>
          <a:prstGeom prst="rect">
            <a:avLst/>
          </a:prstGeom>
          <a:noFill/>
        </p:spPr>
        <p:txBody>
          <a:bodyPr wrap="square" anchor="t" lIns="0" rIns="0" tIns="0" bIns="0"/>
          <a:lstStyle/>
          <a:p>
            <a:pPr algn="ctr">
              <a:spcAft>
                <a:spcPts val="400"/>
              </a:spcAft>
            </a:pPr>
            <a:r>
              <a:rPr sz="1300" b="1" i="0">
                <a:solidFill>
                  <a:srgbClr val="A78BFA"/>
                </a:solidFill>
                <a:latin typeface="Consolas"/>
              </a:rPr>
              <a:t>Pre-2020</a:t>
            </a:r>
          </a:p>
        </p:txBody>
      </p:sp>
      <p:sp>
        <p:nvSpPr>
          <p:cNvPr id="16" name="Oval 15"/>
          <p:cNvSpPr/>
          <p:nvPr/>
        </p:nvSpPr>
        <p:spPr>
          <a:xfrm>
            <a:off x="1078992" y="3204972"/>
            <a:ext cx="219456" cy="219456"/>
          </a:xfrm>
          <a:prstGeom prst="ellipse">
            <a:avLst/>
          </a:prstGeom>
          <a:solidFill>
            <a:srgbClr val="A78BFA"/>
          </a:solidFill>
          <a:ln>
            <a:noFill/>
          </a:ln>
        </p:spPr>
        <p:txBody>
          <a:bodyPr rtlCol="0" anchor="ctr" wrap="square" lIns="54864" rIns="54864" tIns="54864" bIns="54864"/>
          <a:lstStyle/>
          <a:p>
            <a:pPr algn="ctr"/>
          </a:p>
        </p:txBody>
      </p:sp>
      <p:sp>
        <p:nvSpPr>
          <p:cNvPr id="17" name="TextBox 16"/>
          <p:cNvSpPr txBox="1"/>
          <p:nvPr/>
        </p:nvSpPr>
        <p:spPr>
          <a:xfrm>
            <a:off x="384048" y="3520440"/>
            <a:ext cx="1609344" cy="777240"/>
          </a:xfrm>
          <a:prstGeom prst="rect">
            <a:avLst/>
          </a:prstGeom>
          <a:noFill/>
        </p:spPr>
        <p:txBody>
          <a:bodyPr wrap="square" anchor="t" lIns="0" rIns="0" tIns="0" bIns="0"/>
          <a:lstStyle/>
          <a:p>
            <a:pPr algn="ctr">
              <a:spcAft>
                <a:spcPts val="400"/>
              </a:spcAft>
            </a:pPr>
            <a:r>
              <a:rPr sz="1150" b="0" i="0">
                <a:solidFill>
                  <a:srgbClr val="A3ADC8"/>
                </a:solidFill>
                <a:latin typeface="Calibri"/>
              </a:rPr>
              <a:t>Rule-based and RL agents in narrow tasks</a:t>
            </a:r>
          </a:p>
        </p:txBody>
      </p:sp>
      <p:sp>
        <p:nvSpPr>
          <p:cNvPr id="18" name="TextBox 17"/>
          <p:cNvSpPr txBox="1"/>
          <p:nvPr/>
        </p:nvSpPr>
        <p:spPr>
          <a:xfrm>
            <a:off x="2103120" y="2898648"/>
            <a:ext cx="1554480" cy="292608"/>
          </a:xfrm>
          <a:prstGeom prst="rect">
            <a:avLst/>
          </a:prstGeom>
          <a:noFill/>
        </p:spPr>
        <p:txBody>
          <a:bodyPr wrap="square" anchor="t" lIns="0" rIns="0" tIns="0" bIns="0"/>
          <a:lstStyle/>
          <a:p>
            <a:pPr algn="ctr">
              <a:spcAft>
                <a:spcPts val="400"/>
              </a:spcAft>
            </a:pPr>
            <a:r>
              <a:rPr sz="1300" b="1" i="0">
                <a:solidFill>
                  <a:srgbClr val="A78BFA"/>
                </a:solidFill>
                <a:latin typeface="Consolas"/>
              </a:rPr>
              <a:t>2020–22</a:t>
            </a:r>
          </a:p>
        </p:txBody>
      </p:sp>
      <p:sp>
        <p:nvSpPr>
          <p:cNvPr id="19" name="Oval 18"/>
          <p:cNvSpPr/>
          <p:nvPr/>
        </p:nvSpPr>
        <p:spPr>
          <a:xfrm>
            <a:off x="2770632" y="3204972"/>
            <a:ext cx="219456" cy="219456"/>
          </a:xfrm>
          <a:prstGeom prst="ellipse">
            <a:avLst/>
          </a:prstGeom>
          <a:solidFill>
            <a:srgbClr val="A78BFA"/>
          </a:solidFill>
          <a:ln>
            <a:noFill/>
          </a:ln>
        </p:spPr>
        <p:txBody>
          <a:bodyPr rtlCol="0" anchor="ctr" wrap="square" lIns="54864" rIns="54864" tIns="54864" bIns="54864"/>
          <a:lstStyle/>
          <a:p>
            <a:pPr algn="ctr"/>
          </a:p>
        </p:txBody>
      </p:sp>
      <p:sp>
        <p:nvSpPr>
          <p:cNvPr id="20" name="TextBox 19"/>
          <p:cNvSpPr txBox="1"/>
          <p:nvPr/>
        </p:nvSpPr>
        <p:spPr>
          <a:xfrm>
            <a:off x="2075688" y="3520440"/>
            <a:ext cx="1609344" cy="777240"/>
          </a:xfrm>
          <a:prstGeom prst="rect">
            <a:avLst/>
          </a:prstGeom>
          <a:noFill/>
        </p:spPr>
        <p:txBody>
          <a:bodyPr wrap="square" anchor="t" lIns="0" rIns="0" tIns="0" bIns="0"/>
          <a:lstStyle/>
          <a:p>
            <a:pPr algn="ctr">
              <a:spcAft>
                <a:spcPts val="400"/>
              </a:spcAft>
            </a:pPr>
            <a:r>
              <a:rPr sz="1150" b="0" i="0">
                <a:solidFill>
                  <a:srgbClr val="A3ADC8"/>
                </a:solidFill>
                <a:latin typeface="Calibri"/>
              </a:rPr>
              <a:t>LLMs as text generators (GPT-3, ChatGPT)</a:t>
            </a:r>
          </a:p>
        </p:txBody>
      </p:sp>
      <p:sp>
        <p:nvSpPr>
          <p:cNvPr id="21" name="TextBox 20"/>
          <p:cNvSpPr txBox="1"/>
          <p:nvPr/>
        </p:nvSpPr>
        <p:spPr>
          <a:xfrm>
            <a:off x="3794760" y="2898648"/>
            <a:ext cx="1554480" cy="292608"/>
          </a:xfrm>
          <a:prstGeom prst="rect">
            <a:avLst/>
          </a:prstGeom>
          <a:noFill/>
        </p:spPr>
        <p:txBody>
          <a:bodyPr wrap="square" anchor="t" lIns="0" rIns="0" tIns="0" bIns="0"/>
          <a:lstStyle/>
          <a:p>
            <a:pPr algn="ctr">
              <a:spcAft>
                <a:spcPts val="400"/>
              </a:spcAft>
            </a:pPr>
            <a:r>
              <a:rPr sz="1300" b="1" i="0">
                <a:solidFill>
                  <a:srgbClr val="A78BFA"/>
                </a:solidFill>
                <a:latin typeface="Consolas"/>
              </a:rPr>
              <a:t>2022–23</a:t>
            </a:r>
          </a:p>
        </p:txBody>
      </p:sp>
      <p:sp>
        <p:nvSpPr>
          <p:cNvPr id="22" name="Oval 21"/>
          <p:cNvSpPr/>
          <p:nvPr/>
        </p:nvSpPr>
        <p:spPr>
          <a:xfrm>
            <a:off x="4462272" y="3204972"/>
            <a:ext cx="219456" cy="219456"/>
          </a:xfrm>
          <a:prstGeom prst="ellipse">
            <a:avLst/>
          </a:prstGeom>
          <a:solidFill>
            <a:srgbClr val="A78BFA"/>
          </a:solidFill>
          <a:ln>
            <a:noFill/>
          </a:ln>
        </p:spPr>
        <p:txBody>
          <a:bodyPr rtlCol="0" anchor="ctr" wrap="square" lIns="54864" rIns="54864" tIns="54864" bIns="54864"/>
          <a:lstStyle/>
          <a:p>
            <a:pPr algn="ctr"/>
          </a:p>
        </p:txBody>
      </p:sp>
      <p:sp>
        <p:nvSpPr>
          <p:cNvPr id="23" name="TextBox 22"/>
          <p:cNvSpPr txBox="1"/>
          <p:nvPr/>
        </p:nvSpPr>
        <p:spPr>
          <a:xfrm>
            <a:off x="3767328" y="3520440"/>
            <a:ext cx="1609344" cy="777240"/>
          </a:xfrm>
          <a:prstGeom prst="rect">
            <a:avLst/>
          </a:prstGeom>
          <a:noFill/>
        </p:spPr>
        <p:txBody>
          <a:bodyPr wrap="square" anchor="t" lIns="0" rIns="0" tIns="0" bIns="0"/>
          <a:lstStyle/>
          <a:p>
            <a:pPr algn="ctr">
              <a:spcAft>
                <a:spcPts val="400"/>
              </a:spcAft>
            </a:pPr>
            <a:r>
              <a:rPr sz="1150" b="0" i="0">
                <a:solidFill>
                  <a:srgbClr val="A3ADC8"/>
                </a:solidFill>
                <a:latin typeface="Calibri"/>
              </a:rPr>
              <a:t>Reasoning + tool use: Chain-of-Thought, ReAct [12]</a:t>
            </a:r>
          </a:p>
        </p:txBody>
      </p:sp>
      <p:sp>
        <p:nvSpPr>
          <p:cNvPr id="24" name="TextBox 23"/>
          <p:cNvSpPr txBox="1"/>
          <p:nvPr/>
        </p:nvSpPr>
        <p:spPr>
          <a:xfrm>
            <a:off x="5486400" y="2898648"/>
            <a:ext cx="1554480" cy="292608"/>
          </a:xfrm>
          <a:prstGeom prst="rect">
            <a:avLst/>
          </a:prstGeom>
          <a:noFill/>
        </p:spPr>
        <p:txBody>
          <a:bodyPr wrap="square" anchor="t" lIns="0" rIns="0" tIns="0" bIns="0"/>
          <a:lstStyle/>
          <a:p>
            <a:pPr algn="ctr">
              <a:spcAft>
                <a:spcPts val="400"/>
              </a:spcAft>
            </a:pPr>
            <a:r>
              <a:rPr sz="1300" b="1" i="0">
                <a:solidFill>
                  <a:srgbClr val="A78BFA"/>
                </a:solidFill>
                <a:latin typeface="Consolas"/>
              </a:rPr>
              <a:t>2023–24</a:t>
            </a:r>
          </a:p>
        </p:txBody>
      </p:sp>
      <p:sp>
        <p:nvSpPr>
          <p:cNvPr id="25" name="Oval 24"/>
          <p:cNvSpPr/>
          <p:nvPr/>
        </p:nvSpPr>
        <p:spPr>
          <a:xfrm>
            <a:off x="6153912" y="3204972"/>
            <a:ext cx="219456" cy="219456"/>
          </a:xfrm>
          <a:prstGeom prst="ellipse">
            <a:avLst/>
          </a:prstGeom>
          <a:solidFill>
            <a:srgbClr val="A78BFA"/>
          </a:solidFill>
          <a:ln>
            <a:noFill/>
          </a:ln>
        </p:spPr>
        <p:txBody>
          <a:bodyPr rtlCol="0" anchor="ctr" wrap="square" lIns="54864" rIns="54864" tIns="54864" bIns="54864"/>
          <a:lstStyle/>
          <a:p>
            <a:pPr algn="ctr"/>
          </a:p>
        </p:txBody>
      </p:sp>
      <p:sp>
        <p:nvSpPr>
          <p:cNvPr id="26" name="TextBox 25"/>
          <p:cNvSpPr txBox="1"/>
          <p:nvPr/>
        </p:nvSpPr>
        <p:spPr>
          <a:xfrm>
            <a:off x="5458968" y="3520440"/>
            <a:ext cx="1609344" cy="777240"/>
          </a:xfrm>
          <a:prstGeom prst="rect">
            <a:avLst/>
          </a:prstGeom>
          <a:noFill/>
        </p:spPr>
        <p:txBody>
          <a:bodyPr wrap="square" anchor="t" lIns="0" rIns="0" tIns="0" bIns="0"/>
          <a:lstStyle/>
          <a:p>
            <a:pPr algn="ctr">
              <a:spcAft>
                <a:spcPts val="400"/>
              </a:spcAft>
            </a:pPr>
            <a:r>
              <a:rPr sz="1150" b="0" i="0">
                <a:solidFill>
                  <a:srgbClr val="A3ADC8"/>
                </a:solidFill>
                <a:latin typeface="Calibri"/>
              </a:rPr>
              <a:t>Multi-agent frameworks (AutoGen, CrewAI)</a:t>
            </a:r>
          </a:p>
        </p:txBody>
      </p:sp>
      <p:sp>
        <p:nvSpPr>
          <p:cNvPr id="27" name="TextBox 26"/>
          <p:cNvSpPr txBox="1"/>
          <p:nvPr/>
        </p:nvSpPr>
        <p:spPr>
          <a:xfrm>
            <a:off x="7178040" y="2898648"/>
            <a:ext cx="1554480" cy="292608"/>
          </a:xfrm>
          <a:prstGeom prst="rect">
            <a:avLst/>
          </a:prstGeom>
          <a:noFill/>
        </p:spPr>
        <p:txBody>
          <a:bodyPr wrap="square" anchor="t" lIns="0" rIns="0" tIns="0" bIns="0"/>
          <a:lstStyle/>
          <a:p>
            <a:pPr algn="ctr">
              <a:spcAft>
                <a:spcPts val="400"/>
              </a:spcAft>
            </a:pPr>
            <a:r>
              <a:rPr sz="1300" b="1" i="0">
                <a:solidFill>
                  <a:srgbClr val="22D3EE"/>
                </a:solidFill>
                <a:latin typeface="Consolas"/>
              </a:rPr>
              <a:t>2024–26</a:t>
            </a:r>
          </a:p>
        </p:txBody>
      </p:sp>
      <p:sp>
        <p:nvSpPr>
          <p:cNvPr id="28" name="Oval 27"/>
          <p:cNvSpPr/>
          <p:nvPr/>
        </p:nvSpPr>
        <p:spPr>
          <a:xfrm>
            <a:off x="7845552" y="3204972"/>
            <a:ext cx="219456" cy="219456"/>
          </a:xfrm>
          <a:prstGeom prst="ellipse">
            <a:avLst/>
          </a:prstGeom>
          <a:solidFill>
            <a:srgbClr val="22D3EE"/>
          </a:solidFill>
          <a:ln>
            <a:noFill/>
          </a:ln>
        </p:spPr>
        <p:txBody>
          <a:bodyPr rtlCol="0" anchor="ctr" wrap="square" lIns="54864" rIns="54864" tIns="54864" bIns="54864"/>
          <a:lstStyle/>
          <a:p>
            <a:pPr algn="ctr"/>
          </a:p>
        </p:txBody>
      </p:sp>
      <p:sp>
        <p:nvSpPr>
          <p:cNvPr id="29" name="TextBox 28"/>
          <p:cNvSpPr txBox="1"/>
          <p:nvPr/>
        </p:nvSpPr>
        <p:spPr>
          <a:xfrm>
            <a:off x="7150608" y="3520440"/>
            <a:ext cx="1609344" cy="777240"/>
          </a:xfrm>
          <a:prstGeom prst="rect">
            <a:avLst/>
          </a:prstGeom>
          <a:noFill/>
        </p:spPr>
        <p:txBody>
          <a:bodyPr wrap="square" anchor="t" lIns="0" rIns="0" tIns="0" bIns="0"/>
          <a:lstStyle/>
          <a:p>
            <a:pPr algn="ctr">
              <a:spcAft>
                <a:spcPts val="400"/>
              </a:spcAft>
            </a:pPr>
            <a:r>
              <a:rPr sz="1150" b="0" i="0">
                <a:solidFill>
                  <a:srgbClr val="A3ADC8"/>
                </a:solidFill>
                <a:latin typeface="Calibri"/>
              </a:rPr>
              <a:t>Open protocols MCP, A2A; production agents [6]</a:t>
            </a:r>
          </a:p>
        </p:txBody>
      </p:sp>
      <p:sp>
        <p:nvSpPr>
          <p:cNvPr id="30" name="TextBox 29"/>
          <p:cNvSpPr txBox="1"/>
          <p:nvPr/>
        </p:nvSpPr>
        <p:spPr>
          <a:xfrm>
            <a:off x="548640" y="4434840"/>
            <a:ext cx="54864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INSPIRATION — WHY DO WE NEED AGENTS?</a:t>
            </a:r>
          </a:p>
        </p:txBody>
      </p:sp>
      <p:sp>
        <p:nvSpPr>
          <p:cNvPr id="31" name="Rounded Rectangle 30"/>
          <p:cNvSpPr/>
          <p:nvPr/>
        </p:nvSpPr>
        <p:spPr>
          <a:xfrm>
            <a:off x="548640" y="4754880"/>
            <a:ext cx="2560320" cy="1463040"/>
          </a:xfrm>
          <a:prstGeom prst="roundRect">
            <a:avLst>
              <a:gd name="adj" fmla="val 875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2" name="Oval 31"/>
          <p:cNvSpPr/>
          <p:nvPr/>
        </p:nvSpPr>
        <p:spPr>
          <a:xfrm>
            <a:off x="713232" y="4901184"/>
            <a:ext cx="457200" cy="45720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33" name="Picture 32" descr="layers_w.png"/>
          <p:cNvPicPr>
            <a:picLocks noChangeAspect="1"/>
          </p:cNvPicPr>
          <p:nvPr/>
        </p:nvPicPr>
        <p:blipFill>
          <a:blip r:embed="rId5"/>
          <a:stretch>
            <a:fillRect/>
          </a:stretch>
        </p:blipFill>
        <p:spPr>
          <a:xfrm>
            <a:off x="827532" y="5015484"/>
            <a:ext cx="228600" cy="228600"/>
          </a:xfrm>
          <a:prstGeom prst="rect">
            <a:avLst/>
          </a:prstGeom>
        </p:spPr>
      </p:pic>
      <p:sp>
        <p:nvSpPr>
          <p:cNvPr id="34" name="TextBox 33"/>
          <p:cNvSpPr txBox="1"/>
          <p:nvPr/>
        </p:nvSpPr>
        <p:spPr>
          <a:xfrm>
            <a:off x="1280160" y="4873752"/>
            <a:ext cx="1755648" cy="502920"/>
          </a:xfrm>
          <a:prstGeom prst="rect">
            <a:avLst/>
          </a:prstGeom>
          <a:noFill/>
        </p:spPr>
        <p:txBody>
          <a:bodyPr wrap="square" anchor="ctr" lIns="0" rIns="0" tIns="0" bIns="0"/>
          <a:lstStyle/>
          <a:p>
            <a:pPr algn="l">
              <a:spcAft>
                <a:spcPts val="400"/>
              </a:spcAft>
            </a:pPr>
            <a:r>
              <a:rPr sz="1350" b="1" i="0">
                <a:solidFill>
                  <a:srgbClr val="EEF2FF"/>
                </a:solidFill>
                <a:latin typeface="Calibri"/>
              </a:rPr>
              <a:t>Real tasks are multi-step</a:t>
            </a:r>
          </a:p>
        </p:txBody>
      </p:sp>
      <p:sp>
        <p:nvSpPr>
          <p:cNvPr id="35" name="TextBox 34"/>
          <p:cNvSpPr txBox="1"/>
          <p:nvPr/>
        </p:nvSpPr>
        <p:spPr>
          <a:xfrm>
            <a:off x="713232" y="5458968"/>
            <a:ext cx="2286000" cy="731520"/>
          </a:xfrm>
          <a:prstGeom prst="rect">
            <a:avLst/>
          </a:prstGeom>
          <a:noFill/>
        </p:spPr>
        <p:txBody>
          <a:bodyPr wrap="square" anchor="t" lIns="0" rIns="0" tIns="0" bIns="0"/>
          <a:lstStyle/>
          <a:p>
            <a:pPr algn="l">
              <a:spcAft>
                <a:spcPts val="400"/>
              </a:spcAft>
            </a:pPr>
            <a:r>
              <a:rPr sz="1250" b="0" i="0">
                <a:solidFill>
                  <a:srgbClr val="A3ADC8"/>
                </a:solidFill>
                <a:latin typeface="Calibri"/>
              </a:rPr>
              <a:t>Research, coding and booking need many dependent steps.</a:t>
            </a:r>
          </a:p>
        </p:txBody>
      </p:sp>
      <p:sp>
        <p:nvSpPr>
          <p:cNvPr id="36" name="Rounded Rectangle 35"/>
          <p:cNvSpPr/>
          <p:nvPr/>
        </p:nvSpPr>
        <p:spPr>
          <a:xfrm>
            <a:off x="3291840" y="4754880"/>
            <a:ext cx="2560320" cy="1463040"/>
          </a:xfrm>
          <a:prstGeom prst="roundRect">
            <a:avLst>
              <a:gd name="adj" fmla="val 875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7" name="Oval 36"/>
          <p:cNvSpPr/>
          <p:nvPr/>
        </p:nvSpPr>
        <p:spPr>
          <a:xfrm>
            <a:off x="3456432" y="4901184"/>
            <a:ext cx="457200" cy="45720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38" name="Picture 37" descr="globe_w.png"/>
          <p:cNvPicPr>
            <a:picLocks noChangeAspect="1"/>
          </p:cNvPicPr>
          <p:nvPr/>
        </p:nvPicPr>
        <p:blipFill>
          <a:blip r:embed="rId6"/>
          <a:stretch>
            <a:fillRect/>
          </a:stretch>
        </p:blipFill>
        <p:spPr>
          <a:xfrm>
            <a:off x="3570732" y="5015484"/>
            <a:ext cx="228600" cy="228600"/>
          </a:xfrm>
          <a:prstGeom prst="rect">
            <a:avLst/>
          </a:prstGeom>
        </p:spPr>
      </p:pic>
      <p:sp>
        <p:nvSpPr>
          <p:cNvPr id="39" name="TextBox 38"/>
          <p:cNvSpPr txBox="1"/>
          <p:nvPr/>
        </p:nvSpPr>
        <p:spPr>
          <a:xfrm>
            <a:off x="4023360" y="4873752"/>
            <a:ext cx="1755648" cy="502920"/>
          </a:xfrm>
          <a:prstGeom prst="rect">
            <a:avLst/>
          </a:prstGeom>
          <a:noFill/>
        </p:spPr>
        <p:txBody>
          <a:bodyPr wrap="square" anchor="ctr" lIns="0" rIns="0" tIns="0" bIns="0"/>
          <a:lstStyle/>
          <a:p>
            <a:pPr algn="l">
              <a:spcAft>
                <a:spcPts val="400"/>
              </a:spcAft>
            </a:pPr>
            <a:r>
              <a:rPr sz="1350" b="1" i="0">
                <a:solidFill>
                  <a:srgbClr val="EEF2FF"/>
                </a:solidFill>
                <a:latin typeface="Calibri"/>
              </a:rPr>
              <a:t>Models need live data</a:t>
            </a:r>
          </a:p>
        </p:txBody>
      </p:sp>
      <p:sp>
        <p:nvSpPr>
          <p:cNvPr id="40" name="TextBox 39"/>
          <p:cNvSpPr txBox="1"/>
          <p:nvPr/>
        </p:nvSpPr>
        <p:spPr>
          <a:xfrm>
            <a:off x="3456432" y="5458968"/>
            <a:ext cx="2286000" cy="731520"/>
          </a:xfrm>
          <a:prstGeom prst="rect">
            <a:avLst/>
          </a:prstGeom>
          <a:noFill/>
        </p:spPr>
        <p:txBody>
          <a:bodyPr wrap="square" anchor="t" lIns="0" rIns="0" tIns="0" bIns="0"/>
          <a:lstStyle/>
          <a:p>
            <a:pPr algn="l">
              <a:spcAft>
                <a:spcPts val="400"/>
              </a:spcAft>
            </a:pPr>
            <a:r>
              <a:rPr sz="1250" b="0" i="0">
                <a:solidFill>
                  <a:srgbClr val="A3ADC8"/>
                </a:solidFill>
                <a:latin typeface="Calibri"/>
              </a:rPr>
              <a:t>Tools give access to the web, code, databases and APIs.</a:t>
            </a:r>
          </a:p>
        </p:txBody>
      </p:sp>
      <p:sp>
        <p:nvSpPr>
          <p:cNvPr id="41" name="Rounded Rectangle 40"/>
          <p:cNvSpPr/>
          <p:nvPr/>
        </p:nvSpPr>
        <p:spPr>
          <a:xfrm>
            <a:off x="6035040" y="4754880"/>
            <a:ext cx="2560320" cy="1463040"/>
          </a:xfrm>
          <a:prstGeom prst="roundRect">
            <a:avLst>
              <a:gd name="adj" fmla="val 875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42" name="Oval 41"/>
          <p:cNvSpPr/>
          <p:nvPr/>
        </p:nvSpPr>
        <p:spPr>
          <a:xfrm>
            <a:off x="6199631" y="4901184"/>
            <a:ext cx="457200" cy="45720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43" name="Picture 42" descr="check_w.png"/>
          <p:cNvPicPr>
            <a:picLocks noChangeAspect="1"/>
          </p:cNvPicPr>
          <p:nvPr/>
        </p:nvPicPr>
        <p:blipFill>
          <a:blip r:embed="rId7"/>
          <a:stretch>
            <a:fillRect/>
          </a:stretch>
        </p:blipFill>
        <p:spPr>
          <a:xfrm>
            <a:off x="6313931" y="5015484"/>
            <a:ext cx="228600" cy="228600"/>
          </a:xfrm>
          <a:prstGeom prst="rect">
            <a:avLst/>
          </a:prstGeom>
        </p:spPr>
      </p:pic>
      <p:sp>
        <p:nvSpPr>
          <p:cNvPr id="44" name="TextBox 43"/>
          <p:cNvSpPr txBox="1"/>
          <p:nvPr/>
        </p:nvSpPr>
        <p:spPr>
          <a:xfrm>
            <a:off x="6766559" y="4873752"/>
            <a:ext cx="1755648" cy="502920"/>
          </a:xfrm>
          <a:prstGeom prst="rect">
            <a:avLst/>
          </a:prstGeom>
          <a:noFill/>
        </p:spPr>
        <p:txBody>
          <a:bodyPr wrap="square" anchor="ctr" lIns="0" rIns="0" tIns="0" bIns="0"/>
          <a:lstStyle/>
          <a:p>
            <a:pPr algn="l">
              <a:spcAft>
                <a:spcPts val="400"/>
              </a:spcAft>
            </a:pPr>
            <a:r>
              <a:rPr sz="1350" b="1" i="0">
                <a:solidFill>
                  <a:srgbClr val="EEF2FF"/>
                </a:solidFill>
                <a:latin typeface="Calibri"/>
              </a:rPr>
              <a:t>Results must be verified</a:t>
            </a:r>
          </a:p>
        </p:txBody>
      </p:sp>
      <p:sp>
        <p:nvSpPr>
          <p:cNvPr id="45" name="TextBox 44"/>
          <p:cNvSpPr txBox="1"/>
          <p:nvPr/>
        </p:nvSpPr>
        <p:spPr>
          <a:xfrm>
            <a:off x="6199631" y="5458968"/>
            <a:ext cx="2286000" cy="731520"/>
          </a:xfrm>
          <a:prstGeom prst="rect">
            <a:avLst/>
          </a:prstGeom>
          <a:noFill/>
        </p:spPr>
        <p:txBody>
          <a:bodyPr wrap="square" anchor="t" lIns="0" rIns="0" tIns="0" bIns="0"/>
          <a:lstStyle/>
          <a:p>
            <a:pPr algn="l">
              <a:spcAft>
                <a:spcPts val="400"/>
              </a:spcAft>
            </a:pPr>
            <a:r>
              <a:rPr sz="1250" b="0" i="0">
                <a:solidFill>
                  <a:srgbClr val="A3ADC8"/>
                </a:solidFill>
                <a:latin typeface="Calibri"/>
              </a:rPr>
              <a:t>Feedback loops let an agent catch and fix its own errors.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02 · objectives of the seminar topic</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Objectives</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4</a:t>
            </a:fld>
            <a:r>
              <a:rPr sz="900">
                <a:solidFill>
                  <a:srgbClr val="6B7699"/>
                </a:solidFill>
                <a:latin typeface="Consolas"/>
              </a:rPr>
              <a:t> / 18</a:t>
            </a:r>
          </a:p>
        </p:txBody>
      </p:sp>
      <p:cxnSp>
        <p:nvCxnSpPr>
          <p:cNvPr id="9" name="Connector 8"/>
          <p:cNvCxnSpPr/>
          <p:nvPr/>
        </p:nvCxnSpPr>
        <p:spPr>
          <a:xfrm flipH="1" flipV="1">
            <a:off x="1943100" y="2103120"/>
            <a:ext cx="2628900" cy="1600200"/>
          </a:xfrm>
          <a:prstGeom prst="line">
            <a:avLst/>
          </a:prstGeom>
          <a:ln w="19050">
            <a:solidFill>
              <a:srgbClr val="2C3870"/>
            </a:solidFill>
          </a:ln>
        </p:spPr>
      </p:cxnSp>
      <p:cxnSp>
        <p:nvCxnSpPr>
          <p:cNvPr id="10" name="Connector 9"/>
          <p:cNvCxnSpPr/>
          <p:nvPr/>
        </p:nvCxnSpPr>
        <p:spPr>
          <a:xfrm flipV="1">
            <a:off x="4572000" y="2103120"/>
            <a:ext cx="2628900" cy="1600200"/>
          </a:xfrm>
          <a:prstGeom prst="line">
            <a:avLst/>
          </a:prstGeom>
          <a:ln w="19050">
            <a:solidFill>
              <a:srgbClr val="2C3870"/>
            </a:solidFill>
          </a:ln>
        </p:spPr>
      </p:cxnSp>
      <p:cxnSp>
        <p:nvCxnSpPr>
          <p:cNvPr id="11" name="Connector 10"/>
          <p:cNvCxnSpPr/>
          <p:nvPr/>
        </p:nvCxnSpPr>
        <p:spPr>
          <a:xfrm flipH="1">
            <a:off x="1943100" y="3703320"/>
            <a:ext cx="2628900" cy="91440"/>
          </a:xfrm>
          <a:prstGeom prst="line">
            <a:avLst/>
          </a:prstGeom>
          <a:ln w="19050">
            <a:solidFill>
              <a:srgbClr val="2C3870"/>
            </a:solidFill>
          </a:ln>
        </p:spPr>
      </p:cxnSp>
      <p:cxnSp>
        <p:nvCxnSpPr>
          <p:cNvPr id="12" name="Connector 11"/>
          <p:cNvCxnSpPr/>
          <p:nvPr/>
        </p:nvCxnSpPr>
        <p:spPr>
          <a:xfrm>
            <a:off x="4572000" y="3703320"/>
            <a:ext cx="2628900" cy="91440"/>
          </a:xfrm>
          <a:prstGeom prst="line">
            <a:avLst/>
          </a:prstGeom>
          <a:ln w="19050">
            <a:solidFill>
              <a:srgbClr val="2C3870"/>
            </a:solidFill>
          </a:ln>
        </p:spPr>
      </p:cxnSp>
      <p:cxnSp>
        <p:nvCxnSpPr>
          <p:cNvPr id="13" name="Connector 12"/>
          <p:cNvCxnSpPr/>
          <p:nvPr/>
        </p:nvCxnSpPr>
        <p:spPr>
          <a:xfrm>
            <a:off x="4572000" y="3703320"/>
            <a:ext cx="0" cy="1874520"/>
          </a:xfrm>
          <a:prstGeom prst="line">
            <a:avLst/>
          </a:prstGeom>
          <a:ln w="19050">
            <a:solidFill>
              <a:srgbClr val="2C3870"/>
            </a:solidFill>
          </a:ln>
        </p:spPr>
      </p:cxnSp>
      <p:sp>
        <p:nvSpPr>
          <p:cNvPr id="14" name="Oval 13"/>
          <p:cNvSpPr/>
          <p:nvPr/>
        </p:nvSpPr>
        <p:spPr>
          <a:xfrm>
            <a:off x="3566160" y="2697479"/>
            <a:ext cx="2011680" cy="2011680"/>
          </a:xfrm>
          <a:prstGeom prst="ellipse">
            <a:avLst/>
          </a:prstGeom>
          <a:solidFill>
            <a:srgbClr val="7C3AED">
              <a:alpha val="25000"/>
            </a:srgbClr>
          </a:solidFill>
          <a:ln>
            <a:noFill/>
          </a:ln>
        </p:spPr>
        <p:txBody>
          <a:bodyPr rtlCol="0" anchor="ctr" wrap="square" lIns="54864" rIns="54864" tIns="54864" bIns="54864"/>
          <a:lstStyle/>
          <a:p>
            <a:pPr algn="ctr"/>
          </a:p>
        </p:txBody>
      </p:sp>
      <p:sp>
        <p:nvSpPr>
          <p:cNvPr id="15" name="Oval 14"/>
          <p:cNvSpPr/>
          <p:nvPr/>
        </p:nvSpPr>
        <p:spPr>
          <a:xfrm>
            <a:off x="3794760" y="2926079"/>
            <a:ext cx="1554480" cy="1554480"/>
          </a:xfrm>
          <a:prstGeom prst="ellipse">
            <a:avLst/>
          </a:prstGeom>
          <a:gradFill rotWithShape="1">
            <a:gsLst>
              <a:gs pos="0">
                <a:srgbClr val="7C3AED"/>
              </a:gs>
              <a:gs pos="100000">
                <a:srgbClr val="0891B2"/>
              </a:gs>
            </a:gsLst>
            <a:lin scaled="0" ang="18900000"/>
          </a:gradFill>
          <a:ln>
            <a:noFill/>
          </a:ln>
        </p:spPr>
        <p:txBody>
          <a:bodyPr rtlCol="0" anchor="ctr" wrap="square" lIns="109728" rIns="109728" tIns="109728" bIns="109728"/>
          <a:lstStyle/>
          <a:p>
            <a:pPr algn="ctr">
              <a:spcAft>
                <a:spcPts val="0"/>
              </a:spcAft>
            </a:pPr>
            <a:r>
              <a:rPr sz="1000" b="1" i="0">
                <a:solidFill>
                  <a:srgbClr val="FFFFFF"/>
                </a:solidFill>
                <a:latin typeface="Consolas"/>
              </a:rPr>
              <a:t>GOAL</a:t>
            </a:r>
          </a:p>
          <a:p>
            <a:pPr algn="ctr">
              <a:spcAft>
                <a:spcPts val="0"/>
              </a:spcAft>
            </a:pPr>
            <a:r>
              <a:rPr sz="1250" b="1" i="0">
                <a:solidFill>
                  <a:srgbClr val="FFFFFF"/>
                </a:solidFill>
                <a:latin typeface="Calibri"/>
              </a:rPr>
              <a:t>Understand reliable autonomous agents</a:t>
            </a:r>
          </a:p>
        </p:txBody>
      </p:sp>
      <p:sp>
        <p:nvSpPr>
          <p:cNvPr id="16" name="Rounded Rectangle 15"/>
          <p:cNvSpPr/>
          <p:nvPr/>
        </p:nvSpPr>
        <p:spPr>
          <a:xfrm>
            <a:off x="548640" y="1508760"/>
            <a:ext cx="2788920" cy="1188720"/>
          </a:xfrm>
          <a:prstGeom prst="roundRect">
            <a:avLst>
              <a:gd name="adj" fmla="val 10769"/>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7" name="TextBox 16"/>
          <p:cNvSpPr txBox="1"/>
          <p:nvPr/>
        </p:nvSpPr>
        <p:spPr>
          <a:xfrm>
            <a:off x="731520" y="1618488"/>
            <a:ext cx="548640" cy="320040"/>
          </a:xfrm>
          <a:prstGeom prst="rect">
            <a:avLst/>
          </a:prstGeom>
          <a:noFill/>
        </p:spPr>
        <p:txBody>
          <a:bodyPr wrap="square" anchor="t" lIns="0" rIns="0" tIns="0" bIns="0"/>
          <a:lstStyle/>
          <a:p>
            <a:pPr algn="l">
              <a:spcAft>
                <a:spcPts val="400"/>
              </a:spcAft>
            </a:pPr>
            <a:r>
              <a:rPr sz="1300" b="1" i="0">
                <a:solidFill>
                  <a:srgbClr val="22D3EE"/>
                </a:solidFill>
                <a:latin typeface="Consolas"/>
              </a:rPr>
              <a:t>01</a:t>
            </a:r>
          </a:p>
        </p:txBody>
      </p:sp>
      <p:sp>
        <p:nvSpPr>
          <p:cNvPr id="18" name="TextBox 17"/>
          <p:cNvSpPr txBox="1"/>
          <p:nvPr/>
        </p:nvSpPr>
        <p:spPr>
          <a:xfrm>
            <a:off x="1234440" y="1600200"/>
            <a:ext cx="2011680" cy="347472"/>
          </a:xfrm>
          <a:prstGeom prst="rect">
            <a:avLst/>
          </a:prstGeom>
          <a:noFill/>
        </p:spPr>
        <p:txBody>
          <a:bodyPr wrap="square" anchor="t" lIns="0" rIns="0" tIns="0" bIns="0"/>
          <a:lstStyle/>
          <a:p>
            <a:pPr algn="l">
              <a:spcAft>
                <a:spcPts val="400"/>
              </a:spcAft>
            </a:pPr>
            <a:r>
              <a:rPr sz="1450" b="1" i="0">
                <a:solidFill>
                  <a:srgbClr val="EEF2FF"/>
                </a:solidFill>
                <a:latin typeface="Calibri"/>
              </a:rPr>
              <a:t>Architecture</a:t>
            </a:r>
          </a:p>
        </p:txBody>
      </p:sp>
      <p:sp>
        <p:nvSpPr>
          <p:cNvPr id="19" name="TextBox 18"/>
          <p:cNvSpPr txBox="1"/>
          <p:nvPr/>
        </p:nvSpPr>
        <p:spPr>
          <a:xfrm>
            <a:off x="731520" y="1984248"/>
            <a:ext cx="2468880" cy="685800"/>
          </a:xfrm>
          <a:prstGeom prst="rect">
            <a:avLst/>
          </a:prstGeom>
          <a:noFill/>
        </p:spPr>
        <p:txBody>
          <a:bodyPr wrap="square" anchor="t" lIns="0" rIns="0" tIns="0" bIns="0"/>
          <a:lstStyle/>
          <a:p>
            <a:pPr algn="l">
              <a:spcAft>
                <a:spcPts val="400"/>
              </a:spcAft>
            </a:pPr>
            <a:r>
              <a:rPr sz="1200" b="0" i="0">
                <a:solidFill>
                  <a:srgbClr val="A3ADC8"/>
                </a:solidFill>
                <a:latin typeface="Calibri"/>
              </a:rPr>
              <a:t>How LLM agents plan, remember, use tools and self-critique.</a:t>
            </a:r>
          </a:p>
        </p:txBody>
      </p:sp>
      <p:sp>
        <p:nvSpPr>
          <p:cNvPr id="20" name="Rounded Rectangle 19"/>
          <p:cNvSpPr/>
          <p:nvPr/>
        </p:nvSpPr>
        <p:spPr>
          <a:xfrm>
            <a:off x="5806440" y="1508760"/>
            <a:ext cx="2788920" cy="1188720"/>
          </a:xfrm>
          <a:prstGeom prst="roundRect">
            <a:avLst>
              <a:gd name="adj" fmla="val 10769"/>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1" name="TextBox 20"/>
          <p:cNvSpPr txBox="1"/>
          <p:nvPr/>
        </p:nvSpPr>
        <p:spPr>
          <a:xfrm>
            <a:off x="5989320" y="1618488"/>
            <a:ext cx="548640" cy="320040"/>
          </a:xfrm>
          <a:prstGeom prst="rect">
            <a:avLst/>
          </a:prstGeom>
          <a:noFill/>
        </p:spPr>
        <p:txBody>
          <a:bodyPr wrap="square" anchor="t" lIns="0" rIns="0" tIns="0" bIns="0"/>
          <a:lstStyle/>
          <a:p>
            <a:pPr algn="l">
              <a:spcAft>
                <a:spcPts val="400"/>
              </a:spcAft>
            </a:pPr>
            <a:r>
              <a:rPr sz="1300" b="1" i="0">
                <a:solidFill>
                  <a:srgbClr val="22D3EE"/>
                </a:solidFill>
                <a:latin typeface="Consolas"/>
              </a:rPr>
              <a:t>02</a:t>
            </a:r>
          </a:p>
        </p:txBody>
      </p:sp>
      <p:sp>
        <p:nvSpPr>
          <p:cNvPr id="22" name="TextBox 21"/>
          <p:cNvSpPr txBox="1"/>
          <p:nvPr/>
        </p:nvSpPr>
        <p:spPr>
          <a:xfrm>
            <a:off x="6492240" y="1600200"/>
            <a:ext cx="2011680" cy="347472"/>
          </a:xfrm>
          <a:prstGeom prst="rect">
            <a:avLst/>
          </a:prstGeom>
          <a:noFill/>
        </p:spPr>
        <p:txBody>
          <a:bodyPr wrap="square" anchor="t" lIns="0" rIns="0" tIns="0" bIns="0"/>
          <a:lstStyle/>
          <a:p>
            <a:pPr algn="l">
              <a:spcAft>
                <a:spcPts val="400"/>
              </a:spcAft>
            </a:pPr>
            <a:r>
              <a:rPr sz="1450" b="1" i="0">
                <a:solidFill>
                  <a:srgbClr val="EEF2FF"/>
                </a:solidFill>
                <a:latin typeface="Calibri"/>
              </a:rPr>
              <a:t>Coordination</a:t>
            </a:r>
          </a:p>
        </p:txBody>
      </p:sp>
      <p:sp>
        <p:nvSpPr>
          <p:cNvPr id="23" name="TextBox 22"/>
          <p:cNvSpPr txBox="1"/>
          <p:nvPr/>
        </p:nvSpPr>
        <p:spPr>
          <a:xfrm>
            <a:off x="5989320" y="1984248"/>
            <a:ext cx="2468880" cy="685800"/>
          </a:xfrm>
          <a:prstGeom prst="rect">
            <a:avLst/>
          </a:prstGeom>
          <a:noFill/>
        </p:spPr>
        <p:txBody>
          <a:bodyPr wrap="square" anchor="t" lIns="0" rIns="0" tIns="0" bIns="0"/>
          <a:lstStyle/>
          <a:p>
            <a:pPr algn="l">
              <a:spcAft>
                <a:spcPts val="400"/>
              </a:spcAft>
            </a:pPr>
            <a:r>
              <a:rPr sz="1200" b="0" i="0">
                <a:solidFill>
                  <a:srgbClr val="A3ADC8"/>
                </a:solidFill>
                <a:latin typeface="Calibri"/>
              </a:rPr>
              <a:t>Centralized, hierarchical and decentralized multi-agent patterns.</a:t>
            </a:r>
          </a:p>
        </p:txBody>
      </p:sp>
      <p:sp>
        <p:nvSpPr>
          <p:cNvPr id="24" name="Rounded Rectangle 23"/>
          <p:cNvSpPr/>
          <p:nvPr/>
        </p:nvSpPr>
        <p:spPr>
          <a:xfrm>
            <a:off x="548640" y="3200400"/>
            <a:ext cx="2788920" cy="1188720"/>
          </a:xfrm>
          <a:prstGeom prst="roundRect">
            <a:avLst>
              <a:gd name="adj" fmla="val 10769"/>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5" name="TextBox 24"/>
          <p:cNvSpPr txBox="1"/>
          <p:nvPr/>
        </p:nvSpPr>
        <p:spPr>
          <a:xfrm>
            <a:off x="731520" y="3310128"/>
            <a:ext cx="548640" cy="320040"/>
          </a:xfrm>
          <a:prstGeom prst="rect">
            <a:avLst/>
          </a:prstGeom>
          <a:noFill/>
        </p:spPr>
        <p:txBody>
          <a:bodyPr wrap="square" anchor="t" lIns="0" rIns="0" tIns="0" bIns="0"/>
          <a:lstStyle/>
          <a:p>
            <a:pPr algn="l">
              <a:spcAft>
                <a:spcPts val="400"/>
              </a:spcAft>
            </a:pPr>
            <a:r>
              <a:rPr sz="1300" b="1" i="0">
                <a:solidFill>
                  <a:srgbClr val="22D3EE"/>
                </a:solidFill>
                <a:latin typeface="Consolas"/>
              </a:rPr>
              <a:t>03</a:t>
            </a:r>
          </a:p>
        </p:txBody>
      </p:sp>
      <p:sp>
        <p:nvSpPr>
          <p:cNvPr id="26" name="TextBox 25"/>
          <p:cNvSpPr txBox="1"/>
          <p:nvPr/>
        </p:nvSpPr>
        <p:spPr>
          <a:xfrm>
            <a:off x="1234440" y="3291840"/>
            <a:ext cx="2011680" cy="347472"/>
          </a:xfrm>
          <a:prstGeom prst="rect">
            <a:avLst/>
          </a:prstGeom>
          <a:noFill/>
        </p:spPr>
        <p:txBody>
          <a:bodyPr wrap="square" anchor="t" lIns="0" rIns="0" tIns="0" bIns="0"/>
          <a:lstStyle/>
          <a:p>
            <a:pPr algn="l">
              <a:spcAft>
                <a:spcPts val="400"/>
              </a:spcAft>
            </a:pPr>
            <a:r>
              <a:rPr sz="1450" b="1" i="0">
                <a:solidFill>
                  <a:srgbClr val="EEF2FF"/>
                </a:solidFill>
                <a:latin typeface="Calibri"/>
              </a:rPr>
              <a:t>Memory &amp; context</a:t>
            </a:r>
          </a:p>
        </p:txBody>
      </p:sp>
      <p:sp>
        <p:nvSpPr>
          <p:cNvPr id="27" name="TextBox 26"/>
          <p:cNvSpPr txBox="1"/>
          <p:nvPr/>
        </p:nvSpPr>
        <p:spPr>
          <a:xfrm>
            <a:off x="731520" y="3675887"/>
            <a:ext cx="2468880" cy="685800"/>
          </a:xfrm>
          <a:prstGeom prst="rect">
            <a:avLst/>
          </a:prstGeom>
          <a:noFill/>
        </p:spPr>
        <p:txBody>
          <a:bodyPr wrap="square" anchor="t" lIns="0" rIns="0" tIns="0" bIns="0"/>
          <a:lstStyle/>
          <a:p>
            <a:pPr algn="l">
              <a:spcAft>
                <a:spcPts val="400"/>
              </a:spcAft>
            </a:pPr>
            <a:r>
              <a:rPr sz="1200" b="0" i="0">
                <a:solidFill>
                  <a:srgbClr val="A3ADC8"/>
                </a:solidFill>
                <a:latin typeface="Calibri"/>
              </a:rPr>
              <a:t>Short- and long-term memory for long-horizon tasks.</a:t>
            </a:r>
          </a:p>
        </p:txBody>
      </p:sp>
      <p:sp>
        <p:nvSpPr>
          <p:cNvPr id="28" name="Rounded Rectangle 27"/>
          <p:cNvSpPr/>
          <p:nvPr/>
        </p:nvSpPr>
        <p:spPr>
          <a:xfrm>
            <a:off x="5806440" y="3200400"/>
            <a:ext cx="2788920" cy="1188720"/>
          </a:xfrm>
          <a:prstGeom prst="roundRect">
            <a:avLst>
              <a:gd name="adj" fmla="val 10769"/>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9" name="TextBox 28"/>
          <p:cNvSpPr txBox="1"/>
          <p:nvPr/>
        </p:nvSpPr>
        <p:spPr>
          <a:xfrm>
            <a:off x="5989320" y="3310128"/>
            <a:ext cx="548640" cy="320040"/>
          </a:xfrm>
          <a:prstGeom prst="rect">
            <a:avLst/>
          </a:prstGeom>
          <a:noFill/>
        </p:spPr>
        <p:txBody>
          <a:bodyPr wrap="square" anchor="t" lIns="0" rIns="0" tIns="0" bIns="0"/>
          <a:lstStyle/>
          <a:p>
            <a:pPr algn="l">
              <a:spcAft>
                <a:spcPts val="400"/>
              </a:spcAft>
            </a:pPr>
            <a:r>
              <a:rPr sz="1300" b="1" i="0">
                <a:solidFill>
                  <a:srgbClr val="22D3EE"/>
                </a:solidFill>
                <a:latin typeface="Consolas"/>
              </a:rPr>
              <a:t>04</a:t>
            </a:r>
          </a:p>
        </p:txBody>
      </p:sp>
      <p:sp>
        <p:nvSpPr>
          <p:cNvPr id="30" name="TextBox 29"/>
          <p:cNvSpPr txBox="1"/>
          <p:nvPr/>
        </p:nvSpPr>
        <p:spPr>
          <a:xfrm>
            <a:off x="6492240" y="3291840"/>
            <a:ext cx="2011680" cy="347472"/>
          </a:xfrm>
          <a:prstGeom prst="rect">
            <a:avLst/>
          </a:prstGeom>
          <a:noFill/>
        </p:spPr>
        <p:txBody>
          <a:bodyPr wrap="square" anchor="t" lIns="0" rIns="0" tIns="0" bIns="0"/>
          <a:lstStyle/>
          <a:p>
            <a:pPr algn="l">
              <a:spcAft>
                <a:spcPts val="400"/>
              </a:spcAft>
            </a:pPr>
            <a:r>
              <a:rPr sz="1450" b="1" i="0">
                <a:solidFill>
                  <a:srgbClr val="EEF2FF"/>
                </a:solidFill>
                <a:latin typeface="Calibri"/>
              </a:rPr>
              <a:t>Applications</a:t>
            </a:r>
          </a:p>
        </p:txBody>
      </p:sp>
      <p:sp>
        <p:nvSpPr>
          <p:cNvPr id="31" name="TextBox 30"/>
          <p:cNvSpPr txBox="1"/>
          <p:nvPr/>
        </p:nvSpPr>
        <p:spPr>
          <a:xfrm>
            <a:off x="5989320" y="3675887"/>
            <a:ext cx="2468880" cy="685800"/>
          </a:xfrm>
          <a:prstGeom prst="rect">
            <a:avLst/>
          </a:prstGeom>
          <a:noFill/>
        </p:spPr>
        <p:txBody>
          <a:bodyPr wrap="square" anchor="t" lIns="0" rIns="0" tIns="0" bIns="0"/>
          <a:lstStyle/>
          <a:p>
            <a:pPr algn="l">
              <a:spcAft>
                <a:spcPts val="400"/>
              </a:spcAft>
            </a:pPr>
            <a:r>
              <a:rPr sz="1200" b="0" i="0">
                <a:solidFill>
                  <a:srgbClr val="A3ADC8"/>
                </a:solidFill>
                <a:latin typeface="Calibri"/>
              </a:rPr>
              <a:t>Real agent systems in software, research, security, robotics.</a:t>
            </a:r>
          </a:p>
        </p:txBody>
      </p:sp>
      <p:sp>
        <p:nvSpPr>
          <p:cNvPr id="32" name="Rounded Rectangle 31"/>
          <p:cNvSpPr/>
          <p:nvPr/>
        </p:nvSpPr>
        <p:spPr>
          <a:xfrm>
            <a:off x="3177540" y="4983480"/>
            <a:ext cx="2788920" cy="1188720"/>
          </a:xfrm>
          <a:prstGeom prst="roundRect">
            <a:avLst>
              <a:gd name="adj" fmla="val 10769"/>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3" name="TextBox 32"/>
          <p:cNvSpPr txBox="1"/>
          <p:nvPr/>
        </p:nvSpPr>
        <p:spPr>
          <a:xfrm>
            <a:off x="3360420" y="5093208"/>
            <a:ext cx="548640" cy="320040"/>
          </a:xfrm>
          <a:prstGeom prst="rect">
            <a:avLst/>
          </a:prstGeom>
          <a:noFill/>
        </p:spPr>
        <p:txBody>
          <a:bodyPr wrap="square" anchor="t" lIns="0" rIns="0" tIns="0" bIns="0"/>
          <a:lstStyle/>
          <a:p>
            <a:pPr algn="l">
              <a:spcAft>
                <a:spcPts val="400"/>
              </a:spcAft>
            </a:pPr>
            <a:r>
              <a:rPr sz="1300" b="1" i="0">
                <a:solidFill>
                  <a:srgbClr val="22D3EE"/>
                </a:solidFill>
                <a:latin typeface="Consolas"/>
              </a:rPr>
              <a:t>05</a:t>
            </a:r>
          </a:p>
        </p:txBody>
      </p:sp>
      <p:sp>
        <p:nvSpPr>
          <p:cNvPr id="34" name="TextBox 33"/>
          <p:cNvSpPr txBox="1"/>
          <p:nvPr/>
        </p:nvSpPr>
        <p:spPr>
          <a:xfrm>
            <a:off x="3863339" y="5074920"/>
            <a:ext cx="2011680" cy="347472"/>
          </a:xfrm>
          <a:prstGeom prst="rect">
            <a:avLst/>
          </a:prstGeom>
          <a:noFill/>
        </p:spPr>
        <p:txBody>
          <a:bodyPr wrap="square" anchor="t" lIns="0" rIns="0" tIns="0" bIns="0"/>
          <a:lstStyle/>
          <a:p>
            <a:pPr algn="l">
              <a:spcAft>
                <a:spcPts val="400"/>
              </a:spcAft>
            </a:pPr>
            <a:r>
              <a:rPr sz="1450" b="1" i="0">
                <a:solidFill>
                  <a:srgbClr val="EEF2FF"/>
                </a:solidFill>
                <a:latin typeface="Calibri"/>
              </a:rPr>
              <a:t>Challenges</a:t>
            </a:r>
          </a:p>
        </p:txBody>
      </p:sp>
      <p:sp>
        <p:nvSpPr>
          <p:cNvPr id="35" name="TextBox 34"/>
          <p:cNvSpPr txBox="1"/>
          <p:nvPr/>
        </p:nvSpPr>
        <p:spPr>
          <a:xfrm>
            <a:off x="3360420" y="5458968"/>
            <a:ext cx="2468880" cy="685800"/>
          </a:xfrm>
          <a:prstGeom prst="rect">
            <a:avLst/>
          </a:prstGeom>
          <a:noFill/>
        </p:spPr>
        <p:txBody>
          <a:bodyPr wrap="square" anchor="t" lIns="0" rIns="0" tIns="0" bIns="0"/>
          <a:lstStyle/>
          <a:p>
            <a:pPr algn="l">
              <a:spcAft>
                <a:spcPts val="400"/>
              </a:spcAft>
            </a:pPr>
            <a:r>
              <a:rPr sz="1200" b="0" i="0">
                <a:solidFill>
                  <a:srgbClr val="A3ADC8"/>
                </a:solidFill>
                <a:latin typeface="Calibri"/>
              </a:rPr>
              <a:t>Reliability, safety, evaluation and cost; future directions.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03 · literature review — methods &amp; algorithms studied</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Literature Review</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5</a:t>
            </a:fld>
            <a:r>
              <a:rPr sz="900">
                <a:solidFill>
                  <a:srgbClr val="6B7699"/>
                </a:solidFill>
                <a:latin typeface="Consolas"/>
              </a:rPr>
              <a:t> / 18</a:t>
            </a:r>
          </a:p>
        </p:txBody>
      </p:sp>
      <p:sp>
        <p:nvSpPr>
          <p:cNvPr id="9" name="Rounded Rectangle 8"/>
          <p:cNvSpPr/>
          <p:nvPr/>
        </p:nvSpPr>
        <p:spPr>
          <a:xfrm>
            <a:off x="548640" y="1508760"/>
            <a:ext cx="228600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0" name="TextBox 9"/>
          <p:cNvSpPr txBox="1"/>
          <p:nvPr/>
        </p:nvSpPr>
        <p:spPr>
          <a:xfrm>
            <a:off x="685800" y="1508760"/>
            <a:ext cx="777240" cy="841248"/>
          </a:xfrm>
          <a:prstGeom prst="rect">
            <a:avLst/>
          </a:prstGeom>
          <a:noFill/>
        </p:spPr>
        <p:txBody>
          <a:bodyPr wrap="square" anchor="ctr" lIns="0" rIns="0" tIns="0" bIns="0"/>
          <a:lstStyle/>
          <a:p>
            <a:pPr algn="l">
              <a:spcAft>
                <a:spcPts val="400"/>
              </a:spcAft>
            </a:pPr>
            <a:r>
              <a:rPr sz="2800" b="1" i="0">
                <a:solidFill>
                  <a:srgbClr val="22D3EE"/>
                </a:solidFill>
                <a:latin typeface="Consolas"/>
              </a:rPr>
              <a:t>12</a:t>
            </a:r>
          </a:p>
        </p:txBody>
      </p:sp>
      <p:sp>
        <p:nvSpPr>
          <p:cNvPr id="11" name="TextBox 10"/>
          <p:cNvSpPr txBox="1"/>
          <p:nvPr/>
        </p:nvSpPr>
        <p:spPr>
          <a:xfrm>
            <a:off x="1417320" y="1508760"/>
            <a:ext cx="1353312" cy="841248"/>
          </a:xfrm>
          <a:prstGeom prst="rect">
            <a:avLst/>
          </a:prstGeom>
          <a:noFill/>
        </p:spPr>
        <p:txBody>
          <a:bodyPr wrap="square" anchor="ctr" lIns="0" rIns="0" tIns="0" bIns="0"/>
          <a:lstStyle/>
          <a:p>
            <a:pPr algn="l">
              <a:spcAft>
                <a:spcPts val="400"/>
              </a:spcAft>
            </a:pPr>
            <a:r>
              <a:rPr sz="1150" b="0" i="0">
                <a:solidFill>
                  <a:srgbClr val="A3ADC8"/>
                </a:solidFill>
                <a:latin typeface="Calibri"/>
              </a:rPr>
              <a:t>sources studied, 2022–2026</a:t>
            </a:r>
          </a:p>
        </p:txBody>
      </p:sp>
      <p:sp>
        <p:nvSpPr>
          <p:cNvPr id="12" name="Rounded Rectangle 11"/>
          <p:cNvSpPr/>
          <p:nvPr/>
        </p:nvSpPr>
        <p:spPr>
          <a:xfrm>
            <a:off x="548640" y="2468880"/>
            <a:ext cx="228600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3" name="TextBox 12"/>
          <p:cNvSpPr txBox="1"/>
          <p:nvPr/>
        </p:nvSpPr>
        <p:spPr>
          <a:xfrm>
            <a:off x="685800" y="2468880"/>
            <a:ext cx="777240" cy="841248"/>
          </a:xfrm>
          <a:prstGeom prst="rect">
            <a:avLst/>
          </a:prstGeom>
          <a:noFill/>
        </p:spPr>
        <p:txBody>
          <a:bodyPr wrap="square" anchor="ctr" lIns="0" rIns="0" tIns="0" bIns="0"/>
          <a:lstStyle/>
          <a:p>
            <a:pPr algn="l">
              <a:spcAft>
                <a:spcPts val="400"/>
              </a:spcAft>
            </a:pPr>
            <a:r>
              <a:rPr sz="2800" b="1" i="0">
                <a:solidFill>
                  <a:srgbClr val="A78BFA"/>
                </a:solidFill>
                <a:latin typeface="Consolas"/>
              </a:rPr>
              <a:t>6</a:t>
            </a:r>
          </a:p>
        </p:txBody>
      </p:sp>
      <p:sp>
        <p:nvSpPr>
          <p:cNvPr id="14" name="TextBox 13"/>
          <p:cNvSpPr txBox="1"/>
          <p:nvPr/>
        </p:nvSpPr>
        <p:spPr>
          <a:xfrm>
            <a:off x="1417320" y="2468880"/>
            <a:ext cx="1353312" cy="841248"/>
          </a:xfrm>
          <a:prstGeom prst="rect">
            <a:avLst/>
          </a:prstGeom>
          <a:noFill/>
        </p:spPr>
        <p:txBody>
          <a:bodyPr wrap="square" anchor="ctr" lIns="0" rIns="0" tIns="0" bIns="0"/>
          <a:lstStyle/>
          <a:p>
            <a:pPr algn="l">
              <a:spcAft>
                <a:spcPts val="400"/>
              </a:spcAft>
            </a:pPr>
            <a:r>
              <a:rPr sz="1150" b="0" i="0">
                <a:solidFill>
                  <a:srgbClr val="A3ADC8"/>
                </a:solidFill>
                <a:latin typeface="Calibri"/>
              </a:rPr>
              <a:t>IEEE journal &amp; conference papers</a:t>
            </a:r>
          </a:p>
        </p:txBody>
      </p:sp>
      <p:sp>
        <p:nvSpPr>
          <p:cNvPr id="15" name="Rounded Rectangle 14"/>
          <p:cNvSpPr/>
          <p:nvPr/>
        </p:nvSpPr>
        <p:spPr>
          <a:xfrm>
            <a:off x="548640" y="3429000"/>
            <a:ext cx="228600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6" name="TextBox 15"/>
          <p:cNvSpPr txBox="1"/>
          <p:nvPr/>
        </p:nvSpPr>
        <p:spPr>
          <a:xfrm>
            <a:off x="685800" y="3429000"/>
            <a:ext cx="777240" cy="841248"/>
          </a:xfrm>
          <a:prstGeom prst="rect">
            <a:avLst/>
          </a:prstGeom>
          <a:noFill/>
        </p:spPr>
        <p:txBody>
          <a:bodyPr wrap="square" anchor="ctr" lIns="0" rIns="0" tIns="0" bIns="0"/>
          <a:lstStyle/>
          <a:p>
            <a:pPr algn="l">
              <a:spcAft>
                <a:spcPts val="400"/>
              </a:spcAft>
            </a:pPr>
            <a:r>
              <a:rPr sz="2800" b="1" i="0">
                <a:solidFill>
                  <a:srgbClr val="A78BFA"/>
                </a:solidFill>
                <a:latin typeface="Consolas"/>
              </a:rPr>
              <a:t>5</a:t>
            </a:r>
          </a:p>
        </p:txBody>
      </p:sp>
      <p:sp>
        <p:nvSpPr>
          <p:cNvPr id="17" name="TextBox 16"/>
          <p:cNvSpPr txBox="1"/>
          <p:nvPr/>
        </p:nvSpPr>
        <p:spPr>
          <a:xfrm>
            <a:off x="1417320" y="3429000"/>
            <a:ext cx="1353312" cy="841248"/>
          </a:xfrm>
          <a:prstGeom prst="rect">
            <a:avLst/>
          </a:prstGeom>
          <a:noFill/>
        </p:spPr>
        <p:txBody>
          <a:bodyPr wrap="square" anchor="ctr" lIns="0" rIns="0" tIns="0" bIns="0"/>
          <a:lstStyle/>
          <a:p>
            <a:pPr algn="l">
              <a:spcAft>
                <a:spcPts val="400"/>
              </a:spcAft>
            </a:pPr>
            <a:r>
              <a:rPr sz="1150" b="0" i="0">
                <a:solidFill>
                  <a:srgbClr val="A3ADC8"/>
                </a:solidFill>
                <a:latin typeface="Calibri"/>
              </a:rPr>
              <a:t>arXiv, ACL and ICLR papers</a:t>
            </a:r>
          </a:p>
        </p:txBody>
      </p:sp>
      <p:sp>
        <p:nvSpPr>
          <p:cNvPr id="18" name="Rounded Rectangle 17"/>
          <p:cNvSpPr/>
          <p:nvPr/>
        </p:nvSpPr>
        <p:spPr>
          <a:xfrm>
            <a:off x="548640" y="4389120"/>
            <a:ext cx="228600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9" name="TextBox 18"/>
          <p:cNvSpPr txBox="1"/>
          <p:nvPr/>
        </p:nvSpPr>
        <p:spPr>
          <a:xfrm>
            <a:off x="685800" y="4389120"/>
            <a:ext cx="777240" cy="841248"/>
          </a:xfrm>
          <a:prstGeom prst="rect">
            <a:avLst/>
          </a:prstGeom>
          <a:noFill/>
        </p:spPr>
        <p:txBody>
          <a:bodyPr wrap="square" anchor="ctr" lIns="0" rIns="0" tIns="0" bIns="0"/>
          <a:lstStyle/>
          <a:p>
            <a:pPr algn="l">
              <a:spcAft>
                <a:spcPts val="400"/>
              </a:spcAft>
            </a:pPr>
            <a:r>
              <a:rPr sz="2800" b="1" i="0">
                <a:solidFill>
                  <a:srgbClr val="F472B6"/>
                </a:solidFill>
                <a:latin typeface="Consolas"/>
              </a:rPr>
              <a:t>1</a:t>
            </a:r>
          </a:p>
        </p:txBody>
      </p:sp>
      <p:sp>
        <p:nvSpPr>
          <p:cNvPr id="20" name="TextBox 19"/>
          <p:cNvSpPr txBox="1"/>
          <p:nvPr/>
        </p:nvSpPr>
        <p:spPr>
          <a:xfrm>
            <a:off x="1417320" y="4389120"/>
            <a:ext cx="1353312" cy="841248"/>
          </a:xfrm>
          <a:prstGeom prst="rect">
            <a:avLst/>
          </a:prstGeom>
          <a:noFill/>
        </p:spPr>
        <p:txBody>
          <a:bodyPr wrap="square" anchor="ctr" lIns="0" rIns="0" tIns="0" bIns="0"/>
          <a:lstStyle/>
          <a:p>
            <a:pPr algn="l">
              <a:spcAft>
                <a:spcPts val="400"/>
              </a:spcAft>
            </a:pPr>
            <a:r>
              <a:rPr sz="1150" b="0" i="0">
                <a:solidFill>
                  <a:srgbClr val="A3ADC8"/>
                </a:solidFill>
                <a:latin typeface="Calibri"/>
              </a:rPr>
              <a:t>industry engineering report</a:t>
            </a:r>
          </a:p>
        </p:txBody>
      </p:sp>
      <p:sp>
        <p:nvSpPr>
          <p:cNvPr id="21" name="Rounded Rectangle 20"/>
          <p:cNvSpPr/>
          <p:nvPr/>
        </p:nvSpPr>
        <p:spPr>
          <a:xfrm>
            <a:off x="3017520" y="1508760"/>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22" name="Picture 21" descr="book_uc.png"/>
          <p:cNvPicPr>
            <a:picLocks noChangeAspect="1"/>
          </p:cNvPicPr>
          <p:nvPr/>
        </p:nvPicPr>
        <p:blipFill>
          <a:blip r:embed="rId4"/>
          <a:stretch>
            <a:fillRect/>
          </a:stretch>
        </p:blipFill>
        <p:spPr>
          <a:xfrm>
            <a:off x="3172968" y="1664207"/>
            <a:ext cx="310896" cy="310896"/>
          </a:xfrm>
          <a:prstGeom prst="rect">
            <a:avLst/>
          </a:prstGeom>
        </p:spPr>
      </p:pic>
      <p:sp>
        <p:nvSpPr>
          <p:cNvPr id="23" name="TextBox 22"/>
          <p:cNvSpPr txBox="1"/>
          <p:nvPr/>
        </p:nvSpPr>
        <p:spPr>
          <a:xfrm>
            <a:off x="3584448" y="1600200"/>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Surveys &amp; taxonomies</a:t>
            </a:r>
          </a:p>
        </p:txBody>
      </p:sp>
      <p:sp>
        <p:nvSpPr>
          <p:cNvPr id="24" name="TextBox 23"/>
          <p:cNvSpPr txBox="1"/>
          <p:nvPr/>
        </p:nvSpPr>
        <p:spPr>
          <a:xfrm>
            <a:off x="3584448" y="1892807"/>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[1] [2] [3]</a:t>
            </a:r>
          </a:p>
        </p:txBody>
      </p:sp>
      <p:sp>
        <p:nvSpPr>
          <p:cNvPr id="25" name="TextBox 24"/>
          <p:cNvSpPr txBox="1"/>
          <p:nvPr/>
        </p:nvSpPr>
        <p:spPr>
          <a:xfrm>
            <a:off x="3172968" y="2167128"/>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Agent = perception + planning + memory + action.</a:t>
            </a:r>
          </a:p>
        </p:txBody>
      </p:sp>
      <p:sp>
        <p:nvSpPr>
          <p:cNvPr id="26" name="Rounded Rectangle 25"/>
          <p:cNvSpPr/>
          <p:nvPr/>
        </p:nvSpPr>
        <p:spPr>
          <a:xfrm>
            <a:off x="5806440" y="1508760"/>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27" name="Picture 26" descr="cogs_uv.png"/>
          <p:cNvPicPr>
            <a:picLocks noChangeAspect="1"/>
          </p:cNvPicPr>
          <p:nvPr/>
        </p:nvPicPr>
        <p:blipFill>
          <a:blip r:embed="rId5"/>
          <a:stretch>
            <a:fillRect/>
          </a:stretch>
        </p:blipFill>
        <p:spPr>
          <a:xfrm>
            <a:off x="5961888" y="1664207"/>
            <a:ext cx="310896" cy="310896"/>
          </a:xfrm>
          <a:prstGeom prst="rect">
            <a:avLst/>
          </a:prstGeom>
        </p:spPr>
      </p:pic>
      <p:sp>
        <p:nvSpPr>
          <p:cNvPr id="28" name="TextBox 27"/>
          <p:cNvSpPr txBox="1"/>
          <p:nvPr/>
        </p:nvSpPr>
        <p:spPr>
          <a:xfrm>
            <a:off x="6373368" y="1600200"/>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Frameworks &amp; runtime</a:t>
            </a:r>
          </a:p>
        </p:txBody>
      </p:sp>
      <p:sp>
        <p:nvSpPr>
          <p:cNvPr id="29" name="TextBox 28"/>
          <p:cNvSpPr txBox="1"/>
          <p:nvPr/>
        </p:nvSpPr>
        <p:spPr>
          <a:xfrm>
            <a:off x="6373368" y="1892807"/>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[4] [10]</a:t>
            </a:r>
          </a:p>
        </p:txBody>
      </p:sp>
      <p:sp>
        <p:nvSpPr>
          <p:cNvPr id="30" name="TextBox 29"/>
          <p:cNvSpPr txBox="1"/>
          <p:nvPr/>
        </p:nvSpPr>
        <p:spPr>
          <a:xfrm>
            <a:off x="5961888" y="2167128"/>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Blueprint vs runtime; hybrid multi-agent designs.</a:t>
            </a:r>
          </a:p>
        </p:txBody>
      </p:sp>
      <p:sp>
        <p:nvSpPr>
          <p:cNvPr id="31" name="Rounded Rectangle 30"/>
          <p:cNvSpPr/>
          <p:nvPr/>
        </p:nvSpPr>
        <p:spPr>
          <a:xfrm>
            <a:off x="3017520" y="2770632"/>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32" name="Picture 31" descr="db_uc.png"/>
          <p:cNvPicPr>
            <a:picLocks noChangeAspect="1"/>
          </p:cNvPicPr>
          <p:nvPr/>
        </p:nvPicPr>
        <p:blipFill>
          <a:blip r:embed="rId6"/>
          <a:stretch>
            <a:fillRect/>
          </a:stretch>
        </p:blipFill>
        <p:spPr>
          <a:xfrm>
            <a:off x="3172968" y="2926079"/>
            <a:ext cx="310896" cy="310896"/>
          </a:xfrm>
          <a:prstGeom prst="rect">
            <a:avLst/>
          </a:prstGeom>
        </p:spPr>
      </p:pic>
      <p:sp>
        <p:nvSpPr>
          <p:cNvPr id="33" name="TextBox 32"/>
          <p:cNvSpPr txBox="1"/>
          <p:nvPr/>
        </p:nvSpPr>
        <p:spPr>
          <a:xfrm>
            <a:off x="3584448" y="2862072"/>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Memory</a:t>
            </a:r>
          </a:p>
        </p:txBody>
      </p:sp>
      <p:sp>
        <p:nvSpPr>
          <p:cNvPr id="34" name="TextBox 33"/>
          <p:cNvSpPr txBox="1"/>
          <p:nvPr/>
        </p:nvSpPr>
        <p:spPr>
          <a:xfrm>
            <a:off x="3584448" y="3154679"/>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[5]</a:t>
            </a:r>
          </a:p>
        </p:txBody>
      </p:sp>
      <p:sp>
        <p:nvSpPr>
          <p:cNvPr id="35" name="TextBox 34"/>
          <p:cNvSpPr txBox="1"/>
          <p:nvPr/>
        </p:nvSpPr>
        <p:spPr>
          <a:xfrm>
            <a:off x="3172968" y="3429000"/>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Learn when to store, retrieve, summarize, discard.</a:t>
            </a:r>
          </a:p>
        </p:txBody>
      </p:sp>
      <p:sp>
        <p:nvSpPr>
          <p:cNvPr id="36" name="Rounded Rectangle 35"/>
          <p:cNvSpPr/>
          <p:nvPr/>
        </p:nvSpPr>
        <p:spPr>
          <a:xfrm>
            <a:off x="5806440" y="2770632"/>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37" name="Picture 36" descr="plug_uv.png"/>
          <p:cNvPicPr>
            <a:picLocks noChangeAspect="1"/>
          </p:cNvPicPr>
          <p:nvPr/>
        </p:nvPicPr>
        <p:blipFill>
          <a:blip r:embed="rId7"/>
          <a:stretch>
            <a:fillRect/>
          </a:stretch>
        </p:blipFill>
        <p:spPr>
          <a:xfrm>
            <a:off x="5961888" y="2926079"/>
            <a:ext cx="310896" cy="310896"/>
          </a:xfrm>
          <a:prstGeom prst="rect">
            <a:avLst/>
          </a:prstGeom>
        </p:spPr>
      </p:pic>
      <p:sp>
        <p:nvSpPr>
          <p:cNvPr id="38" name="TextBox 37"/>
          <p:cNvSpPr txBox="1"/>
          <p:nvPr/>
        </p:nvSpPr>
        <p:spPr>
          <a:xfrm>
            <a:off x="6373368" y="2862072"/>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Protocols</a:t>
            </a:r>
          </a:p>
        </p:txBody>
      </p:sp>
      <p:sp>
        <p:nvSpPr>
          <p:cNvPr id="39" name="TextBox 38"/>
          <p:cNvSpPr txBox="1"/>
          <p:nvPr/>
        </p:nvSpPr>
        <p:spPr>
          <a:xfrm>
            <a:off x="6373368" y="3154679"/>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[6]</a:t>
            </a:r>
          </a:p>
        </p:txBody>
      </p:sp>
      <p:sp>
        <p:nvSpPr>
          <p:cNvPr id="40" name="TextBox 39"/>
          <p:cNvSpPr txBox="1"/>
          <p:nvPr/>
        </p:nvSpPr>
        <p:spPr>
          <a:xfrm>
            <a:off x="5961888" y="3429000"/>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MCP for tools; A2A for agent-to-agent messages.</a:t>
            </a:r>
          </a:p>
        </p:txBody>
      </p:sp>
      <p:sp>
        <p:nvSpPr>
          <p:cNvPr id="41" name="Rounded Rectangle 40"/>
          <p:cNvSpPr/>
          <p:nvPr/>
        </p:nvSpPr>
        <p:spPr>
          <a:xfrm>
            <a:off x="3017520" y="4032504"/>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42" name="Picture 41" descr="shield_uc.png"/>
          <p:cNvPicPr>
            <a:picLocks noChangeAspect="1"/>
          </p:cNvPicPr>
          <p:nvPr/>
        </p:nvPicPr>
        <p:blipFill>
          <a:blip r:embed="rId8"/>
          <a:stretch>
            <a:fillRect/>
          </a:stretch>
        </p:blipFill>
        <p:spPr>
          <a:xfrm>
            <a:off x="3172968" y="4187952"/>
            <a:ext cx="310896" cy="310896"/>
          </a:xfrm>
          <a:prstGeom prst="rect">
            <a:avLst/>
          </a:prstGeom>
        </p:spPr>
      </p:pic>
      <p:sp>
        <p:nvSpPr>
          <p:cNvPr id="43" name="TextBox 42"/>
          <p:cNvSpPr txBox="1"/>
          <p:nvPr/>
        </p:nvSpPr>
        <p:spPr>
          <a:xfrm>
            <a:off x="3584448" y="4123944"/>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Security &amp; testing</a:t>
            </a:r>
          </a:p>
        </p:txBody>
      </p:sp>
      <p:sp>
        <p:nvSpPr>
          <p:cNvPr id="44" name="TextBox 43"/>
          <p:cNvSpPr txBox="1"/>
          <p:nvPr/>
        </p:nvSpPr>
        <p:spPr>
          <a:xfrm>
            <a:off x="3584448" y="4416552"/>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[7] [8]</a:t>
            </a:r>
          </a:p>
        </p:txBody>
      </p:sp>
      <p:sp>
        <p:nvSpPr>
          <p:cNvPr id="45" name="TextBox 44"/>
          <p:cNvSpPr txBox="1"/>
          <p:nvPr/>
        </p:nvSpPr>
        <p:spPr>
          <a:xfrm>
            <a:off x="3172968" y="4690872"/>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Prompt injection and tool abuse need fuzzing.</a:t>
            </a:r>
          </a:p>
        </p:txBody>
      </p:sp>
      <p:sp>
        <p:nvSpPr>
          <p:cNvPr id="46" name="Rounded Rectangle 45"/>
          <p:cNvSpPr/>
          <p:nvPr/>
        </p:nvSpPr>
        <p:spPr>
          <a:xfrm>
            <a:off x="5806440" y="4032504"/>
            <a:ext cx="269748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47" name="Picture 46" descr="robot_uv.png"/>
          <p:cNvPicPr>
            <a:picLocks noChangeAspect="1"/>
          </p:cNvPicPr>
          <p:nvPr/>
        </p:nvPicPr>
        <p:blipFill>
          <a:blip r:embed="rId9"/>
          <a:stretch>
            <a:fillRect/>
          </a:stretch>
        </p:blipFill>
        <p:spPr>
          <a:xfrm>
            <a:off x="5961888" y="4187952"/>
            <a:ext cx="310896" cy="310896"/>
          </a:xfrm>
          <a:prstGeom prst="rect">
            <a:avLst/>
          </a:prstGeom>
        </p:spPr>
      </p:pic>
      <p:sp>
        <p:nvSpPr>
          <p:cNvPr id="48" name="TextBox 47"/>
          <p:cNvSpPr txBox="1"/>
          <p:nvPr/>
        </p:nvSpPr>
        <p:spPr>
          <a:xfrm>
            <a:off x="6373368" y="4123944"/>
            <a:ext cx="2057400" cy="292608"/>
          </a:xfrm>
          <a:prstGeom prst="rect">
            <a:avLst/>
          </a:prstGeom>
          <a:noFill/>
        </p:spPr>
        <p:txBody>
          <a:bodyPr wrap="square" anchor="t" lIns="0" rIns="0" tIns="0" bIns="0"/>
          <a:lstStyle/>
          <a:p>
            <a:pPr algn="l">
              <a:spcAft>
                <a:spcPts val="400"/>
              </a:spcAft>
            </a:pPr>
            <a:r>
              <a:rPr sz="1300" b="1" i="0">
                <a:solidFill>
                  <a:srgbClr val="EEF2FF"/>
                </a:solidFill>
                <a:latin typeface="Calibri"/>
              </a:rPr>
              <a:t>Planning &amp; multi-agent</a:t>
            </a:r>
          </a:p>
        </p:txBody>
      </p:sp>
      <p:sp>
        <p:nvSpPr>
          <p:cNvPr id="49" name="TextBox 48"/>
          <p:cNvSpPr txBox="1"/>
          <p:nvPr/>
        </p:nvSpPr>
        <p:spPr>
          <a:xfrm>
            <a:off x="6373368" y="4416552"/>
            <a:ext cx="2057400" cy="228600"/>
          </a:xfrm>
          <a:prstGeom prst="rect">
            <a:avLst/>
          </a:prstGeom>
          <a:noFill/>
        </p:spPr>
        <p:txBody>
          <a:bodyPr wrap="square" anchor="t" lIns="0" rIns="0" tIns="0" bIns="0"/>
          <a:lstStyle/>
          <a:p>
            <a:pPr algn="l">
              <a:spcAft>
                <a:spcPts val="400"/>
              </a:spcAft>
            </a:pPr>
            <a:r>
              <a:rPr sz="1000" b="1" i="0">
                <a:solidFill>
                  <a:srgbClr val="A78BFA"/>
                </a:solidFill>
                <a:latin typeface="Consolas"/>
              </a:rPr>
              <a:t>[9] [11] [12]</a:t>
            </a:r>
          </a:p>
        </p:txBody>
      </p:sp>
      <p:sp>
        <p:nvSpPr>
          <p:cNvPr id="50" name="TextBox 49"/>
          <p:cNvSpPr txBox="1"/>
          <p:nvPr/>
        </p:nvSpPr>
        <p:spPr>
          <a:xfrm>
            <a:off x="5961888" y="4690872"/>
            <a:ext cx="2468880" cy="457200"/>
          </a:xfrm>
          <a:prstGeom prst="rect">
            <a:avLst/>
          </a:prstGeom>
          <a:noFill/>
        </p:spPr>
        <p:txBody>
          <a:bodyPr wrap="square" anchor="t" lIns="0" rIns="0" tIns="0" bIns="0"/>
          <a:lstStyle/>
          <a:p>
            <a:pPr algn="l">
              <a:spcAft>
                <a:spcPts val="400"/>
              </a:spcAft>
            </a:pPr>
            <a:r>
              <a:rPr sz="1150" b="0" i="0">
                <a:solidFill>
                  <a:srgbClr val="A3ADC8"/>
                </a:solidFill>
                <a:latin typeface="Calibri"/>
              </a:rPr>
              <a:t>ReAct loops, replanning, orchestrator-workers.</a:t>
            </a:r>
          </a:p>
        </p:txBody>
      </p:sp>
      <p:sp>
        <p:nvSpPr>
          <p:cNvPr id="51" name="Rounded Rectangle 50"/>
          <p:cNvSpPr/>
          <p:nvPr/>
        </p:nvSpPr>
        <p:spPr>
          <a:xfrm>
            <a:off x="548640" y="5440680"/>
            <a:ext cx="8046720" cy="731520"/>
          </a:xfrm>
          <a:prstGeom prst="roundRect">
            <a:avLst>
              <a:gd name="adj" fmla="val 17500"/>
            </a:avLst>
          </a:prstGeom>
          <a:gradFill rotWithShape="1">
            <a:gsLst>
              <a:gs pos="0">
                <a:srgbClr val="7C3AED"/>
              </a:gs>
              <a:gs pos="100000">
                <a:srgbClr val="0891B2"/>
              </a:gs>
            </a:gsLst>
            <a:lin scaled="0" ang="0"/>
          </a:gradFill>
          <a:ln>
            <a:noFill/>
          </a:ln>
        </p:spPr>
        <p:txBody>
          <a:bodyPr rtlCol="0" anchor="ctr" wrap="square" lIns="182880" rIns="182880" tIns="182880" bIns="182880"/>
          <a:lstStyle/>
          <a:p>
            <a:pPr algn="l">
              <a:spcAft>
                <a:spcPts val="0"/>
              </a:spcAft>
            </a:pPr>
            <a:r>
              <a:rPr sz="1350" b="1" i="0">
                <a:solidFill>
                  <a:srgbClr val="FFFFFF"/>
                </a:solidFill>
                <a:latin typeface="Calibri"/>
              </a:rPr>
              <a:t>My interpretation:  </a:t>
            </a:r>
            <a:r>
              <a:rPr sz="1350" b="0" i="0">
                <a:solidFill>
                  <a:srgbClr val="FFFFFF"/>
                </a:solidFill>
                <a:latin typeface="Calibri"/>
              </a:rPr>
              <a:t>reliability depends on orchestration, memory, coordination, evaluation and safeguards — not on model capability alone.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03 · literature survey in tabular form</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400" b="1" i="0">
                <a:solidFill>
                  <a:srgbClr val="EEF2FF"/>
                </a:solidFill>
                <a:latin typeface="Calibri"/>
              </a:rPr>
              <a:t>Literature Survey in Tabular Form (1/2)</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6</a:t>
            </a:fld>
            <a:r>
              <a:rPr sz="900">
                <a:solidFill>
                  <a:srgbClr val="6B7699"/>
                </a:solidFill>
                <a:latin typeface="Consolas"/>
              </a:rPr>
              <a:t> / 18</a:t>
            </a:r>
          </a:p>
        </p:txBody>
      </p:sp>
      <p:graphicFrame>
        <p:nvGraphicFramePr>
          <p:cNvPr id="9" name="Table 8"/>
          <p:cNvGraphicFramePr>
            <a:graphicFrameLocks noGrp="1"/>
          </p:cNvGraphicFramePr>
          <p:nvPr/>
        </p:nvGraphicFramePr>
        <p:xfrm>
          <a:off x="548640" y="1417320"/>
          <a:ext cx="8046720" cy="4754880"/>
        </p:xfrm>
        <a:graphic>
          <a:graphicData uri="http://schemas.openxmlformats.org/drawingml/2006/table">
            <a:tbl>
              <a:tblPr firstRow="0" bandRow="0">
                <a:tableStyleId>{2D5ABB26-0587-4C30-8999-92F81FD0307C}</a:tableStyleId>
              </a:tblPr>
              <a:tblGrid>
                <a:gridCol w="731520"/>
                <a:gridCol w="3657600"/>
                <a:gridCol w="3657600"/>
              </a:tblGrid>
              <a:tr h="411480">
                <a:tc>
                  <a:txBody>
                    <a:bodyPr wrap="square"/>
                    <a:lstStyle/>
                    <a:p>
                      <a:pPr algn="l">
                        <a:spcAft>
                          <a:spcPts val="400"/>
                        </a:spcAft>
                      </a:pPr>
                      <a:r>
                        <a:rPr sz="1200" b="1" i="0">
                          <a:solidFill>
                            <a:srgbClr val="FFFFFF"/>
                          </a:solidFill>
                          <a:latin typeface="Calibri"/>
                        </a:rPr>
                        <a:t>Sr. No</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Details of Papers</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Work reported</a:t>
                      </a:r>
                    </a:p>
                  </a:txBody>
                  <a:tcPr marL="91440" marR="91440" marT="45720" marB="45720" anchor="ctr">
                    <a:solidFill>
                      <a:srgbClr val="7C3AED"/>
                    </a:solidFill>
                  </a:tcPr>
                </a:tc>
              </a:tr>
              <a:tr h="868680">
                <a:tc>
                  <a:txBody>
                    <a:bodyPr wrap="square"/>
                    <a:lstStyle/>
                    <a:p>
                      <a:pPr algn="ctr">
                        <a:spcAft>
                          <a:spcPts val="400"/>
                        </a:spcAft>
                      </a:pPr>
                      <a:r>
                        <a:rPr sz="1400" b="1" i="0">
                          <a:solidFill>
                            <a:srgbClr val="22D3EE"/>
                          </a:solidFill>
                          <a:latin typeface="Consolas"/>
                        </a:rPr>
                        <a:t>1</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A Survey on LLM Agents: Architecture, Applications, and Challenges</a:t>
                      </a:r>
                    </a:p>
                    <a:p>
                      <a:pPr algn="l">
                        <a:spcAft>
                          <a:spcPts val="200"/>
                        </a:spcAft>
                      </a:pPr>
                      <a:r>
                        <a:rPr sz="1050" b="0" i="0">
                          <a:solidFill>
                            <a:srgbClr val="A3ADC8"/>
                          </a:solidFill>
                          <a:latin typeface="Calibri"/>
                        </a:rPr>
                        <a:t>IEEE ICOIN,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Surveys agent architecture — memory, planning, tool use, control flows — plus evaluation, reliability, scalability.</a:t>
                      </a:r>
                    </a:p>
                  </a:txBody>
                  <a:tcPr marL="91440" marR="91440" marT="45720" marB="45720" anchor="ctr">
                    <a:solidFill>
                      <a:srgbClr val="151C38"/>
                    </a:solidFill>
                  </a:tcPr>
                </a:tc>
              </a:tr>
              <a:tr h="868680">
                <a:tc>
                  <a:txBody>
                    <a:bodyPr wrap="square"/>
                    <a:lstStyle/>
                    <a:p>
                      <a:pPr algn="ctr">
                        <a:spcAft>
                          <a:spcPts val="400"/>
                        </a:spcAft>
                      </a:pPr>
                      <a:r>
                        <a:rPr sz="1400" b="1" i="0">
                          <a:solidFill>
                            <a:srgbClr val="22D3EE"/>
                          </a:solidFill>
                          <a:latin typeface="Consolas"/>
                        </a:rPr>
                        <a:t>2</a:t>
                      </a:r>
                    </a:p>
                  </a:txBody>
                  <a:tcPr marL="91440" marR="91440" marT="45720" marB="45720" anchor="ctr">
                    <a:solidFill>
                      <a:srgbClr val="1B2445"/>
                    </a:solidFill>
                  </a:tcPr>
                </a:tc>
                <a:tc>
                  <a:txBody>
                    <a:bodyPr wrap="square"/>
                    <a:lstStyle/>
                    <a:p>
                      <a:pPr algn="l">
                        <a:spcAft>
                          <a:spcPts val="200"/>
                        </a:spcAft>
                      </a:pPr>
                      <a:r>
                        <a:rPr sz="1200" b="1" i="0">
                          <a:solidFill>
                            <a:srgbClr val="EEF2FF"/>
                          </a:solidFill>
                          <a:latin typeface="Calibri"/>
                        </a:rPr>
                        <a:t>Agentic AI: Architectures, Taxonomies, and Evaluation of LLM Agents</a:t>
                      </a:r>
                    </a:p>
                    <a:p>
                      <a:pPr algn="l">
                        <a:spcAft>
                          <a:spcPts val="200"/>
                        </a:spcAft>
                      </a:pPr>
                      <a:r>
                        <a:rPr sz="1050" b="0" i="0">
                          <a:solidFill>
                            <a:srgbClr val="A3ADC8"/>
                          </a:solidFill>
                          <a:latin typeface="Calibri"/>
                        </a:rPr>
                        <a:t>V. Arunkumar, G. R. Gangadharan, R. Buyya · arXiv, 2026</a:t>
                      </a:r>
                    </a:p>
                  </a:txBody>
                  <a:tcPr marL="91440" marR="91440" marT="45720" marB="45720" anchor="ctr">
                    <a:solidFill>
                      <a:srgbClr val="1B2445"/>
                    </a:solidFill>
                  </a:tcPr>
                </a:tc>
                <a:tc>
                  <a:txBody>
                    <a:bodyPr wrap="square"/>
                    <a:lstStyle/>
                    <a:p>
                      <a:pPr algn="l">
                        <a:spcAft>
                          <a:spcPts val="200"/>
                        </a:spcAft>
                      </a:pPr>
                      <a:r>
                        <a:rPr sz="1200" b="0" i="0">
                          <a:solidFill>
                            <a:srgbClr val="EEF2FF"/>
                          </a:solidFill>
                          <a:latin typeface="Calibri"/>
                        </a:rPr>
                        <a:t>Taxonomy of perception, planning, action, tools and collaboration; evaluation methods and failure modes.</a:t>
                      </a:r>
                    </a:p>
                  </a:txBody>
                  <a:tcPr marL="91440" marR="91440" marT="45720" marB="45720" anchor="ctr">
                    <a:solidFill>
                      <a:srgbClr val="1B2445"/>
                    </a:solidFill>
                  </a:tcPr>
                </a:tc>
              </a:tr>
              <a:tr h="868680">
                <a:tc>
                  <a:txBody>
                    <a:bodyPr wrap="square"/>
                    <a:lstStyle/>
                    <a:p>
                      <a:pPr algn="ctr">
                        <a:spcAft>
                          <a:spcPts val="400"/>
                        </a:spcAft>
                      </a:pPr>
                      <a:r>
                        <a:rPr sz="1400" b="1" i="0">
                          <a:solidFill>
                            <a:srgbClr val="22D3EE"/>
                          </a:solidFill>
                          <a:latin typeface="Consolas"/>
                        </a:rPr>
                        <a:t>3</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From Prompt-Response to Goal-Directed Systems</a:t>
                      </a:r>
                    </a:p>
                    <a:p>
                      <a:pPr algn="l">
                        <a:spcAft>
                          <a:spcPts val="200"/>
                        </a:spcAft>
                      </a:pPr>
                      <a:r>
                        <a:rPr sz="1050" b="0" i="0">
                          <a:solidFill>
                            <a:srgbClr val="A3ADC8"/>
                          </a:solidFill>
                          <a:latin typeface="Calibri"/>
                        </a:rPr>
                        <a:t>M. Alenezi · arXiv,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Evolution of agent software architecture: typed tool interfaces, multi-agent topologies, governance.</a:t>
                      </a:r>
                    </a:p>
                  </a:txBody>
                  <a:tcPr marL="91440" marR="91440" marT="45720" marB="45720" anchor="ctr">
                    <a:solidFill>
                      <a:srgbClr val="151C38"/>
                    </a:solidFill>
                  </a:tcPr>
                </a:tc>
              </a:tr>
              <a:tr h="868680">
                <a:tc>
                  <a:txBody>
                    <a:bodyPr wrap="square"/>
                    <a:lstStyle/>
                    <a:p>
                      <a:pPr algn="ctr">
                        <a:spcAft>
                          <a:spcPts val="400"/>
                        </a:spcAft>
                      </a:pPr>
                      <a:r>
                        <a:rPr sz="1400" b="1" i="0">
                          <a:solidFill>
                            <a:srgbClr val="22D3EE"/>
                          </a:solidFill>
                          <a:latin typeface="Consolas"/>
                        </a:rPr>
                        <a:t>4</a:t>
                      </a:r>
                    </a:p>
                  </a:txBody>
                  <a:tcPr marL="91440" marR="91440" marT="45720" marB="45720" anchor="ctr">
                    <a:solidFill>
                      <a:srgbClr val="1B2445"/>
                    </a:solidFill>
                  </a:tcPr>
                </a:tc>
                <a:tc>
                  <a:txBody>
                    <a:bodyPr wrap="square"/>
                    <a:lstStyle/>
                    <a:p>
                      <a:pPr algn="l">
                        <a:spcAft>
                          <a:spcPts val="200"/>
                        </a:spcAft>
                      </a:pPr>
                      <a:r>
                        <a:rPr sz="1200" b="1" i="0">
                          <a:solidFill>
                            <a:srgbClr val="EEF2FF"/>
                          </a:solidFill>
                          <a:latin typeface="Calibri"/>
                        </a:rPr>
                        <a:t>The Auton Agentic AI Framework</a:t>
                      </a:r>
                    </a:p>
                    <a:p>
                      <a:pPr algn="l">
                        <a:spcAft>
                          <a:spcPts val="200"/>
                        </a:spcAft>
                      </a:pPr>
                      <a:r>
                        <a:rPr sz="1050" b="0" i="0">
                          <a:solidFill>
                            <a:srgbClr val="A3ADC8"/>
                          </a:solidFill>
                          <a:latin typeface="Calibri"/>
                        </a:rPr>
                        <a:t>S. Cao et al. · arXiv, 2026</a:t>
                      </a:r>
                    </a:p>
                  </a:txBody>
                  <a:tcPr marL="91440" marR="91440" marT="45720" marB="45720" anchor="ctr">
                    <a:solidFill>
                      <a:srgbClr val="1B2445"/>
                    </a:solidFill>
                  </a:tcPr>
                </a:tc>
                <a:tc>
                  <a:txBody>
                    <a:bodyPr wrap="square"/>
                    <a:lstStyle/>
                    <a:p>
                      <a:pPr algn="l">
                        <a:spcAft>
                          <a:spcPts val="200"/>
                        </a:spcAft>
                      </a:pPr>
                      <a:r>
                        <a:rPr sz="1200" b="0" i="0">
                          <a:solidFill>
                            <a:srgbClr val="EEF2FF"/>
                          </a:solidFill>
                          <a:latin typeface="Calibri"/>
                        </a:rPr>
                        <a:t>Separates the cognitive blueprint from runtime execution; covers memory, MCP, safety, runtime optimization.</a:t>
                      </a:r>
                    </a:p>
                  </a:txBody>
                  <a:tcPr marL="91440" marR="91440" marT="45720" marB="45720" anchor="ctr">
                    <a:solidFill>
                      <a:srgbClr val="1B2445"/>
                    </a:solidFill>
                  </a:tcPr>
                </a:tc>
              </a:tr>
              <a:tr h="868680">
                <a:tc>
                  <a:txBody>
                    <a:bodyPr wrap="square"/>
                    <a:lstStyle/>
                    <a:p>
                      <a:pPr algn="ctr">
                        <a:spcAft>
                          <a:spcPts val="400"/>
                        </a:spcAft>
                      </a:pPr>
                      <a:r>
                        <a:rPr sz="1400" b="1" i="0">
                          <a:solidFill>
                            <a:srgbClr val="22D3EE"/>
                          </a:solidFill>
                          <a:latin typeface="Consolas"/>
                        </a:rPr>
                        <a:t>5</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Agentic Memory (AgeMem)</a:t>
                      </a:r>
                    </a:p>
                    <a:p>
                      <a:pPr algn="l">
                        <a:spcAft>
                          <a:spcPts val="200"/>
                        </a:spcAft>
                      </a:pPr>
                      <a:r>
                        <a:rPr sz="1050" b="0" i="0">
                          <a:solidFill>
                            <a:srgbClr val="A3ADC8"/>
                          </a:solidFill>
                          <a:latin typeface="Calibri"/>
                        </a:rPr>
                        <a:t>Y. Yu et al. · ACL,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Unified long/short-term memory: the agent learns when to store, retrieve, update, summarize or discard.</a:t>
                      </a:r>
                    </a:p>
                  </a:txBody>
                  <a:tcPr marL="91440" marR="91440" marT="45720" marB="45720" anchor="ctr">
                    <a:solidFill>
                      <a:srgbClr val="151C3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03 · literature survey in tabular form</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400" b="1" i="0">
                <a:solidFill>
                  <a:srgbClr val="EEF2FF"/>
                </a:solidFill>
                <a:latin typeface="Calibri"/>
              </a:rPr>
              <a:t>Literature Survey in Tabular Form (2/2)</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7</a:t>
            </a:fld>
            <a:r>
              <a:rPr sz="900">
                <a:solidFill>
                  <a:srgbClr val="6B7699"/>
                </a:solidFill>
                <a:latin typeface="Consolas"/>
              </a:rPr>
              <a:t> / 18</a:t>
            </a:r>
          </a:p>
        </p:txBody>
      </p:sp>
      <p:graphicFrame>
        <p:nvGraphicFramePr>
          <p:cNvPr id="9" name="Table 8"/>
          <p:cNvGraphicFramePr>
            <a:graphicFrameLocks noGrp="1"/>
          </p:cNvGraphicFramePr>
          <p:nvPr/>
        </p:nvGraphicFramePr>
        <p:xfrm>
          <a:off x="548640" y="1417320"/>
          <a:ext cx="8046720" cy="4754880"/>
        </p:xfrm>
        <a:graphic>
          <a:graphicData uri="http://schemas.openxmlformats.org/drawingml/2006/table">
            <a:tbl>
              <a:tblPr firstRow="0" bandRow="0">
                <a:tableStyleId>{2D5ABB26-0587-4C30-8999-92F81FD0307C}</a:tableStyleId>
              </a:tblPr>
              <a:tblGrid>
                <a:gridCol w="731520"/>
                <a:gridCol w="3657600"/>
                <a:gridCol w="3657600"/>
              </a:tblGrid>
              <a:tr h="411480">
                <a:tc>
                  <a:txBody>
                    <a:bodyPr wrap="square"/>
                    <a:lstStyle/>
                    <a:p>
                      <a:pPr algn="l">
                        <a:spcAft>
                          <a:spcPts val="400"/>
                        </a:spcAft>
                      </a:pPr>
                      <a:r>
                        <a:rPr sz="1200" b="1" i="0">
                          <a:solidFill>
                            <a:srgbClr val="FFFFFF"/>
                          </a:solidFill>
                          <a:latin typeface="Calibri"/>
                        </a:rPr>
                        <a:t>Sr. No</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Details of Papers</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Work reported</a:t>
                      </a:r>
                    </a:p>
                  </a:txBody>
                  <a:tcPr marL="91440" marR="91440" marT="45720" marB="45720" anchor="ctr">
                    <a:solidFill>
                      <a:srgbClr val="7C3AED"/>
                    </a:solidFill>
                  </a:tcPr>
                </a:tc>
              </a:tr>
              <a:tr h="868680">
                <a:tc>
                  <a:txBody>
                    <a:bodyPr wrap="square"/>
                    <a:lstStyle/>
                    <a:p>
                      <a:pPr algn="ctr">
                        <a:spcAft>
                          <a:spcPts val="400"/>
                        </a:spcAft>
                      </a:pPr>
                      <a:r>
                        <a:rPr sz="1400" b="1" i="0">
                          <a:solidFill>
                            <a:srgbClr val="22D3EE"/>
                          </a:solidFill>
                          <a:latin typeface="Consolas"/>
                        </a:rPr>
                        <a:t>6</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MCP and A2A Protocol for Scalable Agentic AI Systems</a:t>
                      </a:r>
                    </a:p>
                    <a:p>
                      <a:pPr algn="l">
                        <a:spcAft>
                          <a:spcPts val="200"/>
                        </a:spcAft>
                      </a:pPr>
                      <a:r>
                        <a:rPr sz="1050" b="0" i="0">
                          <a:solidFill>
                            <a:srgbClr val="A3ADC8"/>
                          </a:solidFill>
                          <a:latin typeface="Calibri"/>
                        </a:rPr>
                        <a:t>IEEE ICICDS,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MCP gives standardized tool/data access; A2A enables communication and coordination between agents.</a:t>
                      </a:r>
                    </a:p>
                  </a:txBody>
                  <a:tcPr marL="91440" marR="91440" marT="45720" marB="45720" anchor="ctr">
                    <a:solidFill>
                      <a:srgbClr val="151C38"/>
                    </a:solidFill>
                  </a:tcPr>
                </a:tc>
              </a:tr>
              <a:tr h="868680">
                <a:tc>
                  <a:txBody>
                    <a:bodyPr wrap="square"/>
                    <a:lstStyle/>
                    <a:p>
                      <a:pPr algn="ctr">
                        <a:spcAft>
                          <a:spcPts val="400"/>
                        </a:spcAft>
                      </a:pPr>
                      <a:r>
                        <a:rPr sz="1400" b="1" i="0">
                          <a:solidFill>
                            <a:srgbClr val="22D3EE"/>
                          </a:solidFill>
                          <a:latin typeface="Consolas"/>
                        </a:rPr>
                        <a:t>7</a:t>
                      </a:r>
                    </a:p>
                  </a:txBody>
                  <a:tcPr marL="91440" marR="91440" marT="45720" marB="45720" anchor="ctr">
                    <a:solidFill>
                      <a:srgbClr val="1B2445"/>
                    </a:solidFill>
                  </a:tcPr>
                </a:tc>
                <a:tc>
                  <a:txBody>
                    <a:bodyPr wrap="square"/>
                    <a:lstStyle/>
                    <a:p>
                      <a:pPr algn="l">
                        <a:spcAft>
                          <a:spcPts val="200"/>
                        </a:spcAft>
                      </a:pPr>
                      <a:r>
                        <a:rPr sz="1200" b="1" i="0">
                          <a:solidFill>
                            <a:srgbClr val="EEF2FF"/>
                          </a:solidFill>
                          <a:latin typeface="Calibri"/>
                        </a:rPr>
                        <a:t>LLM-Based Intelligent Agents for Cybersecurity</a:t>
                      </a:r>
                    </a:p>
                    <a:p>
                      <a:pPr algn="l">
                        <a:spcAft>
                          <a:spcPts val="200"/>
                        </a:spcAft>
                      </a:pPr>
                      <a:r>
                        <a:rPr sz="1050" b="0" i="0">
                          <a:solidFill>
                            <a:srgbClr val="A3ADC8"/>
                          </a:solidFill>
                          <a:latin typeface="Calibri"/>
                        </a:rPr>
                        <a:t>IEEE Access, 2026</a:t>
                      </a:r>
                    </a:p>
                  </a:txBody>
                  <a:tcPr marL="91440" marR="91440" marT="45720" marB="45720" anchor="ctr">
                    <a:solidFill>
                      <a:srgbClr val="1B2445"/>
                    </a:solidFill>
                  </a:tcPr>
                </a:tc>
                <a:tc>
                  <a:txBody>
                    <a:bodyPr wrap="square"/>
                    <a:lstStyle/>
                    <a:p>
                      <a:pPr algn="l">
                        <a:spcAft>
                          <a:spcPts val="200"/>
                        </a:spcAft>
                      </a:pPr>
                      <a:r>
                        <a:rPr sz="1200" b="0" i="0">
                          <a:solidFill>
                            <a:srgbClr val="EEF2FF"/>
                          </a:solidFill>
                          <a:latin typeface="Calibri"/>
                        </a:rPr>
                        <a:t>Tool-using agents for automated vulnerability discovery; discusses reliability, cost and ethics.</a:t>
                      </a:r>
                    </a:p>
                  </a:txBody>
                  <a:tcPr marL="91440" marR="91440" marT="45720" marB="45720" anchor="ctr">
                    <a:solidFill>
                      <a:srgbClr val="1B2445"/>
                    </a:solidFill>
                  </a:tcPr>
                </a:tc>
              </a:tr>
              <a:tr h="868680">
                <a:tc>
                  <a:txBody>
                    <a:bodyPr wrap="square"/>
                    <a:lstStyle/>
                    <a:p>
                      <a:pPr algn="ctr">
                        <a:spcAft>
                          <a:spcPts val="400"/>
                        </a:spcAft>
                      </a:pPr>
                      <a:r>
                        <a:rPr sz="1400" b="1" i="0">
                          <a:solidFill>
                            <a:srgbClr val="22D3EE"/>
                          </a:solidFill>
                          <a:latin typeface="Consolas"/>
                        </a:rPr>
                        <a:t>8</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A Survey of Fuzzing Techniques for LLM Agents</a:t>
                      </a:r>
                    </a:p>
                    <a:p>
                      <a:pPr algn="l">
                        <a:spcAft>
                          <a:spcPts val="200"/>
                        </a:spcAft>
                      </a:pPr>
                      <a:r>
                        <a:rPr sz="1050" b="0" i="0">
                          <a:solidFill>
                            <a:srgbClr val="A3ADC8"/>
                          </a:solidFill>
                          <a:latin typeface="Calibri"/>
                        </a:rPr>
                        <a:t>IEEE BDAI,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Agent security testing: indirect prompt injection, planning hallucination and tool abuse.</a:t>
                      </a:r>
                    </a:p>
                  </a:txBody>
                  <a:tcPr marL="91440" marR="91440" marT="45720" marB="45720" anchor="ctr">
                    <a:solidFill>
                      <a:srgbClr val="151C38"/>
                    </a:solidFill>
                  </a:tcPr>
                </a:tc>
              </a:tr>
              <a:tr h="868680">
                <a:tc>
                  <a:txBody>
                    <a:bodyPr wrap="square"/>
                    <a:lstStyle/>
                    <a:p>
                      <a:pPr algn="ctr">
                        <a:spcAft>
                          <a:spcPts val="400"/>
                        </a:spcAft>
                      </a:pPr>
                      <a:r>
                        <a:rPr sz="1400" b="1" i="0">
                          <a:solidFill>
                            <a:srgbClr val="22D3EE"/>
                          </a:solidFill>
                          <a:latin typeface="Consolas"/>
                        </a:rPr>
                        <a:t>9</a:t>
                      </a:r>
                    </a:p>
                  </a:txBody>
                  <a:tcPr marL="91440" marR="91440" marT="45720" marB="45720" anchor="ctr">
                    <a:solidFill>
                      <a:srgbClr val="1B2445"/>
                    </a:solidFill>
                  </a:tcPr>
                </a:tc>
                <a:tc>
                  <a:txBody>
                    <a:bodyPr wrap="square"/>
                    <a:lstStyle/>
                    <a:p>
                      <a:pPr algn="l">
                        <a:spcAft>
                          <a:spcPts val="200"/>
                        </a:spcAft>
                      </a:pPr>
                      <a:r>
                        <a:rPr sz="1200" b="1" i="0">
                          <a:solidFill>
                            <a:srgbClr val="EEF2FF"/>
                          </a:solidFill>
                          <a:latin typeface="Calibri"/>
                        </a:rPr>
                        <a:t>GLaMP: Grounded LM-Based Multiagent System</a:t>
                      </a:r>
                    </a:p>
                    <a:p>
                      <a:pPr algn="l">
                        <a:spcAft>
                          <a:spcPts val="200"/>
                        </a:spcAft>
                      </a:pPr>
                      <a:r>
                        <a:rPr sz="1050" b="0" i="0">
                          <a:solidFill>
                            <a:srgbClr val="A3ADC8"/>
                          </a:solidFill>
                          <a:latin typeface="Calibri"/>
                        </a:rPr>
                        <a:t>IEEE Trans. Industrial Electronics, 2026</a:t>
                      </a:r>
                    </a:p>
                  </a:txBody>
                  <a:tcPr marL="91440" marR="91440" marT="45720" marB="45720" anchor="ctr">
                    <a:solidFill>
                      <a:srgbClr val="1B2445"/>
                    </a:solidFill>
                  </a:tcPr>
                </a:tc>
                <a:tc>
                  <a:txBody>
                    <a:bodyPr wrap="square"/>
                    <a:lstStyle/>
                    <a:p>
                      <a:pPr algn="l">
                        <a:spcAft>
                          <a:spcPts val="200"/>
                        </a:spcAft>
                      </a:pPr>
                      <a:r>
                        <a:rPr sz="1200" b="0" i="0">
                          <a:solidFill>
                            <a:srgbClr val="EEF2FF"/>
                          </a:solidFill>
                          <a:latin typeface="Calibri"/>
                        </a:rPr>
                        <a:t>VLM + LLM planning with symbolic grounding and failure-aware replanning for long-horizon robot tasks.</a:t>
                      </a:r>
                    </a:p>
                  </a:txBody>
                  <a:tcPr marL="91440" marR="91440" marT="45720" marB="45720" anchor="ctr">
                    <a:solidFill>
                      <a:srgbClr val="1B2445"/>
                    </a:solidFill>
                  </a:tcPr>
                </a:tc>
              </a:tr>
              <a:tr h="868680">
                <a:tc>
                  <a:txBody>
                    <a:bodyPr wrap="square"/>
                    <a:lstStyle/>
                    <a:p>
                      <a:pPr algn="ctr">
                        <a:spcAft>
                          <a:spcPts val="400"/>
                        </a:spcAft>
                      </a:pPr>
                      <a:r>
                        <a:rPr sz="1400" b="1" i="0">
                          <a:solidFill>
                            <a:srgbClr val="22D3EE"/>
                          </a:solidFill>
                          <a:latin typeface="Consolas"/>
                        </a:rPr>
                        <a:t>10</a:t>
                      </a:r>
                    </a:p>
                  </a:txBody>
                  <a:tcPr marL="91440" marR="91440" marT="45720" marB="45720" anchor="ctr">
                    <a:solidFill>
                      <a:srgbClr val="151C38"/>
                    </a:solidFill>
                  </a:tcPr>
                </a:tc>
                <a:tc>
                  <a:txBody>
                    <a:bodyPr wrap="square"/>
                    <a:lstStyle/>
                    <a:p>
                      <a:pPr algn="l">
                        <a:spcAft>
                          <a:spcPts val="200"/>
                        </a:spcAft>
                      </a:pPr>
                      <a:r>
                        <a:rPr sz="1200" b="1" i="0">
                          <a:solidFill>
                            <a:srgbClr val="EEF2FF"/>
                          </a:solidFill>
                          <a:latin typeface="Calibri"/>
                        </a:rPr>
                        <a:t>Beyond Single-Framework Architectures</a:t>
                      </a:r>
                    </a:p>
                    <a:p>
                      <a:pPr algn="l">
                        <a:spcAft>
                          <a:spcPts val="200"/>
                        </a:spcAft>
                      </a:pPr>
                      <a:r>
                        <a:rPr sz="1050" b="0" i="0">
                          <a:solidFill>
                            <a:srgbClr val="A3ADC8"/>
                          </a:solidFill>
                          <a:latin typeface="Calibri"/>
                        </a:rPr>
                        <a:t>IEEE Access, 2026</a:t>
                      </a:r>
                    </a:p>
                  </a:txBody>
                  <a:tcPr marL="91440" marR="91440" marT="45720" marB="45720" anchor="ctr">
                    <a:solidFill>
                      <a:srgbClr val="151C38"/>
                    </a:solidFill>
                  </a:tcPr>
                </a:tc>
                <a:tc>
                  <a:txBody>
                    <a:bodyPr wrap="square"/>
                    <a:lstStyle/>
                    <a:p>
                      <a:pPr algn="l">
                        <a:spcAft>
                          <a:spcPts val="200"/>
                        </a:spcAft>
                      </a:pPr>
                      <a:r>
                        <a:rPr sz="1200" b="0" i="0">
                          <a:solidFill>
                            <a:srgbClr val="EEF2FF"/>
                          </a:solidFill>
                          <a:latin typeface="Calibri"/>
                        </a:rPr>
                        <a:t>Evaluates CrewAI, AutoGen and LangChain; proposes a hybrid design (results on its own benchmark).</a:t>
                      </a:r>
                    </a:p>
                  </a:txBody>
                  <a:tcPr marL="91440" marR="91440" marT="45720" marB="45720" anchor="ctr">
                    <a:solidFill>
                      <a:srgbClr val="151C3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04 · baseline papers</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400" b="1" i="0">
                <a:solidFill>
                  <a:srgbClr val="EEF2FF"/>
                </a:solidFill>
                <a:latin typeface="Calibri"/>
              </a:rPr>
              <a:t>Baseline Papers Selected for Seminar Work</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8</a:t>
            </a:fld>
            <a:r>
              <a:rPr sz="900">
                <a:solidFill>
                  <a:srgbClr val="6B7699"/>
                </a:solidFill>
                <a:latin typeface="Consolas"/>
              </a:rPr>
              <a:t> / 18</a:t>
            </a:r>
          </a:p>
        </p:txBody>
      </p:sp>
      <p:sp>
        <p:nvSpPr>
          <p:cNvPr id="9" name="Rounded Rectangle 8"/>
          <p:cNvSpPr/>
          <p:nvPr/>
        </p:nvSpPr>
        <p:spPr>
          <a:xfrm>
            <a:off x="548640" y="1463040"/>
            <a:ext cx="8046720" cy="2240280"/>
          </a:xfrm>
          <a:prstGeom prst="roundRect">
            <a:avLst>
              <a:gd name="adj" fmla="val 5714"/>
            </a:avLst>
          </a:prstGeom>
          <a:solidFill>
            <a:srgbClr val="151C38">
              <a:alpha val="90000"/>
            </a:srgbClr>
          </a:solidFill>
          <a:ln w="9525">
            <a:solidFill>
              <a:srgbClr val="22D3EE"/>
            </a:solidFill>
          </a:ln>
        </p:spPr>
        <p:txBody>
          <a:bodyPr rtlCol="0" anchor="ctr" wrap="square" lIns="54864" rIns="54864" tIns="54864" bIns="54864"/>
          <a:lstStyle/>
          <a:p>
            <a:pPr algn="ctr"/>
          </a:p>
        </p:txBody>
      </p:sp>
      <p:sp>
        <p:nvSpPr>
          <p:cNvPr id="10" name="TextBox 9"/>
          <p:cNvSpPr txBox="1"/>
          <p:nvPr/>
        </p:nvSpPr>
        <p:spPr>
          <a:xfrm>
            <a:off x="777240" y="1572768"/>
            <a:ext cx="2743200" cy="256032"/>
          </a:xfrm>
          <a:prstGeom prst="rect">
            <a:avLst/>
          </a:prstGeom>
          <a:noFill/>
        </p:spPr>
        <p:txBody>
          <a:bodyPr wrap="square" anchor="t" lIns="0" rIns="0" tIns="0" bIns="0"/>
          <a:lstStyle/>
          <a:p>
            <a:pPr algn="l">
              <a:spcAft>
                <a:spcPts val="400"/>
              </a:spcAft>
            </a:pPr>
            <a:r>
              <a:rPr sz="1050" b="1" i="0">
                <a:solidFill>
                  <a:srgbClr val="F472B6"/>
                </a:solidFill>
                <a:latin typeface="Consolas"/>
              </a:rPr>
              <a:t>PRIMARY BASELINE</a:t>
            </a:r>
          </a:p>
        </p:txBody>
      </p:sp>
      <p:sp>
        <p:nvSpPr>
          <p:cNvPr id="11" name="TextBox 10"/>
          <p:cNvSpPr txBox="1"/>
          <p:nvPr/>
        </p:nvSpPr>
        <p:spPr>
          <a:xfrm>
            <a:off x="777240" y="1920240"/>
            <a:ext cx="1280160" cy="822960"/>
          </a:xfrm>
          <a:prstGeom prst="rect">
            <a:avLst/>
          </a:prstGeom>
          <a:noFill/>
        </p:spPr>
        <p:txBody>
          <a:bodyPr wrap="square" anchor="ctr" lIns="0" rIns="0" tIns="0" bIns="0"/>
          <a:lstStyle/>
          <a:p>
            <a:pPr algn="l">
              <a:spcAft>
                <a:spcPts val="400"/>
              </a:spcAft>
            </a:pPr>
            <a:r>
              <a:rPr sz="4400" b="1" i="0">
                <a:solidFill>
                  <a:srgbClr val="22D3EE"/>
                </a:solidFill>
                <a:latin typeface="Consolas"/>
              </a:rPr>
              <a:t>[1]</a:t>
            </a:r>
          </a:p>
        </p:txBody>
      </p:sp>
      <p:sp>
        <p:nvSpPr>
          <p:cNvPr id="12" name="TextBox 11"/>
          <p:cNvSpPr txBox="1"/>
          <p:nvPr/>
        </p:nvSpPr>
        <p:spPr>
          <a:xfrm>
            <a:off x="2103120" y="1810512"/>
            <a:ext cx="6309360" cy="411480"/>
          </a:xfrm>
          <a:prstGeom prst="rect">
            <a:avLst/>
          </a:prstGeom>
          <a:noFill/>
        </p:spPr>
        <p:txBody>
          <a:bodyPr wrap="square" anchor="t" lIns="0" rIns="0" tIns="0" bIns="0"/>
          <a:lstStyle/>
          <a:p>
            <a:pPr algn="l">
              <a:spcAft>
                <a:spcPts val="400"/>
              </a:spcAft>
            </a:pPr>
            <a:r>
              <a:rPr sz="1700" b="1" i="0">
                <a:solidFill>
                  <a:srgbClr val="EEF2FF"/>
                </a:solidFill>
                <a:latin typeface="Calibri"/>
              </a:rPr>
              <a:t>A Survey on LLM Agents: Architecture, Applications, and Challenges</a:t>
            </a:r>
          </a:p>
        </p:txBody>
      </p:sp>
      <p:sp>
        <p:nvSpPr>
          <p:cNvPr id="13" name="TextBox 12"/>
          <p:cNvSpPr txBox="1"/>
          <p:nvPr/>
        </p:nvSpPr>
        <p:spPr>
          <a:xfrm>
            <a:off x="2103120" y="2240280"/>
            <a:ext cx="6309360" cy="274320"/>
          </a:xfrm>
          <a:prstGeom prst="rect">
            <a:avLst/>
          </a:prstGeom>
          <a:noFill/>
        </p:spPr>
        <p:txBody>
          <a:bodyPr wrap="square" anchor="t" lIns="0" rIns="0" tIns="0" bIns="0"/>
          <a:lstStyle/>
          <a:p>
            <a:pPr algn="l">
              <a:spcAft>
                <a:spcPts val="400"/>
              </a:spcAft>
            </a:pPr>
            <a:r>
              <a:rPr sz="1200" b="0" i="1">
                <a:solidFill>
                  <a:srgbClr val="A3ADC8"/>
                </a:solidFill>
                <a:latin typeface="Calibri"/>
              </a:rPr>
              <a:t>IEEE ICOIN, 2026</a:t>
            </a:r>
          </a:p>
        </p:txBody>
      </p:sp>
      <p:sp>
        <p:nvSpPr>
          <p:cNvPr id="14" name="TextBox 13"/>
          <p:cNvSpPr txBox="1"/>
          <p:nvPr/>
        </p:nvSpPr>
        <p:spPr>
          <a:xfrm>
            <a:off x="2103120" y="2697480"/>
            <a:ext cx="3017520" cy="256032"/>
          </a:xfrm>
          <a:prstGeom prst="rect">
            <a:avLst/>
          </a:prstGeom>
          <a:noFill/>
        </p:spPr>
        <p:txBody>
          <a:bodyPr wrap="square" anchor="t" lIns="0" rIns="0" tIns="0" bIns="0"/>
          <a:lstStyle/>
          <a:p>
            <a:pPr algn="l">
              <a:spcAft>
                <a:spcPts val="400"/>
              </a:spcAft>
            </a:pPr>
            <a:r>
              <a:rPr sz="950" b="1" i="0">
                <a:solidFill>
                  <a:srgbClr val="A78BFA"/>
                </a:solidFill>
                <a:latin typeface="Consolas"/>
              </a:rPr>
              <a:t>WHY SELECTED</a:t>
            </a:r>
          </a:p>
        </p:txBody>
      </p:sp>
      <p:sp>
        <p:nvSpPr>
          <p:cNvPr id="15" name="TextBox 14"/>
          <p:cNvSpPr txBox="1"/>
          <p:nvPr/>
        </p:nvSpPr>
        <p:spPr>
          <a:xfrm>
            <a:off x="2103120" y="2953512"/>
            <a:ext cx="3017520" cy="685800"/>
          </a:xfrm>
          <a:prstGeom prst="rect">
            <a:avLst/>
          </a:prstGeom>
          <a:noFill/>
        </p:spPr>
        <p:txBody>
          <a:bodyPr wrap="square" anchor="t" lIns="0" rIns="0" tIns="0" bIns="0"/>
          <a:lstStyle/>
          <a:p>
            <a:pPr algn="l">
              <a:spcAft>
                <a:spcPts val="400"/>
              </a:spcAft>
            </a:pPr>
            <a:r>
              <a:rPr sz="1250" b="0" i="0">
                <a:solidFill>
                  <a:srgbClr val="EEF2FF"/>
                </a:solidFill>
                <a:latin typeface="Calibri"/>
              </a:rPr>
              <a:t>Broad, recent view of agent architecture — the starting point.</a:t>
            </a:r>
          </a:p>
        </p:txBody>
      </p:sp>
      <p:sp>
        <p:nvSpPr>
          <p:cNvPr id="16" name="TextBox 15"/>
          <p:cNvSpPr txBox="1"/>
          <p:nvPr/>
        </p:nvSpPr>
        <p:spPr>
          <a:xfrm>
            <a:off x="5303520" y="2697480"/>
            <a:ext cx="3017520" cy="256032"/>
          </a:xfrm>
          <a:prstGeom prst="rect">
            <a:avLst/>
          </a:prstGeom>
          <a:noFill/>
        </p:spPr>
        <p:txBody>
          <a:bodyPr wrap="square" anchor="t" lIns="0" rIns="0" tIns="0" bIns="0"/>
          <a:lstStyle/>
          <a:p>
            <a:pPr algn="l">
              <a:spcAft>
                <a:spcPts val="400"/>
              </a:spcAft>
            </a:pPr>
            <a:r>
              <a:rPr sz="950" b="1" i="0">
                <a:solidFill>
                  <a:srgbClr val="A78BFA"/>
                </a:solidFill>
                <a:latin typeface="Consolas"/>
              </a:rPr>
              <a:t>USED FOR</a:t>
            </a:r>
          </a:p>
        </p:txBody>
      </p:sp>
      <p:sp>
        <p:nvSpPr>
          <p:cNvPr id="17" name="TextBox 16"/>
          <p:cNvSpPr txBox="1"/>
          <p:nvPr/>
        </p:nvSpPr>
        <p:spPr>
          <a:xfrm>
            <a:off x="5303520" y="2953512"/>
            <a:ext cx="3017520" cy="685800"/>
          </a:xfrm>
          <a:prstGeom prst="rect">
            <a:avLst/>
          </a:prstGeom>
          <a:noFill/>
        </p:spPr>
        <p:txBody>
          <a:bodyPr wrap="square" anchor="t" lIns="0" rIns="0" tIns="0" bIns="0"/>
          <a:lstStyle/>
          <a:p>
            <a:pPr algn="l">
              <a:spcAft>
                <a:spcPts val="400"/>
              </a:spcAft>
            </a:pPr>
            <a:r>
              <a:rPr sz="1250" b="0" i="0">
                <a:solidFill>
                  <a:srgbClr val="EEF2FF"/>
                </a:solidFill>
                <a:latin typeface="Calibri"/>
              </a:rPr>
              <a:t>Overall architecture: planning, memory, tools, control flow.</a:t>
            </a:r>
          </a:p>
        </p:txBody>
      </p:sp>
      <p:sp>
        <p:nvSpPr>
          <p:cNvPr id="18" name="Rounded Rectangle 17"/>
          <p:cNvSpPr/>
          <p:nvPr/>
        </p:nvSpPr>
        <p:spPr>
          <a:xfrm>
            <a:off x="548640" y="3886200"/>
            <a:ext cx="3931920" cy="2286000"/>
          </a:xfrm>
          <a:prstGeom prst="roundRect">
            <a:avLst>
              <a:gd name="adj" fmla="val 56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9" name="TextBox 18"/>
          <p:cNvSpPr txBox="1"/>
          <p:nvPr/>
        </p:nvSpPr>
        <p:spPr>
          <a:xfrm>
            <a:off x="749808" y="4005072"/>
            <a:ext cx="2286000" cy="256032"/>
          </a:xfrm>
          <a:prstGeom prst="rect">
            <a:avLst/>
          </a:prstGeom>
          <a:noFill/>
        </p:spPr>
        <p:txBody>
          <a:bodyPr wrap="square" anchor="t" lIns="0" rIns="0" tIns="0" bIns="0"/>
          <a:lstStyle/>
          <a:p>
            <a:pPr algn="l">
              <a:spcAft>
                <a:spcPts val="400"/>
              </a:spcAft>
            </a:pPr>
            <a:r>
              <a:rPr sz="1050" b="1" i="0">
                <a:solidFill>
                  <a:srgbClr val="A78BFA"/>
                </a:solidFill>
                <a:latin typeface="Consolas"/>
              </a:rPr>
              <a:t>SUPPORTING</a:t>
            </a:r>
          </a:p>
        </p:txBody>
      </p:sp>
      <p:sp>
        <p:nvSpPr>
          <p:cNvPr id="20" name="TextBox 19"/>
          <p:cNvSpPr txBox="1"/>
          <p:nvPr/>
        </p:nvSpPr>
        <p:spPr>
          <a:xfrm>
            <a:off x="3383280" y="3913632"/>
            <a:ext cx="914400" cy="411480"/>
          </a:xfrm>
          <a:prstGeom prst="rect">
            <a:avLst/>
          </a:prstGeom>
          <a:noFill/>
        </p:spPr>
        <p:txBody>
          <a:bodyPr wrap="square" anchor="t" lIns="0" rIns="0" tIns="0" bIns="0"/>
          <a:lstStyle/>
          <a:p>
            <a:pPr algn="r">
              <a:spcAft>
                <a:spcPts val="400"/>
              </a:spcAft>
            </a:pPr>
            <a:r>
              <a:rPr sz="2200" b="1" i="0">
                <a:solidFill>
                  <a:srgbClr val="22D3EE"/>
                </a:solidFill>
                <a:latin typeface="Consolas"/>
              </a:rPr>
              <a:t>[2]</a:t>
            </a:r>
          </a:p>
        </p:txBody>
      </p:sp>
      <p:sp>
        <p:nvSpPr>
          <p:cNvPr id="21" name="TextBox 20"/>
          <p:cNvSpPr txBox="1"/>
          <p:nvPr/>
        </p:nvSpPr>
        <p:spPr>
          <a:xfrm>
            <a:off x="749808" y="4297680"/>
            <a:ext cx="3520440" cy="594360"/>
          </a:xfrm>
          <a:prstGeom prst="rect">
            <a:avLst/>
          </a:prstGeom>
          <a:noFill/>
        </p:spPr>
        <p:txBody>
          <a:bodyPr wrap="square" anchor="t" lIns="0" rIns="0" tIns="0" bIns="0"/>
          <a:lstStyle/>
          <a:p>
            <a:pPr algn="l">
              <a:spcAft>
                <a:spcPts val="400"/>
              </a:spcAft>
            </a:pPr>
            <a:r>
              <a:rPr sz="1350" b="1" i="0">
                <a:solidFill>
                  <a:srgbClr val="EEF2FF"/>
                </a:solidFill>
                <a:latin typeface="Calibri"/>
              </a:rPr>
              <a:t>Agentic AI: Architectures, Taxonomies, and Evaluation of LLM Agents</a:t>
            </a:r>
          </a:p>
        </p:txBody>
      </p:sp>
      <p:sp>
        <p:nvSpPr>
          <p:cNvPr id="22" name="TextBox 21"/>
          <p:cNvSpPr txBox="1"/>
          <p:nvPr/>
        </p:nvSpPr>
        <p:spPr>
          <a:xfrm>
            <a:off x="749808" y="4892040"/>
            <a:ext cx="3520440" cy="256032"/>
          </a:xfrm>
          <a:prstGeom prst="rect">
            <a:avLst/>
          </a:prstGeom>
          <a:noFill/>
        </p:spPr>
        <p:txBody>
          <a:bodyPr wrap="square" anchor="t" lIns="0" rIns="0" tIns="0" bIns="0"/>
          <a:lstStyle/>
          <a:p>
            <a:pPr algn="l">
              <a:spcAft>
                <a:spcPts val="400"/>
              </a:spcAft>
            </a:pPr>
            <a:r>
              <a:rPr sz="1100" b="0" i="1">
                <a:solidFill>
                  <a:srgbClr val="A3ADC8"/>
                </a:solidFill>
                <a:latin typeface="Calibri"/>
              </a:rPr>
              <a:t>arXiv, 2026</a:t>
            </a:r>
          </a:p>
        </p:txBody>
      </p:sp>
      <p:sp>
        <p:nvSpPr>
          <p:cNvPr id="23" name="TextBox 22"/>
          <p:cNvSpPr txBox="1"/>
          <p:nvPr/>
        </p:nvSpPr>
        <p:spPr>
          <a:xfrm>
            <a:off x="749808" y="5212080"/>
            <a:ext cx="3520440" cy="914400"/>
          </a:xfrm>
          <a:prstGeom prst="rect">
            <a:avLst/>
          </a:prstGeom>
          <a:noFill/>
        </p:spPr>
        <p:txBody>
          <a:bodyPr wrap="square" anchor="t" lIns="0" rIns="0" tIns="0" bIns="0"/>
          <a:lstStyle/>
          <a:p>
            <a:pPr algn="l">
              <a:spcAft>
                <a:spcPts val="400"/>
              </a:spcAft>
            </a:pPr>
            <a:r>
              <a:rPr sz="1200" b="1" i="0">
                <a:solidFill>
                  <a:srgbClr val="22D3EE"/>
                </a:solidFill>
                <a:latin typeface="Calibri"/>
              </a:rPr>
              <a:t>Why: </a:t>
            </a:r>
            <a:r>
              <a:rPr sz="1200" b="0" i="0">
                <a:solidFill>
                  <a:srgbClr val="EEF2FF"/>
                </a:solidFill>
                <a:latin typeface="Calibri"/>
              </a:rPr>
              <a:t>clear taxonomy and evaluation dimensions.</a:t>
            </a:r>
          </a:p>
          <a:p>
            <a:pPr algn="l">
              <a:spcAft>
                <a:spcPts val="400"/>
              </a:spcAft>
            </a:pPr>
            <a:r>
              <a:rPr sz="1200" b="1" i="0">
                <a:solidFill>
                  <a:srgbClr val="22D3EE"/>
                </a:solidFill>
                <a:latin typeface="Calibri"/>
              </a:rPr>
              <a:t>Used for: </a:t>
            </a:r>
            <a:r>
              <a:rPr sz="1200" b="0" i="0">
                <a:solidFill>
                  <a:srgbClr val="EEF2FF"/>
                </a:solidFill>
                <a:latin typeface="Calibri"/>
              </a:rPr>
              <a:t>agent types, failure modes, evaluation.</a:t>
            </a:r>
          </a:p>
        </p:txBody>
      </p:sp>
      <p:sp>
        <p:nvSpPr>
          <p:cNvPr id="24" name="Rounded Rectangle 23"/>
          <p:cNvSpPr/>
          <p:nvPr/>
        </p:nvSpPr>
        <p:spPr>
          <a:xfrm>
            <a:off x="4663440" y="3886200"/>
            <a:ext cx="3931920" cy="2286000"/>
          </a:xfrm>
          <a:prstGeom prst="roundRect">
            <a:avLst>
              <a:gd name="adj" fmla="val 56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5" name="TextBox 24"/>
          <p:cNvSpPr txBox="1"/>
          <p:nvPr/>
        </p:nvSpPr>
        <p:spPr>
          <a:xfrm>
            <a:off x="4864607" y="4005072"/>
            <a:ext cx="2286000" cy="256032"/>
          </a:xfrm>
          <a:prstGeom prst="rect">
            <a:avLst/>
          </a:prstGeom>
          <a:noFill/>
        </p:spPr>
        <p:txBody>
          <a:bodyPr wrap="square" anchor="t" lIns="0" rIns="0" tIns="0" bIns="0"/>
          <a:lstStyle/>
          <a:p>
            <a:pPr algn="l">
              <a:spcAft>
                <a:spcPts val="400"/>
              </a:spcAft>
            </a:pPr>
            <a:r>
              <a:rPr sz="1050" b="1" i="0">
                <a:solidFill>
                  <a:srgbClr val="A78BFA"/>
                </a:solidFill>
                <a:latin typeface="Consolas"/>
              </a:rPr>
              <a:t>SUPPORTING</a:t>
            </a:r>
          </a:p>
        </p:txBody>
      </p:sp>
      <p:sp>
        <p:nvSpPr>
          <p:cNvPr id="26" name="TextBox 25"/>
          <p:cNvSpPr txBox="1"/>
          <p:nvPr/>
        </p:nvSpPr>
        <p:spPr>
          <a:xfrm>
            <a:off x="7498079" y="3913632"/>
            <a:ext cx="914400" cy="411480"/>
          </a:xfrm>
          <a:prstGeom prst="rect">
            <a:avLst/>
          </a:prstGeom>
          <a:noFill/>
        </p:spPr>
        <p:txBody>
          <a:bodyPr wrap="square" anchor="t" lIns="0" rIns="0" tIns="0" bIns="0"/>
          <a:lstStyle/>
          <a:p>
            <a:pPr algn="r">
              <a:spcAft>
                <a:spcPts val="400"/>
              </a:spcAft>
            </a:pPr>
            <a:r>
              <a:rPr sz="2200" b="1" i="0">
                <a:solidFill>
                  <a:srgbClr val="22D3EE"/>
                </a:solidFill>
                <a:latin typeface="Consolas"/>
              </a:rPr>
              <a:t>[6]</a:t>
            </a:r>
          </a:p>
        </p:txBody>
      </p:sp>
      <p:sp>
        <p:nvSpPr>
          <p:cNvPr id="27" name="TextBox 26"/>
          <p:cNvSpPr txBox="1"/>
          <p:nvPr/>
        </p:nvSpPr>
        <p:spPr>
          <a:xfrm>
            <a:off x="4864607" y="4297680"/>
            <a:ext cx="3520440" cy="594360"/>
          </a:xfrm>
          <a:prstGeom prst="rect">
            <a:avLst/>
          </a:prstGeom>
          <a:noFill/>
        </p:spPr>
        <p:txBody>
          <a:bodyPr wrap="square" anchor="t" lIns="0" rIns="0" tIns="0" bIns="0"/>
          <a:lstStyle/>
          <a:p>
            <a:pPr algn="l">
              <a:spcAft>
                <a:spcPts val="400"/>
              </a:spcAft>
            </a:pPr>
            <a:r>
              <a:rPr sz="1350" b="1" i="0">
                <a:solidFill>
                  <a:srgbClr val="EEF2FF"/>
                </a:solidFill>
                <a:latin typeface="Calibri"/>
              </a:rPr>
              <a:t>MCP and A2A Protocol for Scalable Agentic AI Systems</a:t>
            </a:r>
          </a:p>
        </p:txBody>
      </p:sp>
      <p:sp>
        <p:nvSpPr>
          <p:cNvPr id="28" name="TextBox 27"/>
          <p:cNvSpPr txBox="1"/>
          <p:nvPr/>
        </p:nvSpPr>
        <p:spPr>
          <a:xfrm>
            <a:off x="4864607" y="4892040"/>
            <a:ext cx="3520440" cy="256032"/>
          </a:xfrm>
          <a:prstGeom prst="rect">
            <a:avLst/>
          </a:prstGeom>
          <a:noFill/>
        </p:spPr>
        <p:txBody>
          <a:bodyPr wrap="square" anchor="t" lIns="0" rIns="0" tIns="0" bIns="0"/>
          <a:lstStyle/>
          <a:p>
            <a:pPr algn="l">
              <a:spcAft>
                <a:spcPts val="400"/>
              </a:spcAft>
            </a:pPr>
            <a:r>
              <a:rPr sz="1100" b="0" i="1">
                <a:solidFill>
                  <a:srgbClr val="A3ADC8"/>
                </a:solidFill>
                <a:latin typeface="Calibri"/>
              </a:rPr>
              <a:t>IEEE ICICDS, 2026</a:t>
            </a:r>
          </a:p>
        </p:txBody>
      </p:sp>
      <p:sp>
        <p:nvSpPr>
          <p:cNvPr id="29" name="TextBox 28"/>
          <p:cNvSpPr txBox="1"/>
          <p:nvPr/>
        </p:nvSpPr>
        <p:spPr>
          <a:xfrm>
            <a:off x="4864607" y="5212080"/>
            <a:ext cx="3520440" cy="914400"/>
          </a:xfrm>
          <a:prstGeom prst="rect">
            <a:avLst/>
          </a:prstGeom>
          <a:noFill/>
        </p:spPr>
        <p:txBody>
          <a:bodyPr wrap="square" anchor="t" lIns="0" rIns="0" tIns="0" bIns="0"/>
          <a:lstStyle/>
          <a:p>
            <a:pPr algn="l">
              <a:spcAft>
                <a:spcPts val="400"/>
              </a:spcAft>
            </a:pPr>
            <a:r>
              <a:rPr sz="1200" b="1" i="0">
                <a:solidFill>
                  <a:srgbClr val="22D3EE"/>
                </a:solidFill>
                <a:latin typeface="Calibri"/>
              </a:rPr>
              <a:t>Why: </a:t>
            </a:r>
            <a:r>
              <a:rPr sz="1200" b="0" i="0">
                <a:solidFill>
                  <a:srgbClr val="EEF2FF"/>
                </a:solidFill>
                <a:latin typeface="Calibri"/>
              </a:rPr>
              <a:t>explains how agents connect to tools and each other.</a:t>
            </a:r>
          </a:p>
          <a:p>
            <a:pPr algn="l">
              <a:spcAft>
                <a:spcPts val="400"/>
              </a:spcAft>
            </a:pPr>
            <a:r>
              <a:rPr sz="1200" b="1" i="0">
                <a:solidFill>
                  <a:srgbClr val="22D3EE"/>
                </a:solidFill>
                <a:latin typeface="Calibri"/>
              </a:rPr>
              <a:t>Used for: </a:t>
            </a:r>
            <a:r>
              <a:rPr sz="1200" b="0" i="0">
                <a:solidFill>
                  <a:srgbClr val="EEF2FF"/>
                </a:solidFill>
                <a:latin typeface="Calibri"/>
              </a:rPr>
              <a:t>the interoperability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05 · system architecture / algorithms studied</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System Architecture</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Hierarchical multi-agent design: plan → orchestrate → act through tools → verify [1], [6], [11]</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9</a:t>
            </a:fld>
            <a:r>
              <a:rPr sz="900">
                <a:solidFill>
                  <a:srgbClr val="6B7699"/>
                </a:solidFill>
                <a:latin typeface="Consolas"/>
              </a:rPr>
              <a:t> / 18</a:t>
            </a:r>
          </a:p>
        </p:txBody>
      </p:sp>
      <p:sp>
        <p:nvSpPr>
          <p:cNvPr id="10" name="Rounded Rectangle 9"/>
          <p:cNvSpPr/>
          <p:nvPr/>
        </p:nvSpPr>
        <p:spPr>
          <a:xfrm>
            <a:off x="457200" y="2880360"/>
            <a:ext cx="1097280" cy="914400"/>
          </a:xfrm>
          <a:prstGeom prst="roundRect">
            <a:avLst>
              <a:gd name="adj" fmla="val 14000"/>
            </a:avLst>
          </a:prstGeom>
          <a:solidFill>
            <a:srgbClr val="151C38">
              <a:alpha val="90000"/>
            </a:srgbClr>
          </a:solidFill>
          <a:ln w="9525">
            <a:solidFill>
              <a:srgbClr val="22D3EE"/>
            </a:solidFill>
          </a:ln>
        </p:spPr>
        <p:txBody>
          <a:bodyPr rtlCol="0" anchor="ctr" wrap="square" lIns="54864" rIns="54864" tIns="54864" bIns="54864"/>
          <a:lstStyle/>
          <a:p>
            <a:pPr algn="ctr"/>
          </a:p>
        </p:txBody>
      </p:sp>
      <p:pic>
        <p:nvPicPr>
          <p:cNvPr id="11" name="Picture 10" descr="user_uc.png"/>
          <p:cNvPicPr>
            <a:picLocks noChangeAspect="1"/>
          </p:cNvPicPr>
          <p:nvPr/>
        </p:nvPicPr>
        <p:blipFill>
          <a:blip r:embed="rId4"/>
          <a:stretch>
            <a:fillRect/>
          </a:stretch>
        </p:blipFill>
        <p:spPr>
          <a:xfrm>
            <a:off x="859536" y="2971800"/>
            <a:ext cx="292608" cy="292608"/>
          </a:xfrm>
          <a:prstGeom prst="rect">
            <a:avLst/>
          </a:prstGeom>
        </p:spPr>
      </p:pic>
      <p:sp>
        <p:nvSpPr>
          <p:cNvPr id="12" name="TextBox 11"/>
          <p:cNvSpPr txBox="1"/>
          <p:nvPr/>
        </p:nvSpPr>
        <p:spPr>
          <a:xfrm>
            <a:off x="457200" y="3291840"/>
            <a:ext cx="1097280" cy="411480"/>
          </a:xfrm>
          <a:prstGeom prst="rect">
            <a:avLst/>
          </a:prstGeom>
          <a:noFill/>
        </p:spPr>
        <p:txBody>
          <a:bodyPr wrap="square" anchor="t" lIns="0" rIns="0" tIns="0" bIns="0"/>
          <a:lstStyle/>
          <a:p>
            <a:pPr algn="ctr">
              <a:spcAft>
                <a:spcPts val="400"/>
              </a:spcAft>
            </a:pPr>
            <a:r>
              <a:rPr sz="1200" b="1" i="0">
                <a:solidFill>
                  <a:srgbClr val="EEF2FF"/>
                </a:solidFill>
                <a:latin typeface="Calibri"/>
              </a:rPr>
              <a:t>User goal</a:t>
            </a:r>
          </a:p>
        </p:txBody>
      </p:sp>
      <p:sp>
        <p:nvSpPr>
          <p:cNvPr id="13" name="Rounded Rectangle 12"/>
          <p:cNvSpPr/>
          <p:nvPr/>
        </p:nvSpPr>
        <p:spPr>
          <a:xfrm>
            <a:off x="1783080" y="2514600"/>
            <a:ext cx="1371600" cy="1645920"/>
          </a:xfrm>
          <a:prstGeom prst="roundRect">
            <a:avLst>
              <a:gd name="adj" fmla="val 9333"/>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4" name="TextBox 13"/>
          <p:cNvSpPr txBox="1"/>
          <p:nvPr/>
        </p:nvSpPr>
        <p:spPr>
          <a:xfrm>
            <a:off x="1783080" y="2633472"/>
            <a:ext cx="1371600" cy="256032"/>
          </a:xfrm>
          <a:prstGeom prst="rect">
            <a:avLst/>
          </a:prstGeom>
          <a:noFill/>
        </p:spPr>
        <p:txBody>
          <a:bodyPr wrap="square" anchor="t" lIns="0" rIns="0" tIns="0" bIns="0"/>
          <a:lstStyle/>
          <a:p>
            <a:pPr algn="ctr">
              <a:spcAft>
                <a:spcPts val="400"/>
              </a:spcAft>
            </a:pPr>
            <a:r>
              <a:rPr sz="1000" b="1" i="0">
                <a:solidFill>
                  <a:srgbClr val="A78BFA"/>
                </a:solidFill>
                <a:latin typeface="Consolas"/>
              </a:rPr>
              <a:t>PLANNER</a:t>
            </a:r>
          </a:p>
        </p:txBody>
      </p:sp>
      <p:sp>
        <p:nvSpPr>
          <p:cNvPr id="15" name="TextBox 14"/>
          <p:cNvSpPr txBox="1"/>
          <p:nvPr/>
        </p:nvSpPr>
        <p:spPr>
          <a:xfrm>
            <a:off x="1874519" y="2926080"/>
            <a:ext cx="1188720" cy="1143000"/>
          </a:xfrm>
          <a:prstGeom prst="rect">
            <a:avLst/>
          </a:prstGeom>
          <a:noFill/>
        </p:spPr>
        <p:txBody>
          <a:bodyPr wrap="square" anchor="t" lIns="0" rIns="0" tIns="0" bIns="0"/>
          <a:lstStyle/>
          <a:p>
            <a:pPr algn="ctr">
              <a:spcAft>
                <a:spcPts val="600"/>
              </a:spcAft>
            </a:pPr>
            <a:r>
              <a:rPr sz="1150" b="0" i="0">
                <a:solidFill>
                  <a:srgbClr val="A3ADC8"/>
                </a:solidFill>
                <a:latin typeface="Calibri"/>
              </a:rPr>
              <a:t>understand goal</a:t>
            </a:r>
          </a:p>
          <a:p>
            <a:pPr algn="ctr">
              <a:spcAft>
                <a:spcPts val="600"/>
              </a:spcAft>
            </a:pPr>
            <a:r>
              <a:rPr sz="1150" b="0" i="0">
                <a:solidFill>
                  <a:srgbClr val="A3ADC8"/>
                </a:solidFill>
                <a:latin typeface="Calibri"/>
              </a:rPr>
              <a:t>decompose</a:t>
            </a:r>
          </a:p>
          <a:p>
            <a:pPr algn="ctr">
              <a:spcAft>
                <a:spcPts val="600"/>
              </a:spcAft>
            </a:pPr>
            <a:r>
              <a:rPr sz="1150" b="0" i="0">
                <a:solidFill>
                  <a:srgbClr val="A3ADC8"/>
                </a:solidFill>
                <a:latin typeface="Calibri"/>
              </a:rPr>
              <a:t>task graph</a:t>
            </a:r>
          </a:p>
        </p:txBody>
      </p:sp>
      <p:cxnSp>
        <p:nvCxnSpPr>
          <p:cNvPr id="16" name="Connector 15"/>
          <p:cNvCxnSpPr/>
          <p:nvPr/>
        </p:nvCxnSpPr>
        <p:spPr>
          <a:xfrm flipH="1" flipV="1">
            <a:off x="4023360" y="1851660"/>
            <a:ext cx="685800" cy="1485900"/>
          </a:xfrm>
          <a:prstGeom prst="line">
            <a:avLst/>
          </a:prstGeom>
          <a:ln w="15875">
            <a:solidFill>
              <a:srgbClr val="A78BFA">
                <a:alpha val="70000"/>
              </a:srgbClr>
            </a:solidFill>
            <a:prstDash val="lgDash"/>
          </a:ln>
        </p:spPr>
      </p:cxnSp>
      <p:cxnSp>
        <p:nvCxnSpPr>
          <p:cNvPr id="17" name="Connector 16"/>
          <p:cNvCxnSpPr/>
          <p:nvPr/>
        </p:nvCxnSpPr>
        <p:spPr>
          <a:xfrm flipV="1">
            <a:off x="4709160" y="1851660"/>
            <a:ext cx="1005840" cy="1485900"/>
          </a:xfrm>
          <a:prstGeom prst="line">
            <a:avLst/>
          </a:prstGeom>
          <a:ln w="15875">
            <a:solidFill>
              <a:srgbClr val="A78BFA">
                <a:alpha val="70000"/>
              </a:srgbClr>
            </a:solidFill>
            <a:prstDash val="lgDash"/>
          </a:ln>
        </p:spPr>
      </p:cxnSp>
      <p:cxnSp>
        <p:nvCxnSpPr>
          <p:cNvPr id="18" name="Connector 17"/>
          <p:cNvCxnSpPr/>
          <p:nvPr/>
        </p:nvCxnSpPr>
        <p:spPr>
          <a:xfrm flipH="1">
            <a:off x="4023360" y="3337560"/>
            <a:ext cx="685800" cy="1485900"/>
          </a:xfrm>
          <a:prstGeom prst="line">
            <a:avLst/>
          </a:prstGeom>
          <a:ln w="15875">
            <a:solidFill>
              <a:srgbClr val="A78BFA">
                <a:alpha val="70000"/>
              </a:srgbClr>
            </a:solidFill>
            <a:prstDash val="lgDash"/>
          </a:ln>
        </p:spPr>
      </p:cxnSp>
      <p:cxnSp>
        <p:nvCxnSpPr>
          <p:cNvPr id="19" name="Connector 18"/>
          <p:cNvCxnSpPr/>
          <p:nvPr/>
        </p:nvCxnSpPr>
        <p:spPr>
          <a:xfrm>
            <a:off x="4709160" y="3337560"/>
            <a:ext cx="1005840" cy="1485900"/>
          </a:xfrm>
          <a:prstGeom prst="line">
            <a:avLst/>
          </a:prstGeom>
          <a:ln w="15875">
            <a:solidFill>
              <a:srgbClr val="A78BFA">
                <a:alpha val="70000"/>
              </a:srgbClr>
            </a:solidFill>
            <a:prstDash val="lgDash"/>
          </a:ln>
        </p:spPr>
      </p:cxnSp>
      <p:sp>
        <p:nvSpPr>
          <p:cNvPr id="20" name="Oval 19"/>
          <p:cNvSpPr/>
          <p:nvPr/>
        </p:nvSpPr>
        <p:spPr>
          <a:xfrm>
            <a:off x="3840480" y="2468880"/>
            <a:ext cx="1737360" cy="1737360"/>
          </a:xfrm>
          <a:prstGeom prst="ellipse">
            <a:avLst/>
          </a:prstGeom>
          <a:solidFill>
            <a:srgbClr val="7C3AED">
              <a:alpha val="28000"/>
            </a:srgbClr>
          </a:solidFill>
          <a:ln>
            <a:noFill/>
          </a:ln>
        </p:spPr>
        <p:txBody>
          <a:bodyPr rtlCol="0" anchor="ctr" wrap="square" lIns="54864" rIns="54864" tIns="54864" bIns="54864"/>
          <a:lstStyle/>
          <a:p>
            <a:pPr algn="ctr"/>
          </a:p>
        </p:txBody>
      </p:sp>
      <p:sp>
        <p:nvSpPr>
          <p:cNvPr id="21" name="Oval 20"/>
          <p:cNvSpPr/>
          <p:nvPr/>
        </p:nvSpPr>
        <p:spPr>
          <a:xfrm>
            <a:off x="4050792" y="2679191"/>
            <a:ext cx="1316736" cy="1316736"/>
          </a:xfrm>
          <a:prstGeom prst="ellipse">
            <a:avLst/>
          </a:prstGeom>
          <a:gradFill rotWithShape="1">
            <a:gsLst>
              <a:gs pos="0">
                <a:srgbClr val="7C3AED"/>
              </a:gs>
              <a:gs pos="100000">
                <a:srgbClr val="0891B2"/>
              </a:gs>
            </a:gsLst>
            <a:lin scaled="0" ang="18900000"/>
          </a:gradFill>
          <a:ln>
            <a:noFill/>
          </a:ln>
        </p:spPr>
        <p:txBody>
          <a:bodyPr rtlCol="0" anchor="ctr" wrap="square" lIns="18288" rIns="18288" tIns="18288" bIns="18288"/>
          <a:lstStyle/>
          <a:p>
            <a:pPr algn="ctr">
              <a:spcAft>
                <a:spcPts val="0"/>
              </a:spcAft>
            </a:pPr>
            <a:r>
              <a:rPr sz="1250" b="1" i="0">
                <a:solidFill>
                  <a:srgbClr val="FFFFFF"/>
                </a:solidFill>
                <a:latin typeface="Calibri"/>
              </a:rPr>
              <a:t>Orchestrator</a:t>
            </a:r>
          </a:p>
          <a:p>
            <a:pPr algn="ctr">
              <a:spcAft>
                <a:spcPts val="0"/>
              </a:spcAft>
            </a:pPr>
            <a:r>
              <a:rPr sz="1250" b="0" i="0">
                <a:solidFill>
                  <a:srgbClr val="FFFFFF"/>
                </a:solidFill>
                <a:latin typeface="Calibri"/>
              </a:rPr>
              <a:t>agent</a:t>
            </a:r>
          </a:p>
        </p:txBody>
      </p:sp>
      <p:sp>
        <p:nvSpPr>
          <p:cNvPr id="22" name="Rounded Rectangle 21"/>
          <p:cNvSpPr/>
          <p:nvPr/>
        </p:nvSpPr>
        <p:spPr>
          <a:xfrm>
            <a:off x="3429000" y="1600200"/>
            <a:ext cx="1188720" cy="502920"/>
          </a:xfrm>
          <a:prstGeom prst="roundRect">
            <a:avLst>
              <a:gd name="adj" fmla="val 25454"/>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23" name="TextBox 22"/>
          <p:cNvSpPr txBox="1"/>
          <p:nvPr/>
        </p:nvSpPr>
        <p:spPr>
          <a:xfrm>
            <a:off x="3429000" y="1600200"/>
            <a:ext cx="1188720" cy="502920"/>
          </a:xfrm>
          <a:prstGeom prst="rect">
            <a:avLst/>
          </a:prstGeom>
          <a:noFill/>
        </p:spPr>
        <p:txBody>
          <a:bodyPr wrap="square" anchor="ctr" lIns="0" rIns="0" tIns="0" bIns="0"/>
          <a:lstStyle/>
          <a:p>
            <a:pPr algn="ctr">
              <a:spcAft>
                <a:spcPts val="400"/>
              </a:spcAft>
            </a:pPr>
            <a:r>
              <a:rPr sz="1100" b="1" i="0">
                <a:solidFill>
                  <a:srgbClr val="EEF2FF"/>
                </a:solidFill>
                <a:latin typeface="Calibri"/>
              </a:rPr>
              <a:t>Research agent</a:t>
            </a:r>
          </a:p>
        </p:txBody>
      </p:sp>
      <p:sp>
        <p:nvSpPr>
          <p:cNvPr id="24" name="Rounded Rectangle 23"/>
          <p:cNvSpPr/>
          <p:nvPr/>
        </p:nvSpPr>
        <p:spPr>
          <a:xfrm>
            <a:off x="5120640" y="1600200"/>
            <a:ext cx="1188720" cy="502920"/>
          </a:xfrm>
          <a:prstGeom prst="roundRect">
            <a:avLst>
              <a:gd name="adj" fmla="val 25454"/>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25" name="TextBox 24"/>
          <p:cNvSpPr txBox="1"/>
          <p:nvPr/>
        </p:nvSpPr>
        <p:spPr>
          <a:xfrm>
            <a:off x="5120640" y="1600200"/>
            <a:ext cx="1188720" cy="502920"/>
          </a:xfrm>
          <a:prstGeom prst="rect">
            <a:avLst/>
          </a:prstGeom>
          <a:noFill/>
        </p:spPr>
        <p:txBody>
          <a:bodyPr wrap="square" anchor="ctr" lIns="0" rIns="0" tIns="0" bIns="0"/>
          <a:lstStyle/>
          <a:p>
            <a:pPr algn="ctr">
              <a:spcAft>
                <a:spcPts val="400"/>
              </a:spcAft>
            </a:pPr>
            <a:r>
              <a:rPr sz="1100" b="1" i="0">
                <a:solidFill>
                  <a:srgbClr val="EEF2FF"/>
                </a:solidFill>
                <a:latin typeface="Calibri"/>
              </a:rPr>
              <a:t>Coding agent</a:t>
            </a:r>
          </a:p>
        </p:txBody>
      </p:sp>
      <p:sp>
        <p:nvSpPr>
          <p:cNvPr id="26" name="Rounded Rectangle 25"/>
          <p:cNvSpPr/>
          <p:nvPr/>
        </p:nvSpPr>
        <p:spPr>
          <a:xfrm>
            <a:off x="3429000" y="4572000"/>
            <a:ext cx="1188720" cy="502920"/>
          </a:xfrm>
          <a:prstGeom prst="roundRect">
            <a:avLst>
              <a:gd name="adj" fmla="val 25454"/>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27" name="TextBox 26"/>
          <p:cNvSpPr txBox="1"/>
          <p:nvPr/>
        </p:nvSpPr>
        <p:spPr>
          <a:xfrm>
            <a:off x="3429000" y="4572000"/>
            <a:ext cx="1188720" cy="502920"/>
          </a:xfrm>
          <a:prstGeom prst="rect">
            <a:avLst/>
          </a:prstGeom>
          <a:noFill/>
        </p:spPr>
        <p:txBody>
          <a:bodyPr wrap="square" anchor="ctr" lIns="0" rIns="0" tIns="0" bIns="0"/>
          <a:lstStyle/>
          <a:p>
            <a:pPr algn="ctr">
              <a:spcAft>
                <a:spcPts val="400"/>
              </a:spcAft>
            </a:pPr>
            <a:r>
              <a:rPr sz="1100" b="1" i="0">
                <a:solidFill>
                  <a:srgbClr val="EEF2FF"/>
                </a:solidFill>
                <a:latin typeface="Calibri"/>
              </a:rPr>
              <a:t>Testing agent</a:t>
            </a:r>
          </a:p>
        </p:txBody>
      </p:sp>
      <p:sp>
        <p:nvSpPr>
          <p:cNvPr id="28" name="Rounded Rectangle 27"/>
          <p:cNvSpPr/>
          <p:nvPr/>
        </p:nvSpPr>
        <p:spPr>
          <a:xfrm>
            <a:off x="5120640" y="4572000"/>
            <a:ext cx="1188720" cy="502920"/>
          </a:xfrm>
          <a:prstGeom prst="roundRect">
            <a:avLst>
              <a:gd name="adj" fmla="val 25454"/>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29" name="TextBox 28"/>
          <p:cNvSpPr txBox="1"/>
          <p:nvPr/>
        </p:nvSpPr>
        <p:spPr>
          <a:xfrm>
            <a:off x="5120640" y="4572000"/>
            <a:ext cx="1188720" cy="502920"/>
          </a:xfrm>
          <a:prstGeom prst="rect">
            <a:avLst/>
          </a:prstGeom>
          <a:noFill/>
        </p:spPr>
        <p:txBody>
          <a:bodyPr wrap="square" anchor="ctr" lIns="0" rIns="0" tIns="0" bIns="0"/>
          <a:lstStyle/>
          <a:p>
            <a:pPr algn="ctr">
              <a:spcAft>
                <a:spcPts val="400"/>
              </a:spcAft>
            </a:pPr>
            <a:r>
              <a:rPr sz="1100" b="1" i="0">
                <a:solidFill>
                  <a:srgbClr val="EEF2FF"/>
                </a:solidFill>
                <a:latin typeface="Calibri"/>
              </a:rPr>
              <a:t>Critique agent</a:t>
            </a:r>
          </a:p>
        </p:txBody>
      </p:sp>
      <p:sp>
        <p:nvSpPr>
          <p:cNvPr id="30" name="TextBox 29"/>
          <p:cNvSpPr txBox="1"/>
          <p:nvPr/>
        </p:nvSpPr>
        <p:spPr>
          <a:xfrm>
            <a:off x="4434840" y="2240280"/>
            <a:ext cx="548640" cy="237744"/>
          </a:xfrm>
          <a:prstGeom prst="rect">
            <a:avLst/>
          </a:prstGeom>
          <a:noFill/>
        </p:spPr>
        <p:txBody>
          <a:bodyPr wrap="square" anchor="t" lIns="0" rIns="0" tIns="0" bIns="0"/>
          <a:lstStyle/>
          <a:p>
            <a:pPr algn="ctr">
              <a:spcAft>
                <a:spcPts val="400"/>
              </a:spcAft>
            </a:pPr>
            <a:r>
              <a:rPr sz="1000" b="1" i="0">
                <a:solidFill>
                  <a:srgbClr val="F472B6"/>
                </a:solidFill>
                <a:latin typeface="Consolas"/>
              </a:rPr>
              <a:t>A2A</a:t>
            </a:r>
          </a:p>
        </p:txBody>
      </p:sp>
      <p:sp>
        <p:nvSpPr>
          <p:cNvPr id="31" name="Rounded Rectangle 30"/>
          <p:cNvSpPr/>
          <p:nvPr/>
        </p:nvSpPr>
        <p:spPr>
          <a:xfrm>
            <a:off x="6446520" y="2103120"/>
            <a:ext cx="1280160" cy="2514600"/>
          </a:xfrm>
          <a:prstGeom prst="roundRect">
            <a:avLst>
              <a:gd name="adj" fmla="val 10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2" name="TextBox 31"/>
          <p:cNvSpPr txBox="1"/>
          <p:nvPr/>
        </p:nvSpPr>
        <p:spPr>
          <a:xfrm>
            <a:off x="6446520" y="2212848"/>
            <a:ext cx="1280160" cy="256032"/>
          </a:xfrm>
          <a:prstGeom prst="rect">
            <a:avLst/>
          </a:prstGeom>
          <a:noFill/>
        </p:spPr>
        <p:txBody>
          <a:bodyPr wrap="square" anchor="t" lIns="0" rIns="0" tIns="0" bIns="0"/>
          <a:lstStyle/>
          <a:p>
            <a:pPr algn="ctr">
              <a:spcAft>
                <a:spcPts val="400"/>
              </a:spcAft>
            </a:pPr>
            <a:r>
              <a:rPr sz="1000" b="1" i="0">
                <a:solidFill>
                  <a:srgbClr val="22D3EE"/>
                </a:solidFill>
                <a:latin typeface="Consolas"/>
              </a:rPr>
              <a:t>TOOLS</a:t>
            </a:r>
          </a:p>
        </p:txBody>
      </p:sp>
      <p:pic>
        <p:nvPicPr>
          <p:cNvPr id="33" name="Picture 32" descr="search_uc.png"/>
          <p:cNvPicPr>
            <a:picLocks noChangeAspect="1"/>
          </p:cNvPicPr>
          <p:nvPr/>
        </p:nvPicPr>
        <p:blipFill>
          <a:blip r:embed="rId5"/>
          <a:stretch>
            <a:fillRect/>
          </a:stretch>
        </p:blipFill>
        <p:spPr>
          <a:xfrm>
            <a:off x="6556248" y="2615184"/>
            <a:ext cx="256032" cy="256032"/>
          </a:xfrm>
          <a:prstGeom prst="rect">
            <a:avLst/>
          </a:prstGeom>
        </p:spPr>
      </p:pic>
      <p:sp>
        <p:nvSpPr>
          <p:cNvPr id="34" name="TextBox 33"/>
          <p:cNvSpPr txBox="1"/>
          <p:nvPr/>
        </p:nvSpPr>
        <p:spPr>
          <a:xfrm>
            <a:off x="6876288" y="2560320"/>
            <a:ext cx="822960" cy="365760"/>
          </a:xfrm>
          <a:prstGeom prst="rect">
            <a:avLst/>
          </a:prstGeom>
          <a:noFill/>
        </p:spPr>
        <p:txBody>
          <a:bodyPr wrap="square" anchor="ctr" lIns="0" rIns="0" tIns="0" bIns="0"/>
          <a:lstStyle/>
          <a:p>
            <a:pPr algn="l">
              <a:spcAft>
                <a:spcPts val="400"/>
              </a:spcAft>
            </a:pPr>
            <a:r>
              <a:rPr sz="1100" b="0" i="0">
                <a:solidFill>
                  <a:srgbClr val="A3ADC8"/>
                </a:solidFill>
                <a:latin typeface="Calibri"/>
              </a:rPr>
              <a:t>Web search</a:t>
            </a:r>
          </a:p>
        </p:txBody>
      </p:sp>
      <p:pic>
        <p:nvPicPr>
          <p:cNvPr id="35" name="Picture 34" descr="terminal_uc.png"/>
          <p:cNvPicPr>
            <a:picLocks noChangeAspect="1"/>
          </p:cNvPicPr>
          <p:nvPr/>
        </p:nvPicPr>
        <p:blipFill>
          <a:blip r:embed="rId6"/>
          <a:stretch>
            <a:fillRect/>
          </a:stretch>
        </p:blipFill>
        <p:spPr>
          <a:xfrm>
            <a:off x="6556248" y="3118103"/>
            <a:ext cx="256032" cy="256032"/>
          </a:xfrm>
          <a:prstGeom prst="rect">
            <a:avLst/>
          </a:prstGeom>
        </p:spPr>
      </p:pic>
      <p:sp>
        <p:nvSpPr>
          <p:cNvPr id="36" name="TextBox 35"/>
          <p:cNvSpPr txBox="1"/>
          <p:nvPr/>
        </p:nvSpPr>
        <p:spPr>
          <a:xfrm>
            <a:off x="6876288" y="3063239"/>
            <a:ext cx="822960" cy="365760"/>
          </a:xfrm>
          <a:prstGeom prst="rect">
            <a:avLst/>
          </a:prstGeom>
          <a:noFill/>
        </p:spPr>
        <p:txBody>
          <a:bodyPr wrap="square" anchor="ctr" lIns="0" rIns="0" tIns="0" bIns="0"/>
          <a:lstStyle/>
          <a:p>
            <a:pPr algn="l">
              <a:spcAft>
                <a:spcPts val="400"/>
              </a:spcAft>
            </a:pPr>
            <a:r>
              <a:rPr sz="1100" b="0" i="0">
                <a:solidFill>
                  <a:srgbClr val="A3ADC8"/>
                </a:solidFill>
                <a:latin typeface="Calibri"/>
              </a:rPr>
              <a:t>Code exec</a:t>
            </a:r>
          </a:p>
        </p:txBody>
      </p:sp>
      <p:pic>
        <p:nvPicPr>
          <p:cNvPr id="37" name="Picture 36" descr="db_uc.png"/>
          <p:cNvPicPr>
            <a:picLocks noChangeAspect="1"/>
          </p:cNvPicPr>
          <p:nvPr/>
        </p:nvPicPr>
        <p:blipFill>
          <a:blip r:embed="rId7"/>
          <a:stretch>
            <a:fillRect/>
          </a:stretch>
        </p:blipFill>
        <p:spPr>
          <a:xfrm>
            <a:off x="6556248" y="3621024"/>
            <a:ext cx="256032" cy="256032"/>
          </a:xfrm>
          <a:prstGeom prst="rect">
            <a:avLst/>
          </a:prstGeom>
        </p:spPr>
      </p:pic>
      <p:sp>
        <p:nvSpPr>
          <p:cNvPr id="38" name="TextBox 37"/>
          <p:cNvSpPr txBox="1"/>
          <p:nvPr/>
        </p:nvSpPr>
        <p:spPr>
          <a:xfrm>
            <a:off x="6876288" y="3566160"/>
            <a:ext cx="822960" cy="365760"/>
          </a:xfrm>
          <a:prstGeom prst="rect">
            <a:avLst/>
          </a:prstGeom>
          <a:noFill/>
        </p:spPr>
        <p:txBody>
          <a:bodyPr wrap="square" anchor="ctr" lIns="0" rIns="0" tIns="0" bIns="0"/>
          <a:lstStyle/>
          <a:p>
            <a:pPr algn="l">
              <a:spcAft>
                <a:spcPts val="400"/>
              </a:spcAft>
            </a:pPr>
            <a:r>
              <a:rPr sz="1100" b="0" i="0">
                <a:solidFill>
                  <a:srgbClr val="A3ADC8"/>
                </a:solidFill>
                <a:latin typeface="Calibri"/>
              </a:rPr>
              <a:t>APIs / DB</a:t>
            </a:r>
          </a:p>
        </p:txBody>
      </p:sp>
      <p:pic>
        <p:nvPicPr>
          <p:cNvPr id="39" name="Picture 38" descr="file_uc.png"/>
          <p:cNvPicPr>
            <a:picLocks noChangeAspect="1"/>
          </p:cNvPicPr>
          <p:nvPr/>
        </p:nvPicPr>
        <p:blipFill>
          <a:blip r:embed="rId8"/>
          <a:stretch>
            <a:fillRect/>
          </a:stretch>
        </p:blipFill>
        <p:spPr>
          <a:xfrm>
            <a:off x="6556248" y="4123944"/>
            <a:ext cx="256032" cy="256032"/>
          </a:xfrm>
          <a:prstGeom prst="rect">
            <a:avLst/>
          </a:prstGeom>
        </p:spPr>
      </p:pic>
      <p:sp>
        <p:nvSpPr>
          <p:cNvPr id="40" name="TextBox 39"/>
          <p:cNvSpPr txBox="1"/>
          <p:nvPr/>
        </p:nvSpPr>
        <p:spPr>
          <a:xfrm>
            <a:off x="6876288" y="4069080"/>
            <a:ext cx="822960" cy="365760"/>
          </a:xfrm>
          <a:prstGeom prst="rect">
            <a:avLst/>
          </a:prstGeom>
          <a:noFill/>
        </p:spPr>
        <p:txBody>
          <a:bodyPr wrap="square" anchor="ctr" lIns="0" rIns="0" tIns="0" bIns="0"/>
          <a:lstStyle/>
          <a:p>
            <a:pPr algn="l">
              <a:spcAft>
                <a:spcPts val="400"/>
              </a:spcAft>
            </a:pPr>
            <a:r>
              <a:rPr sz="1100" b="0" i="0">
                <a:solidFill>
                  <a:srgbClr val="A3ADC8"/>
                </a:solidFill>
                <a:latin typeface="Calibri"/>
              </a:rPr>
              <a:t>Files</a:t>
            </a:r>
          </a:p>
        </p:txBody>
      </p:sp>
      <p:sp>
        <p:nvSpPr>
          <p:cNvPr id="41" name="Rounded Rectangle 40"/>
          <p:cNvSpPr/>
          <p:nvPr/>
        </p:nvSpPr>
        <p:spPr>
          <a:xfrm>
            <a:off x="7909560" y="2880360"/>
            <a:ext cx="777240" cy="914400"/>
          </a:xfrm>
          <a:prstGeom prst="roundRect">
            <a:avLst>
              <a:gd name="adj" fmla="val 16470"/>
            </a:avLst>
          </a:prstGeom>
          <a:gradFill rotWithShape="1">
            <a:gsLst>
              <a:gs pos="0">
                <a:srgbClr val="7C3AED"/>
              </a:gs>
              <a:gs pos="100000">
                <a:srgbClr val="0891B2"/>
              </a:gs>
            </a:gsLst>
            <a:lin scaled="0" ang="18900000"/>
          </a:gradFill>
          <a:ln>
            <a:noFill/>
          </a:ln>
        </p:spPr>
        <p:txBody>
          <a:bodyPr rtlCol="0" anchor="ctr" wrap="square" lIns="18288" rIns="18288" tIns="18288" bIns="18288"/>
          <a:lstStyle/>
          <a:p>
            <a:pPr algn="ctr">
              <a:spcAft>
                <a:spcPts val="0"/>
              </a:spcAft>
            </a:pPr>
            <a:r>
              <a:rPr sz="1200" b="1" i="0">
                <a:solidFill>
                  <a:srgbClr val="FFFFFF"/>
                </a:solidFill>
                <a:latin typeface="Calibri"/>
              </a:rPr>
              <a:t>Output</a:t>
            </a:r>
          </a:p>
        </p:txBody>
      </p:sp>
      <p:cxnSp>
        <p:nvCxnSpPr>
          <p:cNvPr id="42" name="Connector 41"/>
          <p:cNvCxnSpPr/>
          <p:nvPr/>
        </p:nvCxnSpPr>
        <p:spPr>
          <a:xfrm>
            <a:off x="1554480" y="3337560"/>
            <a:ext cx="228600" cy="0"/>
          </a:xfrm>
          <a:prstGeom prst="line">
            <a:avLst/>
          </a:prstGeom>
          <a:ln w="22225">
            <a:solidFill>
              <a:srgbClr val="A3ADC8"/>
            </a:solidFill>
            <a:tailEnd type="triangle" w="med" len="med"/>
          </a:ln>
        </p:spPr>
      </p:cxnSp>
      <p:cxnSp>
        <p:nvCxnSpPr>
          <p:cNvPr id="43" name="Connector 42"/>
          <p:cNvCxnSpPr/>
          <p:nvPr/>
        </p:nvCxnSpPr>
        <p:spPr>
          <a:xfrm>
            <a:off x="3154680" y="3337560"/>
            <a:ext cx="896112" cy="0"/>
          </a:xfrm>
          <a:prstGeom prst="line">
            <a:avLst/>
          </a:prstGeom>
          <a:ln w="22225">
            <a:solidFill>
              <a:srgbClr val="A3ADC8"/>
            </a:solidFill>
            <a:tailEnd type="triangle" w="med" len="med"/>
          </a:ln>
        </p:spPr>
      </p:cxnSp>
      <p:cxnSp>
        <p:nvCxnSpPr>
          <p:cNvPr id="44" name="Connector 43"/>
          <p:cNvCxnSpPr/>
          <p:nvPr/>
        </p:nvCxnSpPr>
        <p:spPr>
          <a:xfrm>
            <a:off x="5367528" y="3337560"/>
            <a:ext cx="1078992" cy="0"/>
          </a:xfrm>
          <a:prstGeom prst="line">
            <a:avLst/>
          </a:prstGeom>
          <a:ln w="22225">
            <a:solidFill>
              <a:srgbClr val="22D3EE"/>
            </a:solidFill>
            <a:headEnd type="triangle" w="med" len="med"/>
            <a:tailEnd type="triangle" w="med" len="med"/>
          </a:ln>
        </p:spPr>
      </p:cxnSp>
      <p:sp>
        <p:nvSpPr>
          <p:cNvPr id="45" name="TextBox 44"/>
          <p:cNvSpPr txBox="1"/>
          <p:nvPr/>
        </p:nvSpPr>
        <p:spPr>
          <a:xfrm>
            <a:off x="5486400" y="3035808"/>
            <a:ext cx="822960" cy="256032"/>
          </a:xfrm>
          <a:prstGeom prst="rect">
            <a:avLst/>
          </a:prstGeom>
          <a:noFill/>
        </p:spPr>
        <p:txBody>
          <a:bodyPr wrap="square" anchor="t" lIns="0" rIns="0" tIns="0" bIns="0"/>
          <a:lstStyle/>
          <a:p>
            <a:pPr algn="ctr">
              <a:spcAft>
                <a:spcPts val="400"/>
              </a:spcAft>
            </a:pPr>
            <a:r>
              <a:rPr sz="1000" b="1" i="0">
                <a:solidFill>
                  <a:srgbClr val="22D3EE"/>
                </a:solidFill>
                <a:latin typeface="Consolas"/>
              </a:rPr>
              <a:t>MCP</a:t>
            </a:r>
          </a:p>
        </p:txBody>
      </p:sp>
      <p:cxnSp>
        <p:nvCxnSpPr>
          <p:cNvPr id="46" name="Connector 45"/>
          <p:cNvCxnSpPr/>
          <p:nvPr/>
        </p:nvCxnSpPr>
        <p:spPr>
          <a:xfrm>
            <a:off x="7726679" y="3337560"/>
            <a:ext cx="182881" cy="0"/>
          </a:xfrm>
          <a:prstGeom prst="line">
            <a:avLst/>
          </a:prstGeom>
          <a:ln w="22225">
            <a:solidFill>
              <a:srgbClr val="A3ADC8"/>
            </a:solidFill>
            <a:tailEnd type="triangle" w="med" len="med"/>
          </a:ln>
        </p:spPr>
      </p:cxnSp>
      <p:sp>
        <p:nvSpPr>
          <p:cNvPr id="47" name="Rounded Rectangle 46"/>
          <p:cNvSpPr/>
          <p:nvPr/>
        </p:nvSpPr>
        <p:spPr>
          <a:xfrm>
            <a:off x="3291840" y="5349240"/>
            <a:ext cx="4434840" cy="566928"/>
          </a:xfrm>
          <a:prstGeom prst="roundRect">
            <a:avLst>
              <a:gd name="adj" fmla="val 22580"/>
            </a:avLst>
          </a:prstGeom>
          <a:solidFill>
            <a:srgbClr val="151C38">
              <a:alpha val="90000"/>
            </a:srgbClr>
          </a:solidFill>
          <a:ln w="9525">
            <a:solidFill>
              <a:srgbClr val="2C3870"/>
            </a:solidFill>
          </a:ln>
        </p:spPr>
        <p:txBody>
          <a:bodyPr rtlCol="0" anchor="ctr" wrap="square" lIns="54864" rIns="54864" tIns="54864" bIns="54864"/>
          <a:lstStyle/>
          <a:p>
            <a:pPr algn="ctr"/>
          </a:p>
        </p:txBody>
      </p:sp>
      <p:pic>
        <p:nvPicPr>
          <p:cNvPr id="48" name="Picture 47" descr="db_uv.png"/>
          <p:cNvPicPr>
            <a:picLocks noChangeAspect="1"/>
          </p:cNvPicPr>
          <p:nvPr/>
        </p:nvPicPr>
        <p:blipFill>
          <a:blip r:embed="rId9"/>
          <a:stretch>
            <a:fillRect/>
          </a:stretch>
        </p:blipFill>
        <p:spPr>
          <a:xfrm>
            <a:off x="3429000" y="5477256"/>
            <a:ext cx="292608" cy="292608"/>
          </a:xfrm>
          <a:prstGeom prst="rect">
            <a:avLst/>
          </a:prstGeom>
        </p:spPr>
      </p:pic>
      <p:sp>
        <p:nvSpPr>
          <p:cNvPr id="49" name="TextBox 48"/>
          <p:cNvSpPr txBox="1"/>
          <p:nvPr/>
        </p:nvSpPr>
        <p:spPr>
          <a:xfrm>
            <a:off x="3840480" y="5349240"/>
            <a:ext cx="3840480" cy="566928"/>
          </a:xfrm>
          <a:prstGeom prst="rect">
            <a:avLst/>
          </a:prstGeom>
          <a:noFill/>
        </p:spPr>
        <p:txBody>
          <a:bodyPr wrap="square" anchor="ctr" lIns="0" rIns="0" tIns="0" bIns="0"/>
          <a:lstStyle/>
          <a:p>
            <a:pPr algn="l">
              <a:spcAft>
                <a:spcPts val="400"/>
              </a:spcAft>
            </a:pPr>
            <a:r>
              <a:rPr sz="1150" b="1" i="0">
                <a:solidFill>
                  <a:srgbClr val="A78BFA"/>
                </a:solidFill>
                <a:latin typeface="Calibri"/>
              </a:rPr>
              <a:t>Memory  </a:t>
            </a:r>
            <a:r>
              <a:rPr sz="1150" b="0" i="0">
                <a:solidFill>
                  <a:srgbClr val="A3ADC8"/>
                </a:solidFill>
                <a:latin typeface="Calibri"/>
              </a:rPr>
              <a:t>short-term · long-term (vector DB) · shared</a:t>
            </a:r>
          </a:p>
        </p:txBody>
      </p:sp>
      <p:cxnSp>
        <p:nvCxnSpPr>
          <p:cNvPr id="50" name="Connector 49"/>
          <p:cNvCxnSpPr/>
          <p:nvPr/>
        </p:nvCxnSpPr>
        <p:spPr>
          <a:xfrm>
            <a:off x="4709160" y="3995928"/>
            <a:ext cx="0" cy="1353312"/>
          </a:xfrm>
          <a:prstGeom prst="line">
            <a:avLst/>
          </a:prstGeom>
          <a:ln w="19050">
            <a:solidFill>
              <a:srgbClr val="A78BFA"/>
            </a:solidFill>
            <a:headEnd type="triangle" w="med" len="med"/>
            <a:tailEnd type="triangle" w="med" len="med"/>
          </a:ln>
        </p:spPr>
      </p:cxnSp>
      <p:cxnSp>
        <p:nvCxnSpPr>
          <p:cNvPr id="51" name="Connector 50"/>
          <p:cNvCxnSpPr/>
          <p:nvPr/>
        </p:nvCxnSpPr>
        <p:spPr>
          <a:xfrm>
            <a:off x="8298179" y="3794760"/>
            <a:ext cx="0" cy="2377440"/>
          </a:xfrm>
          <a:prstGeom prst="line">
            <a:avLst/>
          </a:prstGeom>
          <a:ln w="19050">
            <a:solidFill>
              <a:srgbClr val="F472B6"/>
            </a:solidFill>
            <a:prstDash val="lgDash"/>
          </a:ln>
        </p:spPr>
      </p:cxnSp>
      <p:cxnSp>
        <p:nvCxnSpPr>
          <p:cNvPr id="52" name="Connector 51"/>
          <p:cNvCxnSpPr/>
          <p:nvPr/>
        </p:nvCxnSpPr>
        <p:spPr>
          <a:xfrm flipH="1">
            <a:off x="2468880" y="6172200"/>
            <a:ext cx="5829299" cy="0"/>
          </a:xfrm>
          <a:prstGeom prst="line">
            <a:avLst/>
          </a:prstGeom>
          <a:ln w="19050">
            <a:solidFill>
              <a:srgbClr val="F472B6"/>
            </a:solidFill>
            <a:prstDash val="lgDash"/>
          </a:ln>
        </p:spPr>
      </p:cxnSp>
      <p:cxnSp>
        <p:nvCxnSpPr>
          <p:cNvPr id="53" name="Connector 52"/>
          <p:cNvCxnSpPr/>
          <p:nvPr/>
        </p:nvCxnSpPr>
        <p:spPr>
          <a:xfrm flipV="1">
            <a:off x="2468880" y="4160520"/>
            <a:ext cx="0" cy="2011680"/>
          </a:xfrm>
          <a:prstGeom prst="line">
            <a:avLst/>
          </a:prstGeom>
          <a:ln w="19050">
            <a:solidFill>
              <a:srgbClr val="F472B6"/>
            </a:solidFill>
            <a:prstDash val="lgDash"/>
            <a:tailEnd type="triangle" w="med" len="med"/>
          </a:ln>
        </p:spPr>
      </p:cxnSp>
      <p:sp>
        <p:nvSpPr>
          <p:cNvPr id="54" name="Rounded Rectangle 53"/>
          <p:cNvSpPr/>
          <p:nvPr/>
        </p:nvSpPr>
        <p:spPr>
          <a:xfrm>
            <a:off x="2697480" y="6053328"/>
            <a:ext cx="1417320" cy="246888"/>
          </a:xfrm>
          <a:prstGeom prst="roundRect">
            <a:avLst>
              <a:gd name="adj" fmla="val 48148"/>
            </a:avLst>
          </a:prstGeom>
          <a:solidFill>
            <a:srgbClr val="0B1020"/>
          </a:solidFill>
          <a:ln w="12700">
            <a:solidFill>
              <a:srgbClr val="F472B6"/>
            </a:solidFill>
          </a:ln>
        </p:spPr>
        <p:txBody>
          <a:bodyPr rtlCol="0" anchor="ctr" wrap="square" lIns="9144" rIns="9144" tIns="9144" bIns="9144"/>
          <a:lstStyle/>
          <a:p>
            <a:pPr algn="ctr">
              <a:spcAft>
                <a:spcPts val="0"/>
              </a:spcAft>
            </a:pPr>
            <a:r>
              <a:rPr sz="950" b="1" i="0">
                <a:solidFill>
                  <a:srgbClr val="F472B6"/>
                </a:solidFill>
                <a:latin typeface="Consolas"/>
              </a:rPr>
              <a:t>verify → replan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05 · algorithms studied (1/2)</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ReAct: Reason + Act Loop</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Interleaves reasoning (thought) with tool actions and observations until the goal is met [12]</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10</a:t>
            </a:fld>
            <a:r>
              <a:rPr sz="900">
                <a:solidFill>
                  <a:srgbClr val="6B7699"/>
                </a:solidFill>
                <a:latin typeface="Consolas"/>
              </a:rPr>
              <a:t> / 18</a:t>
            </a:r>
          </a:p>
        </p:txBody>
      </p:sp>
      <p:sp>
        <p:nvSpPr>
          <p:cNvPr id="10" name="Oval 9"/>
          <p:cNvSpPr/>
          <p:nvPr/>
        </p:nvSpPr>
        <p:spPr>
          <a:xfrm>
            <a:off x="1097280" y="2468880"/>
            <a:ext cx="2834640" cy="2834640"/>
          </a:xfrm>
          <a:prstGeom prst="ellipse">
            <a:avLst/>
          </a:prstGeom>
          <a:noFill/>
          <a:ln w="25400">
            <a:solidFill>
              <a:srgbClr val="22D3EE">
                <a:alpha val="55000"/>
              </a:srgbClr>
            </a:solidFill>
          </a:ln>
        </p:spPr>
        <p:txBody>
          <a:bodyPr rtlCol="0" anchor="ctr" wrap="square" lIns="54864" rIns="54864" tIns="54864" bIns="54864"/>
          <a:lstStyle/>
          <a:p>
            <a:pPr algn="ctr"/>
          </a:p>
        </p:txBody>
      </p:sp>
      <p:sp>
        <p:nvSpPr>
          <p:cNvPr id="11" name="Rectangle 10"/>
          <p:cNvSpPr/>
          <p:nvPr/>
        </p:nvSpPr>
        <p:spPr>
          <a:xfrm rot="8100000">
            <a:off x="3416212" y="2783419"/>
            <a:ext cx="201168" cy="201168"/>
          </a:xfrm>
          <a:prstGeom prst="triangle">
            <a:avLst/>
          </a:prstGeom>
          <a:solidFill>
            <a:srgbClr val="22D3EE"/>
          </a:solidFill>
          <a:ln>
            <a:noFill/>
          </a:ln>
        </p:spPr>
        <p:txBody>
          <a:bodyPr rtlCol="0" anchor="ctr" wrap="square" lIns="54864" rIns="54864" tIns="54864" bIns="54864"/>
          <a:lstStyle/>
          <a:p>
            <a:pPr algn="ctr"/>
          </a:p>
        </p:txBody>
      </p:sp>
      <p:sp>
        <p:nvSpPr>
          <p:cNvPr id="12" name="Rectangle 11"/>
          <p:cNvSpPr/>
          <p:nvPr/>
        </p:nvSpPr>
        <p:spPr>
          <a:xfrm rot="13500000">
            <a:off x="3416212" y="4787812"/>
            <a:ext cx="201168" cy="201168"/>
          </a:xfrm>
          <a:prstGeom prst="triangle">
            <a:avLst/>
          </a:prstGeom>
          <a:solidFill>
            <a:srgbClr val="22D3EE"/>
          </a:solidFill>
          <a:ln>
            <a:noFill/>
          </a:ln>
        </p:spPr>
        <p:txBody>
          <a:bodyPr rtlCol="0" anchor="ctr" wrap="square" lIns="54864" rIns="54864" tIns="54864" bIns="54864"/>
          <a:lstStyle/>
          <a:p>
            <a:pPr algn="ctr"/>
          </a:p>
        </p:txBody>
      </p:sp>
      <p:sp>
        <p:nvSpPr>
          <p:cNvPr id="13" name="Rectangle 12"/>
          <p:cNvSpPr/>
          <p:nvPr/>
        </p:nvSpPr>
        <p:spPr>
          <a:xfrm rot="18900000">
            <a:off x="1411819" y="4787812"/>
            <a:ext cx="201168" cy="201168"/>
          </a:xfrm>
          <a:prstGeom prst="triangle">
            <a:avLst/>
          </a:prstGeom>
          <a:solidFill>
            <a:srgbClr val="22D3EE"/>
          </a:solidFill>
          <a:ln>
            <a:noFill/>
          </a:ln>
        </p:spPr>
        <p:txBody>
          <a:bodyPr rtlCol="0" anchor="ctr" wrap="square" lIns="54864" rIns="54864" tIns="54864" bIns="54864"/>
          <a:lstStyle/>
          <a:p>
            <a:pPr algn="ctr"/>
          </a:p>
        </p:txBody>
      </p:sp>
      <p:sp>
        <p:nvSpPr>
          <p:cNvPr id="14" name="Rectangle 13"/>
          <p:cNvSpPr/>
          <p:nvPr/>
        </p:nvSpPr>
        <p:spPr>
          <a:xfrm rot="2700000">
            <a:off x="1411819" y="2783419"/>
            <a:ext cx="201168" cy="201168"/>
          </a:xfrm>
          <a:prstGeom prst="triangle">
            <a:avLst/>
          </a:prstGeom>
          <a:solidFill>
            <a:srgbClr val="22D3EE"/>
          </a:solidFill>
          <a:ln>
            <a:noFill/>
          </a:ln>
        </p:spPr>
        <p:txBody>
          <a:bodyPr rtlCol="0" anchor="ctr" wrap="square" lIns="54864" rIns="54864" tIns="54864" bIns="54864"/>
          <a:lstStyle/>
          <a:p>
            <a:pPr algn="ctr"/>
          </a:p>
        </p:txBody>
      </p:sp>
      <p:sp>
        <p:nvSpPr>
          <p:cNvPr id="15" name="Rounded Rectangle 14"/>
          <p:cNvSpPr/>
          <p:nvPr/>
        </p:nvSpPr>
        <p:spPr>
          <a:xfrm>
            <a:off x="1965960" y="3337560"/>
            <a:ext cx="1097280" cy="1097280"/>
          </a:xfrm>
          <a:prstGeom prst="roundRect">
            <a:avLst>
              <a:gd name="adj" fmla="val 50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6" name="TextBox 15"/>
          <p:cNvSpPr txBox="1"/>
          <p:nvPr/>
        </p:nvSpPr>
        <p:spPr>
          <a:xfrm>
            <a:off x="1965960" y="3337560"/>
            <a:ext cx="1097280" cy="1097280"/>
          </a:xfrm>
          <a:prstGeom prst="rect">
            <a:avLst/>
          </a:prstGeom>
          <a:noFill/>
        </p:spPr>
        <p:txBody>
          <a:bodyPr wrap="square" anchor="ctr" lIns="0" rIns="0" tIns="0" bIns="0"/>
          <a:lstStyle/>
          <a:p>
            <a:pPr algn="ctr">
              <a:spcAft>
                <a:spcPts val="0"/>
              </a:spcAft>
            </a:pPr>
            <a:r>
              <a:rPr sz="1100" b="1" i="0">
                <a:solidFill>
                  <a:srgbClr val="EEF2FF"/>
                </a:solidFill>
                <a:latin typeface="Consolas"/>
              </a:rPr>
              <a:t>goal G</a:t>
            </a:r>
          </a:p>
          <a:p>
            <a:pPr algn="ctr">
              <a:spcAft>
                <a:spcPts val="0"/>
              </a:spcAft>
            </a:pPr>
            <a:r>
              <a:rPr sz="1100" b="0" i="0">
                <a:solidFill>
                  <a:srgbClr val="A3ADC8"/>
                </a:solidFill>
                <a:latin typeface="Consolas"/>
              </a:rPr>
              <a:t>history H</a:t>
            </a:r>
          </a:p>
        </p:txBody>
      </p:sp>
      <p:sp>
        <p:nvSpPr>
          <p:cNvPr id="17" name="Rounded Rectangle 16"/>
          <p:cNvSpPr/>
          <p:nvPr/>
        </p:nvSpPr>
        <p:spPr>
          <a:xfrm>
            <a:off x="1801368" y="2167128"/>
            <a:ext cx="1426464" cy="603504"/>
          </a:xfrm>
          <a:prstGeom prst="roundRect">
            <a:avLst>
              <a:gd name="adj" fmla="val 21212"/>
            </a:avLst>
          </a:prstGeom>
          <a:gradFill rotWithShape="1">
            <a:gsLst>
              <a:gs pos="0">
                <a:srgbClr val="7C3AED"/>
              </a:gs>
              <a:gs pos="100000">
                <a:srgbClr val="0891B2"/>
              </a:gs>
            </a:gsLst>
            <a:lin scaled="0" ang="0"/>
          </a:gradFill>
          <a:ln>
            <a:noFill/>
          </a:ln>
        </p:spPr>
        <p:txBody>
          <a:bodyPr rtlCol="0" anchor="ctr" wrap="square" lIns="18288" rIns="18288" tIns="18288" bIns="18288"/>
          <a:lstStyle/>
          <a:p>
            <a:pPr algn="ctr">
              <a:spcAft>
                <a:spcPts val="0"/>
              </a:spcAft>
            </a:pPr>
            <a:r>
              <a:rPr sz="1350" b="1" i="0">
                <a:solidFill>
                  <a:srgbClr val="FFFFFF"/>
                </a:solidFill>
                <a:latin typeface="Calibri"/>
              </a:rPr>
              <a:t>Thought</a:t>
            </a:r>
          </a:p>
          <a:p>
            <a:pPr algn="ctr">
              <a:spcAft>
                <a:spcPts val="0"/>
              </a:spcAft>
            </a:pPr>
            <a:r>
              <a:rPr sz="1000" b="0" i="0">
                <a:solidFill>
                  <a:srgbClr val="EEF2FF"/>
                </a:solidFill>
                <a:latin typeface="Calibri"/>
              </a:rPr>
              <a:t>reason about next step</a:t>
            </a:r>
          </a:p>
        </p:txBody>
      </p:sp>
      <p:sp>
        <p:nvSpPr>
          <p:cNvPr id="18" name="Rounded Rectangle 17"/>
          <p:cNvSpPr/>
          <p:nvPr/>
        </p:nvSpPr>
        <p:spPr>
          <a:xfrm>
            <a:off x="3218687" y="3584448"/>
            <a:ext cx="1426464" cy="603504"/>
          </a:xfrm>
          <a:prstGeom prst="roundRect">
            <a:avLst>
              <a:gd name="adj" fmla="val 21212"/>
            </a:avLst>
          </a:prstGeom>
          <a:solidFill>
            <a:srgbClr val="1B2445"/>
          </a:solidFill>
          <a:ln w="9525">
            <a:solidFill>
              <a:srgbClr val="22D3EE"/>
            </a:solidFill>
          </a:ln>
        </p:spPr>
        <p:txBody>
          <a:bodyPr rtlCol="0" anchor="ctr" wrap="square" lIns="54864" rIns="54864" tIns="54864" bIns="54864"/>
          <a:lstStyle/>
          <a:p>
            <a:pPr algn="ctr">
              <a:spcAft>
                <a:spcPts val="400"/>
              </a:spcAft>
            </a:pPr>
            <a:r>
              <a:rPr sz="1350" b="1" i="0">
                <a:solidFill>
                  <a:srgbClr val="EEF2FF"/>
                </a:solidFill>
                <a:latin typeface="Calibri"/>
              </a:rPr>
              <a:t>Action</a:t>
            </a:r>
          </a:p>
          <a:p>
            <a:pPr algn="ctr">
              <a:spcAft>
                <a:spcPts val="400"/>
              </a:spcAft>
            </a:pPr>
            <a:r>
              <a:rPr sz="1000" b="0" i="0">
                <a:solidFill>
                  <a:srgbClr val="EEF2FF"/>
                </a:solidFill>
                <a:latin typeface="Calibri"/>
              </a:rPr>
              <a:t>call a tool</a:t>
            </a:r>
          </a:p>
        </p:txBody>
      </p:sp>
      <p:sp>
        <p:nvSpPr>
          <p:cNvPr id="19" name="Rounded Rectangle 18"/>
          <p:cNvSpPr/>
          <p:nvPr/>
        </p:nvSpPr>
        <p:spPr>
          <a:xfrm>
            <a:off x="1801368" y="5001768"/>
            <a:ext cx="1426464" cy="603504"/>
          </a:xfrm>
          <a:prstGeom prst="roundRect">
            <a:avLst>
              <a:gd name="adj" fmla="val 21212"/>
            </a:avLst>
          </a:prstGeom>
          <a:gradFill rotWithShape="1">
            <a:gsLst>
              <a:gs pos="0">
                <a:srgbClr val="BE185D"/>
              </a:gs>
              <a:gs pos="100000">
                <a:srgbClr val="7C3AED"/>
              </a:gs>
            </a:gsLst>
            <a:lin scaled="0" ang="0"/>
          </a:gradFill>
          <a:ln>
            <a:noFill/>
          </a:ln>
        </p:spPr>
        <p:txBody>
          <a:bodyPr rtlCol="0" anchor="ctr" wrap="square" lIns="18288" rIns="18288" tIns="18288" bIns="18288"/>
          <a:lstStyle/>
          <a:p>
            <a:pPr algn="ctr">
              <a:spcAft>
                <a:spcPts val="0"/>
              </a:spcAft>
            </a:pPr>
            <a:r>
              <a:rPr sz="1350" b="1" i="0">
                <a:solidFill>
                  <a:srgbClr val="FFFFFF"/>
                </a:solidFill>
                <a:latin typeface="Calibri"/>
              </a:rPr>
              <a:t>Observation</a:t>
            </a:r>
          </a:p>
          <a:p>
            <a:pPr algn="ctr">
              <a:spcAft>
                <a:spcPts val="0"/>
              </a:spcAft>
            </a:pPr>
            <a:r>
              <a:rPr sz="1000" b="0" i="0">
                <a:solidFill>
                  <a:srgbClr val="EEF2FF"/>
                </a:solidFill>
                <a:latin typeface="Calibri"/>
              </a:rPr>
              <a:t>read tool result</a:t>
            </a:r>
          </a:p>
        </p:txBody>
      </p:sp>
      <p:sp>
        <p:nvSpPr>
          <p:cNvPr id="20" name="Rounded Rectangle 19"/>
          <p:cNvSpPr/>
          <p:nvPr/>
        </p:nvSpPr>
        <p:spPr>
          <a:xfrm>
            <a:off x="384047" y="3584448"/>
            <a:ext cx="1426464" cy="603504"/>
          </a:xfrm>
          <a:prstGeom prst="roundRect">
            <a:avLst>
              <a:gd name="adj" fmla="val 21212"/>
            </a:avLst>
          </a:prstGeom>
          <a:solidFill>
            <a:srgbClr val="1B2445"/>
          </a:solidFill>
          <a:ln w="9525">
            <a:solidFill>
              <a:srgbClr val="A78BFA"/>
            </a:solidFill>
          </a:ln>
        </p:spPr>
        <p:txBody>
          <a:bodyPr rtlCol="0" anchor="ctr" wrap="square" lIns="54864" rIns="54864" tIns="54864" bIns="54864"/>
          <a:lstStyle/>
          <a:p>
            <a:pPr algn="ctr">
              <a:spcAft>
                <a:spcPts val="400"/>
              </a:spcAft>
            </a:pPr>
            <a:r>
              <a:rPr sz="1350" b="1" i="0">
                <a:solidFill>
                  <a:srgbClr val="EEF2FF"/>
                </a:solidFill>
                <a:latin typeface="Calibri"/>
              </a:rPr>
              <a:t>Update</a:t>
            </a:r>
          </a:p>
          <a:p>
            <a:pPr algn="ctr">
              <a:spcAft>
                <a:spcPts val="400"/>
              </a:spcAft>
            </a:pPr>
            <a:r>
              <a:rPr sz="1000" b="0" i="0">
                <a:solidFill>
                  <a:srgbClr val="EEF2FF"/>
                </a:solidFill>
                <a:latin typeface="Calibri"/>
              </a:rPr>
              <a:t>add (r, a, o) to H</a:t>
            </a:r>
          </a:p>
        </p:txBody>
      </p:sp>
      <p:sp>
        <p:nvSpPr>
          <p:cNvPr id="21" name="Rounded Rectangle 20"/>
          <p:cNvSpPr/>
          <p:nvPr/>
        </p:nvSpPr>
        <p:spPr>
          <a:xfrm>
            <a:off x="4846320" y="1600200"/>
            <a:ext cx="3749039" cy="3017520"/>
          </a:xfrm>
          <a:prstGeom prst="roundRect">
            <a:avLst>
              <a:gd name="adj" fmla="val 3636"/>
            </a:avLst>
          </a:prstGeom>
          <a:solidFill>
            <a:srgbClr val="070B17">
              <a:alpha val="90000"/>
            </a:srgbClr>
          </a:solidFill>
          <a:ln w="9525">
            <a:solidFill>
              <a:srgbClr val="2C3870"/>
            </a:solidFill>
          </a:ln>
        </p:spPr>
        <p:txBody>
          <a:bodyPr rtlCol="0" anchor="ctr" wrap="square" lIns="54864" rIns="54864" tIns="54864" bIns="54864"/>
          <a:lstStyle/>
          <a:p>
            <a:pPr algn="ctr"/>
          </a:p>
        </p:txBody>
      </p:sp>
      <p:sp>
        <p:nvSpPr>
          <p:cNvPr id="22" name="Oval 21"/>
          <p:cNvSpPr/>
          <p:nvPr/>
        </p:nvSpPr>
        <p:spPr>
          <a:xfrm>
            <a:off x="5029200" y="1783080"/>
            <a:ext cx="109728" cy="109728"/>
          </a:xfrm>
          <a:prstGeom prst="ellipse">
            <a:avLst/>
          </a:prstGeom>
          <a:solidFill>
            <a:srgbClr val="FF5F57"/>
          </a:solidFill>
          <a:ln>
            <a:noFill/>
          </a:ln>
        </p:spPr>
        <p:txBody>
          <a:bodyPr rtlCol="0" anchor="ctr" wrap="square" lIns="54864" rIns="54864" tIns="54864" bIns="54864"/>
          <a:lstStyle/>
          <a:p>
            <a:pPr algn="ctr"/>
          </a:p>
        </p:txBody>
      </p:sp>
      <p:sp>
        <p:nvSpPr>
          <p:cNvPr id="23" name="Oval 22"/>
          <p:cNvSpPr/>
          <p:nvPr/>
        </p:nvSpPr>
        <p:spPr>
          <a:xfrm>
            <a:off x="5212080" y="1783080"/>
            <a:ext cx="109728" cy="109728"/>
          </a:xfrm>
          <a:prstGeom prst="ellipse">
            <a:avLst/>
          </a:prstGeom>
          <a:solidFill>
            <a:srgbClr val="FEBC2E"/>
          </a:solidFill>
          <a:ln>
            <a:noFill/>
          </a:ln>
        </p:spPr>
        <p:txBody>
          <a:bodyPr rtlCol="0" anchor="ctr" wrap="square" lIns="54864" rIns="54864" tIns="54864" bIns="54864"/>
          <a:lstStyle/>
          <a:p>
            <a:pPr algn="ctr"/>
          </a:p>
        </p:txBody>
      </p:sp>
      <p:sp>
        <p:nvSpPr>
          <p:cNvPr id="24" name="Oval 23"/>
          <p:cNvSpPr/>
          <p:nvPr/>
        </p:nvSpPr>
        <p:spPr>
          <a:xfrm>
            <a:off x="5394960" y="1783080"/>
            <a:ext cx="109728" cy="109728"/>
          </a:xfrm>
          <a:prstGeom prst="ellipse">
            <a:avLst/>
          </a:prstGeom>
          <a:solidFill>
            <a:srgbClr val="28C840"/>
          </a:solidFill>
          <a:ln>
            <a:noFill/>
          </a:ln>
        </p:spPr>
        <p:txBody>
          <a:bodyPr rtlCol="0" anchor="ctr" wrap="square" lIns="54864" rIns="54864" tIns="54864" bIns="54864"/>
          <a:lstStyle/>
          <a:p>
            <a:pPr algn="ctr"/>
          </a:p>
        </p:txBody>
      </p:sp>
      <p:sp>
        <p:nvSpPr>
          <p:cNvPr id="25" name="TextBox 24"/>
          <p:cNvSpPr txBox="1"/>
          <p:nvPr/>
        </p:nvSpPr>
        <p:spPr>
          <a:xfrm>
            <a:off x="5623559" y="1709928"/>
            <a:ext cx="2834639" cy="256032"/>
          </a:xfrm>
          <a:prstGeom prst="rect">
            <a:avLst/>
          </a:prstGeom>
          <a:noFill/>
        </p:spPr>
        <p:txBody>
          <a:bodyPr wrap="square" anchor="t" lIns="0" rIns="0" tIns="0" bIns="0"/>
          <a:lstStyle/>
          <a:p>
            <a:pPr algn="l">
              <a:spcAft>
                <a:spcPts val="400"/>
              </a:spcAft>
            </a:pPr>
            <a:r>
              <a:rPr sz="1000" b="0" i="0">
                <a:solidFill>
                  <a:srgbClr val="6B7699"/>
                </a:solidFill>
                <a:latin typeface="Consolas"/>
              </a:rPr>
              <a:t>react_loop.algo</a:t>
            </a:r>
          </a:p>
        </p:txBody>
      </p:sp>
      <p:sp>
        <p:nvSpPr>
          <p:cNvPr id="26" name="TextBox 25"/>
          <p:cNvSpPr txBox="1"/>
          <p:nvPr/>
        </p:nvSpPr>
        <p:spPr>
          <a:xfrm>
            <a:off x="5029200" y="2057400"/>
            <a:ext cx="3474720" cy="2514600"/>
          </a:xfrm>
          <a:prstGeom prst="rect">
            <a:avLst/>
          </a:prstGeom>
          <a:noFill/>
        </p:spPr>
        <p:txBody>
          <a:bodyPr wrap="square" anchor="t" lIns="0" rIns="0" tIns="0" bIns="0"/>
          <a:lstStyle/>
          <a:p>
            <a:pPr algn="l">
              <a:spcAft>
                <a:spcPts val="200"/>
              </a:spcAft>
            </a:pPr>
            <a:r>
              <a:rPr sz="1100" b="0" i="0">
                <a:solidFill>
                  <a:srgbClr val="475079"/>
                </a:solidFill>
                <a:latin typeface="Consolas"/>
              </a:rPr>
              <a:t> 1  </a:t>
            </a:r>
            <a:r>
              <a:rPr sz="1100" b="0" i="0">
                <a:solidFill>
                  <a:srgbClr val="E2E8F0"/>
                </a:solidFill>
                <a:latin typeface="Consolas"/>
              </a:rPr>
              <a:t>Input: goal G, environment E</a:t>
            </a:r>
          </a:p>
          <a:p>
            <a:pPr algn="l">
              <a:spcAft>
                <a:spcPts val="200"/>
              </a:spcAft>
            </a:pPr>
            <a:r>
              <a:rPr sz="1100" b="0" i="0">
                <a:solidFill>
                  <a:srgbClr val="475079"/>
                </a:solidFill>
                <a:latin typeface="Consolas"/>
              </a:rPr>
              <a:t> 2  </a:t>
            </a:r>
            <a:r>
              <a:rPr sz="1100" b="0" i="0">
                <a:solidFill>
                  <a:srgbClr val="E2E8F0"/>
                </a:solidFill>
                <a:latin typeface="Consolas"/>
              </a:rPr>
              <a:t>H ← ∅                 </a:t>
            </a:r>
            <a:r>
              <a:rPr sz="1100" b="0" i="1">
                <a:solidFill>
                  <a:srgbClr val="A78BFA"/>
                </a:solidFill>
                <a:latin typeface="Consolas"/>
              </a:rPr>
              <a:t># history</a:t>
            </a:r>
          </a:p>
          <a:p>
            <a:pPr algn="l">
              <a:spcAft>
                <a:spcPts val="200"/>
              </a:spcAft>
            </a:pPr>
            <a:r>
              <a:rPr sz="1100" b="0" i="0">
                <a:solidFill>
                  <a:srgbClr val="475079"/>
                </a:solidFill>
                <a:latin typeface="Consolas"/>
              </a:rPr>
              <a:t> 3  </a:t>
            </a:r>
            <a:r>
              <a:rPr sz="1100" b="0" i="0">
                <a:solidFill>
                  <a:srgbClr val="E2E8F0"/>
                </a:solidFill>
                <a:latin typeface="Consolas"/>
              </a:rPr>
              <a:t>while not Done(G) do</a:t>
            </a:r>
          </a:p>
          <a:p>
            <a:pPr algn="l">
              <a:spcAft>
                <a:spcPts val="200"/>
              </a:spcAft>
            </a:pPr>
            <a:r>
              <a:rPr sz="1100" b="0" i="0">
                <a:solidFill>
                  <a:srgbClr val="475079"/>
                </a:solidFill>
                <a:latin typeface="Consolas"/>
              </a:rPr>
              <a:t> 4  </a:t>
            </a:r>
            <a:r>
              <a:rPr sz="1100" b="0" i="0">
                <a:solidFill>
                  <a:srgbClr val="E2E8F0"/>
                </a:solidFill>
                <a:latin typeface="Consolas"/>
              </a:rPr>
              <a:t>  r ← LLM_Reason(G, H) </a:t>
            </a:r>
            <a:r>
              <a:rPr sz="1100" b="0" i="1">
                <a:solidFill>
                  <a:srgbClr val="A78BFA"/>
                </a:solidFill>
                <a:latin typeface="Consolas"/>
              </a:rPr>
              <a:t># thought</a:t>
            </a:r>
          </a:p>
          <a:p>
            <a:pPr algn="l">
              <a:spcAft>
                <a:spcPts val="200"/>
              </a:spcAft>
            </a:pPr>
            <a:r>
              <a:rPr sz="1100" b="0" i="0">
                <a:solidFill>
                  <a:srgbClr val="475079"/>
                </a:solidFill>
                <a:latin typeface="Consolas"/>
              </a:rPr>
              <a:t> 5  </a:t>
            </a:r>
            <a:r>
              <a:rPr sz="1100" b="0" i="0">
                <a:solidFill>
                  <a:srgbClr val="E2E8F0"/>
                </a:solidFill>
                <a:latin typeface="Consolas"/>
              </a:rPr>
              <a:t>  a ← Select_Tool(r)   </a:t>
            </a:r>
            <a:r>
              <a:rPr sz="1100" b="0" i="1">
                <a:solidFill>
                  <a:srgbClr val="A78BFA"/>
                </a:solidFill>
                <a:latin typeface="Consolas"/>
              </a:rPr>
              <a:t># action</a:t>
            </a:r>
          </a:p>
          <a:p>
            <a:pPr algn="l">
              <a:spcAft>
                <a:spcPts val="200"/>
              </a:spcAft>
            </a:pPr>
            <a:r>
              <a:rPr sz="1100" b="0" i="0">
                <a:solidFill>
                  <a:srgbClr val="475079"/>
                </a:solidFill>
                <a:latin typeface="Consolas"/>
              </a:rPr>
              <a:t> 6  </a:t>
            </a:r>
            <a:r>
              <a:rPr sz="1100" b="0" i="0">
                <a:solidFill>
                  <a:srgbClr val="E2E8F0"/>
                </a:solidFill>
                <a:latin typeface="Consolas"/>
              </a:rPr>
              <a:t>  o ← Execute(a, E)    </a:t>
            </a:r>
            <a:r>
              <a:rPr sz="1100" b="0" i="1">
                <a:solidFill>
                  <a:srgbClr val="A78BFA"/>
                </a:solidFill>
                <a:latin typeface="Consolas"/>
              </a:rPr>
              <a:t># observe</a:t>
            </a:r>
          </a:p>
          <a:p>
            <a:pPr algn="l">
              <a:spcAft>
                <a:spcPts val="200"/>
              </a:spcAft>
            </a:pPr>
            <a:r>
              <a:rPr sz="1100" b="0" i="0">
                <a:solidFill>
                  <a:srgbClr val="475079"/>
                </a:solidFill>
                <a:latin typeface="Consolas"/>
              </a:rPr>
              <a:t> 7  </a:t>
            </a:r>
            <a:r>
              <a:rPr sz="1100" b="0" i="0">
                <a:solidFill>
                  <a:srgbClr val="E2E8F0"/>
                </a:solidFill>
                <a:latin typeface="Consolas"/>
              </a:rPr>
              <a:t>  H ← H ∪ {(r, a, o)}</a:t>
            </a:r>
          </a:p>
          <a:p>
            <a:pPr algn="l">
              <a:spcAft>
                <a:spcPts val="200"/>
              </a:spcAft>
            </a:pPr>
            <a:r>
              <a:rPr sz="1100" b="0" i="0">
                <a:solidFill>
                  <a:srgbClr val="475079"/>
                </a:solidFill>
                <a:latin typeface="Consolas"/>
              </a:rPr>
              <a:t> 8  </a:t>
            </a:r>
            <a:r>
              <a:rPr sz="1100" b="0" i="0">
                <a:solidFill>
                  <a:srgbClr val="E2E8F0"/>
                </a:solidFill>
                <a:latin typeface="Consolas"/>
              </a:rPr>
              <a:t>  if Need_Replan(o):</a:t>
            </a:r>
          </a:p>
          <a:p>
            <a:pPr algn="l">
              <a:spcAft>
                <a:spcPts val="200"/>
              </a:spcAft>
            </a:pPr>
            <a:r>
              <a:rPr sz="1100" b="0" i="0">
                <a:solidFill>
                  <a:srgbClr val="475079"/>
                </a:solidFill>
                <a:latin typeface="Consolas"/>
              </a:rPr>
              <a:t> 9  </a:t>
            </a:r>
            <a:r>
              <a:rPr sz="1100" b="0" i="0">
                <a:solidFill>
                  <a:srgbClr val="E2E8F0"/>
                </a:solidFill>
                <a:latin typeface="Consolas"/>
              </a:rPr>
              <a:t>      G ← Update(G, o)</a:t>
            </a:r>
          </a:p>
          <a:p>
            <a:pPr algn="l">
              <a:spcAft>
                <a:spcPts val="200"/>
              </a:spcAft>
            </a:pPr>
            <a:r>
              <a:rPr sz="1100" b="0" i="0">
                <a:solidFill>
                  <a:srgbClr val="475079"/>
                </a:solidFill>
                <a:latin typeface="Consolas"/>
              </a:rPr>
              <a:t>10  </a:t>
            </a:r>
            <a:r>
              <a:rPr sz="1100" b="0" i="0">
                <a:solidFill>
                  <a:srgbClr val="E2E8F0"/>
                </a:solidFill>
                <a:latin typeface="Consolas"/>
              </a:rPr>
              <a:t>return FinalAnswer(G, H)</a:t>
            </a:r>
          </a:p>
        </p:txBody>
      </p:sp>
      <p:sp>
        <p:nvSpPr>
          <p:cNvPr id="27" name="Rounded Rectangle 26"/>
          <p:cNvSpPr/>
          <p:nvPr/>
        </p:nvSpPr>
        <p:spPr>
          <a:xfrm>
            <a:off x="4846320" y="4754880"/>
            <a:ext cx="3749039" cy="1417320"/>
          </a:xfrm>
          <a:prstGeom prst="roundRect">
            <a:avLst>
              <a:gd name="adj" fmla="val 9032"/>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8" name="TextBox 27"/>
          <p:cNvSpPr txBox="1"/>
          <p:nvPr/>
        </p:nvSpPr>
        <p:spPr>
          <a:xfrm>
            <a:off x="5029200" y="4846320"/>
            <a:ext cx="3200400" cy="256032"/>
          </a:xfrm>
          <a:prstGeom prst="rect">
            <a:avLst/>
          </a:prstGeom>
          <a:noFill/>
        </p:spPr>
        <p:txBody>
          <a:bodyPr wrap="square" anchor="t" lIns="0" rIns="0" tIns="0" bIns="0"/>
          <a:lstStyle/>
          <a:p>
            <a:pPr algn="l">
              <a:spcAft>
                <a:spcPts val="400"/>
              </a:spcAft>
            </a:pPr>
            <a:r>
              <a:rPr sz="950" b="1" i="0">
                <a:solidFill>
                  <a:srgbClr val="F472B6"/>
                </a:solidFill>
                <a:latin typeface="Consolas"/>
              </a:rPr>
              <a:t>EXAMPLE</a:t>
            </a:r>
          </a:p>
        </p:txBody>
      </p:sp>
      <p:sp>
        <p:nvSpPr>
          <p:cNvPr id="29" name="TextBox 28"/>
          <p:cNvSpPr txBox="1"/>
          <p:nvPr/>
        </p:nvSpPr>
        <p:spPr>
          <a:xfrm>
            <a:off x="5029200" y="5102352"/>
            <a:ext cx="3429000" cy="1051560"/>
          </a:xfrm>
          <a:prstGeom prst="rect">
            <a:avLst/>
          </a:prstGeom>
          <a:noFill/>
        </p:spPr>
        <p:txBody>
          <a:bodyPr wrap="square" anchor="t" lIns="0" rIns="0" tIns="0" bIns="0"/>
          <a:lstStyle/>
          <a:p>
            <a:pPr algn="l">
              <a:spcAft>
                <a:spcPts val="300"/>
              </a:spcAft>
            </a:pPr>
            <a:r>
              <a:rPr sz="1200" b="1" i="1">
                <a:solidFill>
                  <a:srgbClr val="EEF2FF"/>
                </a:solidFill>
                <a:latin typeface="Calibri"/>
              </a:rPr>
              <a:t>“What is the weather in Wardha?”</a:t>
            </a:r>
          </a:p>
          <a:p>
            <a:pPr algn="l">
              <a:spcAft>
                <a:spcPts val="300"/>
              </a:spcAft>
            </a:pPr>
            <a:r>
              <a:rPr sz="1200" b="0" i="0">
                <a:solidFill>
                  <a:srgbClr val="A3ADC8"/>
                </a:solidFill>
                <a:latin typeface="Calibri"/>
              </a:rPr>
              <a:t>Thought: needs live data → Action: weather_api("Wardha") → Observation: 31 °C, clear →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05 · algorithms studied (2/2)</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Planning, Coordination &amp; Memory</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Task decomposition into a task graph, multi-agent coordination and context management [5], [9]</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11</a:t>
            </a:fld>
            <a:r>
              <a:rPr sz="900">
                <a:solidFill>
                  <a:srgbClr val="6B7699"/>
                </a:solidFill>
                <a:latin typeface="Consolas"/>
              </a:rPr>
              <a:t> / 18</a:t>
            </a:r>
          </a:p>
        </p:txBody>
      </p:sp>
      <p:sp>
        <p:nvSpPr>
          <p:cNvPr id="10" name="TextBox 9"/>
          <p:cNvSpPr txBox="1"/>
          <p:nvPr/>
        </p:nvSpPr>
        <p:spPr>
          <a:xfrm>
            <a:off x="548640" y="1536192"/>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TASK DECOMPOSITION  —  example goal: a research report</a:t>
            </a:r>
          </a:p>
        </p:txBody>
      </p:sp>
      <p:sp>
        <p:nvSpPr>
          <p:cNvPr id="11" name="Rounded Rectangle 10"/>
          <p:cNvSpPr/>
          <p:nvPr/>
        </p:nvSpPr>
        <p:spPr>
          <a:xfrm>
            <a:off x="548640" y="2057400"/>
            <a:ext cx="1143000" cy="777240"/>
          </a:xfrm>
          <a:prstGeom prst="roundRect">
            <a:avLst>
              <a:gd name="adj" fmla="val 16470"/>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spcAft>
                <a:spcPts val="0"/>
              </a:spcAft>
            </a:pPr>
            <a:r>
              <a:rPr sz="1150" b="1" i="0">
                <a:solidFill>
                  <a:srgbClr val="FFFFFF"/>
                </a:solidFill>
                <a:latin typeface="Calibri"/>
              </a:rPr>
              <a:t>Goal</a:t>
            </a:r>
          </a:p>
          <a:p>
            <a:pPr algn="ctr">
              <a:spcAft>
                <a:spcPts val="0"/>
              </a:spcAft>
            </a:pPr>
            <a:r>
              <a:rPr sz="1150" b="0" i="0">
                <a:solidFill>
                  <a:srgbClr val="FFFFFF"/>
                </a:solidFill>
                <a:latin typeface="Calibri"/>
              </a:rPr>
              <a:t>research report</a:t>
            </a:r>
          </a:p>
        </p:txBody>
      </p:sp>
      <p:sp>
        <p:nvSpPr>
          <p:cNvPr id="12" name="Rounded Rectangle 11"/>
          <p:cNvSpPr/>
          <p:nvPr/>
        </p:nvSpPr>
        <p:spPr>
          <a:xfrm>
            <a:off x="1965960" y="1828800"/>
            <a:ext cx="1463040" cy="566928"/>
          </a:xfrm>
          <a:prstGeom prst="roundRect">
            <a:avLst>
              <a:gd name="adj" fmla="val 22580"/>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13" name="TextBox 12"/>
          <p:cNvSpPr txBox="1"/>
          <p:nvPr/>
        </p:nvSpPr>
        <p:spPr>
          <a:xfrm>
            <a:off x="1965960" y="1856231"/>
            <a:ext cx="1463040" cy="530352"/>
          </a:xfrm>
          <a:prstGeom prst="rect">
            <a:avLst/>
          </a:prstGeom>
          <a:noFill/>
        </p:spPr>
        <p:txBody>
          <a:bodyPr wrap="square" anchor="ctr" lIns="0" rIns="0" tIns="0" bIns="0"/>
          <a:lstStyle/>
          <a:p>
            <a:pPr algn="ctr">
              <a:spcAft>
                <a:spcPts val="0"/>
              </a:spcAft>
            </a:pPr>
            <a:r>
              <a:rPr sz="1150" b="1" i="0">
                <a:solidFill>
                  <a:srgbClr val="EEF2FF"/>
                </a:solidFill>
                <a:latin typeface="Calibri"/>
              </a:rPr>
              <a:t>t1  Search news</a:t>
            </a:r>
          </a:p>
          <a:p>
            <a:pPr algn="ctr">
              <a:spcAft>
                <a:spcPts val="0"/>
              </a:spcAft>
            </a:pPr>
            <a:r>
              <a:rPr sz="950" b="0" i="0">
                <a:solidFill>
                  <a:srgbClr val="22D3EE"/>
                </a:solidFill>
                <a:latin typeface="Consolas"/>
              </a:rPr>
              <a:t>research agent</a:t>
            </a:r>
          </a:p>
        </p:txBody>
      </p:sp>
      <p:sp>
        <p:nvSpPr>
          <p:cNvPr id="14" name="Rounded Rectangle 13"/>
          <p:cNvSpPr/>
          <p:nvPr/>
        </p:nvSpPr>
        <p:spPr>
          <a:xfrm>
            <a:off x="1965960" y="2542032"/>
            <a:ext cx="1463040" cy="566928"/>
          </a:xfrm>
          <a:prstGeom prst="roundRect">
            <a:avLst>
              <a:gd name="adj" fmla="val 22580"/>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15" name="TextBox 14"/>
          <p:cNvSpPr txBox="1"/>
          <p:nvPr/>
        </p:nvSpPr>
        <p:spPr>
          <a:xfrm>
            <a:off x="1965960" y="2569463"/>
            <a:ext cx="1463040" cy="530352"/>
          </a:xfrm>
          <a:prstGeom prst="rect">
            <a:avLst/>
          </a:prstGeom>
          <a:noFill/>
        </p:spPr>
        <p:txBody>
          <a:bodyPr wrap="square" anchor="ctr" lIns="0" rIns="0" tIns="0" bIns="0"/>
          <a:lstStyle/>
          <a:p>
            <a:pPr algn="ctr">
              <a:spcAft>
                <a:spcPts val="0"/>
              </a:spcAft>
            </a:pPr>
            <a:r>
              <a:rPr sz="1150" b="1" i="0">
                <a:solidFill>
                  <a:srgbClr val="EEF2FF"/>
                </a:solidFill>
                <a:latin typeface="Calibri"/>
              </a:rPr>
              <a:t>t2  Search papers</a:t>
            </a:r>
          </a:p>
          <a:p>
            <a:pPr algn="ctr">
              <a:spcAft>
                <a:spcPts val="0"/>
              </a:spcAft>
            </a:pPr>
            <a:r>
              <a:rPr sz="950" b="0" i="0">
                <a:solidFill>
                  <a:srgbClr val="22D3EE"/>
                </a:solidFill>
                <a:latin typeface="Consolas"/>
              </a:rPr>
              <a:t>research agent</a:t>
            </a:r>
          </a:p>
        </p:txBody>
      </p:sp>
      <p:sp>
        <p:nvSpPr>
          <p:cNvPr id="16" name="Rounded Rectangle 15"/>
          <p:cNvSpPr/>
          <p:nvPr/>
        </p:nvSpPr>
        <p:spPr>
          <a:xfrm>
            <a:off x="3703320" y="2185416"/>
            <a:ext cx="1463040" cy="566928"/>
          </a:xfrm>
          <a:prstGeom prst="roundRect">
            <a:avLst>
              <a:gd name="adj" fmla="val 22580"/>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17" name="TextBox 16"/>
          <p:cNvSpPr txBox="1"/>
          <p:nvPr/>
        </p:nvSpPr>
        <p:spPr>
          <a:xfrm>
            <a:off x="3703320" y="2212848"/>
            <a:ext cx="1463040" cy="530352"/>
          </a:xfrm>
          <a:prstGeom prst="rect">
            <a:avLst/>
          </a:prstGeom>
          <a:noFill/>
        </p:spPr>
        <p:txBody>
          <a:bodyPr wrap="square" anchor="ctr" lIns="0" rIns="0" tIns="0" bIns="0"/>
          <a:lstStyle/>
          <a:p>
            <a:pPr algn="ctr">
              <a:spcAft>
                <a:spcPts val="0"/>
              </a:spcAft>
            </a:pPr>
            <a:r>
              <a:rPr sz="1150" b="1" i="0">
                <a:solidFill>
                  <a:srgbClr val="EEF2FF"/>
                </a:solidFill>
                <a:latin typeface="Calibri"/>
              </a:rPr>
              <a:t>t3  Analyse data</a:t>
            </a:r>
          </a:p>
          <a:p>
            <a:pPr algn="ctr">
              <a:spcAft>
                <a:spcPts val="0"/>
              </a:spcAft>
            </a:pPr>
            <a:r>
              <a:rPr sz="950" b="0" i="0">
                <a:solidFill>
                  <a:srgbClr val="22D3EE"/>
                </a:solidFill>
                <a:latin typeface="Consolas"/>
              </a:rPr>
              <a:t>coding agent</a:t>
            </a:r>
          </a:p>
        </p:txBody>
      </p:sp>
      <p:sp>
        <p:nvSpPr>
          <p:cNvPr id="18" name="Rounded Rectangle 17"/>
          <p:cNvSpPr/>
          <p:nvPr/>
        </p:nvSpPr>
        <p:spPr>
          <a:xfrm>
            <a:off x="5349240" y="2185416"/>
            <a:ext cx="1463040" cy="566928"/>
          </a:xfrm>
          <a:prstGeom prst="roundRect">
            <a:avLst>
              <a:gd name="adj" fmla="val 22580"/>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19" name="TextBox 18"/>
          <p:cNvSpPr txBox="1"/>
          <p:nvPr/>
        </p:nvSpPr>
        <p:spPr>
          <a:xfrm>
            <a:off x="5349240" y="2212848"/>
            <a:ext cx="1463040" cy="530352"/>
          </a:xfrm>
          <a:prstGeom prst="rect">
            <a:avLst/>
          </a:prstGeom>
          <a:noFill/>
        </p:spPr>
        <p:txBody>
          <a:bodyPr wrap="square" anchor="ctr" lIns="0" rIns="0" tIns="0" bIns="0"/>
          <a:lstStyle/>
          <a:p>
            <a:pPr algn="ctr">
              <a:spcAft>
                <a:spcPts val="0"/>
              </a:spcAft>
            </a:pPr>
            <a:r>
              <a:rPr sz="1150" b="1" i="0">
                <a:solidFill>
                  <a:srgbClr val="EEF2FF"/>
                </a:solidFill>
                <a:latin typeface="Calibri"/>
              </a:rPr>
              <a:t>t4  Draft report</a:t>
            </a:r>
          </a:p>
          <a:p>
            <a:pPr algn="ctr">
              <a:spcAft>
                <a:spcPts val="0"/>
              </a:spcAft>
            </a:pPr>
            <a:r>
              <a:rPr sz="950" b="0" i="0">
                <a:solidFill>
                  <a:srgbClr val="22D3EE"/>
                </a:solidFill>
                <a:latin typeface="Consolas"/>
              </a:rPr>
              <a:t>writer agent</a:t>
            </a:r>
          </a:p>
        </p:txBody>
      </p:sp>
      <p:sp>
        <p:nvSpPr>
          <p:cNvPr id="20" name="Rounded Rectangle 19"/>
          <p:cNvSpPr/>
          <p:nvPr/>
        </p:nvSpPr>
        <p:spPr>
          <a:xfrm>
            <a:off x="6995160" y="2185416"/>
            <a:ext cx="1600200" cy="566928"/>
          </a:xfrm>
          <a:prstGeom prst="roundRect">
            <a:avLst>
              <a:gd name="adj" fmla="val 22580"/>
            </a:avLst>
          </a:prstGeom>
          <a:solidFill>
            <a:srgbClr val="151C38">
              <a:alpha val="90000"/>
            </a:srgbClr>
          </a:solidFill>
          <a:ln w="9525">
            <a:solidFill>
              <a:srgbClr val="A78BFA"/>
            </a:solidFill>
          </a:ln>
        </p:spPr>
        <p:txBody>
          <a:bodyPr rtlCol="0" anchor="ctr" wrap="square" lIns="54864" rIns="54864" tIns="54864" bIns="54864"/>
          <a:lstStyle/>
          <a:p>
            <a:pPr algn="ctr"/>
          </a:p>
        </p:txBody>
      </p:sp>
      <p:sp>
        <p:nvSpPr>
          <p:cNvPr id="21" name="TextBox 20"/>
          <p:cNvSpPr txBox="1"/>
          <p:nvPr/>
        </p:nvSpPr>
        <p:spPr>
          <a:xfrm>
            <a:off x="6995160" y="2212848"/>
            <a:ext cx="1600200" cy="530352"/>
          </a:xfrm>
          <a:prstGeom prst="rect">
            <a:avLst/>
          </a:prstGeom>
          <a:noFill/>
        </p:spPr>
        <p:txBody>
          <a:bodyPr wrap="square" anchor="ctr" lIns="0" rIns="0" tIns="0" bIns="0"/>
          <a:lstStyle/>
          <a:p>
            <a:pPr algn="ctr">
              <a:spcAft>
                <a:spcPts val="0"/>
              </a:spcAft>
            </a:pPr>
            <a:r>
              <a:rPr sz="1150" b="1" i="0">
                <a:solidFill>
                  <a:srgbClr val="EEF2FF"/>
                </a:solidFill>
                <a:latin typeface="Calibri"/>
              </a:rPr>
              <a:t>t5  Review &amp; fix</a:t>
            </a:r>
          </a:p>
          <a:p>
            <a:pPr algn="ctr">
              <a:spcAft>
                <a:spcPts val="0"/>
              </a:spcAft>
            </a:pPr>
            <a:r>
              <a:rPr sz="950" b="0" i="0">
                <a:solidFill>
                  <a:srgbClr val="22D3EE"/>
                </a:solidFill>
                <a:latin typeface="Consolas"/>
              </a:rPr>
              <a:t>critique agent</a:t>
            </a:r>
          </a:p>
        </p:txBody>
      </p:sp>
      <p:cxnSp>
        <p:nvCxnSpPr>
          <p:cNvPr id="22" name="Connector 21"/>
          <p:cNvCxnSpPr/>
          <p:nvPr/>
        </p:nvCxnSpPr>
        <p:spPr>
          <a:xfrm flipV="1">
            <a:off x="1691640" y="2112264"/>
            <a:ext cx="274320" cy="219456"/>
          </a:xfrm>
          <a:prstGeom prst="line">
            <a:avLst/>
          </a:prstGeom>
          <a:ln w="19050">
            <a:solidFill>
              <a:srgbClr val="A3ADC8"/>
            </a:solidFill>
            <a:tailEnd type="triangle" w="med" len="med"/>
          </a:ln>
        </p:spPr>
      </p:cxnSp>
      <p:cxnSp>
        <p:nvCxnSpPr>
          <p:cNvPr id="23" name="Connector 22"/>
          <p:cNvCxnSpPr/>
          <p:nvPr/>
        </p:nvCxnSpPr>
        <p:spPr>
          <a:xfrm>
            <a:off x="1691640" y="2560320"/>
            <a:ext cx="274320" cy="265176"/>
          </a:xfrm>
          <a:prstGeom prst="line">
            <a:avLst/>
          </a:prstGeom>
          <a:ln w="19050">
            <a:solidFill>
              <a:srgbClr val="A3ADC8"/>
            </a:solidFill>
            <a:tailEnd type="triangle" w="med" len="med"/>
          </a:ln>
        </p:spPr>
      </p:cxnSp>
      <p:cxnSp>
        <p:nvCxnSpPr>
          <p:cNvPr id="24" name="Connector 23"/>
          <p:cNvCxnSpPr/>
          <p:nvPr/>
        </p:nvCxnSpPr>
        <p:spPr>
          <a:xfrm>
            <a:off x="3429000" y="2112264"/>
            <a:ext cx="274320" cy="265176"/>
          </a:xfrm>
          <a:prstGeom prst="line">
            <a:avLst/>
          </a:prstGeom>
          <a:ln w="19050">
            <a:solidFill>
              <a:srgbClr val="A3ADC8"/>
            </a:solidFill>
            <a:tailEnd type="triangle" w="med" len="med"/>
          </a:ln>
        </p:spPr>
      </p:cxnSp>
      <p:cxnSp>
        <p:nvCxnSpPr>
          <p:cNvPr id="25" name="Connector 24"/>
          <p:cNvCxnSpPr/>
          <p:nvPr/>
        </p:nvCxnSpPr>
        <p:spPr>
          <a:xfrm flipV="1">
            <a:off x="3429000" y="2560320"/>
            <a:ext cx="274320" cy="265176"/>
          </a:xfrm>
          <a:prstGeom prst="line">
            <a:avLst/>
          </a:prstGeom>
          <a:ln w="19050">
            <a:solidFill>
              <a:srgbClr val="A3ADC8"/>
            </a:solidFill>
            <a:tailEnd type="triangle" w="med" len="med"/>
          </a:ln>
        </p:spPr>
      </p:cxnSp>
      <p:cxnSp>
        <p:nvCxnSpPr>
          <p:cNvPr id="26" name="Connector 25"/>
          <p:cNvCxnSpPr/>
          <p:nvPr/>
        </p:nvCxnSpPr>
        <p:spPr>
          <a:xfrm>
            <a:off x="5166360" y="2468880"/>
            <a:ext cx="182880" cy="0"/>
          </a:xfrm>
          <a:prstGeom prst="line">
            <a:avLst/>
          </a:prstGeom>
          <a:ln w="19050">
            <a:solidFill>
              <a:srgbClr val="A3ADC8"/>
            </a:solidFill>
            <a:tailEnd type="triangle" w="med" len="med"/>
          </a:ln>
        </p:spPr>
      </p:cxnSp>
      <p:cxnSp>
        <p:nvCxnSpPr>
          <p:cNvPr id="27" name="Connector 26"/>
          <p:cNvCxnSpPr/>
          <p:nvPr/>
        </p:nvCxnSpPr>
        <p:spPr>
          <a:xfrm>
            <a:off x="6812280" y="2468880"/>
            <a:ext cx="182880" cy="0"/>
          </a:xfrm>
          <a:prstGeom prst="line">
            <a:avLst/>
          </a:prstGeom>
          <a:ln w="19050">
            <a:solidFill>
              <a:srgbClr val="A3ADC8"/>
            </a:solidFill>
            <a:tailEnd type="triangle" w="med" len="med"/>
          </a:ln>
        </p:spPr>
      </p:cxnSp>
      <p:sp>
        <p:nvSpPr>
          <p:cNvPr id="28" name="TextBox 27"/>
          <p:cNvSpPr txBox="1"/>
          <p:nvPr/>
        </p:nvSpPr>
        <p:spPr>
          <a:xfrm>
            <a:off x="548640" y="3364992"/>
            <a:ext cx="45720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COORDINATION PATTERNS</a:t>
            </a:r>
          </a:p>
        </p:txBody>
      </p:sp>
      <p:sp>
        <p:nvSpPr>
          <p:cNvPr id="29" name="Rounded Rectangle 28"/>
          <p:cNvSpPr/>
          <p:nvPr/>
        </p:nvSpPr>
        <p:spPr>
          <a:xfrm>
            <a:off x="548640" y="3657600"/>
            <a:ext cx="1536192" cy="2514600"/>
          </a:xfrm>
          <a:prstGeom prst="roundRect">
            <a:avLst>
              <a:gd name="adj" fmla="val 8333"/>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0" name="TextBox 29"/>
          <p:cNvSpPr txBox="1"/>
          <p:nvPr/>
        </p:nvSpPr>
        <p:spPr>
          <a:xfrm>
            <a:off x="548640" y="3730752"/>
            <a:ext cx="1536192" cy="292608"/>
          </a:xfrm>
          <a:prstGeom prst="rect">
            <a:avLst/>
          </a:prstGeom>
          <a:noFill/>
        </p:spPr>
        <p:txBody>
          <a:bodyPr wrap="square" anchor="t" lIns="0" rIns="0" tIns="0" bIns="0"/>
          <a:lstStyle/>
          <a:p>
            <a:pPr algn="ctr">
              <a:spcAft>
                <a:spcPts val="400"/>
              </a:spcAft>
            </a:pPr>
            <a:r>
              <a:rPr sz="1250" b="1" i="0">
                <a:solidFill>
                  <a:srgbClr val="EEF2FF"/>
                </a:solidFill>
                <a:latin typeface="Calibri"/>
              </a:rPr>
              <a:t>Centralized</a:t>
            </a:r>
          </a:p>
        </p:txBody>
      </p:sp>
      <p:cxnSp>
        <p:nvCxnSpPr>
          <p:cNvPr id="31" name="Connector 30"/>
          <p:cNvCxnSpPr/>
          <p:nvPr/>
        </p:nvCxnSpPr>
        <p:spPr>
          <a:xfrm flipH="1">
            <a:off x="859536" y="4416552"/>
            <a:ext cx="457200" cy="429768"/>
          </a:xfrm>
          <a:prstGeom prst="line">
            <a:avLst/>
          </a:prstGeom>
          <a:ln w="19050">
            <a:solidFill>
              <a:srgbClr val="2C3870"/>
            </a:solidFill>
          </a:ln>
        </p:spPr>
      </p:cxnSp>
      <p:cxnSp>
        <p:nvCxnSpPr>
          <p:cNvPr id="32" name="Connector 31"/>
          <p:cNvCxnSpPr/>
          <p:nvPr/>
        </p:nvCxnSpPr>
        <p:spPr>
          <a:xfrm>
            <a:off x="1316736" y="4416552"/>
            <a:ext cx="0" cy="521208"/>
          </a:xfrm>
          <a:prstGeom prst="line">
            <a:avLst/>
          </a:prstGeom>
          <a:ln w="19050">
            <a:solidFill>
              <a:srgbClr val="2C3870"/>
            </a:solidFill>
          </a:ln>
        </p:spPr>
      </p:cxnSp>
      <p:cxnSp>
        <p:nvCxnSpPr>
          <p:cNvPr id="33" name="Connector 32"/>
          <p:cNvCxnSpPr/>
          <p:nvPr/>
        </p:nvCxnSpPr>
        <p:spPr>
          <a:xfrm>
            <a:off x="1316736" y="4416552"/>
            <a:ext cx="457200" cy="429768"/>
          </a:xfrm>
          <a:prstGeom prst="line">
            <a:avLst/>
          </a:prstGeom>
          <a:ln w="19050">
            <a:solidFill>
              <a:srgbClr val="2C3870"/>
            </a:solidFill>
          </a:ln>
        </p:spPr>
      </p:cxnSp>
      <p:sp>
        <p:nvSpPr>
          <p:cNvPr id="34" name="Oval 33"/>
          <p:cNvSpPr/>
          <p:nvPr/>
        </p:nvSpPr>
        <p:spPr>
          <a:xfrm>
            <a:off x="1179576" y="4251960"/>
            <a:ext cx="274320" cy="27432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sp>
        <p:nvSpPr>
          <p:cNvPr id="35" name="Oval 34"/>
          <p:cNvSpPr/>
          <p:nvPr/>
        </p:nvSpPr>
        <p:spPr>
          <a:xfrm>
            <a:off x="768096" y="475488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36" name="Oval 35"/>
          <p:cNvSpPr/>
          <p:nvPr/>
        </p:nvSpPr>
        <p:spPr>
          <a:xfrm>
            <a:off x="1225295" y="484632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37" name="Oval 36"/>
          <p:cNvSpPr/>
          <p:nvPr/>
        </p:nvSpPr>
        <p:spPr>
          <a:xfrm>
            <a:off x="1682495" y="475488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38" name="TextBox 37"/>
          <p:cNvSpPr txBox="1"/>
          <p:nvPr/>
        </p:nvSpPr>
        <p:spPr>
          <a:xfrm>
            <a:off x="621792" y="5166360"/>
            <a:ext cx="1389888" cy="914400"/>
          </a:xfrm>
          <a:prstGeom prst="rect">
            <a:avLst/>
          </a:prstGeom>
          <a:noFill/>
        </p:spPr>
        <p:txBody>
          <a:bodyPr wrap="square" anchor="t" lIns="0" rIns="0" tIns="0" bIns="0"/>
          <a:lstStyle/>
          <a:p>
            <a:pPr algn="ctr">
              <a:spcAft>
                <a:spcPts val="300"/>
              </a:spcAft>
            </a:pPr>
            <a:r>
              <a:rPr sz="1100" b="1" i="0">
                <a:solidFill>
                  <a:srgbClr val="34D399"/>
                </a:solidFill>
                <a:latin typeface="Calibri"/>
              </a:rPr>
              <a:t>+ simple control</a:t>
            </a:r>
          </a:p>
          <a:p>
            <a:pPr algn="ctr">
              <a:spcAft>
                <a:spcPts val="300"/>
              </a:spcAft>
            </a:pPr>
            <a:r>
              <a:rPr sz="1100" b="1" i="0">
                <a:solidFill>
                  <a:srgbClr val="F87171"/>
                </a:solidFill>
                <a:latin typeface="Calibri"/>
              </a:rPr>
              <a:t>− bottleneck</a:t>
            </a:r>
          </a:p>
        </p:txBody>
      </p:sp>
      <p:sp>
        <p:nvSpPr>
          <p:cNvPr id="39" name="Rounded Rectangle 38"/>
          <p:cNvSpPr/>
          <p:nvPr/>
        </p:nvSpPr>
        <p:spPr>
          <a:xfrm>
            <a:off x="2176272" y="3657600"/>
            <a:ext cx="1536192" cy="2514600"/>
          </a:xfrm>
          <a:prstGeom prst="roundRect">
            <a:avLst>
              <a:gd name="adj" fmla="val 8333"/>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40" name="TextBox 39"/>
          <p:cNvSpPr txBox="1"/>
          <p:nvPr/>
        </p:nvSpPr>
        <p:spPr>
          <a:xfrm>
            <a:off x="2176272" y="3730752"/>
            <a:ext cx="1536192" cy="292608"/>
          </a:xfrm>
          <a:prstGeom prst="rect">
            <a:avLst/>
          </a:prstGeom>
          <a:noFill/>
        </p:spPr>
        <p:txBody>
          <a:bodyPr wrap="square" anchor="t" lIns="0" rIns="0" tIns="0" bIns="0"/>
          <a:lstStyle/>
          <a:p>
            <a:pPr algn="ctr">
              <a:spcAft>
                <a:spcPts val="400"/>
              </a:spcAft>
            </a:pPr>
            <a:r>
              <a:rPr sz="1250" b="1" i="0">
                <a:solidFill>
                  <a:srgbClr val="EEF2FF"/>
                </a:solidFill>
                <a:latin typeface="Calibri"/>
              </a:rPr>
              <a:t>Hierarchical</a:t>
            </a:r>
          </a:p>
        </p:txBody>
      </p:sp>
      <p:cxnSp>
        <p:nvCxnSpPr>
          <p:cNvPr id="41" name="Connector 40"/>
          <p:cNvCxnSpPr/>
          <p:nvPr/>
        </p:nvCxnSpPr>
        <p:spPr>
          <a:xfrm flipH="1">
            <a:off x="2624327" y="4270248"/>
            <a:ext cx="320041" cy="301752"/>
          </a:xfrm>
          <a:prstGeom prst="line">
            <a:avLst/>
          </a:prstGeom>
          <a:ln w="19050">
            <a:solidFill>
              <a:srgbClr val="2C3870"/>
            </a:solidFill>
          </a:ln>
        </p:spPr>
      </p:cxnSp>
      <p:cxnSp>
        <p:nvCxnSpPr>
          <p:cNvPr id="42" name="Connector 41"/>
          <p:cNvCxnSpPr/>
          <p:nvPr/>
        </p:nvCxnSpPr>
        <p:spPr>
          <a:xfrm>
            <a:off x="2944368" y="4270248"/>
            <a:ext cx="320040" cy="301752"/>
          </a:xfrm>
          <a:prstGeom prst="line">
            <a:avLst/>
          </a:prstGeom>
          <a:ln w="19050">
            <a:solidFill>
              <a:srgbClr val="2C3870"/>
            </a:solidFill>
          </a:ln>
        </p:spPr>
      </p:cxnSp>
      <p:cxnSp>
        <p:nvCxnSpPr>
          <p:cNvPr id="43" name="Connector 42"/>
          <p:cNvCxnSpPr/>
          <p:nvPr/>
        </p:nvCxnSpPr>
        <p:spPr>
          <a:xfrm flipH="1">
            <a:off x="2441448" y="4572000"/>
            <a:ext cx="182879" cy="365760"/>
          </a:xfrm>
          <a:prstGeom prst="line">
            <a:avLst/>
          </a:prstGeom>
          <a:ln w="19050">
            <a:solidFill>
              <a:srgbClr val="2C3870"/>
            </a:solidFill>
          </a:ln>
        </p:spPr>
      </p:cxnSp>
      <p:cxnSp>
        <p:nvCxnSpPr>
          <p:cNvPr id="44" name="Connector 43"/>
          <p:cNvCxnSpPr/>
          <p:nvPr/>
        </p:nvCxnSpPr>
        <p:spPr>
          <a:xfrm>
            <a:off x="2624327" y="4572000"/>
            <a:ext cx="155448" cy="365760"/>
          </a:xfrm>
          <a:prstGeom prst="line">
            <a:avLst/>
          </a:prstGeom>
          <a:ln w="19050">
            <a:solidFill>
              <a:srgbClr val="2C3870"/>
            </a:solidFill>
          </a:ln>
        </p:spPr>
      </p:cxnSp>
      <p:cxnSp>
        <p:nvCxnSpPr>
          <p:cNvPr id="45" name="Connector 44"/>
          <p:cNvCxnSpPr/>
          <p:nvPr/>
        </p:nvCxnSpPr>
        <p:spPr>
          <a:xfrm flipH="1">
            <a:off x="3108960" y="4572000"/>
            <a:ext cx="155448" cy="365760"/>
          </a:xfrm>
          <a:prstGeom prst="line">
            <a:avLst/>
          </a:prstGeom>
          <a:ln w="19050">
            <a:solidFill>
              <a:srgbClr val="2C3870"/>
            </a:solidFill>
          </a:ln>
        </p:spPr>
      </p:cxnSp>
      <p:cxnSp>
        <p:nvCxnSpPr>
          <p:cNvPr id="46" name="Connector 45"/>
          <p:cNvCxnSpPr/>
          <p:nvPr/>
        </p:nvCxnSpPr>
        <p:spPr>
          <a:xfrm>
            <a:off x="3264408" y="4572000"/>
            <a:ext cx="182879" cy="365760"/>
          </a:xfrm>
          <a:prstGeom prst="line">
            <a:avLst/>
          </a:prstGeom>
          <a:ln w="19050">
            <a:solidFill>
              <a:srgbClr val="2C3870"/>
            </a:solidFill>
          </a:ln>
        </p:spPr>
      </p:cxnSp>
      <p:sp>
        <p:nvSpPr>
          <p:cNvPr id="47" name="Oval 46"/>
          <p:cNvSpPr/>
          <p:nvPr/>
        </p:nvSpPr>
        <p:spPr>
          <a:xfrm>
            <a:off x="2825496" y="4160520"/>
            <a:ext cx="237744" cy="237744"/>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sp>
        <p:nvSpPr>
          <p:cNvPr id="48" name="Oval 47"/>
          <p:cNvSpPr/>
          <p:nvPr/>
        </p:nvSpPr>
        <p:spPr>
          <a:xfrm>
            <a:off x="2532887" y="4480560"/>
            <a:ext cx="182880" cy="182880"/>
          </a:xfrm>
          <a:prstGeom prst="ellipse">
            <a:avLst/>
          </a:prstGeom>
          <a:solidFill>
            <a:srgbClr val="A78BFA"/>
          </a:solidFill>
          <a:ln>
            <a:noFill/>
          </a:ln>
        </p:spPr>
        <p:txBody>
          <a:bodyPr rtlCol="0" anchor="ctr" wrap="square" lIns="54864" rIns="54864" tIns="54864" bIns="54864"/>
          <a:lstStyle/>
          <a:p>
            <a:pPr algn="ctr"/>
          </a:p>
        </p:txBody>
      </p:sp>
      <p:sp>
        <p:nvSpPr>
          <p:cNvPr id="49" name="Oval 48"/>
          <p:cNvSpPr/>
          <p:nvPr/>
        </p:nvSpPr>
        <p:spPr>
          <a:xfrm>
            <a:off x="3172968" y="4480560"/>
            <a:ext cx="182880" cy="182880"/>
          </a:xfrm>
          <a:prstGeom prst="ellipse">
            <a:avLst/>
          </a:prstGeom>
          <a:solidFill>
            <a:srgbClr val="A78BFA"/>
          </a:solidFill>
          <a:ln>
            <a:noFill/>
          </a:ln>
        </p:spPr>
        <p:txBody>
          <a:bodyPr rtlCol="0" anchor="ctr" wrap="square" lIns="54864" rIns="54864" tIns="54864" bIns="54864"/>
          <a:lstStyle/>
          <a:p>
            <a:pPr algn="ctr"/>
          </a:p>
        </p:txBody>
      </p:sp>
      <p:sp>
        <p:nvSpPr>
          <p:cNvPr id="50" name="Oval 49"/>
          <p:cNvSpPr/>
          <p:nvPr/>
        </p:nvSpPr>
        <p:spPr>
          <a:xfrm>
            <a:off x="2377440" y="4873752"/>
            <a:ext cx="128016" cy="128016"/>
          </a:xfrm>
          <a:prstGeom prst="ellipse">
            <a:avLst/>
          </a:prstGeom>
          <a:solidFill>
            <a:srgbClr val="22D3EE"/>
          </a:solidFill>
          <a:ln>
            <a:noFill/>
          </a:ln>
        </p:spPr>
        <p:txBody>
          <a:bodyPr rtlCol="0" anchor="ctr" wrap="square" lIns="54864" rIns="54864" tIns="54864" bIns="54864"/>
          <a:lstStyle/>
          <a:p>
            <a:pPr algn="ctr"/>
          </a:p>
        </p:txBody>
      </p:sp>
      <p:sp>
        <p:nvSpPr>
          <p:cNvPr id="51" name="Oval 50"/>
          <p:cNvSpPr/>
          <p:nvPr/>
        </p:nvSpPr>
        <p:spPr>
          <a:xfrm>
            <a:off x="2715768" y="4873752"/>
            <a:ext cx="128016" cy="128016"/>
          </a:xfrm>
          <a:prstGeom prst="ellipse">
            <a:avLst/>
          </a:prstGeom>
          <a:solidFill>
            <a:srgbClr val="22D3EE"/>
          </a:solidFill>
          <a:ln>
            <a:noFill/>
          </a:ln>
        </p:spPr>
        <p:txBody>
          <a:bodyPr rtlCol="0" anchor="ctr" wrap="square" lIns="54864" rIns="54864" tIns="54864" bIns="54864"/>
          <a:lstStyle/>
          <a:p>
            <a:pPr algn="ctr"/>
          </a:p>
        </p:txBody>
      </p:sp>
      <p:sp>
        <p:nvSpPr>
          <p:cNvPr id="52" name="Oval 51"/>
          <p:cNvSpPr/>
          <p:nvPr/>
        </p:nvSpPr>
        <p:spPr>
          <a:xfrm>
            <a:off x="3044952" y="4873752"/>
            <a:ext cx="128016" cy="128016"/>
          </a:xfrm>
          <a:prstGeom prst="ellipse">
            <a:avLst/>
          </a:prstGeom>
          <a:solidFill>
            <a:srgbClr val="22D3EE"/>
          </a:solidFill>
          <a:ln>
            <a:noFill/>
          </a:ln>
        </p:spPr>
        <p:txBody>
          <a:bodyPr rtlCol="0" anchor="ctr" wrap="square" lIns="54864" rIns="54864" tIns="54864" bIns="54864"/>
          <a:lstStyle/>
          <a:p>
            <a:pPr algn="ctr"/>
          </a:p>
        </p:txBody>
      </p:sp>
      <p:sp>
        <p:nvSpPr>
          <p:cNvPr id="53" name="Oval 52"/>
          <p:cNvSpPr/>
          <p:nvPr/>
        </p:nvSpPr>
        <p:spPr>
          <a:xfrm>
            <a:off x="3383279" y="4873752"/>
            <a:ext cx="128016" cy="128016"/>
          </a:xfrm>
          <a:prstGeom prst="ellipse">
            <a:avLst/>
          </a:prstGeom>
          <a:solidFill>
            <a:srgbClr val="22D3EE"/>
          </a:solidFill>
          <a:ln>
            <a:noFill/>
          </a:ln>
        </p:spPr>
        <p:txBody>
          <a:bodyPr rtlCol="0" anchor="ctr" wrap="square" lIns="54864" rIns="54864" tIns="54864" bIns="54864"/>
          <a:lstStyle/>
          <a:p>
            <a:pPr algn="ctr"/>
          </a:p>
        </p:txBody>
      </p:sp>
      <p:sp>
        <p:nvSpPr>
          <p:cNvPr id="54" name="TextBox 53"/>
          <p:cNvSpPr txBox="1"/>
          <p:nvPr/>
        </p:nvSpPr>
        <p:spPr>
          <a:xfrm>
            <a:off x="2249424" y="5166360"/>
            <a:ext cx="1389888" cy="914400"/>
          </a:xfrm>
          <a:prstGeom prst="rect">
            <a:avLst/>
          </a:prstGeom>
          <a:noFill/>
        </p:spPr>
        <p:txBody>
          <a:bodyPr wrap="square" anchor="t" lIns="0" rIns="0" tIns="0" bIns="0"/>
          <a:lstStyle/>
          <a:p>
            <a:pPr algn="ctr">
              <a:spcAft>
                <a:spcPts val="300"/>
              </a:spcAft>
            </a:pPr>
            <a:r>
              <a:rPr sz="1100" b="1" i="0">
                <a:solidFill>
                  <a:srgbClr val="34D399"/>
                </a:solidFill>
                <a:latin typeface="Calibri"/>
              </a:rPr>
              <a:t>+ scales well</a:t>
            </a:r>
          </a:p>
          <a:p>
            <a:pPr algn="ctr">
              <a:spcAft>
                <a:spcPts val="300"/>
              </a:spcAft>
            </a:pPr>
            <a:r>
              <a:rPr sz="1100" b="1" i="0">
                <a:solidFill>
                  <a:srgbClr val="F87171"/>
                </a:solidFill>
                <a:latin typeface="Calibri"/>
              </a:rPr>
              <a:t>− more delay</a:t>
            </a:r>
          </a:p>
        </p:txBody>
      </p:sp>
      <p:sp>
        <p:nvSpPr>
          <p:cNvPr id="55" name="Rounded Rectangle 54"/>
          <p:cNvSpPr/>
          <p:nvPr/>
        </p:nvSpPr>
        <p:spPr>
          <a:xfrm>
            <a:off x="3803904" y="3657600"/>
            <a:ext cx="1536192" cy="2514600"/>
          </a:xfrm>
          <a:prstGeom prst="roundRect">
            <a:avLst>
              <a:gd name="adj" fmla="val 8333"/>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56" name="TextBox 55"/>
          <p:cNvSpPr txBox="1"/>
          <p:nvPr/>
        </p:nvSpPr>
        <p:spPr>
          <a:xfrm>
            <a:off x="3803904" y="3730752"/>
            <a:ext cx="1536192" cy="292608"/>
          </a:xfrm>
          <a:prstGeom prst="rect">
            <a:avLst/>
          </a:prstGeom>
          <a:noFill/>
        </p:spPr>
        <p:txBody>
          <a:bodyPr wrap="square" anchor="t" lIns="0" rIns="0" tIns="0" bIns="0"/>
          <a:lstStyle/>
          <a:p>
            <a:pPr algn="ctr">
              <a:spcAft>
                <a:spcPts val="400"/>
              </a:spcAft>
            </a:pPr>
            <a:r>
              <a:rPr sz="1250" b="1" i="0">
                <a:solidFill>
                  <a:srgbClr val="EEF2FF"/>
                </a:solidFill>
                <a:latin typeface="Calibri"/>
              </a:rPr>
              <a:t>Decentralized</a:t>
            </a:r>
          </a:p>
        </p:txBody>
      </p:sp>
      <p:cxnSp>
        <p:nvCxnSpPr>
          <p:cNvPr id="57" name="Connector 56"/>
          <p:cNvCxnSpPr/>
          <p:nvPr/>
        </p:nvCxnSpPr>
        <p:spPr>
          <a:xfrm>
            <a:off x="4206240" y="4297680"/>
            <a:ext cx="731520" cy="0"/>
          </a:xfrm>
          <a:prstGeom prst="line">
            <a:avLst/>
          </a:prstGeom>
          <a:ln w="19050">
            <a:solidFill>
              <a:srgbClr val="2C3870"/>
            </a:solidFill>
          </a:ln>
        </p:spPr>
      </p:cxnSp>
      <p:cxnSp>
        <p:nvCxnSpPr>
          <p:cNvPr id="58" name="Connector 57"/>
          <p:cNvCxnSpPr/>
          <p:nvPr/>
        </p:nvCxnSpPr>
        <p:spPr>
          <a:xfrm>
            <a:off x="4206240" y="4297680"/>
            <a:ext cx="731520" cy="548640"/>
          </a:xfrm>
          <a:prstGeom prst="line">
            <a:avLst/>
          </a:prstGeom>
          <a:ln w="19050">
            <a:solidFill>
              <a:srgbClr val="2C3870"/>
            </a:solidFill>
          </a:ln>
        </p:spPr>
      </p:cxnSp>
      <p:cxnSp>
        <p:nvCxnSpPr>
          <p:cNvPr id="59" name="Connector 58"/>
          <p:cNvCxnSpPr/>
          <p:nvPr/>
        </p:nvCxnSpPr>
        <p:spPr>
          <a:xfrm>
            <a:off x="4206240" y="4297680"/>
            <a:ext cx="0" cy="548640"/>
          </a:xfrm>
          <a:prstGeom prst="line">
            <a:avLst/>
          </a:prstGeom>
          <a:ln w="19050">
            <a:solidFill>
              <a:srgbClr val="2C3870"/>
            </a:solidFill>
          </a:ln>
        </p:spPr>
      </p:cxnSp>
      <p:cxnSp>
        <p:nvCxnSpPr>
          <p:cNvPr id="60" name="Connector 59"/>
          <p:cNvCxnSpPr/>
          <p:nvPr/>
        </p:nvCxnSpPr>
        <p:spPr>
          <a:xfrm>
            <a:off x="4937760" y="4297680"/>
            <a:ext cx="0" cy="548640"/>
          </a:xfrm>
          <a:prstGeom prst="line">
            <a:avLst/>
          </a:prstGeom>
          <a:ln w="19050">
            <a:solidFill>
              <a:srgbClr val="2C3870"/>
            </a:solidFill>
          </a:ln>
        </p:spPr>
      </p:cxnSp>
      <p:cxnSp>
        <p:nvCxnSpPr>
          <p:cNvPr id="61" name="Connector 60"/>
          <p:cNvCxnSpPr/>
          <p:nvPr/>
        </p:nvCxnSpPr>
        <p:spPr>
          <a:xfrm flipH="1">
            <a:off x="4206240" y="4297680"/>
            <a:ext cx="731520" cy="548640"/>
          </a:xfrm>
          <a:prstGeom prst="line">
            <a:avLst/>
          </a:prstGeom>
          <a:ln w="19050">
            <a:solidFill>
              <a:srgbClr val="2C3870"/>
            </a:solidFill>
          </a:ln>
        </p:spPr>
      </p:cxnSp>
      <p:cxnSp>
        <p:nvCxnSpPr>
          <p:cNvPr id="62" name="Connector 61"/>
          <p:cNvCxnSpPr/>
          <p:nvPr/>
        </p:nvCxnSpPr>
        <p:spPr>
          <a:xfrm flipH="1">
            <a:off x="4206240" y="4846320"/>
            <a:ext cx="731520" cy="0"/>
          </a:xfrm>
          <a:prstGeom prst="line">
            <a:avLst/>
          </a:prstGeom>
          <a:ln w="19050">
            <a:solidFill>
              <a:srgbClr val="2C3870"/>
            </a:solidFill>
          </a:ln>
        </p:spPr>
      </p:cxnSp>
      <p:sp>
        <p:nvSpPr>
          <p:cNvPr id="63" name="Oval 62"/>
          <p:cNvSpPr/>
          <p:nvPr/>
        </p:nvSpPr>
        <p:spPr>
          <a:xfrm>
            <a:off x="4114800" y="420624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64" name="Oval 63"/>
          <p:cNvSpPr/>
          <p:nvPr/>
        </p:nvSpPr>
        <p:spPr>
          <a:xfrm>
            <a:off x="4846320" y="420624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65" name="Oval 64"/>
          <p:cNvSpPr/>
          <p:nvPr/>
        </p:nvSpPr>
        <p:spPr>
          <a:xfrm>
            <a:off x="4846320" y="475488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66" name="Oval 65"/>
          <p:cNvSpPr/>
          <p:nvPr/>
        </p:nvSpPr>
        <p:spPr>
          <a:xfrm>
            <a:off x="4114800" y="4754880"/>
            <a:ext cx="182880" cy="182880"/>
          </a:xfrm>
          <a:prstGeom prst="ellipse">
            <a:avLst/>
          </a:prstGeom>
          <a:solidFill>
            <a:srgbClr val="22D3EE"/>
          </a:solidFill>
          <a:ln>
            <a:noFill/>
          </a:ln>
        </p:spPr>
        <p:txBody>
          <a:bodyPr rtlCol="0" anchor="ctr" wrap="square" lIns="54864" rIns="54864" tIns="54864" bIns="54864"/>
          <a:lstStyle/>
          <a:p>
            <a:pPr algn="ctr"/>
          </a:p>
        </p:txBody>
      </p:sp>
      <p:sp>
        <p:nvSpPr>
          <p:cNvPr id="67" name="TextBox 66"/>
          <p:cNvSpPr txBox="1"/>
          <p:nvPr/>
        </p:nvSpPr>
        <p:spPr>
          <a:xfrm>
            <a:off x="3877056" y="5166360"/>
            <a:ext cx="1389888" cy="914400"/>
          </a:xfrm>
          <a:prstGeom prst="rect">
            <a:avLst/>
          </a:prstGeom>
          <a:noFill/>
        </p:spPr>
        <p:txBody>
          <a:bodyPr wrap="square" anchor="t" lIns="0" rIns="0" tIns="0" bIns="0"/>
          <a:lstStyle/>
          <a:p>
            <a:pPr algn="ctr">
              <a:spcAft>
                <a:spcPts val="300"/>
              </a:spcAft>
            </a:pPr>
            <a:r>
              <a:rPr sz="1100" b="1" i="0">
                <a:solidFill>
                  <a:srgbClr val="34D399"/>
                </a:solidFill>
                <a:latin typeface="Calibri"/>
              </a:rPr>
              <a:t>+ no single point</a:t>
            </a:r>
          </a:p>
          <a:p>
            <a:pPr algn="ctr">
              <a:spcAft>
                <a:spcPts val="300"/>
              </a:spcAft>
            </a:pPr>
            <a:r>
              <a:rPr sz="1100" b="1" i="0">
                <a:solidFill>
                  <a:srgbClr val="F87171"/>
                </a:solidFill>
                <a:latin typeface="Calibri"/>
              </a:rPr>
              <a:t>− hard to sync</a:t>
            </a:r>
          </a:p>
        </p:txBody>
      </p:sp>
      <p:sp>
        <p:nvSpPr>
          <p:cNvPr id="68" name="TextBox 67"/>
          <p:cNvSpPr txBox="1"/>
          <p:nvPr/>
        </p:nvSpPr>
        <p:spPr>
          <a:xfrm>
            <a:off x="5532120" y="3364992"/>
            <a:ext cx="3108960" cy="256032"/>
          </a:xfrm>
          <a:prstGeom prst="rect">
            <a:avLst/>
          </a:prstGeom>
          <a:noFill/>
        </p:spPr>
        <p:txBody>
          <a:bodyPr wrap="square" anchor="t" lIns="0" rIns="0" tIns="0" bIns="0"/>
          <a:lstStyle/>
          <a:p>
            <a:pPr algn="l">
              <a:spcAft>
                <a:spcPts val="400"/>
              </a:spcAft>
            </a:pPr>
            <a:r>
              <a:rPr sz="1050" b="1" i="0">
                <a:solidFill>
                  <a:srgbClr val="22D3EE"/>
                </a:solidFill>
                <a:latin typeface="Consolas"/>
              </a:rPr>
              <a:t>CONTEXT MANAGEMENT [5]</a:t>
            </a:r>
          </a:p>
        </p:txBody>
      </p:sp>
      <p:sp>
        <p:nvSpPr>
          <p:cNvPr id="69" name="Rounded Rectangle 68"/>
          <p:cNvSpPr/>
          <p:nvPr/>
        </p:nvSpPr>
        <p:spPr>
          <a:xfrm>
            <a:off x="5532120" y="3657600"/>
            <a:ext cx="3063240" cy="2514600"/>
          </a:xfrm>
          <a:prstGeom prst="roundRect">
            <a:avLst>
              <a:gd name="adj" fmla="val 4363"/>
            </a:avLst>
          </a:prstGeom>
          <a:solidFill>
            <a:srgbClr val="070B17">
              <a:alpha val="90000"/>
            </a:srgbClr>
          </a:solidFill>
          <a:ln w="9525">
            <a:solidFill>
              <a:srgbClr val="2C3870"/>
            </a:solidFill>
          </a:ln>
        </p:spPr>
        <p:txBody>
          <a:bodyPr rtlCol="0" anchor="ctr" wrap="square" lIns="54864" rIns="54864" tIns="54864" bIns="54864"/>
          <a:lstStyle/>
          <a:p>
            <a:pPr algn="ctr"/>
          </a:p>
        </p:txBody>
      </p:sp>
      <p:sp>
        <p:nvSpPr>
          <p:cNvPr id="70" name="Oval 69"/>
          <p:cNvSpPr/>
          <p:nvPr/>
        </p:nvSpPr>
        <p:spPr>
          <a:xfrm>
            <a:off x="5715000" y="3840480"/>
            <a:ext cx="109728" cy="109728"/>
          </a:xfrm>
          <a:prstGeom prst="ellipse">
            <a:avLst/>
          </a:prstGeom>
          <a:solidFill>
            <a:srgbClr val="FF5F57"/>
          </a:solidFill>
          <a:ln>
            <a:noFill/>
          </a:ln>
        </p:spPr>
        <p:txBody>
          <a:bodyPr rtlCol="0" anchor="ctr" wrap="square" lIns="54864" rIns="54864" tIns="54864" bIns="54864"/>
          <a:lstStyle/>
          <a:p>
            <a:pPr algn="ctr"/>
          </a:p>
        </p:txBody>
      </p:sp>
      <p:sp>
        <p:nvSpPr>
          <p:cNvPr id="71" name="Oval 70"/>
          <p:cNvSpPr/>
          <p:nvPr/>
        </p:nvSpPr>
        <p:spPr>
          <a:xfrm>
            <a:off x="5897880" y="3840480"/>
            <a:ext cx="109728" cy="109728"/>
          </a:xfrm>
          <a:prstGeom prst="ellipse">
            <a:avLst/>
          </a:prstGeom>
          <a:solidFill>
            <a:srgbClr val="FEBC2E"/>
          </a:solidFill>
          <a:ln>
            <a:noFill/>
          </a:ln>
        </p:spPr>
        <p:txBody>
          <a:bodyPr rtlCol="0" anchor="ctr" wrap="square" lIns="54864" rIns="54864" tIns="54864" bIns="54864"/>
          <a:lstStyle/>
          <a:p>
            <a:pPr algn="ctr"/>
          </a:p>
        </p:txBody>
      </p:sp>
      <p:sp>
        <p:nvSpPr>
          <p:cNvPr id="72" name="Oval 71"/>
          <p:cNvSpPr/>
          <p:nvPr/>
        </p:nvSpPr>
        <p:spPr>
          <a:xfrm>
            <a:off x="6080760" y="3840480"/>
            <a:ext cx="109728" cy="109728"/>
          </a:xfrm>
          <a:prstGeom prst="ellipse">
            <a:avLst/>
          </a:prstGeom>
          <a:solidFill>
            <a:srgbClr val="28C840"/>
          </a:solidFill>
          <a:ln>
            <a:noFill/>
          </a:ln>
        </p:spPr>
        <p:txBody>
          <a:bodyPr rtlCol="0" anchor="ctr" wrap="square" lIns="54864" rIns="54864" tIns="54864" bIns="54864"/>
          <a:lstStyle/>
          <a:p>
            <a:pPr algn="ctr"/>
          </a:p>
        </p:txBody>
      </p:sp>
      <p:sp>
        <p:nvSpPr>
          <p:cNvPr id="73" name="TextBox 72"/>
          <p:cNvSpPr txBox="1"/>
          <p:nvPr/>
        </p:nvSpPr>
        <p:spPr>
          <a:xfrm>
            <a:off x="6309359" y="3767328"/>
            <a:ext cx="2148840" cy="256032"/>
          </a:xfrm>
          <a:prstGeom prst="rect">
            <a:avLst/>
          </a:prstGeom>
          <a:noFill/>
        </p:spPr>
        <p:txBody>
          <a:bodyPr wrap="square" anchor="t" lIns="0" rIns="0" tIns="0" bIns="0"/>
          <a:lstStyle/>
          <a:p>
            <a:pPr algn="l">
              <a:spcAft>
                <a:spcPts val="400"/>
              </a:spcAft>
            </a:pPr>
            <a:r>
              <a:rPr sz="1000" b="0" i="0">
                <a:solidFill>
                  <a:srgbClr val="6B7699"/>
                </a:solidFill>
                <a:latin typeface="Consolas"/>
              </a:rPr>
              <a:t>memory.algo</a:t>
            </a:r>
          </a:p>
        </p:txBody>
      </p:sp>
      <p:sp>
        <p:nvSpPr>
          <p:cNvPr id="74" name="TextBox 73"/>
          <p:cNvSpPr txBox="1"/>
          <p:nvPr/>
        </p:nvSpPr>
        <p:spPr>
          <a:xfrm>
            <a:off x="5715000" y="4114800"/>
            <a:ext cx="2788920" cy="2011680"/>
          </a:xfrm>
          <a:prstGeom prst="rect">
            <a:avLst/>
          </a:prstGeom>
          <a:noFill/>
        </p:spPr>
        <p:txBody>
          <a:bodyPr wrap="square" anchor="t" lIns="0" rIns="0" tIns="0" bIns="0"/>
          <a:lstStyle/>
          <a:p>
            <a:pPr algn="l">
              <a:spcAft>
                <a:spcPts val="200"/>
              </a:spcAft>
            </a:pPr>
            <a:r>
              <a:rPr sz="1050" b="0" i="0">
                <a:solidFill>
                  <a:srgbClr val="475079"/>
                </a:solidFill>
                <a:latin typeface="Consolas"/>
              </a:rPr>
              <a:t> 1  </a:t>
            </a:r>
            <a:r>
              <a:rPr sz="1050" b="0" i="0">
                <a:solidFill>
                  <a:srgbClr val="E2E8F0"/>
                </a:solidFill>
                <a:latin typeface="Consolas"/>
              </a:rPr>
              <a:t>st  ← recent(k)</a:t>
            </a:r>
          </a:p>
          <a:p>
            <a:pPr algn="l">
              <a:spcAft>
                <a:spcPts val="200"/>
              </a:spcAft>
            </a:pPr>
            <a:r>
              <a:rPr sz="1050" b="0" i="0">
                <a:solidFill>
                  <a:srgbClr val="475079"/>
                </a:solidFill>
                <a:latin typeface="Consolas"/>
              </a:rPr>
              <a:t> 2  </a:t>
            </a:r>
            <a:r>
              <a:rPr sz="1050" b="0" i="0">
                <a:solidFill>
                  <a:srgbClr val="E2E8F0"/>
                </a:solidFill>
                <a:latin typeface="Consolas"/>
              </a:rPr>
              <a:t>lt  ← retrieve(G, vecDB)</a:t>
            </a:r>
          </a:p>
          <a:p>
            <a:pPr algn="l">
              <a:spcAft>
                <a:spcPts val="200"/>
              </a:spcAft>
            </a:pPr>
            <a:r>
              <a:rPr sz="1050" b="0" i="0">
                <a:solidFill>
                  <a:srgbClr val="475079"/>
                </a:solidFill>
                <a:latin typeface="Consolas"/>
              </a:rPr>
              <a:t> 3  </a:t>
            </a:r>
            <a:r>
              <a:rPr sz="1050" b="0" i="0">
                <a:solidFill>
                  <a:srgbClr val="E2E8F0"/>
                </a:solidFill>
                <a:latin typeface="Consolas"/>
              </a:rPr>
              <a:t>ctx ← merge(st, lt)</a:t>
            </a:r>
          </a:p>
          <a:p>
            <a:pPr algn="l">
              <a:spcAft>
                <a:spcPts val="200"/>
              </a:spcAft>
            </a:pPr>
            <a:r>
              <a:rPr sz="1050" b="0" i="0">
                <a:solidFill>
                  <a:srgbClr val="475079"/>
                </a:solidFill>
                <a:latin typeface="Consolas"/>
              </a:rPr>
              <a:t> 4  </a:t>
            </a:r>
            <a:r>
              <a:rPr sz="1050" b="0" i="0">
                <a:solidFill>
                  <a:srgbClr val="E2E8F0"/>
                </a:solidFill>
                <a:latin typeface="Consolas"/>
              </a:rPr>
              <a:t>if too_long(ctx):</a:t>
            </a:r>
          </a:p>
          <a:p>
            <a:pPr algn="l">
              <a:spcAft>
                <a:spcPts val="200"/>
              </a:spcAft>
            </a:pPr>
            <a:r>
              <a:rPr sz="1050" b="0" i="0">
                <a:solidFill>
                  <a:srgbClr val="475079"/>
                </a:solidFill>
                <a:latin typeface="Consolas"/>
              </a:rPr>
              <a:t> 5  </a:t>
            </a:r>
            <a:r>
              <a:rPr sz="1050" b="0" i="0">
                <a:solidFill>
                  <a:srgbClr val="E2E8F0"/>
                </a:solidFill>
                <a:latin typeface="Consolas"/>
              </a:rPr>
              <a:t>  ctx ← summarize(ctx)</a:t>
            </a:r>
          </a:p>
          <a:p>
            <a:pPr algn="l">
              <a:spcAft>
                <a:spcPts val="200"/>
              </a:spcAft>
            </a:pPr>
            <a:r>
              <a:rPr sz="1050" b="0" i="0">
                <a:solidFill>
                  <a:srgbClr val="475079"/>
                </a:solidFill>
                <a:latin typeface="Consolas"/>
              </a:rPr>
              <a:t> 6  </a:t>
            </a:r>
            <a:r>
              <a:rPr sz="1050" b="0" i="0">
                <a:solidFill>
                  <a:srgbClr val="E2E8F0"/>
                </a:solidFill>
                <a:latin typeface="Consolas"/>
              </a:rPr>
              <a:t>return ctx   </a:t>
            </a:r>
            <a:r>
              <a:rPr sz="1050" b="0" i="1">
                <a:solidFill>
                  <a:srgbClr val="A78BFA"/>
                </a:solidFill>
                <a:latin typeface="Consolas"/>
              </a:rPr>
              <a:t># to LLM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06 · features / advantages / disadvantages</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Features, Advantages &amp; Disadvantages</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12</a:t>
            </a:fld>
            <a:r>
              <a:rPr sz="900">
                <a:solidFill>
                  <a:srgbClr val="6B7699"/>
                </a:solidFill>
                <a:latin typeface="Consolas"/>
              </a:rPr>
              <a:t> / 18</a:t>
            </a:r>
          </a:p>
        </p:txBody>
      </p:sp>
      <p:sp>
        <p:nvSpPr>
          <p:cNvPr id="9" name="Rounded Rectangle 8"/>
          <p:cNvSpPr/>
          <p:nvPr/>
        </p:nvSpPr>
        <p:spPr>
          <a:xfrm>
            <a:off x="548640" y="1463040"/>
            <a:ext cx="2560320" cy="4754880"/>
          </a:xfrm>
          <a:prstGeom prst="roundRect">
            <a:avLst>
              <a:gd name="adj" fmla="val 5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0" name="Oval 9"/>
          <p:cNvSpPr/>
          <p:nvPr/>
        </p:nvSpPr>
        <p:spPr>
          <a:xfrm>
            <a:off x="731520" y="1627632"/>
            <a:ext cx="457200" cy="45720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11" name="Picture 10" descr="star_w.png"/>
          <p:cNvPicPr>
            <a:picLocks noChangeAspect="1"/>
          </p:cNvPicPr>
          <p:nvPr/>
        </p:nvPicPr>
        <p:blipFill>
          <a:blip r:embed="rId4"/>
          <a:stretch>
            <a:fillRect/>
          </a:stretch>
        </p:blipFill>
        <p:spPr>
          <a:xfrm>
            <a:off x="845820" y="1741932"/>
            <a:ext cx="228600" cy="228600"/>
          </a:xfrm>
          <a:prstGeom prst="rect">
            <a:avLst/>
          </a:prstGeom>
        </p:spPr>
      </p:pic>
      <p:sp>
        <p:nvSpPr>
          <p:cNvPr id="12" name="TextBox 11"/>
          <p:cNvSpPr txBox="1"/>
          <p:nvPr/>
        </p:nvSpPr>
        <p:spPr>
          <a:xfrm>
            <a:off x="1325880" y="1627632"/>
            <a:ext cx="1691640" cy="457200"/>
          </a:xfrm>
          <a:prstGeom prst="rect">
            <a:avLst/>
          </a:prstGeom>
          <a:noFill/>
        </p:spPr>
        <p:txBody>
          <a:bodyPr wrap="square" anchor="ctr" lIns="0" rIns="0" tIns="0" bIns="0"/>
          <a:lstStyle/>
          <a:p>
            <a:pPr algn="l">
              <a:spcAft>
                <a:spcPts val="400"/>
              </a:spcAft>
            </a:pPr>
            <a:r>
              <a:rPr sz="1700" b="1" i="0">
                <a:solidFill>
                  <a:srgbClr val="22D3EE"/>
                </a:solidFill>
                <a:latin typeface="Calibri"/>
              </a:rPr>
              <a:t>Features</a:t>
            </a:r>
          </a:p>
        </p:txBody>
      </p:sp>
      <p:sp>
        <p:nvSpPr>
          <p:cNvPr id="13" name="Oval 12"/>
          <p:cNvSpPr/>
          <p:nvPr/>
        </p:nvSpPr>
        <p:spPr>
          <a:xfrm>
            <a:off x="804672" y="2459736"/>
            <a:ext cx="109728" cy="109728"/>
          </a:xfrm>
          <a:prstGeom prst="ellipse">
            <a:avLst/>
          </a:prstGeom>
          <a:solidFill>
            <a:srgbClr val="22D3EE"/>
          </a:solidFill>
          <a:ln>
            <a:noFill/>
          </a:ln>
        </p:spPr>
        <p:txBody>
          <a:bodyPr rtlCol="0" anchor="ctr" wrap="square" lIns="54864" rIns="54864" tIns="54864" bIns="54864"/>
          <a:lstStyle/>
          <a:p>
            <a:pPr algn="ctr"/>
          </a:p>
        </p:txBody>
      </p:sp>
      <p:sp>
        <p:nvSpPr>
          <p:cNvPr id="14" name="TextBox 13"/>
          <p:cNvSpPr txBox="1"/>
          <p:nvPr/>
        </p:nvSpPr>
        <p:spPr>
          <a:xfrm>
            <a:off x="1097280" y="2286000"/>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Autonomy</a:t>
            </a:r>
          </a:p>
          <a:p>
            <a:pPr algn="l">
              <a:spcAft>
                <a:spcPts val="0"/>
              </a:spcAft>
            </a:pPr>
            <a:r>
              <a:rPr sz="1150" b="0" i="0">
                <a:solidFill>
                  <a:srgbClr val="A3ADC8"/>
                </a:solidFill>
                <a:latin typeface="Calibri"/>
              </a:rPr>
              <a:t>pursues a goal over many steps</a:t>
            </a:r>
          </a:p>
        </p:txBody>
      </p:sp>
      <p:cxnSp>
        <p:nvCxnSpPr>
          <p:cNvPr id="15" name="Connector 14"/>
          <p:cNvCxnSpPr/>
          <p:nvPr/>
        </p:nvCxnSpPr>
        <p:spPr>
          <a:xfrm>
            <a:off x="731520" y="3017520"/>
            <a:ext cx="2194560" cy="0"/>
          </a:xfrm>
          <a:prstGeom prst="line">
            <a:avLst/>
          </a:prstGeom>
          <a:ln w="9525">
            <a:solidFill>
              <a:srgbClr val="2C3870"/>
            </a:solidFill>
          </a:ln>
        </p:spPr>
      </p:cxnSp>
      <p:sp>
        <p:nvSpPr>
          <p:cNvPr id="16" name="Oval 15"/>
          <p:cNvSpPr/>
          <p:nvPr/>
        </p:nvSpPr>
        <p:spPr>
          <a:xfrm>
            <a:off x="804672" y="3227832"/>
            <a:ext cx="109728" cy="109728"/>
          </a:xfrm>
          <a:prstGeom prst="ellipse">
            <a:avLst/>
          </a:prstGeom>
          <a:solidFill>
            <a:srgbClr val="22D3EE"/>
          </a:solidFill>
          <a:ln>
            <a:noFill/>
          </a:ln>
        </p:spPr>
        <p:txBody>
          <a:bodyPr rtlCol="0" anchor="ctr" wrap="square" lIns="54864" rIns="54864" tIns="54864" bIns="54864"/>
          <a:lstStyle/>
          <a:p>
            <a:pPr algn="ctr"/>
          </a:p>
        </p:txBody>
      </p:sp>
      <p:sp>
        <p:nvSpPr>
          <p:cNvPr id="17" name="TextBox 16"/>
          <p:cNvSpPr txBox="1"/>
          <p:nvPr/>
        </p:nvSpPr>
        <p:spPr>
          <a:xfrm>
            <a:off x="1097280" y="3054096"/>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Planning</a:t>
            </a:r>
          </a:p>
          <a:p>
            <a:pPr algn="l">
              <a:spcAft>
                <a:spcPts val="0"/>
              </a:spcAft>
            </a:pPr>
            <a:r>
              <a:rPr sz="1150" b="0" i="0">
                <a:solidFill>
                  <a:srgbClr val="A3ADC8"/>
                </a:solidFill>
                <a:latin typeface="Calibri"/>
              </a:rPr>
              <a:t>breaks goals into subtasks</a:t>
            </a:r>
          </a:p>
        </p:txBody>
      </p:sp>
      <p:cxnSp>
        <p:nvCxnSpPr>
          <p:cNvPr id="18" name="Connector 17"/>
          <p:cNvCxnSpPr/>
          <p:nvPr/>
        </p:nvCxnSpPr>
        <p:spPr>
          <a:xfrm>
            <a:off x="731520" y="3785615"/>
            <a:ext cx="2194560" cy="0"/>
          </a:xfrm>
          <a:prstGeom prst="line">
            <a:avLst/>
          </a:prstGeom>
          <a:ln w="9525">
            <a:solidFill>
              <a:srgbClr val="2C3870"/>
            </a:solidFill>
          </a:ln>
        </p:spPr>
      </p:cxnSp>
      <p:sp>
        <p:nvSpPr>
          <p:cNvPr id="19" name="Oval 18"/>
          <p:cNvSpPr/>
          <p:nvPr/>
        </p:nvSpPr>
        <p:spPr>
          <a:xfrm>
            <a:off x="804672" y="3995928"/>
            <a:ext cx="109728" cy="109728"/>
          </a:xfrm>
          <a:prstGeom prst="ellipse">
            <a:avLst/>
          </a:prstGeom>
          <a:solidFill>
            <a:srgbClr val="22D3EE"/>
          </a:solidFill>
          <a:ln>
            <a:noFill/>
          </a:ln>
        </p:spPr>
        <p:txBody>
          <a:bodyPr rtlCol="0" anchor="ctr" wrap="square" lIns="54864" rIns="54864" tIns="54864" bIns="54864"/>
          <a:lstStyle/>
          <a:p>
            <a:pPr algn="ctr"/>
          </a:p>
        </p:txBody>
      </p:sp>
      <p:sp>
        <p:nvSpPr>
          <p:cNvPr id="20" name="TextBox 19"/>
          <p:cNvSpPr txBox="1"/>
          <p:nvPr/>
        </p:nvSpPr>
        <p:spPr>
          <a:xfrm>
            <a:off x="1097280" y="3822191"/>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Tool use</a:t>
            </a:r>
          </a:p>
          <a:p>
            <a:pPr algn="l">
              <a:spcAft>
                <a:spcPts val="0"/>
              </a:spcAft>
            </a:pPr>
            <a:r>
              <a:rPr sz="1150" b="0" i="0">
                <a:solidFill>
                  <a:srgbClr val="A3ADC8"/>
                </a:solidFill>
                <a:latin typeface="Calibri"/>
              </a:rPr>
              <a:t>web, code, APIs, databases</a:t>
            </a:r>
          </a:p>
        </p:txBody>
      </p:sp>
      <p:cxnSp>
        <p:nvCxnSpPr>
          <p:cNvPr id="21" name="Connector 20"/>
          <p:cNvCxnSpPr/>
          <p:nvPr/>
        </p:nvCxnSpPr>
        <p:spPr>
          <a:xfrm>
            <a:off x="731520" y="4553712"/>
            <a:ext cx="2194560" cy="0"/>
          </a:xfrm>
          <a:prstGeom prst="line">
            <a:avLst/>
          </a:prstGeom>
          <a:ln w="9525">
            <a:solidFill>
              <a:srgbClr val="2C3870"/>
            </a:solidFill>
          </a:ln>
        </p:spPr>
      </p:cxnSp>
      <p:sp>
        <p:nvSpPr>
          <p:cNvPr id="22" name="Oval 21"/>
          <p:cNvSpPr/>
          <p:nvPr/>
        </p:nvSpPr>
        <p:spPr>
          <a:xfrm>
            <a:off x="804672" y="4764024"/>
            <a:ext cx="109728" cy="109728"/>
          </a:xfrm>
          <a:prstGeom prst="ellipse">
            <a:avLst/>
          </a:prstGeom>
          <a:solidFill>
            <a:srgbClr val="22D3EE"/>
          </a:solidFill>
          <a:ln>
            <a:noFill/>
          </a:ln>
        </p:spPr>
        <p:txBody>
          <a:bodyPr rtlCol="0" anchor="ctr" wrap="square" lIns="54864" rIns="54864" tIns="54864" bIns="54864"/>
          <a:lstStyle/>
          <a:p>
            <a:pPr algn="ctr"/>
          </a:p>
        </p:txBody>
      </p:sp>
      <p:sp>
        <p:nvSpPr>
          <p:cNvPr id="23" name="TextBox 22"/>
          <p:cNvSpPr txBox="1"/>
          <p:nvPr/>
        </p:nvSpPr>
        <p:spPr>
          <a:xfrm>
            <a:off x="1097280" y="4590288"/>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Memory</a:t>
            </a:r>
          </a:p>
          <a:p>
            <a:pPr algn="l">
              <a:spcAft>
                <a:spcPts val="0"/>
              </a:spcAft>
            </a:pPr>
            <a:r>
              <a:rPr sz="1150" b="0" i="0">
                <a:solidFill>
                  <a:srgbClr val="A3ADC8"/>
                </a:solidFill>
                <a:latin typeface="Calibri"/>
              </a:rPr>
              <a:t>short- and long-term context</a:t>
            </a:r>
          </a:p>
        </p:txBody>
      </p:sp>
      <p:cxnSp>
        <p:nvCxnSpPr>
          <p:cNvPr id="24" name="Connector 23"/>
          <p:cNvCxnSpPr/>
          <p:nvPr/>
        </p:nvCxnSpPr>
        <p:spPr>
          <a:xfrm>
            <a:off x="731520" y="5321807"/>
            <a:ext cx="2194560" cy="0"/>
          </a:xfrm>
          <a:prstGeom prst="line">
            <a:avLst/>
          </a:prstGeom>
          <a:ln w="9525">
            <a:solidFill>
              <a:srgbClr val="2C3870"/>
            </a:solidFill>
          </a:ln>
        </p:spPr>
      </p:cxnSp>
      <p:sp>
        <p:nvSpPr>
          <p:cNvPr id="25" name="Oval 24"/>
          <p:cNvSpPr/>
          <p:nvPr/>
        </p:nvSpPr>
        <p:spPr>
          <a:xfrm>
            <a:off x="804672" y="5532120"/>
            <a:ext cx="109728" cy="109728"/>
          </a:xfrm>
          <a:prstGeom prst="ellipse">
            <a:avLst/>
          </a:prstGeom>
          <a:solidFill>
            <a:srgbClr val="22D3EE"/>
          </a:solidFill>
          <a:ln>
            <a:noFill/>
          </a:ln>
        </p:spPr>
        <p:txBody>
          <a:bodyPr rtlCol="0" anchor="ctr" wrap="square" lIns="54864" rIns="54864" tIns="54864" bIns="54864"/>
          <a:lstStyle/>
          <a:p>
            <a:pPr algn="ctr"/>
          </a:p>
        </p:txBody>
      </p:sp>
      <p:sp>
        <p:nvSpPr>
          <p:cNvPr id="26" name="TextBox 25"/>
          <p:cNvSpPr txBox="1"/>
          <p:nvPr/>
        </p:nvSpPr>
        <p:spPr>
          <a:xfrm>
            <a:off x="1097280" y="5358383"/>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Reflection</a:t>
            </a:r>
          </a:p>
          <a:p>
            <a:pPr algn="l">
              <a:spcAft>
                <a:spcPts val="0"/>
              </a:spcAft>
            </a:pPr>
            <a:r>
              <a:rPr sz="1150" b="0" i="0">
                <a:solidFill>
                  <a:srgbClr val="A3ADC8"/>
                </a:solidFill>
                <a:latin typeface="Calibri"/>
              </a:rPr>
              <a:t>verifies and replans</a:t>
            </a:r>
          </a:p>
        </p:txBody>
      </p:sp>
      <p:sp>
        <p:nvSpPr>
          <p:cNvPr id="27" name="Rounded Rectangle 26"/>
          <p:cNvSpPr/>
          <p:nvPr/>
        </p:nvSpPr>
        <p:spPr>
          <a:xfrm>
            <a:off x="3291840" y="1463040"/>
            <a:ext cx="2560320" cy="4754880"/>
          </a:xfrm>
          <a:prstGeom prst="roundRect">
            <a:avLst>
              <a:gd name="adj" fmla="val 5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8" name="Oval 27"/>
          <p:cNvSpPr/>
          <p:nvPr/>
        </p:nvSpPr>
        <p:spPr>
          <a:xfrm>
            <a:off x="3474720" y="1627632"/>
            <a:ext cx="457200" cy="457200"/>
          </a:xfrm>
          <a:prstGeom prst="ellipse">
            <a:avLst/>
          </a:prstGeom>
          <a:gradFill rotWithShape="1">
            <a:gsLst>
              <a:gs pos="0">
                <a:srgbClr val="047857"/>
              </a:gs>
              <a:gs pos="100000">
                <a:srgbClr val="10B981"/>
              </a:gs>
            </a:gsLst>
            <a:lin scaled="0" ang="18900000"/>
          </a:gradFill>
          <a:ln>
            <a:noFill/>
          </a:ln>
        </p:spPr>
        <p:txBody>
          <a:bodyPr rtlCol="0" anchor="ctr" wrap="square" lIns="54864" rIns="54864" tIns="54864" bIns="54864"/>
          <a:lstStyle/>
          <a:p>
            <a:pPr algn="ctr"/>
          </a:p>
        </p:txBody>
      </p:sp>
      <p:pic>
        <p:nvPicPr>
          <p:cNvPr id="29" name="Picture 28" descr="check_w.png"/>
          <p:cNvPicPr>
            <a:picLocks noChangeAspect="1"/>
          </p:cNvPicPr>
          <p:nvPr/>
        </p:nvPicPr>
        <p:blipFill>
          <a:blip r:embed="rId5"/>
          <a:stretch>
            <a:fillRect/>
          </a:stretch>
        </p:blipFill>
        <p:spPr>
          <a:xfrm>
            <a:off x="3589020" y="1741932"/>
            <a:ext cx="228600" cy="228600"/>
          </a:xfrm>
          <a:prstGeom prst="rect">
            <a:avLst/>
          </a:prstGeom>
        </p:spPr>
      </p:pic>
      <p:sp>
        <p:nvSpPr>
          <p:cNvPr id="30" name="TextBox 29"/>
          <p:cNvSpPr txBox="1"/>
          <p:nvPr/>
        </p:nvSpPr>
        <p:spPr>
          <a:xfrm>
            <a:off x="4069080" y="1627632"/>
            <a:ext cx="1691640" cy="457200"/>
          </a:xfrm>
          <a:prstGeom prst="rect">
            <a:avLst/>
          </a:prstGeom>
          <a:noFill/>
        </p:spPr>
        <p:txBody>
          <a:bodyPr wrap="square" anchor="ctr" lIns="0" rIns="0" tIns="0" bIns="0"/>
          <a:lstStyle/>
          <a:p>
            <a:pPr algn="l">
              <a:spcAft>
                <a:spcPts val="400"/>
              </a:spcAft>
            </a:pPr>
            <a:r>
              <a:rPr sz="1700" b="1" i="0">
                <a:solidFill>
                  <a:srgbClr val="34D399"/>
                </a:solidFill>
                <a:latin typeface="Calibri"/>
              </a:rPr>
              <a:t>Advantages</a:t>
            </a:r>
          </a:p>
        </p:txBody>
      </p:sp>
      <p:pic>
        <p:nvPicPr>
          <p:cNvPr id="31" name="Picture 30" descr="check_ug.png"/>
          <p:cNvPicPr>
            <a:picLocks noChangeAspect="1"/>
          </p:cNvPicPr>
          <p:nvPr/>
        </p:nvPicPr>
        <p:blipFill>
          <a:blip r:embed="rId6"/>
          <a:stretch>
            <a:fillRect/>
          </a:stretch>
        </p:blipFill>
        <p:spPr>
          <a:xfrm>
            <a:off x="3493008" y="2395728"/>
            <a:ext cx="219456" cy="219456"/>
          </a:xfrm>
          <a:prstGeom prst="rect">
            <a:avLst/>
          </a:prstGeom>
        </p:spPr>
      </p:pic>
      <p:sp>
        <p:nvSpPr>
          <p:cNvPr id="32" name="TextBox 31"/>
          <p:cNvSpPr txBox="1"/>
          <p:nvPr/>
        </p:nvSpPr>
        <p:spPr>
          <a:xfrm>
            <a:off x="3840480" y="2286000"/>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Complex tasks</a:t>
            </a:r>
          </a:p>
          <a:p>
            <a:pPr algn="l">
              <a:spcAft>
                <a:spcPts val="0"/>
              </a:spcAft>
            </a:pPr>
            <a:r>
              <a:rPr sz="1150" b="0" i="0">
                <a:solidFill>
                  <a:srgbClr val="A3ADC8"/>
                </a:solidFill>
                <a:latin typeface="Calibri"/>
              </a:rPr>
              <a:t>handles multi-step workflows</a:t>
            </a:r>
          </a:p>
        </p:txBody>
      </p:sp>
      <p:cxnSp>
        <p:nvCxnSpPr>
          <p:cNvPr id="33" name="Connector 32"/>
          <p:cNvCxnSpPr/>
          <p:nvPr/>
        </p:nvCxnSpPr>
        <p:spPr>
          <a:xfrm>
            <a:off x="3474720" y="3017520"/>
            <a:ext cx="2194560" cy="0"/>
          </a:xfrm>
          <a:prstGeom prst="line">
            <a:avLst/>
          </a:prstGeom>
          <a:ln w="9525">
            <a:solidFill>
              <a:srgbClr val="2C3870"/>
            </a:solidFill>
          </a:ln>
        </p:spPr>
      </p:cxnSp>
      <p:pic>
        <p:nvPicPr>
          <p:cNvPr id="34" name="Picture 33" descr="check_ug.png"/>
          <p:cNvPicPr>
            <a:picLocks noChangeAspect="1"/>
          </p:cNvPicPr>
          <p:nvPr/>
        </p:nvPicPr>
        <p:blipFill>
          <a:blip r:embed="rId6"/>
          <a:stretch>
            <a:fillRect/>
          </a:stretch>
        </p:blipFill>
        <p:spPr>
          <a:xfrm>
            <a:off x="3493008" y="3163824"/>
            <a:ext cx="219456" cy="219456"/>
          </a:xfrm>
          <a:prstGeom prst="rect">
            <a:avLst/>
          </a:prstGeom>
        </p:spPr>
      </p:pic>
      <p:sp>
        <p:nvSpPr>
          <p:cNvPr id="35" name="TextBox 34"/>
          <p:cNvSpPr txBox="1"/>
          <p:nvPr/>
        </p:nvSpPr>
        <p:spPr>
          <a:xfrm>
            <a:off x="3840480" y="3054096"/>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Specialisation</a:t>
            </a:r>
          </a:p>
          <a:p>
            <a:pPr algn="l">
              <a:spcAft>
                <a:spcPts val="0"/>
              </a:spcAft>
            </a:pPr>
            <a:r>
              <a:rPr sz="1150" b="0" i="0">
                <a:solidFill>
                  <a:srgbClr val="A3ADC8"/>
                </a:solidFill>
                <a:latin typeface="Calibri"/>
              </a:rPr>
              <a:t>agents work in parallel</a:t>
            </a:r>
          </a:p>
        </p:txBody>
      </p:sp>
      <p:cxnSp>
        <p:nvCxnSpPr>
          <p:cNvPr id="36" name="Connector 35"/>
          <p:cNvCxnSpPr/>
          <p:nvPr/>
        </p:nvCxnSpPr>
        <p:spPr>
          <a:xfrm>
            <a:off x="3474720" y="3785615"/>
            <a:ext cx="2194560" cy="0"/>
          </a:xfrm>
          <a:prstGeom prst="line">
            <a:avLst/>
          </a:prstGeom>
          <a:ln w="9525">
            <a:solidFill>
              <a:srgbClr val="2C3870"/>
            </a:solidFill>
          </a:ln>
        </p:spPr>
      </p:cxnSp>
      <p:pic>
        <p:nvPicPr>
          <p:cNvPr id="37" name="Picture 36" descr="check_ug.png"/>
          <p:cNvPicPr>
            <a:picLocks noChangeAspect="1"/>
          </p:cNvPicPr>
          <p:nvPr/>
        </p:nvPicPr>
        <p:blipFill>
          <a:blip r:embed="rId6"/>
          <a:stretch>
            <a:fillRect/>
          </a:stretch>
        </p:blipFill>
        <p:spPr>
          <a:xfrm>
            <a:off x="3493008" y="3931920"/>
            <a:ext cx="219456" cy="219456"/>
          </a:xfrm>
          <a:prstGeom prst="rect">
            <a:avLst/>
          </a:prstGeom>
        </p:spPr>
      </p:pic>
      <p:sp>
        <p:nvSpPr>
          <p:cNvPr id="38" name="TextBox 37"/>
          <p:cNvSpPr txBox="1"/>
          <p:nvPr/>
        </p:nvSpPr>
        <p:spPr>
          <a:xfrm>
            <a:off x="3840480" y="3822191"/>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Live data</a:t>
            </a:r>
          </a:p>
          <a:p>
            <a:pPr algn="l">
              <a:spcAft>
                <a:spcPts val="0"/>
              </a:spcAft>
            </a:pPr>
            <a:r>
              <a:rPr sz="1150" b="0" i="0">
                <a:solidFill>
                  <a:srgbClr val="A3ADC8"/>
                </a:solidFill>
                <a:latin typeface="Calibri"/>
              </a:rPr>
              <a:t>external tools and sources</a:t>
            </a:r>
          </a:p>
        </p:txBody>
      </p:sp>
      <p:cxnSp>
        <p:nvCxnSpPr>
          <p:cNvPr id="39" name="Connector 38"/>
          <p:cNvCxnSpPr/>
          <p:nvPr/>
        </p:nvCxnSpPr>
        <p:spPr>
          <a:xfrm>
            <a:off x="3474720" y="4553712"/>
            <a:ext cx="2194560" cy="0"/>
          </a:xfrm>
          <a:prstGeom prst="line">
            <a:avLst/>
          </a:prstGeom>
          <a:ln w="9525">
            <a:solidFill>
              <a:srgbClr val="2C3870"/>
            </a:solidFill>
          </a:ln>
        </p:spPr>
      </p:cxnSp>
      <p:pic>
        <p:nvPicPr>
          <p:cNvPr id="40" name="Picture 39" descr="check_ug.png"/>
          <p:cNvPicPr>
            <a:picLocks noChangeAspect="1"/>
          </p:cNvPicPr>
          <p:nvPr/>
        </p:nvPicPr>
        <p:blipFill>
          <a:blip r:embed="rId6"/>
          <a:stretch>
            <a:fillRect/>
          </a:stretch>
        </p:blipFill>
        <p:spPr>
          <a:xfrm>
            <a:off x="3493008" y="4700016"/>
            <a:ext cx="219456" cy="219456"/>
          </a:xfrm>
          <a:prstGeom prst="rect">
            <a:avLst/>
          </a:prstGeom>
        </p:spPr>
      </p:pic>
      <p:sp>
        <p:nvSpPr>
          <p:cNvPr id="41" name="TextBox 40"/>
          <p:cNvSpPr txBox="1"/>
          <p:nvPr/>
        </p:nvSpPr>
        <p:spPr>
          <a:xfrm>
            <a:off x="3840480" y="4590288"/>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Productivity</a:t>
            </a:r>
          </a:p>
          <a:p>
            <a:pPr algn="l">
              <a:spcAft>
                <a:spcPts val="0"/>
              </a:spcAft>
            </a:pPr>
            <a:r>
              <a:rPr sz="1150" b="0" i="0">
                <a:solidFill>
                  <a:srgbClr val="A3ADC8"/>
                </a:solidFill>
                <a:latin typeface="Calibri"/>
              </a:rPr>
              <a:t>less repetitive human effort</a:t>
            </a:r>
          </a:p>
        </p:txBody>
      </p:sp>
      <p:cxnSp>
        <p:nvCxnSpPr>
          <p:cNvPr id="42" name="Connector 41"/>
          <p:cNvCxnSpPr/>
          <p:nvPr/>
        </p:nvCxnSpPr>
        <p:spPr>
          <a:xfrm>
            <a:off x="3474720" y="5321807"/>
            <a:ext cx="2194560" cy="0"/>
          </a:xfrm>
          <a:prstGeom prst="line">
            <a:avLst/>
          </a:prstGeom>
          <a:ln w="9525">
            <a:solidFill>
              <a:srgbClr val="2C3870"/>
            </a:solidFill>
          </a:ln>
        </p:spPr>
      </p:cxnSp>
      <p:pic>
        <p:nvPicPr>
          <p:cNvPr id="43" name="Picture 42" descr="check_ug.png"/>
          <p:cNvPicPr>
            <a:picLocks noChangeAspect="1"/>
          </p:cNvPicPr>
          <p:nvPr/>
        </p:nvPicPr>
        <p:blipFill>
          <a:blip r:embed="rId6"/>
          <a:stretch>
            <a:fillRect/>
          </a:stretch>
        </p:blipFill>
        <p:spPr>
          <a:xfrm>
            <a:off x="3493008" y="5468112"/>
            <a:ext cx="219456" cy="219456"/>
          </a:xfrm>
          <a:prstGeom prst="rect">
            <a:avLst/>
          </a:prstGeom>
        </p:spPr>
      </p:pic>
      <p:sp>
        <p:nvSpPr>
          <p:cNvPr id="44" name="TextBox 43"/>
          <p:cNvSpPr txBox="1"/>
          <p:nvPr/>
        </p:nvSpPr>
        <p:spPr>
          <a:xfrm>
            <a:off x="3840480" y="5358383"/>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Interoperable</a:t>
            </a:r>
          </a:p>
          <a:p>
            <a:pPr algn="l">
              <a:spcAft>
                <a:spcPts val="0"/>
              </a:spcAft>
            </a:pPr>
            <a:r>
              <a:rPr sz="1150" b="0" i="0">
                <a:solidFill>
                  <a:srgbClr val="A3ADC8"/>
                </a:solidFill>
                <a:latin typeface="Calibri"/>
              </a:rPr>
              <a:t>MCP / A2A ease scaling [6]</a:t>
            </a:r>
          </a:p>
        </p:txBody>
      </p:sp>
      <p:sp>
        <p:nvSpPr>
          <p:cNvPr id="45" name="Rounded Rectangle 44"/>
          <p:cNvSpPr/>
          <p:nvPr/>
        </p:nvSpPr>
        <p:spPr>
          <a:xfrm>
            <a:off x="6035040" y="1463040"/>
            <a:ext cx="2560320" cy="4754880"/>
          </a:xfrm>
          <a:prstGeom prst="roundRect">
            <a:avLst>
              <a:gd name="adj" fmla="val 5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46" name="Oval 45"/>
          <p:cNvSpPr/>
          <p:nvPr/>
        </p:nvSpPr>
        <p:spPr>
          <a:xfrm>
            <a:off x="6217920" y="1627632"/>
            <a:ext cx="457200" cy="457200"/>
          </a:xfrm>
          <a:prstGeom prst="ellipse">
            <a:avLst/>
          </a:prstGeom>
          <a:gradFill rotWithShape="1">
            <a:gsLst>
              <a:gs pos="0">
                <a:srgbClr val="9F1239"/>
              </a:gs>
              <a:gs pos="100000">
                <a:srgbClr val="F43F5E"/>
              </a:gs>
            </a:gsLst>
            <a:lin scaled="0" ang="18900000"/>
          </a:gradFill>
          <a:ln>
            <a:noFill/>
          </a:ln>
        </p:spPr>
        <p:txBody>
          <a:bodyPr rtlCol="0" anchor="ctr" wrap="square" lIns="54864" rIns="54864" tIns="54864" bIns="54864"/>
          <a:lstStyle/>
          <a:p>
            <a:pPr algn="ctr"/>
          </a:p>
        </p:txBody>
      </p:sp>
      <p:pic>
        <p:nvPicPr>
          <p:cNvPr id="47" name="Picture 46" descr="warn_w.png"/>
          <p:cNvPicPr>
            <a:picLocks noChangeAspect="1"/>
          </p:cNvPicPr>
          <p:nvPr/>
        </p:nvPicPr>
        <p:blipFill>
          <a:blip r:embed="rId7"/>
          <a:stretch>
            <a:fillRect/>
          </a:stretch>
        </p:blipFill>
        <p:spPr>
          <a:xfrm>
            <a:off x="6332220" y="1741932"/>
            <a:ext cx="228600" cy="228600"/>
          </a:xfrm>
          <a:prstGeom prst="rect">
            <a:avLst/>
          </a:prstGeom>
        </p:spPr>
      </p:pic>
      <p:sp>
        <p:nvSpPr>
          <p:cNvPr id="48" name="TextBox 47"/>
          <p:cNvSpPr txBox="1"/>
          <p:nvPr/>
        </p:nvSpPr>
        <p:spPr>
          <a:xfrm>
            <a:off x="6812279" y="1627632"/>
            <a:ext cx="1691640" cy="457200"/>
          </a:xfrm>
          <a:prstGeom prst="rect">
            <a:avLst/>
          </a:prstGeom>
          <a:noFill/>
        </p:spPr>
        <p:txBody>
          <a:bodyPr wrap="square" anchor="ctr" lIns="0" rIns="0" tIns="0" bIns="0"/>
          <a:lstStyle/>
          <a:p>
            <a:pPr algn="l">
              <a:spcAft>
                <a:spcPts val="400"/>
              </a:spcAft>
            </a:pPr>
            <a:r>
              <a:rPr sz="1700" b="1" i="0">
                <a:solidFill>
                  <a:srgbClr val="F87171"/>
                </a:solidFill>
                <a:latin typeface="Calibri"/>
              </a:rPr>
              <a:t>Disadvantages</a:t>
            </a:r>
          </a:p>
        </p:txBody>
      </p:sp>
      <p:pic>
        <p:nvPicPr>
          <p:cNvPr id="49" name="Picture 48" descr="times_ur.png"/>
          <p:cNvPicPr>
            <a:picLocks noChangeAspect="1"/>
          </p:cNvPicPr>
          <p:nvPr/>
        </p:nvPicPr>
        <p:blipFill>
          <a:blip r:embed="rId8"/>
          <a:stretch>
            <a:fillRect/>
          </a:stretch>
        </p:blipFill>
        <p:spPr>
          <a:xfrm>
            <a:off x="6236207" y="2395728"/>
            <a:ext cx="219456" cy="219456"/>
          </a:xfrm>
          <a:prstGeom prst="rect">
            <a:avLst/>
          </a:prstGeom>
        </p:spPr>
      </p:pic>
      <p:sp>
        <p:nvSpPr>
          <p:cNvPr id="50" name="TextBox 49"/>
          <p:cNvSpPr txBox="1"/>
          <p:nvPr/>
        </p:nvSpPr>
        <p:spPr>
          <a:xfrm>
            <a:off x="6583679" y="2286000"/>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Error chains</a:t>
            </a:r>
          </a:p>
          <a:p>
            <a:pPr algn="l">
              <a:spcAft>
                <a:spcPts val="0"/>
              </a:spcAft>
            </a:pPr>
            <a:r>
              <a:rPr sz="1150" b="0" i="0">
                <a:solidFill>
                  <a:srgbClr val="A3ADC8"/>
                </a:solidFill>
                <a:latin typeface="Calibri"/>
              </a:rPr>
              <a:t>mistakes compound over steps</a:t>
            </a:r>
          </a:p>
        </p:txBody>
      </p:sp>
      <p:cxnSp>
        <p:nvCxnSpPr>
          <p:cNvPr id="51" name="Connector 50"/>
          <p:cNvCxnSpPr/>
          <p:nvPr/>
        </p:nvCxnSpPr>
        <p:spPr>
          <a:xfrm>
            <a:off x="6217920" y="3017520"/>
            <a:ext cx="2194560" cy="0"/>
          </a:xfrm>
          <a:prstGeom prst="line">
            <a:avLst/>
          </a:prstGeom>
          <a:ln w="9525">
            <a:solidFill>
              <a:srgbClr val="2C3870"/>
            </a:solidFill>
          </a:ln>
        </p:spPr>
      </p:cxnSp>
      <p:pic>
        <p:nvPicPr>
          <p:cNvPr id="52" name="Picture 51" descr="times_ur.png"/>
          <p:cNvPicPr>
            <a:picLocks noChangeAspect="1"/>
          </p:cNvPicPr>
          <p:nvPr/>
        </p:nvPicPr>
        <p:blipFill>
          <a:blip r:embed="rId8"/>
          <a:stretch>
            <a:fillRect/>
          </a:stretch>
        </p:blipFill>
        <p:spPr>
          <a:xfrm>
            <a:off x="6236207" y="3163824"/>
            <a:ext cx="219456" cy="219456"/>
          </a:xfrm>
          <a:prstGeom prst="rect">
            <a:avLst/>
          </a:prstGeom>
        </p:spPr>
      </p:pic>
      <p:sp>
        <p:nvSpPr>
          <p:cNvPr id="53" name="TextBox 52"/>
          <p:cNvSpPr txBox="1"/>
          <p:nvPr/>
        </p:nvSpPr>
        <p:spPr>
          <a:xfrm>
            <a:off x="6583679" y="3054096"/>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Security</a:t>
            </a:r>
          </a:p>
          <a:p>
            <a:pPr algn="l">
              <a:spcAft>
                <a:spcPts val="0"/>
              </a:spcAft>
            </a:pPr>
            <a:r>
              <a:rPr sz="1150" b="0" i="0">
                <a:solidFill>
                  <a:srgbClr val="A3ADC8"/>
                </a:solidFill>
                <a:latin typeface="Calibri"/>
              </a:rPr>
              <a:t>prompt injection, tool abuse [8]</a:t>
            </a:r>
          </a:p>
        </p:txBody>
      </p:sp>
      <p:cxnSp>
        <p:nvCxnSpPr>
          <p:cNvPr id="54" name="Connector 53"/>
          <p:cNvCxnSpPr/>
          <p:nvPr/>
        </p:nvCxnSpPr>
        <p:spPr>
          <a:xfrm>
            <a:off x="6217920" y="3785615"/>
            <a:ext cx="2194560" cy="0"/>
          </a:xfrm>
          <a:prstGeom prst="line">
            <a:avLst/>
          </a:prstGeom>
          <a:ln w="9525">
            <a:solidFill>
              <a:srgbClr val="2C3870"/>
            </a:solidFill>
          </a:ln>
        </p:spPr>
      </p:cxnSp>
      <p:pic>
        <p:nvPicPr>
          <p:cNvPr id="55" name="Picture 54" descr="times_ur.png"/>
          <p:cNvPicPr>
            <a:picLocks noChangeAspect="1"/>
          </p:cNvPicPr>
          <p:nvPr/>
        </p:nvPicPr>
        <p:blipFill>
          <a:blip r:embed="rId8"/>
          <a:stretch>
            <a:fillRect/>
          </a:stretch>
        </p:blipFill>
        <p:spPr>
          <a:xfrm>
            <a:off x="6236207" y="3931920"/>
            <a:ext cx="219456" cy="219456"/>
          </a:xfrm>
          <a:prstGeom prst="rect">
            <a:avLst/>
          </a:prstGeom>
        </p:spPr>
      </p:pic>
      <p:sp>
        <p:nvSpPr>
          <p:cNvPr id="56" name="TextBox 55"/>
          <p:cNvSpPr txBox="1"/>
          <p:nvPr/>
        </p:nvSpPr>
        <p:spPr>
          <a:xfrm>
            <a:off x="6583679" y="3822191"/>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Cost</a:t>
            </a:r>
          </a:p>
          <a:p>
            <a:pPr algn="l">
              <a:spcAft>
                <a:spcPts val="0"/>
              </a:spcAft>
            </a:pPr>
            <a:r>
              <a:rPr sz="1150" b="0" i="0">
                <a:solidFill>
                  <a:srgbClr val="A3ADC8"/>
                </a:solidFill>
                <a:latin typeface="Calibri"/>
              </a:rPr>
              <a:t>many LLM calls, higher latency</a:t>
            </a:r>
          </a:p>
        </p:txBody>
      </p:sp>
      <p:cxnSp>
        <p:nvCxnSpPr>
          <p:cNvPr id="57" name="Connector 56"/>
          <p:cNvCxnSpPr/>
          <p:nvPr/>
        </p:nvCxnSpPr>
        <p:spPr>
          <a:xfrm>
            <a:off x="6217920" y="4553712"/>
            <a:ext cx="2194560" cy="0"/>
          </a:xfrm>
          <a:prstGeom prst="line">
            <a:avLst/>
          </a:prstGeom>
          <a:ln w="9525">
            <a:solidFill>
              <a:srgbClr val="2C3870"/>
            </a:solidFill>
          </a:ln>
        </p:spPr>
      </p:cxnSp>
      <p:pic>
        <p:nvPicPr>
          <p:cNvPr id="58" name="Picture 57" descr="times_ur.png"/>
          <p:cNvPicPr>
            <a:picLocks noChangeAspect="1"/>
          </p:cNvPicPr>
          <p:nvPr/>
        </p:nvPicPr>
        <p:blipFill>
          <a:blip r:embed="rId8"/>
          <a:stretch>
            <a:fillRect/>
          </a:stretch>
        </p:blipFill>
        <p:spPr>
          <a:xfrm>
            <a:off x="6236207" y="4700016"/>
            <a:ext cx="219456" cy="219456"/>
          </a:xfrm>
          <a:prstGeom prst="rect">
            <a:avLst/>
          </a:prstGeom>
        </p:spPr>
      </p:pic>
      <p:sp>
        <p:nvSpPr>
          <p:cNvPr id="59" name="TextBox 58"/>
          <p:cNvSpPr txBox="1"/>
          <p:nvPr/>
        </p:nvSpPr>
        <p:spPr>
          <a:xfrm>
            <a:off x="6583679" y="4590288"/>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Evaluation</a:t>
            </a:r>
          </a:p>
          <a:p>
            <a:pPr algn="l">
              <a:spcAft>
                <a:spcPts val="0"/>
              </a:spcAft>
            </a:pPr>
            <a:r>
              <a:rPr sz="1150" b="0" i="0">
                <a:solidFill>
                  <a:srgbClr val="A3ADC8"/>
                </a:solidFill>
                <a:latin typeface="Calibri"/>
              </a:rPr>
              <a:t>hard to test reliably [2]</a:t>
            </a:r>
          </a:p>
        </p:txBody>
      </p:sp>
      <p:cxnSp>
        <p:nvCxnSpPr>
          <p:cNvPr id="60" name="Connector 59"/>
          <p:cNvCxnSpPr/>
          <p:nvPr/>
        </p:nvCxnSpPr>
        <p:spPr>
          <a:xfrm>
            <a:off x="6217920" y="5321807"/>
            <a:ext cx="2194560" cy="0"/>
          </a:xfrm>
          <a:prstGeom prst="line">
            <a:avLst/>
          </a:prstGeom>
          <a:ln w="9525">
            <a:solidFill>
              <a:srgbClr val="2C3870"/>
            </a:solidFill>
          </a:ln>
        </p:spPr>
      </p:cxnSp>
      <p:pic>
        <p:nvPicPr>
          <p:cNvPr id="61" name="Picture 60" descr="times_ur.png"/>
          <p:cNvPicPr>
            <a:picLocks noChangeAspect="1"/>
          </p:cNvPicPr>
          <p:nvPr/>
        </p:nvPicPr>
        <p:blipFill>
          <a:blip r:embed="rId8"/>
          <a:stretch>
            <a:fillRect/>
          </a:stretch>
        </p:blipFill>
        <p:spPr>
          <a:xfrm>
            <a:off x="6236207" y="5468112"/>
            <a:ext cx="219456" cy="219456"/>
          </a:xfrm>
          <a:prstGeom prst="rect">
            <a:avLst/>
          </a:prstGeom>
        </p:spPr>
      </p:pic>
      <p:sp>
        <p:nvSpPr>
          <p:cNvPr id="62" name="TextBox 61"/>
          <p:cNvSpPr txBox="1"/>
          <p:nvPr/>
        </p:nvSpPr>
        <p:spPr>
          <a:xfrm>
            <a:off x="6583679" y="5358383"/>
            <a:ext cx="1920240" cy="713232"/>
          </a:xfrm>
          <a:prstGeom prst="rect">
            <a:avLst/>
          </a:prstGeom>
          <a:noFill/>
        </p:spPr>
        <p:txBody>
          <a:bodyPr wrap="square" anchor="t" lIns="0" rIns="0" tIns="0" bIns="0"/>
          <a:lstStyle/>
          <a:p>
            <a:pPr algn="l">
              <a:spcAft>
                <a:spcPts val="0"/>
              </a:spcAft>
            </a:pPr>
            <a:r>
              <a:rPr sz="1350" b="1" i="0">
                <a:solidFill>
                  <a:srgbClr val="EEF2FF"/>
                </a:solidFill>
                <a:latin typeface="Calibri"/>
              </a:rPr>
              <a:t>Oversight</a:t>
            </a:r>
          </a:p>
          <a:p>
            <a:pPr algn="l">
              <a:spcAft>
                <a:spcPts val="0"/>
              </a:spcAft>
            </a:pPr>
            <a:r>
              <a:rPr sz="1150" b="0" i="0">
                <a:solidFill>
                  <a:srgbClr val="A3ADC8"/>
                </a:solidFill>
                <a:latin typeface="Calibri"/>
              </a:rPr>
              <a:t>still needs human checks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07 · applications</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Applications</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Where agentic AI is already deployed</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13</a:t>
            </a:fld>
            <a:r>
              <a:rPr sz="900">
                <a:solidFill>
                  <a:srgbClr val="6B7699"/>
                </a:solidFill>
                <a:latin typeface="Consolas"/>
              </a:rPr>
              <a:t> / 18</a:t>
            </a:r>
          </a:p>
        </p:txBody>
      </p:sp>
      <p:cxnSp>
        <p:nvCxnSpPr>
          <p:cNvPr id="10" name="Connector 9"/>
          <p:cNvCxnSpPr/>
          <p:nvPr/>
        </p:nvCxnSpPr>
        <p:spPr>
          <a:xfrm flipV="1">
            <a:off x="4572000" y="2103120"/>
            <a:ext cx="0" cy="1783080"/>
          </a:xfrm>
          <a:prstGeom prst="line">
            <a:avLst/>
          </a:prstGeom>
          <a:ln w="19050">
            <a:solidFill>
              <a:srgbClr val="2C3870"/>
            </a:solidFill>
          </a:ln>
        </p:spPr>
      </p:cxnSp>
      <p:cxnSp>
        <p:nvCxnSpPr>
          <p:cNvPr id="11" name="Connector 10"/>
          <p:cNvCxnSpPr/>
          <p:nvPr/>
        </p:nvCxnSpPr>
        <p:spPr>
          <a:xfrm flipV="1">
            <a:off x="4572000" y="2994660"/>
            <a:ext cx="2534059" cy="891540"/>
          </a:xfrm>
          <a:prstGeom prst="line">
            <a:avLst/>
          </a:prstGeom>
          <a:ln w="19050">
            <a:solidFill>
              <a:srgbClr val="2C3870"/>
            </a:solidFill>
          </a:ln>
        </p:spPr>
      </p:cxnSp>
      <p:cxnSp>
        <p:nvCxnSpPr>
          <p:cNvPr id="12" name="Connector 11"/>
          <p:cNvCxnSpPr/>
          <p:nvPr/>
        </p:nvCxnSpPr>
        <p:spPr>
          <a:xfrm>
            <a:off x="4572000" y="3886200"/>
            <a:ext cx="2534059" cy="891540"/>
          </a:xfrm>
          <a:prstGeom prst="line">
            <a:avLst/>
          </a:prstGeom>
          <a:ln w="19050">
            <a:solidFill>
              <a:srgbClr val="2C3870"/>
            </a:solidFill>
          </a:ln>
        </p:spPr>
      </p:cxnSp>
      <p:cxnSp>
        <p:nvCxnSpPr>
          <p:cNvPr id="13" name="Connector 12"/>
          <p:cNvCxnSpPr/>
          <p:nvPr/>
        </p:nvCxnSpPr>
        <p:spPr>
          <a:xfrm>
            <a:off x="4572000" y="3886200"/>
            <a:ext cx="0" cy="1783080"/>
          </a:xfrm>
          <a:prstGeom prst="line">
            <a:avLst/>
          </a:prstGeom>
          <a:ln w="19050">
            <a:solidFill>
              <a:srgbClr val="2C3870"/>
            </a:solidFill>
          </a:ln>
        </p:spPr>
      </p:cxnSp>
      <p:cxnSp>
        <p:nvCxnSpPr>
          <p:cNvPr id="14" name="Connector 13"/>
          <p:cNvCxnSpPr/>
          <p:nvPr/>
        </p:nvCxnSpPr>
        <p:spPr>
          <a:xfrm flipH="1">
            <a:off x="2037940" y="3886200"/>
            <a:ext cx="2534060" cy="891540"/>
          </a:xfrm>
          <a:prstGeom prst="line">
            <a:avLst/>
          </a:prstGeom>
          <a:ln w="19050">
            <a:solidFill>
              <a:srgbClr val="2C3870"/>
            </a:solidFill>
          </a:ln>
        </p:spPr>
      </p:cxnSp>
      <p:cxnSp>
        <p:nvCxnSpPr>
          <p:cNvPr id="15" name="Connector 14"/>
          <p:cNvCxnSpPr/>
          <p:nvPr/>
        </p:nvCxnSpPr>
        <p:spPr>
          <a:xfrm flipH="1" flipV="1">
            <a:off x="2037940" y="2994660"/>
            <a:ext cx="2534060" cy="891540"/>
          </a:xfrm>
          <a:prstGeom prst="line">
            <a:avLst/>
          </a:prstGeom>
          <a:ln w="19050">
            <a:solidFill>
              <a:srgbClr val="2C3870"/>
            </a:solidFill>
          </a:ln>
        </p:spPr>
      </p:cxnSp>
      <p:sp>
        <p:nvSpPr>
          <p:cNvPr id="16" name="Oval 15"/>
          <p:cNvSpPr/>
          <p:nvPr/>
        </p:nvSpPr>
        <p:spPr>
          <a:xfrm>
            <a:off x="3657600" y="2971800"/>
            <a:ext cx="1828800" cy="1828800"/>
          </a:xfrm>
          <a:prstGeom prst="ellipse">
            <a:avLst/>
          </a:prstGeom>
          <a:solidFill>
            <a:srgbClr val="7C3AED">
              <a:alpha val="28000"/>
            </a:srgbClr>
          </a:solidFill>
          <a:ln>
            <a:noFill/>
          </a:ln>
        </p:spPr>
        <p:txBody>
          <a:bodyPr rtlCol="0" anchor="ctr" wrap="square" lIns="54864" rIns="54864" tIns="54864" bIns="54864"/>
          <a:lstStyle/>
          <a:p>
            <a:pPr algn="ctr"/>
          </a:p>
        </p:txBody>
      </p:sp>
      <p:sp>
        <p:nvSpPr>
          <p:cNvPr id="17" name="Oval 16"/>
          <p:cNvSpPr/>
          <p:nvPr/>
        </p:nvSpPr>
        <p:spPr>
          <a:xfrm>
            <a:off x="3950208" y="3264408"/>
            <a:ext cx="1243584" cy="1243584"/>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spcAft>
                <a:spcPts val="0"/>
              </a:spcAft>
            </a:pPr>
            <a:r>
              <a:rPr sz="1400" b="1" i="0">
                <a:solidFill>
                  <a:srgbClr val="FFFFFF"/>
                </a:solidFill>
                <a:latin typeface="Calibri"/>
              </a:rPr>
              <a:t>Agentic</a:t>
            </a:r>
          </a:p>
          <a:p>
            <a:pPr algn="ctr">
              <a:spcAft>
                <a:spcPts val="0"/>
              </a:spcAft>
            </a:pPr>
            <a:r>
              <a:rPr sz="1400" b="1" i="0">
                <a:solidFill>
                  <a:srgbClr val="FFFFFF"/>
                </a:solidFill>
                <a:latin typeface="Calibri"/>
              </a:rPr>
              <a:t>AI</a:t>
            </a:r>
          </a:p>
        </p:txBody>
      </p:sp>
      <p:sp>
        <p:nvSpPr>
          <p:cNvPr id="18" name="Rounded Rectangle 17"/>
          <p:cNvSpPr/>
          <p:nvPr/>
        </p:nvSpPr>
        <p:spPr>
          <a:xfrm>
            <a:off x="3337560" y="1645919"/>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9" name="Oval 18"/>
          <p:cNvSpPr/>
          <p:nvPr/>
        </p:nvSpPr>
        <p:spPr>
          <a:xfrm>
            <a:off x="3474720" y="1828799"/>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20" name="Picture 19" descr="code_w.png"/>
          <p:cNvPicPr>
            <a:picLocks noChangeAspect="1"/>
          </p:cNvPicPr>
          <p:nvPr/>
        </p:nvPicPr>
        <p:blipFill>
          <a:blip r:embed="rId4"/>
          <a:stretch>
            <a:fillRect/>
          </a:stretch>
        </p:blipFill>
        <p:spPr>
          <a:xfrm>
            <a:off x="3611879" y="1965960"/>
            <a:ext cx="274320" cy="274320"/>
          </a:xfrm>
          <a:prstGeom prst="rect">
            <a:avLst/>
          </a:prstGeom>
        </p:spPr>
      </p:pic>
      <p:sp>
        <p:nvSpPr>
          <p:cNvPr id="21" name="TextBox 20"/>
          <p:cNvSpPr txBox="1"/>
          <p:nvPr/>
        </p:nvSpPr>
        <p:spPr>
          <a:xfrm>
            <a:off x="4114800" y="171907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Software engineering</a:t>
            </a:r>
          </a:p>
        </p:txBody>
      </p:sp>
      <p:sp>
        <p:nvSpPr>
          <p:cNvPr id="22" name="TextBox 21"/>
          <p:cNvSpPr txBox="1"/>
          <p:nvPr/>
        </p:nvSpPr>
        <p:spPr>
          <a:xfrm>
            <a:off x="4114800" y="2066543"/>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Agents write, test and debug code.</a:t>
            </a:r>
          </a:p>
        </p:txBody>
      </p:sp>
      <p:sp>
        <p:nvSpPr>
          <p:cNvPr id="23" name="Rounded Rectangle 22"/>
          <p:cNvSpPr/>
          <p:nvPr/>
        </p:nvSpPr>
        <p:spPr>
          <a:xfrm>
            <a:off x="5871619" y="2537460"/>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4" name="Oval 23"/>
          <p:cNvSpPr/>
          <p:nvPr/>
        </p:nvSpPr>
        <p:spPr>
          <a:xfrm>
            <a:off x="6008779" y="2720340"/>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25" name="Picture 24" descr="search_w.png"/>
          <p:cNvPicPr>
            <a:picLocks noChangeAspect="1"/>
          </p:cNvPicPr>
          <p:nvPr/>
        </p:nvPicPr>
        <p:blipFill>
          <a:blip r:embed="rId5"/>
          <a:stretch>
            <a:fillRect/>
          </a:stretch>
        </p:blipFill>
        <p:spPr>
          <a:xfrm>
            <a:off x="6145939" y="2857500"/>
            <a:ext cx="274320" cy="274320"/>
          </a:xfrm>
          <a:prstGeom prst="rect">
            <a:avLst/>
          </a:prstGeom>
        </p:spPr>
      </p:pic>
      <p:sp>
        <p:nvSpPr>
          <p:cNvPr id="26" name="TextBox 25"/>
          <p:cNvSpPr txBox="1"/>
          <p:nvPr/>
        </p:nvSpPr>
        <p:spPr>
          <a:xfrm>
            <a:off x="6648859" y="261061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Research assistants</a:t>
            </a:r>
          </a:p>
        </p:txBody>
      </p:sp>
      <p:sp>
        <p:nvSpPr>
          <p:cNvPr id="27" name="TextBox 26"/>
          <p:cNvSpPr txBox="1"/>
          <p:nvPr/>
        </p:nvSpPr>
        <p:spPr>
          <a:xfrm>
            <a:off x="6648859" y="2958084"/>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Parallel search agents compile reports [11].</a:t>
            </a:r>
          </a:p>
        </p:txBody>
      </p:sp>
      <p:sp>
        <p:nvSpPr>
          <p:cNvPr id="28" name="Rounded Rectangle 27"/>
          <p:cNvSpPr/>
          <p:nvPr/>
        </p:nvSpPr>
        <p:spPr>
          <a:xfrm>
            <a:off x="5871619" y="4320540"/>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9" name="Oval 28"/>
          <p:cNvSpPr/>
          <p:nvPr/>
        </p:nvSpPr>
        <p:spPr>
          <a:xfrm>
            <a:off x="6008779" y="4503420"/>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30" name="Picture 29" descr="bug_w.png"/>
          <p:cNvPicPr>
            <a:picLocks noChangeAspect="1"/>
          </p:cNvPicPr>
          <p:nvPr/>
        </p:nvPicPr>
        <p:blipFill>
          <a:blip r:embed="rId6"/>
          <a:stretch>
            <a:fillRect/>
          </a:stretch>
        </p:blipFill>
        <p:spPr>
          <a:xfrm>
            <a:off x="6145939" y="4640580"/>
            <a:ext cx="274320" cy="274320"/>
          </a:xfrm>
          <a:prstGeom prst="rect">
            <a:avLst/>
          </a:prstGeom>
        </p:spPr>
      </p:pic>
      <p:sp>
        <p:nvSpPr>
          <p:cNvPr id="31" name="TextBox 30"/>
          <p:cNvSpPr txBox="1"/>
          <p:nvPr/>
        </p:nvSpPr>
        <p:spPr>
          <a:xfrm>
            <a:off x="6648859" y="439369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Cybersecurity</a:t>
            </a:r>
          </a:p>
        </p:txBody>
      </p:sp>
      <p:sp>
        <p:nvSpPr>
          <p:cNvPr id="32" name="TextBox 31"/>
          <p:cNvSpPr txBox="1"/>
          <p:nvPr/>
        </p:nvSpPr>
        <p:spPr>
          <a:xfrm>
            <a:off x="6648859" y="4741164"/>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Vulnerability discovery and testing [7].</a:t>
            </a:r>
          </a:p>
        </p:txBody>
      </p:sp>
      <p:sp>
        <p:nvSpPr>
          <p:cNvPr id="33" name="Rounded Rectangle 32"/>
          <p:cNvSpPr/>
          <p:nvPr/>
        </p:nvSpPr>
        <p:spPr>
          <a:xfrm>
            <a:off x="3337560" y="5212080"/>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4" name="Oval 33"/>
          <p:cNvSpPr/>
          <p:nvPr/>
        </p:nvSpPr>
        <p:spPr>
          <a:xfrm>
            <a:off x="3474720" y="5394960"/>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35" name="Picture 34" descr="robot_w.png"/>
          <p:cNvPicPr>
            <a:picLocks noChangeAspect="1"/>
          </p:cNvPicPr>
          <p:nvPr/>
        </p:nvPicPr>
        <p:blipFill>
          <a:blip r:embed="rId7"/>
          <a:stretch>
            <a:fillRect/>
          </a:stretch>
        </p:blipFill>
        <p:spPr>
          <a:xfrm>
            <a:off x="3611879" y="5532120"/>
            <a:ext cx="274320" cy="274320"/>
          </a:xfrm>
          <a:prstGeom prst="rect">
            <a:avLst/>
          </a:prstGeom>
        </p:spPr>
      </p:pic>
      <p:sp>
        <p:nvSpPr>
          <p:cNvPr id="36" name="TextBox 35"/>
          <p:cNvSpPr txBox="1"/>
          <p:nvPr/>
        </p:nvSpPr>
        <p:spPr>
          <a:xfrm>
            <a:off x="4114800" y="528523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Industrial robotics</a:t>
            </a:r>
          </a:p>
        </p:txBody>
      </p:sp>
      <p:sp>
        <p:nvSpPr>
          <p:cNvPr id="37" name="TextBox 36"/>
          <p:cNvSpPr txBox="1"/>
          <p:nvPr/>
        </p:nvSpPr>
        <p:spPr>
          <a:xfrm>
            <a:off x="4114800" y="5632704"/>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Long-horizon planning, replanning [9].</a:t>
            </a:r>
          </a:p>
        </p:txBody>
      </p:sp>
      <p:sp>
        <p:nvSpPr>
          <p:cNvPr id="38" name="Rounded Rectangle 37"/>
          <p:cNvSpPr/>
          <p:nvPr/>
        </p:nvSpPr>
        <p:spPr>
          <a:xfrm>
            <a:off x="803500" y="4320540"/>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39" name="Oval 38"/>
          <p:cNvSpPr/>
          <p:nvPr/>
        </p:nvSpPr>
        <p:spPr>
          <a:xfrm>
            <a:off x="940660" y="4503420"/>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40" name="Picture 39" descr="cogs_w.png"/>
          <p:cNvPicPr>
            <a:picLocks noChangeAspect="1"/>
          </p:cNvPicPr>
          <p:nvPr/>
        </p:nvPicPr>
        <p:blipFill>
          <a:blip r:embed="rId8"/>
          <a:stretch>
            <a:fillRect/>
          </a:stretch>
        </p:blipFill>
        <p:spPr>
          <a:xfrm>
            <a:off x="1077820" y="4640580"/>
            <a:ext cx="274320" cy="274320"/>
          </a:xfrm>
          <a:prstGeom prst="rect">
            <a:avLst/>
          </a:prstGeom>
        </p:spPr>
      </p:pic>
      <p:sp>
        <p:nvSpPr>
          <p:cNvPr id="41" name="TextBox 40"/>
          <p:cNvSpPr txBox="1"/>
          <p:nvPr/>
        </p:nvSpPr>
        <p:spPr>
          <a:xfrm>
            <a:off x="1580740" y="439369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Business workflows</a:t>
            </a:r>
          </a:p>
        </p:txBody>
      </p:sp>
      <p:sp>
        <p:nvSpPr>
          <p:cNvPr id="42" name="TextBox 41"/>
          <p:cNvSpPr txBox="1"/>
          <p:nvPr/>
        </p:nvSpPr>
        <p:spPr>
          <a:xfrm>
            <a:off x="1580740" y="4741164"/>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Tickets, data entry and reporting.</a:t>
            </a:r>
          </a:p>
        </p:txBody>
      </p:sp>
      <p:sp>
        <p:nvSpPr>
          <p:cNvPr id="43" name="Rounded Rectangle 42"/>
          <p:cNvSpPr/>
          <p:nvPr/>
        </p:nvSpPr>
        <p:spPr>
          <a:xfrm>
            <a:off x="803500" y="2537460"/>
            <a:ext cx="2468880" cy="914400"/>
          </a:xfrm>
          <a:prstGeom prst="roundRect">
            <a:avLst>
              <a:gd name="adj" fmla="val 140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44" name="Oval 43"/>
          <p:cNvSpPr/>
          <p:nvPr/>
        </p:nvSpPr>
        <p:spPr>
          <a:xfrm>
            <a:off x="940660" y="2720340"/>
            <a:ext cx="548640" cy="54864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p>
        </p:txBody>
      </p:sp>
      <p:pic>
        <p:nvPicPr>
          <p:cNvPr id="45" name="Picture 44" descr="user_w.png"/>
          <p:cNvPicPr>
            <a:picLocks noChangeAspect="1"/>
          </p:cNvPicPr>
          <p:nvPr/>
        </p:nvPicPr>
        <p:blipFill>
          <a:blip r:embed="rId9"/>
          <a:stretch>
            <a:fillRect/>
          </a:stretch>
        </p:blipFill>
        <p:spPr>
          <a:xfrm>
            <a:off x="1077820" y="2857500"/>
            <a:ext cx="274320" cy="274320"/>
          </a:xfrm>
          <a:prstGeom prst="rect">
            <a:avLst/>
          </a:prstGeom>
        </p:spPr>
      </p:pic>
      <p:sp>
        <p:nvSpPr>
          <p:cNvPr id="46" name="TextBox 45"/>
          <p:cNvSpPr txBox="1"/>
          <p:nvPr/>
        </p:nvSpPr>
        <p:spPr>
          <a:xfrm>
            <a:off x="1580740" y="2610612"/>
            <a:ext cx="1645920" cy="347472"/>
          </a:xfrm>
          <a:prstGeom prst="rect">
            <a:avLst/>
          </a:prstGeom>
          <a:noFill/>
        </p:spPr>
        <p:txBody>
          <a:bodyPr wrap="square" anchor="ctr" lIns="0" rIns="0" tIns="0" bIns="0"/>
          <a:lstStyle/>
          <a:p>
            <a:pPr algn="l">
              <a:spcAft>
                <a:spcPts val="400"/>
              </a:spcAft>
            </a:pPr>
            <a:r>
              <a:rPr sz="1300" b="1" i="0">
                <a:solidFill>
                  <a:srgbClr val="EEF2FF"/>
                </a:solidFill>
                <a:latin typeface="Calibri"/>
              </a:rPr>
              <a:t>Personal assistants</a:t>
            </a:r>
          </a:p>
        </p:txBody>
      </p:sp>
      <p:sp>
        <p:nvSpPr>
          <p:cNvPr id="47" name="TextBox 46"/>
          <p:cNvSpPr txBox="1"/>
          <p:nvPr/>
        </p:nvSpPr>
        <p:spPr>
          <a:xfrm>
            <a:off x="1580740" y="2958084"/>
            <a:ext cx="1645920" cy="475488"/>
          </a:xfrm>
          <a:prstGeom prst="rect">
            <a:avLst/>
          </a:prstGeom>
          <a:noFill/>
        </p:spPr>
        <p:txBody>
          <a:bodyPr wrap="square" anchor="t" lIns="0" rIns="0" tIns="0" bIns="0"/>
          <a:lstStyle/>
          <a:p>
            <a:pPr algn="l">
              <a:spcAft>
                <a:spcPts val="400"/>
              </a:spcAft>
            </a:pPr>
            <a:r>
              <a:rPr sz="1050" b="0" i="0">
                <a:solidFill>
                  <a:srgbClr val="A3ADC8"/>
                </a:solidFill>
                <a:latin typeface="Calibri"/>
              </a:rPr>
              <a:t>Email, scheduling, travel via tools.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08 · analysis / comparison</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Analysis / Comparison</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Agentic approach vs other technologies and tools — and its benefits</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14</a:t>
            </a:fld>
            <a:r>
              <a:rPr sz="900">
                <a:solidFill>
                  <a:srgbClr val="6B7699"/>
                </a:solidFill>
                <a:latin typeface="Consolas"/>
              </a:rPr>
              <a:t> / 18</a:t>
            </a:r>
          </a:p>
        </p:txBody>
      </p:sp>
      <p:graphicFrame>
        <p:nvGraphicFramePr>
          <p:cNvPr id="10" name="Table 9"/>
          <p:cNvGraphicFramePr>
            <a:graphicFrameLocks noGrp="1"/>
          </p:cNvGraphicFramePr>
          <p:nvPr/>
        </p:nvGraphicFramePr>
        <p:xfrm>
          <a:off x="548640" y="1508760"/>
          <a:ext cx="8046720" cy="2304288"/>
        </p:xfrm>
        <a:graphic>
          <a:graphicData uri="http://schemas.openxmlformats.org/drawingml/2006/table">
            <a:tbl>
              <a:tblPr firstRow="0" bandRow="0">
                <a:tableStyleId>{2D5ABB26-0587-4C30-8999-92F81FD0307C}</a:tableStyleId>
              </a:tblPr>
              <a:tblGrid>
                <a:gridCol w="1554480"/>
                <a:gridCol w="2011680"/>
                <a:gridCol w="2103120"/>
                <a:gridCol w="2377440"/>
              </a:tblGrid>
              <a:tr h="384048">
                <a:tc>
                  <a:txBody>
                    <a:bodyPr wrap="square"/>
                    <a:lstStyle/>
                    <a:p>
                      <a:pPr algn="l">
                        <a:spcAft>
                          <a:spcPts val="400"/>
                        </a:spcAft>
                      </a:pPr>
                      <a:r>
                        <a:rPr sz="1200" b="1" i="0">
                          <a:solidFill>
                            <a:srgbClr val="FFFFFF"/>
                          </a:solidFill>
                          <a:latin typeface="Calibri"/>
                        </a:rPr>
                        <a:t>Aspect</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Single LLM</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Single agent (ReAct)</a:t>
                      </a:r>
                    </a:p>
                  </a:txBody>
                  <a:tcPr marL="91440" marR="91440" marT="45720" marB="45720" anchor="ctr">
                    <a:solidFill>
                      <a:srgbClr val="7C3AED"/>
                    </a:solidFill>
                  </a:tcPr>
                </a:tc>
                <a:tc>
                  <a:txBody>
                    <a:bodyPr wrap="square"/>
                    <a:lstStyle/>
                    <a:p>
                      <a:pPr algn="l">
                        <a:spcAft>
                          <a:spcPts val="400"/>
                        </a:spcAft>
                      </a:pPr>
                      <a:r>
                        <a:rPr sz="1200" b="1" i="0">
                          <a:solidFill>
                            <a:srgbClr val="FFFFFF"/>
                          </a:solidFill>
                          <a:latin typeface="Calibri"/>
                        </a:rPr>
                        <a:t>Multi-agent system</a:t>
                      </a:r>
                    </a:p>
                  </a:txBody>
                  <a:tcPr marL="91440" marR="91440" marT="45720" marB="45720" anchor="ctr">
                    <a:solidFill>
                      <a:srgbClr val="0891B2"/>
                    </a:solidFill>
                  </a:tcPr>
                </a:tc>
              </a:tr>
              <a:tr h="384048">
                <a:tc>
                  <a:txBody>
                    <a:bodyPr wrap="square"/>
                    <a:lstStyle/>
                    <a:p>
                      <a:pPr algn="l">
                        <a:spcAft>
                          <a:spcPts val="200"/>
                        </a:spcAft>
                      </a:pPr>
                      <a:r>
                        <a:rPr sz="1150" b="1" i="0">
                          <a:solidFill>
                            <a:srgbClr val="EEF2FF"/>
                          </a:solidFill>
                          <a:latin typeface="Calibri"/>
                        </a:rPr>
                        <a:t>Task type</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One-shot answers</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Multi-step tasks</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Large, parallel, multi-skill</a:t>
                      </a:r>
                    </a:p>
                  </a:txBody>
                  <a:tcPr marL="91440" marR="91440" marT="45720" marB="45720" anchor="ctr">
                    <a:solidFill>
                      <a:srgbClr val="123047"/>
                    </a:solidFill>
                  </a:tcPr>
                </a:tc>
              </a:tr>
              <a:tr h="384048">
                <a:tc>
                  <a:txBody>
                    <a:bodyPr wrap="square"/>
                    <a:lstStyle/>
                    <a:p>
                      <a:pPr algn="l">
                        <a:spcAft>
                          <a:spcPts val="200"/>
                        </a:spcAft>
                      </a:pPr>
                      <a:r>
                        <a:rPr sz="1150" b="1" i="0">
                          <a:solidFill>
                            <a:srgbClr val="EEF2FF"/>
                          </a:solidFill>
                          <a:latin typeface="Calibri"/>
                        </a:rPr>
                        <a:t>Tools</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None</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Yes</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Specialised per agent</a:t>
                      </a:r>
                    </a:p>
                  </a:txBody>
                  <a:tcPr marL="91440" marR="91440" marT="45720" marB="45720" anchor="ctr">
                    <a:solidFill>
                      <a:srgbClr val="123047"/>
                    </a:solidFill>
                  </a:tcPr>
                </a:tc>
              </a:tr>
              <a:tr h="384048">
                <a:tc>
                  <a:txBody>
                    <a:bodyPr wrap="square"/>
                    <a:lstStyle/>
                    <a:p>
                      <a:pPr algn="l">
                        <a:spcAft>
                          <a:spcPts val="200"/>
                        </a:spcAft>
                      </a:pPr>
                      <a:r>
                        <a:rPr sz="1150" b="1" i="0">
                          <a:solidFill>
                            <a:srgbClr val="EEF2FF"/>
                          </a:solidFill>
                          <a:latin typeface="Calibri"/>
                        </a:rPr>
                        <a:t>Memory</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Prompt window only</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Short + long-term</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Per-agent + shared</a:t>
                      </a:r>
                    </a:p>
                  </a:txBody>
                  <a:tcPr marL="91440" marR="91440" marT="45720" marB="45720" anchor="ctr">
                    <a:solidFill>
                      <a:srgbClr val="123047"/>
                    </a:solidFill>
                  </a:tcPr>
                </a:tc>
              </a:tr>
              <a:tr h="384048">
                <a:tc>
                  <a:txBody>
                    <a:bodyPr wrap="square"/>
                    <a:lstStyle/>
                    <a:p>
                      <a:pPr algn="l">
                        <a:spcAft>
                          <a:spcPts val="200"/>
                        </a:spcAft>
                      </a:pPr>
                      <a:r>
                        <a:rPr sz="1150" b="1" i="0">
                          <a:solidFill>
                            <a:srgbClr val="EEF2FF"/>
                          </a:solidFill>
                          <a:latin typeface="Calibri"/>
                        </a:rPr>
                        <a:t>Error handling</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User re-prompts</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Self-reflection loop</a:t>
                      </a:r>
                    </a:p>
                  </a:txBody>
                  <a:tcPr marL="91440" marR="91440" marT="45720" marB="45720" anchor="ctr">
                    <a:solidFill>
                      <a:srgbClr val="1B2445"/>
                    </a:solidFill>
                  </a:tcPr>
                </a:tc>
                <a:tc>
                  <a:txBody>
                    <a:bodyPr wrap="square"/>
                    <a:lstStyle/>
                    <a:p>
                      <a:pPr algn="l">
                        <a:spcAft>
                          <a:spcPts val="200"/>
                        </a:spcAft>
                      </a:pPr>
                      <a:r>
                        <a:rPr sz="1150" b="0" i="0">
                          <a:solidFill>
                            <a:srgbClr val="EEF2FF"/>
                          </a:solidFill>
                          <a:latin typeface="Calibri"/>
                        </a:rPr>
                        <a:t>Critique agents + verification</a:t>
                      </a:r>
                    </a:p>
                  </a:txBody>
                  <a:tcPr marL="91440" marR="91440" marT="45720" marB="45720" anchor="ctr">
                    <a:solidFill>
                      <a:srgbClr val="123047"/>
                    </a:solidFill>
                  </a:tcPr>
                </a:tc>
              </a:tr>
              <a:tr h="384048">
                <a:tc>
                  <a:txBody>
                    <a:bodyPr wrap="square"/>
                    <a:lstStyle/>
                    <a:p>
                      <a:pPr algn="l">
                        <a:spcAft>
                          <a:spcPts val="200"/>
                        </a:spcAft>
                      </a:pPr>
                      <a:r>
                        <a:rPr sz="1150" b="1" i="0">
                          <a:solidFill>
                            <a:srgbClr val="EEF2FF"/>
                          </a:solidFill>
                          <a:latin typeface="Calibri"/>
                        </a:rPr>
                        <a:t>Cost / latency</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Low</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Medium</a:t>
                      </a:r>
                    </a:p>
                  </a:txBody>
                  <a:tcPr marL="91440" marR="91440" marT="45720" marB="45720" anchor="ctr">
                    <a:solidFill>
                      <a:srgbClr val="151C38"/>
                    </a:solidFill>
                  </a:tcPr>
                </a:tc>
                <a:tc>
                  <a:txBody>
                    <a:bodyPr wrap="square"/>
                    <a:lstStyle/>
                    <a:p>
                      <a:pPr algn="l">
                        <a:spcAft>
                          <a:spcPts val="200"/>
                        </a:spcAft>
                      </a:pPr>
                      <a:r>
                        <a:rPr sz="1150" b="0" i="0">
                          <a:solidFill>
                            <a:srgbClr val="EEF2FF"/>
                          </a:solidFill>
                          <a:latin typeface="Calibri"/>
                        </a:rPr>
                        <a:t>High — many LLM calls [11]</a:t>
                      </a:r>
                    </a:p>
                  </a:txBody>
                  <a:tcPr marL="91440" marR="91440" marT="45720" marB="45720" anchor="ctr">
                    <a:solidFill>
                      <a:srgbClr val="123047"/>
                    </a:solidFill>
                  </a:tcPr>
                </a:tc>
              </a:tr>
            </a:tbl>
          </a:graphicData>
        </a:graphic>
      </p:graphicFrame>
      <p:sp>
        <p:nvSpPr>
          <p:cNvPr id="11" name="TextBox 10"/>
          <p:cNvSpPr txBox="1"/>
          <p:nvPr/>
        </p:nvSpPr>
        <p:spPr>
          <a:xfrm>
            <a:off x="548640" y="3977639"/>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AGENT FRAMEWORKS COMPARED [10]</a:t>
            </a:r>
          </a:p>
        </p:txBody>
      </p:sp>
      <p:sp>
        <p:nvSpPr>
          <p:cNvPr id="12" name="Rounded Rectangle 11"/>
          <p:cNvSpPr/>
          <p:nvPr/>
        </p:nvSpPr>
        <p:spPr>
          <a:xfrm>
            <a:off x="548640" y="4279392"/>
            <a:ext cx="256032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3" name="TextBox 12"/>
          <p:cNvSpPr txBox="1"/>
          <p:nvPr/>
        </p:nvSpPr>
        <p:spPr>
          <a:xfrm>
            <a:off x="713232" y="4343400"/>
            <a:ext cx="2286000" cy="320040"/>
          </a:xfrm>
          <a:prstGeom prst="rect">
            <a:avLst/>
          </a:prstGeom>
          <a:noFill/>
        </p:spPr>
        <p:txBody>
          <a:bodyPr wrap="square" anchor="t" lIns="0" rIns="0" tIns="0" bIns="0"/>
          <a:lstStyle/>
          <a:p>
            <a:pPr algn="l">
              <a:spcAft>
                <a:spcPts val="400"/>
              </a:spcAft>
            </a:pPr>
            <a:r>
              <a:rPr sz="1350" b="1" i="0">
                <a:solidFill>
                  <a:srgbClr val="22D3EE"/>
                </a:solidFill>
                <a:latin typeface="Calibri"/>
              </a:rPr>
              <a:t>CrewAI</a:t>
            </a:r>
          </a:p>
        </p:txBody>
      </p:sp>
      <p:sp>
        <p:nvSpPr>
          <p:cNvPr id="14" name="TextBox 13"/>
          <p:cNvSpPr txBox="1"/>
          <p:nvPr/>
        </p:nvSpPr>
        <p:spPr>
          <a:xfrm>
            <a:off x="713232" y="4663440"/>
            <a:ext cx="2286000" cy="274320"/>
          </a:xfrm>
          <a:prstGeom prst="rect">
            <a:avLst/>
          </a:prstGeom>
          <a:noFill/>
        </p:spPr>
        <p:txBody>
          <a:bodyPr wrap="square" anchor="t" lIns="0" rIns="0" tIns="0" bIns="0"/>
          <a:lstStyle/>
          <a:p>
            <a:pPr algn="l">
              <a:spcAft>
                <a:spcPts val="400"/>
              </a:spcAft>
            </a:pPr>
            <a:r>
              <a:rPr sz="1150" b="0" i="0">
                <a:solidFill>
                  <a:srgbClr val="EEF2FF"/>
                </a:solidFill>
                <a:latin typeface="Calibri"/>
              </a:rPr>
              <a:t>role-based agent crews</a:t>
            </a:r>
          </a:p>
        </p:txBody>
      </p:sp>
      <p:sp>
        <p:nvSpPr>
          <p:cNvPr id="15" name="TextBox 14"/>
          <p:cNvSpPr txBox="1"/>
          <p:nvPr/>
        </p:nvSpPr>
        <p:spPr>
          <a:xfrm>
            <a:off x="713232" y="4956048"/>
            <a:ext cx="2286000" cy="411480"/>
          </a:xfrm>
          <a:prstGeom prst="rect">
            <a:avLst/>
          </a:prstGeom>
          <a:noFill/>
        </p:spPr>
        <p:txBody>
          <a:bodyPr wrap="square" anchor="t" lIns="0" rIns="0" tIns="0" bIns="0"/>
          <a:lstStyle/>
          <a:p>
            <a:pPr algn="l">
              <a:spcAft>
                <a:spcPts val="400"/>
              </a:spcAft>
            </a:pPr>
            <a:r>
              <a:rPr sz="1100" b="1" i="0">
                <a:solidFill>
                  <a:srgbClr val="A78BFA"/>
                </a:solidFill>
                <a:latin typeface="Calibri"/>
              </a:rPr>
              <a:t>best for: </a:t>
            </a:r>
            <a:r>
              <a:rPr sz="1100" b="0" i="0">
                <a:solidFill>
                  <a:srgbClr val="A3ADC8"/>
                </a:solidFill>
                <a:latin typeface="Calibri"/>
              </a:rPr>
              <a:t>quick team-of-roles prototypes</a:t>
            </a:r>
          </a:p>
        </p:txBody>
      </p:sp>
      <p:sp>
        <p:nvSpPr>
          <p:cNvPr id="16" name="Rounded Rectangle 15"/>
          <p:cNvSpPr/>
          <p:nvPr/>
        </p:nvSpPr>
        <p:spPr>
          <a:xfrm>
            <a:off x="3291840" y="4279392"/>
            <a:ext cx="256032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7" name="TextBox 16"/>
          <p:cNvSpPr txBox="1"/>
          <p:nvPr/>
        </p:nvSpPr>
        <p:spPr>
          <a:xfrm>
            <a:off x="3456432" y="4343400"/>
            <a:ext cx="2286000" cy="320040"/>
          </a:xfrm>
          <a:prstGeom prst="rect">
            <a:avLst/>
          </a:prstGeom>
          <a:noFill/>
        </p:spPr>
        <p:txBody>
          <a:bodyPr wrap="square" anchor="t" lIns="0" rIns="0" tIns="0" bIns="0"/>
          <a:lstStyle/>
          <a:p>
            <a:pPr algn="l">
              <a:spcAft>
                <a:spcPts val="400"/>
              </a:spcAft>
            </a:pPr>
            <a:r>
              <a:rPr sz="1350" b="1" i="0">
                <a:solidFill>
                  <a:srgbClr val="22D3EE"/>
                </a:solidFill>
                <a:latin typeface="Calibri"/>
              </a:rPr>
              <a:t>AutoGen</a:t>
            </a:r>
          </a:p>
        </p:txBody>
      </p:sp>
      <p:sp>
        <p:nvSpPr>
          <p:cNvPr id="18" name="TextBox 17"/>
          <p:cNvSpPr txBox="1"/>
          <p:nvPr/>
        </p:nvSpPr>
        <p:spPr>
          <a:xfrm>
            <a:off x="3456432" y="4663440"/>
            <a:ext cx="2286000" cy="274320"/>
          </a:xfrm>
          <a:prstGeom prst="rect">
            <a:avLst/>
          </a:prstGeom>
          <a:noFill/>
        </p:spPr>
        <p:txBody>
          <a:bodyPr wrap="square" anchor="t" lIns="0" rIns="0" tIns="0" bIns="0"/>
          <a:lstStyle/>
          <a:p>
            <a:pPr algn="l">
              <a:spcAft>
                <a:spcPts val="400"/>
              </a:spcAft>
            </a:pPr>
            <a:r>
              <a:rPr sz="1150" b="0" i="0">
                <a:solidFill>
                  <a:srgbClr val="EEF2FF"/>
                </a:solidFill>
                <a:latin typeface="Calibri"/>
              </a:rPr>
              <a:t>agents collaborate by conversation</a:t>
            </a:r>
          </a:p>
        </p:txBody>
      </p:sp>
      <p:sp>
        <p:nvSpPr>
          <p:cNvPr id="19" name="TextBox 18"/>
          <p:cNvSpPr txBox="1"/>
          <p:nvPr/>
        </p:nvSpPr>
        <p:spPr>
          <a:xfrm>
            <a:off x="3456432" y="4956048"/>
            <a:ext cx="2286000" cy="411480"/>
          </a:xfrm>
          <a:prstGeom prst="rect">
            <a:avLst/>
          </a:prstGeom>
          <a:noFill/>
        </p:spPr>
        <p:txBody>
          <a:bodyPr wrap="square" anchor="t" lIns="0" rIns="0" tIns="0" bIns="0"/>
          <a:lstStyle/>
          <a:p>
            <a:pPr algn="l">
              <a:spcAft>
                <a:spcPts val="400"/>
              </a:spcAft>
            </a:pPr>
            <a:r>
              <a:rPr sz="1100" b="1" i="0">
                <a:solidFill>
                  <a:srgbClr val="A78BFA"/>
                </a:solidFill>
                <a:latin typeface="Calibri"/>
              </a:rPr>
              <a:t>best for: </a:t>
            </a:r>
            <a:r>
              <a:rPr sz="1100" b="0" i="0">
                <a:solidFill>
                  <a:srgbClr val="A3ADC8"/>
                </a:solidFill>
                <a:latin typeface="Calibri"/>
              </a:rPr>
              <a:t>dialogue-driven problem solving</a:t>
            </a:r>
          </a:p>
        </p:txBody>
      </p:sp>
      <p:sp>
        <p:nvSpPr>
          <p:cNvPr id="20" name="Rounded Rectangle 19"/>
          <p:cNvSpPr/>
          <p:nvPr/>
        </p:nvSpPr>
        <p:spPr>
          <a:xfrm>
            <a:off x="6035040" y="4279392"/>
            <a:ext cx="2560320" cy="1143000"/>
          </a:xfrm>
          <a:prstGeom prst="roundRect">
            <a:avLst>
              <a:gd name="adj" fmla="val 11200"/>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1" name="TextBox 20"/>
          <p:cNvSpPr txBox="1"/>
          <p:nvPr/>
        </p:nvSpPr>
        <p:spPr>
          <a:xfrm>
            <a:off x="6199631" y="4343400"/>
            <a:ext cx="2286000" cy="320040"/>
          </a:xfrm>
          <a:prstGeom prst="rect">
            <a:avLst/>
          </a:prstGeom>
          <a:noFill/>
        </p:spPr>
        <p:txBody>
          <a:bodyPr wrap="square" anchor="t" lIns="0" rIns="0" tIns="0" bIns="0"/>
          <a:lstStyle/>
          <a:p>
            <a:pPr algn="l">
              <a:spcAft>
                <a:spcPts val="400"/>
              </a:spcAft>
            </a:pPr>
            <a:r>
              <a:rPr sz="1350" b="1" i="0">
                <a:solidFill>
                  <a:srgbClr val="22D3EE"/>
                </a:solidFill>
                <a:latin typeface="Calibri"/>
              </a:rPr>
              <a:t>LangChain / LangGraph</a:t>
            </a:r>
          </a:p>
        </p:txBody>
      </p:sp>
      <p:sp>
        <p:nvSpPr>
          <p:cNvPr id="22" name="TextBox 21"/>
          <p:cNvSpPr txBox="1"/>
          <p:nvPr/>
        </p:nvSpPr>
        <p:spPr>
          <a:xfrm>
            <a:off x="6199631" y="4663440"/>
            <a:ext cx="2286000" cy="274320"/>
          </a:xfrm>
          <a:prstGeom prst="rect">
            <a:avLst/>
          </a:prstGeom>
          <a:noFill/>
        </p:spPr>
        <p:txBody>
          <a:bodyPr wrap="square" anchor="t" lIns="0" rIns="0" tIns="0" bIns="0"/>
          <a:lstStyle/>
          <a:p>
            <a:pPr algn="l">
              <a:spcAft>
                <a:spcPts val="400"/>
              </a:spcAft>
            </a:pPr>
            <a:r>
              <a:rPr sz="1150" b="0" i="0">
                <a:solidFill>
                  <a:srgbClr val="EEF2FF"/>
                </a:solidFill>
                <a:latin typeface="Calibri"/>
              </a:rPr>
              <a:t>graph-based, stateful workflows</a:t>
            </a:r>
          </a:p>
        </p:txBody>
      </p:sp>
      <p:sp>
        <p:nvSpPr>
          <p:cNvPr id="23" name="TextBox 22"/>
          <p:cNvSpPr txBox="1"/>
          <p:nvPr/>
        </p:nvSpPr>
        <p:spPr>
          <a:xfrm>
            <a:off x="6199631" y="4956048"/>
            <a:ext cx="2286000" cy="411480"/>
          </a:xfrm>
          <a:prstGeom prst="rect">
            <a:avLst/>
          </a:prstGeom>
          <a:noFill/>
        </p:spPr>
        <p:txBody>
          <a:bodyPr wrap="square" anchor="t" lIns="0" rIns="0" tIns="0" bIns="0"/>
          <a:lstStyle/>
          <a:p>
            <a:pPr algn="l">
              <a:spcAft>
                <a:spcPts val="400"/>
              </a:spcAft>
            </a:pPr>
            <a:r>
              <a:rPr sz="1100" b="1" i="0">
                <a:solidFill>
                  <a:srgbClr val="A78BFA"/>
                </a:solidFill>
                <a:latin typeface="Calibri"/>
              </a:rPr>
              <a:t>best for: </a:t>
            </a:r>
            <a:r>
              <a:rPr sz="1100" b="0" i="0">
                <a:solidFill>
                  <a:srgbClr val="A3ADC8"/>
                </a:solidFill>
                <a:latin typeface="Calibri"/>
              </a:rPr>
              <a:t>controlled production pipelines</a:t>
            </a:r>
          </a:p>
        </p:txBody>
      </p:sp>
      <p:sp>
        <p:nvSpPr>
          <p:cNvPr id="24" name="Rounded Rectangle 23"/>
          <p:cNvSpPr/>
          <p:nvPr/>
        </p:nvSpPr>
        <p:spPr>
          <a:xfrm>
            <a:off x="548640" y="5577840"/>
            <a:ext cx="8046720" cy="621792"/>
          </a:xfrm>
          <a:prstGeom prst="roundRect">
            <a:avLst>
              <a:gd name="adj" fmla="val 20588"/>
            </a:avLst>
          </a:prstGeom>
          <a:gradFill rotWithShape="1">
            <a:gsLst>
              <a:gs pos="0">
                <a:srgbClr val="7C3AED"/>
              </a:gs>
              <a:gs pos="100000">
                <a:srgbClr val="0891B2"/>
              </a:gs>
            </a:gsLst>
            <a:lin scaled="0" ang="0"/>
          </a:gradFill>
          <a:ln>
            <a:noFill/>
          </a:ln>
        </p:spPr>
        <p:txBody>
          <a:bodyPr rtlCol="0" anchor="ctr" wrap="square" lIns="182880" rIns="182880" tIns="182880" bIns="182880"/>
          <a:lstStyle/>
          <a:p>
            <a:pPr algn="l">
              <a:spcAft>
                <a:spcPts val="0"/>
              </a:spcAft>
            </a:pPr>
            <a:r>
              <a:rPr sz="1250" b="1" i="0">
                <a:solidFill>
                  <a:srgbClr val="FFFFFF"/>
                </a:solidFill>
                <a:latin typeface="Calibri"/>
              </a:rPr>
              <a:t>Benefit:  </a:t>
            </a:r>
            <a:r>
              <a:rPr sz="1250" b="0" i="0">
                <a:solidFill>
                  <a:srgbClr val="FFFFFF"/>
                </a:solidFill>
                <a:latin typeface="Calibri"/>
              </a:rPr>
              <a:t>agents turn a model that answers into a system that acts, verifies and scales — start simple, add agents only when needed.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09 · conclusion</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Conclusion</a:t>
            </a:r>
          </a:p>
        </p:txBody>
      </p:sp>
      <p:sp>
        <p:nvSpPr>
          <p:cNvPr id="5" name="Rounded Rectangle 4"/>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6" name="Picture 5" descr="image.jpg"/>
          <p:cNvPicPr>
            <a:picLocks noChangeAspect="1"/>
          </p:cNvPicPr>
          <p:nvPr/>
        </p:nvPicPr>
        <p:blipFill>
          <a:blip r:embed="rId3"/>
          <a:stretch>
            <a:fillRect/>
          </a:stretch>
        </p:blipFill>
        <p:spPr>
          <a:xfrm>
            <a:off x="8110728" y="365760"/>
            <a:ext cx="512064" cy="385668"/>
          </a:xfrm>
          <a:prstGeom prst="rect">
            <a:avLst/>
          </a:prstGeom>
        </p:spPr>
      </p:pic>
      <p:sp>
        <p:nvSpPr>
          <p:cNvPr id="7" name="TextBox 6"/>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8" name="TextBox 7"/>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15</a:t>
            </a:fld>
            <a:r>
              <a:rPr sz="900">
                <a:solidFill>
                  <a:srgbClr val="6B7699"/>
                </a:solidFill>
                <a:latin typeface="Consolas"/>
              </a:rPr>
              <a:t> / 18</a:t>
            </a:r>
          </a:p>
        </p:txBody>
      </p:sp>
      <p:sp>
        <p:nvSpPr>
          <p:cNvPr id="9" name="Rounded Rectangle 8"/>
          <p:cNvSpPr/>
          <p:nvPr/>
        </p:nvSpPr>
        <p:spPr>
          <a:xfrm>
            <a:off x="548640" y="1463040"/>
            <a:ext cx="8046720" cy="960120"/>
          </a:xfrm>
          <a:prstGeom prst="roundRect">
            <a:avLst>
              <a:gd name="adj" fmla="val 13333"/>
            </a:avLst>
          </a:prstGeom>
          <a:gradFill rotWithShape="1">
            <a:gsLst>
              <a:gs pos="0">
                <a:srgbClr val="7C3AED"/>
              </a:gs>
              <a:gs pos="100000">
                <a:srgbClr val="0891B2"/>
              </a:gs>
            </a:gsLst>
            <a:lin scaled="0" ang="0"/>
          </a:gradFill>
          <a:ln>
            <a:noFill/>
          </a:ln>
        </p:spPr>
        <p:txBody>
          <a:bodyPr rtlCol="0" anchor="ctr" wrap="square" lIns="228600" rIns="228600" tIns="228600" bIns="228600"/>
          <a:lstStyle/>
          <a:p>
            <a:pPr algn="l">
              <a:spcAft>
                <a:spcPts val="0"/>
              </a:spcAft>
            </a:pPr>
            <a:r>
              <a:rPr sz="1500" b="1" i="0">
                <a:solidFill>
                  <a:srgbClr val="FFFFFF"/>
                </a:solidFill>
                <a:latin typeface="Calibri"/>
              </a:rPr>
              <a:t>Reliability is a system property: </a:t>
            </a:r>
            <a:r>
              <a:rPr sz="1500" b="0" i="0">
                <a:solidFill>
                  <a:srgbClr val="FFFFFF"/>
                </a:solidFill>
                <a:latin typeface="Calibri"/>
              </a:rPr>
              <a:t>orchestration, memory, coordination, evaluation and safeguards matter as much as the model.</a:t>
            </a:r>
          </a:p>
        </p:txBody>
      </p:sp>
      <p:sp>
        <p:nvSpPr>
          <p:cNvPr id="10" name="TextBox 9"/>
          <p:cNvSpPr txBox="1"/>
          <p:nvPr/>
        </p:nvSpPr>
        <p:spPr>
          <a:xfrm>
            <a:off x="548640" y="2633472"/>
            <a:ext cx="54864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MAIN IDEAS &amp; RESULTS</a:t>
            </a:r>
          </a:p>
        </p:txBody>
      </p:sp>
      <p:sp>
        <p:nvSpPr>
          <p:cNvPr id="11" name="Rounded Rectangle 10"/>
          <p:cNvSpPr/>
          <p:nvPr/>
        </p:nvSpPr>
        <p:spPr>
          <a:xfrm>
            <a:off x="548640" y="2926080"/>
            <a:ext cx="393192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2" name="TextBox 11"/>
          <p:cNvSpPr txBox="1"/>
          <p:nvPr/>
        </p:nvSpPr>
        <p:spPr>
          <a:xfrm>
            <a:off x="713232" y="2926080"/>
            <a:ext cx="502920" cy="841248"/>
          </a:xfrm>
          <a:prstGeom prst="rect">
            <a:avLst/>
          </a:prstGeom>
          <a:noFill/>
        </p:spPr>
        <p:txBody>
          <a:bodyPr wrap="square" anchor="ctr" lIns="0" rIns="0" tIns="0" bIns="0"/>
          <a:lstStyle/>
          <a:p>
            <a:pPr algn="l">
              <a:spcAft>
                <a:spcPts val="400"/>
              </a:spcAft>
            </a:pPr>
            <a:r>
              <a:rPr sz="1500" b="1" i="0">
                <a:solidFill>
                  <a:srgbClr val="22D3EE"/>
                </a:solidFill>
                <a:latin typeface="Consolas"/>
              </a:rPr>
              <a:t>01</a:t>
            </a:r>
          </a:p>
        </p:txBody>
      </p:sp>
      <p:sp>
        <p:nvSpPr>
          <p:cNvPr id="13" name="TextBox 12"/>
          <p:cNvSpPr txBox="1"/>
          <p:nvPr/>
        </p:nvSpPr>
        <p:spPr>
          <a:xfrm>
            <a:off x="1234440" y="2926080"/>
            <a:ext cx="3154680" cy="841248"/>
          </a:xfrm>
          <a:prstGeom prst="rect">
            <a:avLst/>
          </a:prstGeom>
          <a:noFill/>
        </p:spPr>
        <p:txBody>
          <a:bodyPr wrap="square" anchor="ctr" lIns="0" rIns="0" tIns="0" bIns="0"/>
          <a:lstStyle/>
          <a:p>
            <a:pPr algn="l">
              <a:spcAft>
                <a:spcPts val="400"/>
              </a:spcAft>
            </a:pPr>
            <a:r>
              <a:rPr sz="1300" b="0" i="0">
                <a:solidFill>
                  <a:srgbClr val="EEF2FF"/>
                </a:solidFill>
                <a:latin typeface="Calibri"/>
              </a:rPr>
              <a:t>Agentic AI moves LLMs from answering prompts to completing goals.</a:t>
            </a:r>
          </a:p>
        </p:txBody>
      </p:sp>
      <p:sp>
        <p:nvSpPr>
          <p:cNvPr id="14" name="Rounded Rectangle 13"/>
          <p:cNvSpPr/>
          <p:nvPr/>
        </p:nvSpPr>
        <p:spPr>
          <a:xfrm>
            <a:off x="4663440" y="2926080"/>
            <a:ext cx="393192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5" name="TextBox 14"/>
          <p:cNvSpPr txBox="1"/>
          <p:nvPr/>
        </p:nvSpPr>
        <p:spPr>
          <a:xfrm>
            <a:off x="4828031" y="2926080"/>
            <a:ext cx="502920" cy="841248"/>
          </a:xfrm>
          <a:prstGeom prst="rect">
            <a:avLst/>
          </a:prstGeom>
          <a:noFill/>
        </p:spPr>
        <p:txBody>
          <a:bodyPr wrap="square" anchor="ctr" lIns="0" rIns="0" tIns="0" bIns="0"/>
          <a:lstStyle/>
          <a:p>
            <a:pPr algn="l">
              <a:spcAft>
                <a:spcPts val="400"/>
              </a:spcAft>
            </a:pPr>
            <a:r>
              <a:rPr sz="1500" b="1" i="0">
                <a:solidFill>
                  <a:srgbClr val="22D3EE"/>
                </a:solidFill>
                <a:latin typeface="Consolas"/>
              </a:rPr>
              <a:t>02</a:t>
            </a:r>
          </a:p>
        </p:txBody>
      </p:sp>
      <p:sp>
        <p:nvSpPr>
          <p:cNvPr id="16" name="TextBox 15"/>
          <p:cNvSpPr txBox="1"/>
          <p:nvPr/>
        </p:nvSpPr>
        <p:spPr>
          <a:xfrm>
            <a:off x="5349240" y="2926080"/>
            <a:ext cx="3154680" cy="841248"/>
          </a:xfrm>
          <a:prstGeom prst="rect">
            <a:avLst/>
          </a:prstGeom>
          <a:noFill/>
        </p:spPr>
        <p:txBody>
          <a:bodyPr wrap="square" anchor="ctr" lIns="0" rIns="0" tIns="0" bIns="0"/>
          <a:lstStyle/>
          <a:p>
            <a:pPr algn="l">
              <a:spcAft>
                <a:spcPts val="400"/>
              </a:spcAft>
            </a:pPr>
            <a:r>
              <a:rPr sz="1300" b="0" i="0">
                <a:solidFill>
                  <a:srgbClr val="EEF2FF"/>
                </a:solidFill>
                <a:latin typeface="Calibri"/>
              </a:rPr>
              <a:t>ReAct loops, task decomposition and memory are the core building blocks.</a:t>
            </a:r>
          </a:p>
        </p:txBody>
      </p:sp>
      <p:sp>
        <p:nvSpPr>
          <p:cNvPr id="17" name="Rounded Rectangle 16"/>
          <p:cNvSpPr/>
          <p:nvPr/>
        </p:nvSpPr>
        <p:spPr>
          <a:xfrm>
            <a:off x="548640" y="3886200"/>
            <a:ext cx="393192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18" name="TextBox 17"/>
          <p:cNvSpPr txBox="1"/>
          <p:nvPr/>
        </p:nvSpPr>
        <p:spPr>
          <a:xfrm>
            <a:off x="713232" y="3886200"/>
            <a:ext cx="502920" cy="841248"/>
          </a:xfrm>
          <a:prstGeom prst="rect">
            <a:avLst/>
          </a:prstGeom>
          <a:noFill/>
        </p:spPr>
        <p:txBody>
          <a:bodyPr wrap="square" anchor="ctr" lIns="0" rIns="0" tIns="0" bIns="0"/>
          <a:lstStyle/>
          <a:p>
            <a:pPr algn="l">
              <a:spcAft>
                <a:spcPts val="400"/>
              </a:spcAft>
            </a:pPr>
            <a:r>
              <a:rPr sz="1500" b="1" i="0">
                <a:solidFill>
                  <a:srgbClr val="22D3EE"/>
                </a:solidFill>
                <a:latin typeface="Consolas"/>
              </a:rPr>
              <a:t>03</a:t>
            </a:r>
          </a:p>
        </p:txBody>
      </p:sp>
      <p:sp>
        <p:nvSpPr>
          <p:cNvPr id="19" name="TextBox 18"/>
          <p:cNvSpPr txBox="1"/>
          <p:nvPr/>
        </p:nvSpPr>
        <p:spPr>
          <a:xfrm>
            <a:off x="1234440" y="3886200"/>
            <a:ext cx="3154680" cy="841248"/>
          </a:xfrm>
          <a:prstGeom prst="rect">
            <a:avLst/>
          </a:prstGeom>
          <a:noFill/>
        </p:spPr>
        <p:txBody>
          <a:bodyPr wrap="square" anchor="ctr" lIns="0" rIns="0" tIns="0" bIns="0"/>
          <a:lstStyle/>
          <a:p>
            <a:pPr algn="l">
              <a:spcAft>
                <a:spcPts val="400"/>
              </a:spcAft>
            </a:pPr>
            <a:r>
              <a:rPr sz="1300" b="0" i="0">
                <a:solidFill>
                  <a:srgbClr val="EEF2FF"/>
                </a:solidFill>
                <a:latin typeface="Calibri"/>
              </a:rPr>
              <a:t>Multi-agent designs add specialisation and parallelism — at higher cost.</a:t>
            </a:r>
          </a:p>
        </p:txBody>
      </p:sp>
      <p:sp>
        <p:nvSpPr>
          <p:cNvPr id="20" name="Rounded Rectangle 19"/>
          <p:cNvSpPr/>
          <p:nvPr/>
        </p:nvSpPr>
        <p:spPr>
          <a:xfrm>
            <a:off x="4663440" y="3886200"/>
            <a:ext cx="3931920" cy="841248"/>
          </a:xfrm>
          <a:prstGeom prst="roundRect">
            <a:avLst>
              <a:gd name="adj" fmla="val 15217"/>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1" name="TextBox 20"/>
          <p:cNvSpPr txBox="1"/>
          <p:nvPr/>
        </p:nvSpPr>
        <p:spPr>
          <a:xfrm>
            <a:off x="4828031" y="3886200"/>
            <a:ext cx="502920" cy="841248"/>
          </a:xfrm>
          <a:prstGeom prst="rect">
            <a:avLst/>
          </a:prstGeom>
          <a:noFill/>
        </p:spPr>
        <p:txBody>
          <a:bodyPr wrap="square" anchor="ctr" lIns="0" rIns="0" tIns="0" bIns="0"/>
          <a:lstStyle/>
          <a:p>
            <a:pPr algn="l">
              <a:spcAft>
                <a:spcPts val="400"/>
              </a:spcAft>
            </a:pPr>
            <a:r>
              <a:rPr sz="1500" b="1" i="0">
                <a:solidFill>
                  <a:srgbClr val="22D3EE"/>
                </a:solidFill>
                <a:latin typeface="Consolas"/>
              </a:rPr>
              <a:t>04</a:t>
            </a:r>
          </a:p>
        </p:txBody>
      </p:sp>
      <p:sp>
        <p:nvSpPr>
          <p:cNvPr id="22" name="TextBox 21"/>
          <p:cNvSpPr txBox="1"/>
          <p:nvPr/>
        </p:nvSpPr>
        <p:spPr>
          <a:xfrm>
            <a:off x="5349240" y="3886200"/>
            <a:ext cx="3154680" cy="841248"/>
          </a:xfrm>
          <a:prstGeom prst="rect">
            <a:avLst/>
          </a:prstGeom>
          <a:noFill/>
        </p:spPr>
        <p:txBody>
          <a:bodyPr wrap="square" anchor="ctr" lIns="0" rIns="0" tIns="0" bIns="0"/>
          <a:lstStyle/>
          <a:p>
            <a:pPr algn="l">
              <a:spcAft>
                <a:spcPts val="400"/>
              </a:spcAft>
            </a:pPr>
            <a:r>
              <a:rPr sz="1300" b="0" i="0">
                <a:solidFill>
                  <a:srgbClr val="EEF2FF"/>
                </a:solidFill>
                <a:latin typeface="Calibri"/>
              </a:rPr>
              <a:t>MCP and A2A make tools and agents interoperable.</a:t>
            </a:r>
          </a:p>
        </p:txBody>
      </p:sp>
      <p:sp>
        <p:nvSpPr>
          <p:cNvPr id="23" name="TextBox 22"/>
          <p:cNvSpPr txBox="1"/>
          <p:nvPr/>
        </p:nvSpPr>
        <p:spPr>
          <a:xfrm>
            <a:off x="548640" y="4956048"/>
            <a:ext cx="5486400" cy="256032"/>
          </a:xfrm>
          <a:prstGeom prst="rect">
            <a:avLst/>
          </a:prstGeom>
          <a:noFill/>
        </p:spPr>
        <p:txBody>
          <a:bodyPr wrap="square" anchor="t" lIns="0" rIns="0" tIns="0" bIns="0"/>
          <a:lstStyle/>
          <a:p>
            <a:pPr algn="l">
              <a:spcAft>
                <a:spcPts val="400"/>
              </a:spcAft>
            </a:pPr>
            <a:r>
              <a:rPr sz="1050" b="1" i="0">
                <a:solidFill>
                  <a:srgbClr val="F472B6"/>
                </a:solidFill>
                <a:latin typeface="Consolas"/>
              </a:rPr>
              <a:t>FUTURE SCOPE</a:t>
            </a:r>
          </a:p>
        </p:txBody>
      </p:sp>
      <p:sp>
        <p:nvSpPr>
          <p:cNvPr id="24" name="Rounded Rectangle 23"/>
          <p:cNvSpPr/>
          <p:nvPr/>
        </p:nvSpPr>
        <p:spPr>
          <a:xfrm>
            <a:off x="548640" y="5257800"/>
            <a:ext cx="1901952" cy="914400"/>
          </a:xfrm>
          <a:prstGeom prst="roundRect">
            <a:avLst>
              <a:gd name="adj" fmla="val 14000"/>
            </a:avLst>
          </a:prstGeom>
          <a:solidFill>
            <a:srgbClr val="151C38">
              <a:alpha val="90000"/>
            </a:srgbClr>
          </a:solidFill>
          <a:ln w="9525">
            <a:solidFill>
              <a:srgbClr val="F472B6"/>
            </a:solidFill>
          </a:ln>
        </p:spPr>
        <p:txBody>
          <a:bodyPr rtlCol="0" anchor="ctr" wrap="square" lIns="54864" rIns="54864" tIns="54864" bIns="54864"/>
          <a:lstStyle/>
          <a:p>
            <a:pPr algn="ctr"/>
          </a:p>
        </p:txBody>
      </p:sp>
      <p:pic>
        <p:nvPicPr>
          <p:cNvPr id="25" name="Picture 24" descr="arrowr_up.png"/>
          <p:cNvPicPr>
            <a:picLocks noChangeAspect="1"/>
          </p:cNvPicPr>
          <p:nvPr/>
        </p:nvPicPr>
        <p:blipFill>
          <a:blip r:embed="rId4"/>
          <a:stretch>
            <a:fillRect/>
          </a:stretch>
        </p:blipFill>
        <p:spPr>
          <a:xfrm>
            <a:off x="685800" y="5468112"/>
            <a:ext cx="219456" cy="219456"/>
          </a:xfrm>
          <a:prstGeom prst="rect">
            <a:avLst/>
          </a:prstGeom>
        </p:spPr>
      </p:pic>
      <p:sp>
        <p:nvSpPr>
          <p:cNvPr id="26" name="TextBox 25"/>
          <p:cNvSpPr txBox="1"/>
          <p:nvPr/>
        </p:nvSpPr>
        <p:spPr>
          <a:xfrm>
            <a:off x="987552" y="5257800"/>
            <a:ext cx="1417320" cy="914400"/>
          </a:xfrm>
          <a:prstGeom prst="rect">
            <a:avLst/>
          </a:prstGeom>
          <a:noFill/>
        </p:spPr>
        <p:txBody>
          <a:bodyPr wrap="square" anchor="ctr" lIns="0" rIns="0" tIns="0" bIns="0"/>
          <a:lstStyle/>
          <a:p>
            <a:pPr algn="l">
              <a:spcAft>
                <a:spcPts val="400"/>
              </a:spcAft>
            </a:pPr>
            <a:r>
              <a:rPr sz="1150" b="0" i="0">
                <a:solidFill>
                  <a:srgbClr val="EEF2FF"/>
                </a:solidFill>
                <a:latin typeface="Calibri"/>
              </a:rPr>
              <a:t>Learned long-term memory [5]</a:t>
            </a:r>
          </a:p>
        </p:txBody>
      </p:sp>
      <p:sp>
        <p:nvSpPr>
          <p:cNvPr id="27" name="Rounded Rectangle 26"/>
          <p:cNvSpPr/>
          <p:nvPr/>
        </p:nvSpPr>
        <p:spPr>
          <a:xfrm>
            <a:off x="2596896" y="5257800"/>
            <a:ext cx="1901952" cy="914400"/>
          </a:xfrm>
          <a:prstGeom prst="roundRect">
            <a:avLst>
              <a:gd name="adj" fmla="val 14000"/>
            </a:avLst>
          </a:prstGeom>
          <a:solidFill>
            <a:srgbClr val="151C38">
              <a:alpha val="90000"/>
            </a:srgbClr>
          </a:solidFill>
          <a:ln w="9525">
            <a:solidFill>
              <a:srgbClr val="F472B6"/>
            </a:solidFill>
          </a:ln>
        </p:spPr>
        <p:txBody>
          <a:bodyPr rtlCol="0" anchor="ctr" wrap="square" lIns="54864" rIns="54864" tIns="54864" bIns="54864"/>
          <a:lstStyle/>
          <a:p>
            <a:pPr algn="ctr"/>
          </a:p>
        </p:txBody>
      </p:sp>
      <p:pic>
        <p:nvPicPr>
          <p:cNvPr id="28" name="Picture 27" descr="arrowr_up.png"/>
          <p:cNvPicPr>
            <a:picLocks noChangeAspect="1"/>
          </p:cNvPicPr>
          <p:nvPr/>
        </p:nvPicPr>
        <p:blipFill>
          <a:blip r:embed="rId4"/>
          <a:stretch>
            <a:fillRect/>
          </a:stretch>
        </p:blipFill>
        <p:spPr>
          <a:xfrm>
            <a:off x="2734056" y="5468112"/>
            <a:ext cx="219456" cy="219456"/>
          </a:xfrm>
          <a:prstGeom prst="rect">
            <a:avLst/>
          </a:prstGeom>
        </p:spPr>
      </p:pic>
      <p:sp>
        <p:nvSpPr>
          <p:cNvPr id="29" name="TextBox 28"/>
          <p:cNvSpPr txBox="1"/>
          <p:nvPr/>
        </p:nvSpPr>
        <p:spPr>
          <a:xfrm>
            <a:off x="3035808" y="5257800"/>
            <a:ext cx="1417320" cy="914400"/>
          </a:xfrm>
          <a:prstGeom prst="rect">
            <a:avLst/>
          </a:prstGeom>
          <a:noFill/>
        </p:spPr>
        <p:txBody>
          <a:bodyPr wrap="square" anchor="ctr" lIns="0" rIns="0" tIns="0" bIns="0"/>
          <a:lstStyle/>
          <a:p>
            <a:pPr algn="l">
              <a:spcAft>
                <a:spcPts val="400"/>
              </a:spcAft>
            </a:pPr>
            <a:r>
              <a:rPr sz="1150" b="0" i="0">
                <a:solidFill>
                  <a:srgbClr val="EEF2FF"/>
                </a:solidFill>
                <a:latin typeface="Calibri"/>
              </a:rPr>
              <a:t>Standard reliability benchmarks [2]</a:t>
            </a:r>
          </a:p>
        </p:txBody>
      </p:sp>
      <p:sp>
        <p:nvSpPr>
          <p:cNvPr id="30" name="Rounded Rectangle 29"/>
          <p:cNvSpPr/>
          <p:nvPr/>
        </p:nvSpPr>
        <p:spPr>
          <a:xfrm>
            <a:off x="4645152" y="5257800"/>
            <a:ext cx="1901952" cy="914400"/>
          </a:xfrm>
          <a:prstGeom prst="roundRect">
            <a:avLst>
              <a:gd name="adj" fmla="val 14000"/>
            </a:avLst>
          </a:prstGeom>
          <a:solidFill>
            <a:srgbClr val="151C38">
              <a:alpha val="90000"/>
            </a:srgbClr>
          </a:solidFill>
          <a:ln w="9525">
            <a:solidFill>
              <a:srgbClr val="F472B6"/>
            </a:solidFill>
          </a:ln>
        </p:spPr>
        <p:txBody>
          <a:bodyPr rtlCol="0" anchor="ctr" wrap="square" lIns="54864" rIns="54864" tIns="54864" bIns="54864"/>
          <a:lstStyle/>
          <a:p>
            <a:pPr algn="ctr"/>
          </a:p>
        </p:txBody>
      </p:sp>
      <p:pic>
        <p:nvPicPr>
          <p:cNvPr id="31" name="Picture 30" descr="arrowr_up.png"/>
          <p:cNvPicPr>
            <a:picLocks noChangeAspect="1"/>
          </p:cNvPicPr>
          <p:nvPr/>
        </p:nvPicPr>
        <p:blipFill>
          <a:blip r:embed="rId4"/>
          <a:stretch>
            <a:fillRect/>
          </a:stretch>
        </p:blipFill>
        <p:spPr>
          <a:xfrm>
            <a:off x="4782312" y="5468112"/>
            <a:ext cx="219456" cy="219456"/>
          </a:xfrm>
          <a:prstGeom prst="rect">
            <a:avLst/>
          </a:prstGeom>
        </p:spPr>
      </p:pic>
      <p:sp>
        <p:nvSpPr>
          <p:cNvPr id="32" name="TextBox 31"/>
          <p:cNvSpPr txBox="1"/>
          <p:nvPr/>
        </p:nvSpPr>
        <p:spPr>
          <a:xfrm>
            <a:off x="5084064" y="5257800"/>
            <a:ext cx="1417320" cy="914400"/>
          </a:xfrm>
          <a:prstGeom prst="rect">
            <a:avLst/>
          </a:prstGeom>
          <a:noFill/>
        </p:spPr>
        <p:txBody>
          <a:bodyPr wrap="square" anchor="ctr" lIns="0" rIns="0" tIns="0" bIns="0"/>
          <a:lstStyle/>
          <a:p>
            <a:pPr algn="l">
              <a:spcAft>
                <a:spcPts val="400"/>
              </a:spcAft>
            </a:pPr>
            <a:r>
              <a:rPr sz="1150" b="0" i="0">
                <a:solidFill>
                  <a:srgbClr val="EEF2FF"/>
                </a:solidFill>
                <a:latin typeface="Calibri"/>
              </a:rPr>
              <a:t>Prompt-injection defences [8]</a:t>
            </a:r>
          </a:p>
        </p:txBody>
      </p:sp>
      <p:sp>
        <p:nvSpPr>
          <p:cNvPr id="33" name="Rounded Rectangle 32"/>
          <p:cNvSpPr/>
          <p:nvPr/>
        </p:nvSpPr>
        <p:spPr>
          <a:xfrm>
            <a:off x="6693408" y="5257800"/>
            <a:ext cx="1901952" cy="914400"/>
          </a:xfrm>
          <a:prstGeom prst="roundRect">
            <a:avLst>
              <a:gd name="adj" fmla="val 14000"/>
            </a:avLst>
          </a:prstGeom>
          <a:solidFill>
            <a:srgbClr val="151C38">
              <a:alpha val="90000"/>
            </a:srgbClr>
          </a:solidFill>
          <a:ln w="9525">
            <a:solidFill>
              <a:srgbClr val="F472B6"/>
            </a:solidFill>
          </a:ln>
        </p:spPr>
        <p:txBody>
          <a:bodyPr rtlCol="0" anchor="ctr" wrap="square" lIns="54864" rIns="54864" tIns="54864" bIns="54864"/>
          <a:lstStyle/>
          <a:p>
            <a:pPr algn="ctr"/>
          </a:p>
        </p:txBody>
      </p:sp>
      <p:pic>
        <p:nvPicPr>
          <p:cNvPr id="34" name="Picture 33" descr="arrowr_up.png"/>
          <p:cNvPicPr>
            <a:picLocks noChangeAspect="1"/>
          </p:cNvPicPr>
          <p:nvPr/>
        </p:nvPicPr>
        <p:blipFill>
          <a:blip r:embed="rId4"/>
          <a:stretch>
            <a:fillRect/>
          </a:stretch>
        </p:blipFill>
        <p:spPr>
          <a:xfrm>
            <a:off x="6830568" y="5468112"/>
            <a:ext cx="219456" cy="219456"/>
          </a:xfrm>
          <a:prstGeom prst="rect">
            <a:avLst/>
          </a:prstGeom>
        </p:spPr>
      </p:pic>
      <p:sp>
        <p:nvSpPr>
          <p:cNvPr id="35" name="TextBox 34"/>
          <p:cNvSpPr txBox="1"/>
          <p:nvPr/>
        </p:nvSpPr>
        <p:spPr>
          <a:xfrm>
            <a:off x="7132320" y="5257800"/>
            <a:ext cx="1417320" cy="914400"/>
          </a:xfrm>
          <a:prstGeom prst="rect">
            <a:avLst/>
          </a:prstGeom>
          <a:noFill/>
        </p:spPr>
        <p:txBody>
          <a:bodyPr wrap="square" anchor="ctr" lIns="0" rIns="0" tIns="0" bIns="0"/>
          <a:lstStyle/>
          <a:p>
            <a:pPr algn="l">
              <a:spcAft>
                <a:spcPts val="400"/>
              </a:spcAft>
            </a:pPr>
            <a:r>
              <a:rPr sz="1150" b="0" i="0">
                <a:solidFill>
                  <a:srgbClr val="EEF2FF"/>
                </a:solidFill>
                <a:latin typeface="Calibri"/>
              </a:rPr>
              <a:t>Domain agents: security, robotics [7], [9]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10 · references</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References (1/2)</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IEEE format — [n] on the slides refers to this list</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16</a:t>
            </a:fld>
            <a:r>
              <a:rPr sz="900">
                <a:solidFill>
                  <a:srgbClr val="6B7699"/>
                </a:solidFill>
                <a:latin typeface="Consolas"/>
              </a:rPr>
              <a:t> / 18</a:t>
            </a:r>
          </a:p>
        </p:txBody>
      </p:sp>
      <p:sp>
        <p:nvSpPr>
          <p:cNvPr id="10" name="TextBox 9"/>
          <p:cNvSpPr txBox="1"/>
          <p:nvPr/>
        </p:nvSpPr>
        <p:spPr>
          <a:xfrm>
            <a:off x="548640" y="1600200"/>
            <a:ext cx="8046720" cy="4663440"/>
          </a:xfrm>
          <a:prstGeom prst="rect">
            <a:avLst/>
          </a:prstGeom>
          <a:noFill/>
        </p:spPr>
        <p:txBody>
          <a:bodyPr wrap="square" anchor="t" lIns="0" rIns="0" tIns="0" bIns="0"/>
          <a:lstStyle/>
          <a:p>
            <a:pPr algn="l" marL="502920" indent="-502920">
              <a:spcAft>
                <a:spcPts val="1100"/>
              </a:spcAft>
            </a:pPr>
            <a:r>
              <a:rPr sz="1300" b="1" i="0">
                <a:solidFill>
                  <a:srgbClr val="22D3EE"/>
                </a:solidFill>
                <a:latin typeface="Consolas"/>
              </a:rPr>
              <a:t>[1]	</a:t>
            </a:r>
            <a:r>
              <a:rPr sz="1300" b="0" i="0">
                <a:solidFill>
                  <a:srgbClr val="EEF2FF"/>
                </a:solidFill>
                <a:latin typeface="Calibri"/>
              </a:rPr>
              <a:t>“A Survey on LLM Agents: Architecture, Applications, and Challenges,” in Proc. Int. Conf. Information Networking (ICOIN), IEEE, 2026. [Online]. Available: https://ieeexplore.ieee.org/document/11480623/</a:t>
            </a:r>
          </a:p>
          <a:p>
            <a:pPr algn="l" marL="502920" indent="-502920">
              <a:spcAft>
                <a:spcPts val="1100"/>
              </a:spcAft>
            </a:pPr>
            <a:r>
              <a:rPr sz="1300" b="1" i="0">
                <a:solidFill>
                  <a:srgbClr val="22D3EE"/>
                </a:solidFill>
                <a:latin typeface="Consolas"/>
              </a:rPr>
              <a:t>[2]	</a:t>
            </a:r>
            <a:r>
              <a:rPr sz="1300" b="0" i="0">
                <a:solidFill>
                  <a:srgbClr val="EEF2FF"/>
                </a:solidFill>
                <a:latin typeface="Calibri"/>
              </a:rPr>
              <a:t>V. Arunkumar, G. R. Gangadharan, and R. Buyya, “Agentic Artificial Intelligence (AI): Architectures, Taxonomies, and Evaluation of Large Language Model Agents,” arXiv:2601.12560, 2026.</a:t>
            </a:r>
          </a:p>
          <a:p>
            <a:pPr algn="l" marL="502920" indent="-502920">
              <a:spcAft>
                <a:spcPts val="1100"/>
              </a:spcAft>
            </a:pPr>
            <a:r>
              <a:rPr sz="1300" b="1" i="0">
                <a:solidFill>
                  <a:srgbClr val="22D3EE"/>
                </a:solidFill>
                <a:latin typeface="Consolas"/>
              </a:rPr>
              <a:t>[3]	</a:t>
            </a:r>
            <a:r>
              <a:rPr sz="1300" b="0" i="0">
                <a:solidFill>
                  <a:srgbClr val="EEF2FF"/>
                </a:solidFill>
                <a:latin typeface="Calibri"/>
              </a:rPr>
              <a:t>M. Alenezi, “From Prompt-Response to Goal-Directed Systems: The Evolution of Agentic AI Software Architecture,” arXiv:2602.10479, 2026.</a:t>
            </a:r>
          </a:p>
          <a:p>
            <a:pPr algn="l" marL="502920" indent="-502920">
              <a:spcAft>
                <a:spcPts val="1100"/>
              </a:spcAft>
            </a:pPr>
            <a:r>
              <a:rPr sz="1300" b="1" i="0">
                <a:solidFill>
                  <a:srgbClr val="22D3EE"/>
                </a:solidFill>
                <a:latin typeface="Consolas"/>
              </a:rPr>
              <a:t>[4]	</a:t>
            </a:r>
            <a:r>
              <a:rPr sz="1300" b="0" i="0">
                <a:solidFill>
                  <a:srgbClr val="EEF2FF"/>
                </a:solidFill>
                <a:latin typeface="Calibri"/>
              </a:rPr>
              <a:t>S. Cao et al., “The Auton Agentic AI Framework,” arXiv:2602.23720, 2026.</a:t>
            </a:r>
          </a:p>
          <a:p>
            <a:pPr algn="l" marL="502920" indent="-502920">
              <a:spcAft>
                <a:spcPts val="1100"/>
              </a:spcAft>
            </a:pPr>
            <a:r>
              <a:rPr sz="1300" b="1" i="0">
                <a:solidFill>
                  <a:srgbClr val="22D3EE"/>
                </a:solidFill>
                <a:latin typeface="Consolas"/>
              </a:rPr>
              <a:t>[5]	</a:t>
            </a:r>
            <a:r>
              <a:rPr sz="1300" b="0" i="0">
                <a:solidFill>
                  <a:srgbClr val="EEF2FF"/>
                </a:solidFill>
                <a:latin typeface="Calibri"/>
              </a:rPr>
              <a:t>Y. Yu et al., “Agentic Memory: Learning Unified Long-Term and Short-Term Memory Management for Large Language Model Agents,” in Proc. 64th Annu. Meeting Assoc. Comput. Linguistics (ACL), 2026.</a:t>
            </a:r>
          </a:p>
          <a:p>
            <a:pPr algn="l" marL="502920" indent="-502920">
              <a:spcAft>
                <a:spcPts val="1100"/>
              </a:spcAft>
            </a:pPr>
            <a:r>
              <a:rPr sz="1300" b="1" i="0">
                <a:solidFill>
                  <a:srgbClr val="22D3EE"/>
                </a:solidFill>
                <a:latin typeface="Consolas"/>
              </a:rPr>
              <a:t>[6]	</a:t>
            </a:r>
            <a:r>
              <a:rPr sz="1300" b="0" i="0">
                <a:solidFill>
                  <a:srgbClr val="EEF2FF"/>
                </a:solidFill>
                <a:latin typeface="Calibri"/>
              </a:rPr>
              <a:t>“Model Context Protocol (MCP) and Agent-to-Agent (A2A) Protocol for Scalable Agentic AI Systems,” in Proc. IEEE ICICDS, 2026. [Online]. Available: https://ieeexplore.ieee.org/document/11604962/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48640" y="365760"/>
            <a:ext cx="73152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 10 · references</a:t>
            </a:r>
          </a:p>
        </p:txBody>
      </p:sp>
      <p:sp>
        <p:nvSpPr>
          <p:cNvPr id="4" name="TextBox 3"/>
          <p:cNvSpPr txBox="1"/>
          <p:nvPr/>
        </p:nvSpPr>
        <p:spPr>
          <a:xfrm>
            <a:off x="548640" y="603504"/>
            <a:ext cx="7315200" cy="566928"/>
          </a:xfrm>
          <a:prstGeom prst="rect">
            <a:avLst/>
          </a:prstGeom>
          <a:noFill/>
        </p:spPr>
        <p:txBody>
          <a:bodyPr wrap="square" anchor="ctr" lIns="0" rIns="0" tIns="0" bIns="0"/>
          <a:lstStyle/>
          <a:p>
            <a:pPr algn="l">
              <a:spcAft>
                <a:spcPts val="400"/>
              </a:spcAft>
            </a:pPr>
            <a:r>
              <a:rPr sz="2800" b="1" i="0">
                <a:solidFill>
                  <a:srgbClr val="EEF2FF"/>
                </a:solidFill>
                <a:latin typeface="Calibri"/>
              </a:rPr>
              <a:t>References (2/2)</a:t>
            </a:r>
          </a:p>
        </p:txBody>
      </p:sp>
      <p:sp>
        <p:nvSpPr>
          <p:cNvPr id="5" name="TextBox 4"/>
          <p:cNvSpPr txBox="1"/>
          <p:nvPr/>
        </p:nvSpPr>
        <p:spPr>
          <a:xfrm>
            <a:off x="548640" y="1143000"/>
            <a:ext cx="7863840" cy="292608"/>
          </a:xfrm>
          <a:prstGeom prst="rect">
            <a:avLst/>
          </a:prstGeom>
          <a:noFill/>
        </p:spPr>
        <p:txBody>
          <a:bodyPr wrap="square" anchor="t" lIns="0" rIns="0" tIns="0" bIns="0"/>
          <a:lstStyle/>
          <a:p>
            <a:pPr algn="l">
              <a:spcAft>
                <a:spcPts val="400"/>
              </a:spcAft>
            </a:pPr>
            <a:r>
              <a:rPr sz="1250" b="0" i="1">
                <a:solidFill>
                  <a:srgbClr val="A3ADC8"/>
                </a:solidFill>
                <a:latin typeface="Calibri"/>
              </a:rPr>
              <a:t>IEEE format — [n] on the slides refers to this list</a:t>
            </a:r>
          </a:p>
        </p:txBody>
      </p:sp>
      <p:sp>
        <p:nvSpPr>
          <p:cNvPr id="6" name="Rounded Rectangle 5"/>
          <p:cNvSpPr/>
          <p:nvPr/>
        </p:nvSpPr>
        <p:spPr>
          <a:xfrm>
            <a:off x="8065008" y="292608"/>
            <a:ext cx="603504" cy="603504"/>
          </a:xfrm>
          <a:prstGeom prst="roundRect">
            <a:avLst>
              <a:gd name="adj" fmla="val 21212"/>
            </a:avLst>
          </a:prstGeom>
          <a:solidFill>
            <a:srgbClr val="FFFFFF"/>
          </a:solidFill>
          <a:ln>
            <a:noFill/>
          </a:ln>
        </p:spPr>
        <p:txBody>
          <a:bodyPr rtlCol="0" anchor="ctr" wrap="square" lIns="54864" rIns="54864" tIns="54864" bIns="54864"/>
          <a:lstStyle/>
          <a:p>
            <a:pPr algn="ctr"/>
          </a:p>
        </p:txBody>
      </p:sp>
      <p:pic>
        <p:nvPicPr>
          <p:cNvPr id="7" name="Picture 6" descr="image.jpg"/>
          <p:cNvPicPr>
            <a:picLocks noChangeAspect="1"/>
          </p:cNvPicPr>
          <p:nvPr/>
        </p:nvPicPr>
        <p:blipFill>
          <a:blip r:embed="rId3"/>
          <a:stretch>
            <a:fillRect/>
          </a:stretch>
        </p:blipFill>
        <p:spPr>
          <a:xfrm>
            <a:off x="8110728" y="365760"/>
            <a:ext cx="512064" cy="385668"/>
          </a:xfrm>
          <a:prstGeom prst="rect">
            <a:avLst/>
          </a:prstGeom>
        </p:spPr>
      </p:pic>
      <p:sp>
        <p:nvSpPr>
          <p:cNvPr id="8" name="TextBox 7"/>
          <p:cNvSpPr txBox="1"/>
          <p:nvPr/>
        </p:nvSpPr>
        <p:spPr>
          <a:xfrm>
            <a:off x="548640" y="6419088"/>
            <a:ext cx="5943600" cy="256032"/>
          </a:xfrm>
          <a:prstGeom prst="rect">
            <a:avLst/>
          </a:prstGeom>
          <a:noFill/>
        </p:spPr>
        <p:txBody>
          <a:bodyPr wrap="square" anchor="t" lIns="0" rIns="0" tIns="0" bIns="0"/>
          <a:lstStyle/>
          <a:p>
            <a:pPr algn="l">
              <a:spcAft>
                <a:spcPts val="400"/>
              </a:spcAft>
            </a:pPr>
            <a:r>
              <a:rPr sz="900" b="0" i="0">
                <a:solidFill>
                  <a:srgbClr val="6B7699"/>
                </a:solidFill>
                <a:latin typeface="Consolas"/>
              </a:rPr>
              <a:t>agentic_ai  ·  utkarsh_kale  ·  B342</a:t>
            </a:r>
          </a:p>
        </p:txBody>
      </p:sp>
      <p:sp>
        <p:nvSpPr>
          <p:cNvPr id="9" name="TextBox 8"/>
          <p:cNvSpPr txBox="1"/>
          <p:nvPr/>
        </p:nvSpPr>
        <p:spPr>
          <a:xfrm>
            <a:off x="7498079" y="6419088"/>
            <a:ext cx="1097280" cy="256032"/>
          </a:xfrm>
          <a:prstGeom prst="rect">
            <a:avLst/>
          </a:prstGeom>
          <a:noFill/>
        </p:spPr>
        <p:txBody>
          <a:bodyPr wrap="none" lIns="0" rIns="0" tIns="0" bIns="0">
            <a:spAutoFit/>
          </a:bodyPr>
          <a:lstStyle/>
          <a:p>
            <a:pPr algn="r"/>
            <a:fld id="{5E2A9C41-7B3D-4F6E-8A1B-C2D3E4F5A6B7}" type="slidenum">
              <a:rPr lang="en-US" sz="900" b="1">
                <a:solidFill>
                  <a:srgbClr val="22D3EE"/>
                </a:solidFill>
                <a:latin typeface="Consolas"/>
              </a:rPr>
              <a:t>17</a:t>
            </a:fld>
            <a:r>
              <a:rPr sz="900">
                <a:solidFill>
                  <a:srgbClr val="6B7699"/>
                </a:solidFill>
                <a:latin typeface="Consolas"/>
              </a:rPr>
              <a:t> / 18</a:t>
            </a:r>
          </a:p>
        </p:txBody>
      </p:sp>
      <p:sp>
        <p:nvSpPr>
          <p:cNvPr id="10" name="TextBox 9"/>
          <p:cNvSpPr txBox="1"/>
          <p:nvPr/>
        </p:nvSpPr>
        <p:spPr>
          <a:xfrm>
            <a:off x="548640" y="1600200"/>
            <a:ext cx="8046720" cy="4663440"/>
          </a:xfrm>
          <a:prstGeom prst="rect">
            <a:avLst/>
          </a:prstGeom>
          <a:noFill/>
        </p:spPr>
        <p:txBody>
          <a:bodyPr wrap="square" anchor="t" lIns="0" rIns="0" tIns="0" bIns="0"/>
          <a:lstStyle/>
          <a:p>
            <a:pPr algn="l" marL="502920" indent="-502920">
              <a:spcAft>
                <a:spcPts val="1100"/>
              </a:spcAft>
            </a:pPr>
            <a:r>
              <a:rPr sz="1300" b="1" i="0">
                <a:solidFill>
                  <a:srgbClr val="22D3EE"/>
                </a:solidFill>
                <a:latin typeface="Consolas"/>
              </a:rPr>
              <a:t>[7]	</a:t>
            </a:r>
            <a:r>
              <a:rPr sz="1300" b="0" i="0">
                <a:solidFill>
                  <a:srgbClr val="EEF2FF"/>
                </a:solidFill>
                <a:latin typeface="Calibri"/>
              </a:rPr>
              <a:t>“LLM-Based Intelligent Agents for Cybersecurity: A Tutorial and Survey of Automated Vulnerability Discovery,” IEEE Access, 2026. [Online]. Available: https://ieeexplore.ieee.org/document/11580353/</a:t>
            </a:r>
          </a:p>
          <a:p>
            <a:pPr algn="l" marL="502920" indent="-502920">
              <a:spcAft>
                <a:spcPts val="1100"/>
              </a:spcAft>
            </a:pPr>
            <a:r>
              <a:rPr sz="1300" b="1" i="0">
                <a:solidFill>
                  <a:srgbClr val="22D3EE"/>
                </a:solidFill>
                <a:latin typeface="Consolas"/>
              </a:rPr>
              <a:t>[8]	</a:t>
            </a:r>
            <a:r>
              <a:rPr sz="1300" b="0" i="0">
                <a:solidFill>
                  <a:srgbClr val="EEF2FF"/>
                </a:solidFill>
                <a:latin typeface="Calibri"/>
              </a:rPr>
              <a:t>“A Survey of Fuzzing Techniques for Large Language Model Agents: Challenges, Methods, and Future Directions,” in Proc. IEEE BDAI, 2026. [Online]. Available: https://ieeexplore.ieee.org/document/11655176/</a:t>
            </a:r>
          </a:p>
          <a:p>
            <a:pPr algn="l" marL="502920" indent="-502920">
              <a:spcAft>
                <a:spcPts val="1100"/>
              </a:spcAft>
            </a:pPr>
            <a:r>
              <a:rPr sz="1300" b="1" i="0">
                <a:solidFill>
                  <a:srgbClr val="22D3EE"/>
                </a:solidFill>
                <a:latin typeface="Consolas"/>
              </a:rPr>
              <a:t>[9]	</a:t>
            </a:r>
            <a:r>
              <a:rPr sz="1300" b="0" i="0">
                <a:solidFill>
                  <a:srgbClr val="EEF2FF"/>
                </a:solidFill>
                <a:latin typeface="Calibri"/>
              </a:rPr>
              <a:t>“GLaMP: A Grounded Language Model-Based Multiagent System for Long-Horizon Robotic Task Planning in Industrial Settings,” IEEE Trans. Ind. Electron., 2026. [Online]. Available: https://ieeexplore.ieee.org/document/11641677/</a:t>
            </a:r>
          </a:p>
          <a:p>
            <a:pPr algn="l" marL="502920" indent="-502920">
              <a:spcAft>
                <a:spcPts val="1100"/>
              </a:spcAft>
            </a:pPr>
            <a:r>
              <a:rPr sz="1300" b="1" i="0">
                <a:solidFill>
                  <a:srgbClr val="22D3EE"/>
                </a:solidFill>
                <a:latin typeface="Consolas"/>
              </a:rPr>
              <a:t>[10]	</a:t>
            </a:r>
            <a:r>
              <a:rPr sz="1300" b="0" i="0">
                <a:solidFill>
                  <a:srgbClr val="EEF2FF"/>
                </a:solidFill>
                <a:latin typeface="Calibri"/>
              </a:rPr>
              <a:t>“Beyond Single-Framework Architectures: A Systematic Evaluation and Hybrid Design for Scalable Multi-Agent Coordination,” IEEE Access, 2026. [Online]. Available: https://ieeexplore.ieee.org/document/11481053/</a:t>
            </a:r>
          </a:p>
          <a:p>
            <a:pPr algn="l" marL="502920" indent="-502920">
              <a:spcAft>
                <a:spcPts val="1100"/>
              </a:spcAft>
            </a:pPr>
            <a:r>
              <a:rPr sz="1300" b="1" i="0">
                <a:solidFill>
                  <a:srgbClr val="22D3EE"/>
                </a:solidFill>
                <a:latin typeface="Consolas"/>
              </a:rPr>
              <a:t>[11]	</a:t>
            </a:r>
            <a:r>
              <a:rPr sz="1300" b="0" i="0">
                <a:solidFill>
                  <a:srgbClr val="EEF2FF"/>
                </a:solidFill>
                <a:latin typeface="Calibri"/>
              </a:rPr>
              <a:t>Anthropic, “How we built our multi-agent research system,” Anthropic Engineering Blog, Jun. 2025. [Online]. Available: https://www.anthropic.com/engineering/multi-agent-research-system</a:t>
            </a:r>
          </a:p>
          <a:p>
            <a:pPr algn="l" marL="502920" indent="-502920">
              <a:spcAft>
                <a:spcPts val="1100"/>
              </a:spcAft>
            </a:pPr>
            <a:r>
              <a:rPr sz="1300" b="1" i="0">
                <a:solidFill>
                  <a:srgbClr val="22D3EE"/>
                </a:solidFill>
                <a:latin typeface="Consolas"/>
              </a:rPr>
              <a:t>[12]	</a:t>
            </a:r>
            <a:r>
              <a:rPr sz="1300" b="0" i="0">
                <a:solidFill>
                  <a:srgbClr val="EEF2FF"/>
                </a:solidFill>
                <a:latin typeface="Calibri"/>
              </a:rPr>
              <a:t>S. Yao et al., “ReAct: Synergizing Reasoning and Acting in Language Models,” in Proc. Int. Conf. Learning Representations (ICLR), 2023, arXiv:2210.03629.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Picture 1" descr="bg_cover.jpg"/>
          <p:cNvPicPr>
            <a:picLocks noChangeAspect="1"/>
          </p:cNvPicPr>
          <p:nvPr/>
        </p:nvPicPr>
        <p:blipFill>
          <a:blip r:embed="rId2"/>
          <a:stretch>
            <a:fillRect/>
          </a:stretch>
        </p:blipFill>
        <p:spPr>
          <a:xfrm>
            <a:off x="0" y="0"/>
            <a:ext cx="9144000" cy="6858000"/>
          </a:xfrm>
          <a:prstGeom prst="rect">
            <a:avLst/>
          </a:prstGeom>
        </p:spPr>
      </p:pic>
      <p:sp>
        <p:nvSpPr>
          <p:cNvPr id="3" name="Rounded Rectangle 2"/>
          <p:cNvSpPr/>
          <p:nvPr/>
        </p:nvSpPr>
        <p:spPr>
          <a:xfrm>
            <a:off x="365760" y="274320"/>
            <a:ext cx="8412480" cy="1234440"/>
          </a:xfrm>
          <a:prstGeom prst="roundRect">
            <a:avLst>
              <a:gd name="adj" fmla="val 11851"/>
            </a:avLst>
          </a:prstGeom>
          <a:solidFill>
            <a:srgbClr val="FFFFFF"/>
          </a:solidFill>
          <a:ln>
            <a:noFill/>
          </a:ln>
        </p:spPr>
        <p:txBody>
          <a:bodyPr rtlCol="0" anchor="ctr" wrap="square" lIns="54864" rIns="54864" tIns="54864" bIns="54864"/>
          <a:lstStyle/>
          <a:p>
            <a:pPr algn="ctr"/>
          </a:p>
        </p:txBody>
      </p:sp>
      <p:pic>
        <p:nvPicPr>
          <p:cNvPr id="4" name="Picture 3" descr="image.jpg"/>
          <p:cNvPicPr>
            <a:picLocks noChangeAspect="1"/>
          </p:cNvPicPr>
          <p:nvPr/>
        </p:nvPicPr>
        <p:blipFill>
          <a:blip r:embed="rId3"/>
          <a:stretch>
            <a:fillRect/>
          </a:stretch>
        </p:blipFill>
        <p:spPr>
          <a:xfrm>
            <a:off x="548640" y="347472"/>
            <a:ext cx="1143000" cy="860867"/>
          </a:xfrm>
          <a:prstGeom prst="rect">
            <a:avLst/>
          </a:prstGeom>
        </p:spPr>
      </p:pic>
      <p:pic>
        <p:nvPicPr>
          <p:cNvPr id="5" name="Picture 4" descr="image.png"/>
          <p:cNvPicPr>
            <a:picLocks noChangeAspect="1"/>
          </p:cNvPicPr>
          <p:nvPr/>
        </p:nvPicPr>
        <p:blipFill>
          <a:blip r:embed="rId4"/>
          <a:srcRect l="11745" r="3185"/>
          <a:stretch>
            <a:fillRect/>
          </a:stretch>
        </p:blipFill>
        <p:spPr>
          <a:xfrm>
            <a:off x="1783080" y="365760"/>
            <a:ext cx="6812280" cy="1014984"/>
          </a:xfrm>
          <a:prstGeom prst="rect">
            <a:avLst/>
          </a:prstGeom>
        </p:spPr>
      </p:pic>
      <p:sp>
        <p:nvSpPr>
          <p:cNvPr id="6" name="TextBox 5"/>
          <p:cNvSpPr txBox="1"/>
          <p:nvPr/>
        </p:nvSpPr>
        <p:spPr>
          <a:xfrm>
            <a:off x="548640" y="2011680"/>
            <a:ext cx="4572000" cy="256032"/>
          </a:xfrm>
          <a:prstGeom prst="rect">
            <a:avLst/>
          </a:prstGeom>
          <a:noFill/>
        </p:spPr>
        <p:txBody>
          <a:bodyPr wrap="square" anchor="t" lIns="0" rIns="0" tIns="0" bIns="0"/>
          <a:lstStyle/>
          <a:p>
            <a:pPr algn="l">
              <a:spcAft>
                <a:spcPts val="400"/>
              </a:spcAft>
            </a:pPr>
            <a:r>
              <a:rPr sz="1050" b="1" i="0">
                <a:solidFill>
                  <a:srgbClr val="22D3EE"/>
                </a:solidFill>
                <a:latin typeface="Consolas"/>
              </a:rPr>
              <a:t>SEMINAR-I  ·  2025–26</a:t>
            </a:r>
          </a:p>
        </p:txBody>
      </p:sp>
      <p:sp>
        <p:nvSpPr>
          <p:cNvPr id="7" name="TextBox 6"/>
          <p:cNvSpPr txBox="1"/>
          <p:nvPr/>
        </p:nvSpPr>
        <p:spPr>
          <a:xfrm>
            <a:off x="548640" y="2286000"/>
            <a:ext cx="5120640" cy="1005840"/>
          </a:xfrm>
          <a:prstGeom prst="rect">
            <a:avLst/>
          </a:prstGeom>
          <a:noFill/>
        </p:spPr>
        <p:txBody>
          <a:bodyPr wrap="square" anchor="ctr" lIns="0" rIns="0" tIns="0" bIns="0"/>
          <a:lstStyle/>
          <a:p>
            <a:pPr algn="l">
              <a:spcAft>
                <a:spcPts val="400"/>
              </a:spcAft>
            </a:pPr>
            <a:r>
              <a:rPr sz="5600" b="1" i="0">
                <a:solidFill>
                  <a:srgbClr val="EEF2FF"/>
                </a:solidFill>
                <a:latin typeface="Calibri"/>
              </a:rPr>
              <a:t>Thank </a:t>
            </a:r>
            <a:r>
              <a:rPr sz="5600" b="1" i="0">
                <a:solidFill>
                  <a:srgbClr val="22D3EE"/>
                </a:solidFill>
                <a:latin typeface="Calibri"/>
              </a:rPr>
              <a:t>you</a:t>
            </a:r>
          </a:p>
        </p:txBody>
      </p:sp>
      <p:sp>
        <p:nvSpPr>
          <p:cNvPr id="8" name="TextBox 7"/>
          <p:cNvSpPr txBox="1"/>
          <p:nvPr/>
        </p:nvSpPr>
        <p:spPr>
          <a:xfrm>
            <a:off x="548640" y="3291840"/>
            <a:ext cx="5120640" cy="457200"/>
          </a:xfrm>
          <a:prstGeom prst="rect">
            <a:avLst/>
          </a:prstGeom>
          <a:noFill/>
        </p:spPr>
        <p:txBody>
          <a:bodyPr wrap="square" anchor="t" lIns="0" rIns="0" tIns="0" bIns="0"/>
          <a:lstStyle/>
          <a:p>
            <a:pPr algn="l">
              <a:spcAft>
                <a:spcPts val="400"/>
              </a:spcAft>
            </a:pPr>
            <a:r>
              <a:rPr sz="2000" b="0" i="0">
                <a:solidFill>
                  <a:srgbClr val="A3ADC8"/>
                </a:solidFill>
                <a:latin typeface="Calibri"/>
              </a:rPr>
              <a:t>Questions &amp; discussion</a:t>
            </a:r>
          </a:p>
        </p:txBody>
      </p:sp>
      <p:sp>
        <p:nvSpPr>
          <p:cNvPr id="9" name="Oval 8"/>
          <p:cNvSpPr/>
          <p:nvPr/>
        </p:nvSpPr>
        <p:spPr>
          <a:xfrm>
            <a:off x="5897880" y="1874519"/>
            <a:ext cx="2286000" cy="2286000"/>
          </a:xfrm>
          <a:prstGeom prst="ellipse">
            <a:avLst/>
          </a:prstGeom>
          <a:noFill/>
          <a:ln w="15875">
            <a:solidFill>
              <a:srgbClr val="A78BFA">
                <a:alpha val="45000"/>
              </a:srgbClr>
            </a:solidFill>
          </a:ln>
        </p:spPr>
        <p:txBody>
          <a:bodyPr rtlCol="0" anchor="ctr" wrap="square" lIns="54864" rIns="54864" tIns="54864" bIns="54864"/>
          <a:lstStyle/>
          <a:p>
            <a:pPr algn="ctr"/>
          </a:p>
        </p:txBody>
      </p:sp>
      <p:sp>
        <p:nvSpPr>
          <p:cNvPr id="10" name="Oval 9"/>
          <p:cNvSpPr/>
          <p:nvPr/>
        </p:nvSpPr>
        <p:spPr>
          <a:xfrm>
            <a:off x="6332220" y="2308860"/>
            <a:ext cx="1417320" cy="1417320"/>
          </a:xfrm>
          <a:prstGeom prst="ellipse">
            <a:avLst/>
          </a:prstGeom>
          <a:noFill/>
          <a:ln w="12700">
            <a:solidFill>
              <a:srgbClr val="22D3EE">
                <a:alpha val="35000"/>
              </a:srgbClr>
            </a:solidFill>
          </a:ln>
        </p:spPr>
        <p:txBody>
          <a:bodyPr rtlCol="0" anchor="ctr" wrap="square" lIns="54864" rIns="54864" tIns="54864" bIns="54864"/>
          <a:lstStyle/>
          <a:p>
            <a:pPr algn="ctr"/>
          </a:p>
        </p:txBody>
      </p:sp>
      <p:sp>
        <p:nvSpPr>
          <p:cNvPr id="11" name="Oval 10"/>
          <p:cNvSpPr/>
          <p:nvPr/>
        </p:nvSpPr>
        <p:spPr>
          <a:xfrm>
            <a:off x="6473952" y="2450591"/>
            <a:ext cx="1133856" cy="1133856"/>
          </a:xfrm>
          <a:prstGeom prst="ellipse">
            <a:avLst/>
          </a:prstGeom>
          <a:solidFill>
            <a:srgbClr val="7C3AED">
              <a:alpha val="30000"/>
            </a:srgbClr>
          </a:solidFill>
          <a:ln>
            <a:noFill/>
          </a:ln>
        </p:spPr>
        <p:txBody>
          <a:bodyPr rtlCol="0" anchor="ctr" wrap="square" lIns="54864" rIns="54864" tIns="54864" bIns="54864"/>
          <a:lstStyle/>
          <a:p>
            <a:pPr algn="ctr"/>
          </a:p>
        </p:txBody>
      </p:sp>
      <p:sp>
        <p:nvSpPr>
          <p:cNvPr id="12" name="Oval 11"/>
          <p:cNvSpPr/>
          <p:nvPr/>
        </p:nvSpPr>
        <p:spPr>
          <a:xfrm>
            <a:off x="6629400" y="2606039"/>
            <a:ext cx="822960" cy="822960"/>
          </a:xfrm>
          <a:prstGeom prst="ellipse">
            <a:avLst/>
          </a:prstGeom>
          <a:gradFill rotWithShape="1">
            <a:gsLst>
              <a:gs pos="0">
                <a:srgbClr val="7C3AED"/>
              </a:gs>
              <a:gs pos="100000">
                <a:srgbClr val="0891B2"/>
              </a:gs>
            </a:gsLst>
            <a:lin scaled="0" ang="18900000"/>
          </a:gradFill>
          <a:ln>
            <a:noFill/>
          </a:ln>
        </p:spPr>
        <p:txBody>
          <a:bodyPr rtlCol="0" anchor="ctr" wrap="square" lIns="54864" rIns="54864" tIns="54864" bIns="54864"/>
          <a:lstStyle/>
          <a:p>
            <a:pPr algn="ctr">
              <a:spcAft>
                <a:spcPts val="0"/>
              </a:spcAft>
            </a:pPr>
            <a:r>
              <a:rPr sz="1500" b="1" i="0">
                <a:solidFill>
                  <a:srgbClr val="FFFFFF"/>
                </a:solidFill>
                <a:latin typeface="Consolas"/>
              </a:rPr>
              <a:t>LLM</a:t>
            </a:r>
          </a:p>
        </p:txBody>
      </p:sp>
      <p:sp>
        <p:nvSpPr>
          <p:cNvPr id="13" name="Oval 12"/>
          <p:cNvSpPr/>
          <p:nvPr/>
        </p:nvSpPr>
        <p:spPr>
          <a:xfrm>
            <a:off x="6766560" y="1600199"/>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14" name="Picture 13" descr="plan_uc.png"/>
          <p:cNvPicPr>
            <a:picLocks noChangeAspect="1"/>
          </p:cNvPicPr>
          <p:nvPr/>
        </p:nvPicPr>
        <p:blipFill>
          <a:blip r:embed="rId5"/>
          <a:stretch>
            <a:fillRect/>
          </a:stretch>
        </p:blipFill>
        <p:spPr>
          <a:xfrm>
            <a:off x="6894576" y="1728216"/>
            <a:ext cx="292608" cy="292608"/>
          </a:xfrm>
          <a:prstGeom prst="rect">
            <a:avLst/>
          </a:prstGeom>
        </p:spPr>
      </p:pic>
      <p:sp>
        <p:nvSpPr>
          <p:cNvPr id="15" name="TextBox 14"/>
          <p:cNvSpPr txBox="1"/>
          <p:nvPr/>
        </p:nvSpPr>
        <p:spPr>
          <a:xfrm>
            <a:off x="7370064" y="1755648"/>
            <a:ext cx="914400" cy="237744"/>
          </a:xfrm>
          <a:prstGeom prst="rect">
            <a:avLst/>
          </a:prstGeom>
          <a:noFill/>
        </p:spPr>
        <p:txBody>
          <a:bodyPr wrap="square" anchor="t" lIns="0" rIns="0" tIns="0" bIns="0"/>
          <a:lstStyle/>
          <a:p>
            <a:pPr algn="l">
              <a:spcAft>
                <a:spcPts val="400"/>
              </a:spcAft>
            </a:pPr>
            <a:r>
              <a:rPr sz="1050" b="0" i="0">
                <a:solidFill>
                  <a:srgbClr val="A3ADC8"/>
                </a:solidFill>
                <a:latin typeface="Consolas"/>
              </a:rPr>
              <a:t>Plan</a:t>
            </a:r>
          </a:p>
        </p:txBody>
      </p:sp>
      <p:sp>
        <p:nvSpPr>
          <p:cNvPr id="16" name="Oval 15"/>
          <p:cNvSpPr/>
          <p:nvPr/>
        </p:nvSpPr>
        <p:spPr>
          <a:xfrm>
            <a:off x="7909559" y="274320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17" name="Picture 16" descr="tools_uc.png"/>
          <p:cNvPicPr>
            <a:picLocks noChangeAspect="1"/>
          </p:cNvPicPr>
          <p:nvPr/>
        </p:nvPicPr>
        <p:blipFill>
          <a:blip r:embed="rId6"/>
          <a:stretch>
            <a:fillRect/>
          </a:stretch>
        </p:blipFill>
        <p:spPr>
          <a:xfrm>
            <a:off x="8037575" y="2871215"/>
            <a:ext cx="292608" cy="292608"/>
          </a:xfrm>
          <a:prstGeom prst="rect">
            <a:avLst/>
          </a:prstGeom>
        </p:spPr>
      </p:pic>
      <p:sp>
        <p:nvSpPr>
          <p:cNvPr id="18" name="TextBox 17"/>
          <p:cNvSpPr txBox="1"/>
          <p:nvPr/>
        </p:nvSpPr>
        <p:spPr>
          <a:xfrm>
            <a:off x="7635240" y="331927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Tools</a:t>
            </a:r>
          </a:p>
        </p:txBody>
      </p:sp>
      <p:sp>
        <p:nvSpPr>
          <p:cNvPr id="19" name="Oval 18"/>
          <p:cNvSpPr/>
          <p:nvPr/>
        </p:nvSpPr>
        <p:spPr>
          <a:xfrm>
            <a:off x="6766560" y="388620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20" name="Picture 19" descr="db_uc.png"/>
          <p:cNvPicPr>
            <a:picLocks noChangeAspect="1"/>
          </p:cNvPicPr>
          <p:nvPr/>
        </p:nvPicPr>
        <p:blipFill>
          <a:blip r:embed="rId7"/>
          <a:stretch>
            <a:fillRect/>
          </a:stretch>
        </p:blipFill>
        <p:spPr>
          <a:xfrm>
            <a:off x="6894576" y="4014215"/>
            <a:ext cx="292608" cy="292608"/>
          </a:xfrm>
          <a:prstGeom prst="rect">
            <a:avLst/>
          </a:prstGeom>
        </p:spPr>
      </p:pic>
      <p:sp>
        <p:nvSpPr>
          <p:cNvPr id="21" name="TextBox 20"/>
          <p:cNvSpPr txBox="1"/>
          <p:nvPr/>
        </p:nvSpPr>
        <p:spPr>
          <a:xfrm>
            <a:off x="6492240" y="446227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Memory</a:t>
            </a:r>
          </a:p>
        </p:txBody>
      </p:sp>
      <p:sp>
        <p:nvSpPr>
          <p:cNvPr id="22" name="Oval 21"/>
          <p:cNvSpPr/>
          <p:nvPr/>
        </p:nvSpPr>
        <p:spPr>
          <a:xfrm>
            <a:off x="5623560" y="2743200"/>
            <a:ext cx="548640" cy="548640"/>
          </a:xfrm>
          <a:prstGeom prst="ellipse">
            <a:avLst/>
          </a:prstGeom>
          <a:solidFill>
            <a:srgbClr val="1B2445"/>
          </a:solidFill>
          <a:ln w="15875">
            <a:solidFill>
              <a:srgbClr val="22D3EE"/>
            </a:solidFill>
          </a:ln>
        </p:spPr>
        <p:txBody>
          <a:bodyPr rtlCol="0" anchor="ctr" wrap="square" lIns="54864" rIns="54864" tIns="54864" bIns="54864"/>
          <a:lstStyle/>
          <a:p>
            <a:pPr algn="ctr"/>
          </a:p>
        </p:txBody>
      </p:sp>
      <p:pic>
        <p:nvPicPr>
          <p:cNvPr id="23" name="Picture 22" descr="sync_uc.png"/>
          <p:cNvPicPr>
            <a:picLocks noChangeAspect="1"/>
          </p:cNvPicPr>
          <p:nvPr/>
        </p:nvPicPr>
        <p:blipFill>
          <a:blip r:embed="rId8"/>
          <a:stretch>
            <a:fillRect/>
          </a:stretch>
        </p:blipFill>
        <p:spPr>
          <a:xfrm>
            <a:off x="5751576" y="2871215"/>
            <a:ext cx="292608" cy="292608"/>
          </a:xfrm>
          <a:prstGeom prst="rect">
            <a:avLst/>
          </a:prstGeom>
        </p:spPr>
      </p:pic>
      <p:sp>
        <p:nvSpPr>
          <p:cNvPr id="24" name="TextBox 23"/>
          <p:cNvSpPr txBox="1"/>
          <p:nvPr/>
        </p:nvSpPr>
        <p:spPr>
          <a:xfrm>
            <a:off x="5349240" y="3319272"/>
            <a:ext cx="1097280" cy="237744"/>
          </a:xfrm>
          <a:prstGeom prst="rect">
            <a:avLst/>
          </a:prstGeom>
          <a:noFill/>
        </p:spPr>
        <p:txBody>
          <a:bodyPr wrap="square" anchor="t" lIns="0" rIns="0" tIns="0" bIns="0"/>
          <a:lstStyle/>
          <a:p>
            <a:pPr algn="ctr">
              <a:spcAft>
                <a:spcPts val="400"/>
              </a:spcAft>
            </a:pPr>
            <a:r>
              <a:rPr sz="1050" b="0" i="0">
                <a:solidFill>
                  <a:srgbClr val="A3ADC8"/>
                </a:solidFill>
                <a:latin typeface="Consolas"/>
              </a:rPr>
              <a:t>Reflect</a:t>
            </a:r>
          </a:p>
        </p:txBody>
      </p:sp>
      <p:sp>
        <p:nvSpPr>
          <p:cNvPr id="25" name="Rounded Rectangle 24"/>
          <p:cNvSpPr/>
          <p:nvPr/>
        </p:nvSpPr>
        <p:spPr>
          <a:xfrm>
            <a:off x="548640" y="4892040"/>
            <a:ext cx="8046720" cy="1097280"/>
          </a:xfrm>
          <a:prstGeom prst="roundRect">
            <a:avLst>
              <a:gd name="adj" fmla="val 11666"/>
            </a:avLst>
          </a:prstGeom>
          <a:solidFill>
            <a:srgbClr val="151C38">
              <a:alpha val="90000"/>
            </a:srgbClr>
          </a:solidFill>
          <a:ln w="9525">
            <a:solidFill>
              <a:srgbClr val="2C3870"/>
            </a:solidFill>
          </a:ln>
        </p:spPr>
        <p:txBody>
          <a:bodyPr rtlCol="0" anchor="ctr" wrap="square" lIns="54864" rIns="54864" tIns="54864" bIns="54864"/>
          <a:lstStyle/>
          <a:p>
            <a:pPr algn="ctr"/>
          </a:p>
        </p:txBody>
      </p:sp>
      <p:sp>
        <p:nvSpPr>
          <p:cNvPr id="26" name="TextBox 25"/>
          <p:cNvSpPr txBox="1"/>
          <p:nvPr/>
        </p:nvSpPr>
        <p:spPr>
          <a:xfrm>
            <a:off x="777240" y="4983480"/>
            <a:ext cx="7589520" cy="411480"/>
          </a:xfrm>
          <a:prstGeom prst="rect">
            <a:avLst/>
          </a:prstGeom>
          <a:noFill/>
        </p:spPr>
        <p:txBody>
          <a:bodyPr wrap="square" anchor="t" lIns="0" rIns="0" tIns="0" bIns="0"/>
          <a:lstStyle/>
          <a:p>
            <a:pPr algn="l">
              <a:spcAft>
                <a:spcPts val="400"/>
              </a:spcAft>
            </a:pPr>
            <a:r>
              <a:rPr sz="1900" b="1" i="0">
                <a:solidFill>
                  <a:srgbClr val="EEF2FF"/>
                </a:solidFill>
                <a:latin typeface="Calibri"/>
              </a:rPr>
              <a:t>Utkarsh Kale  ·  Roll No. B342</a:t>
            </a:r>
          </a:p>
        </p:txBody>
      </p:sp>
      <p:sp>
        <p:nvSpPr>
          <p:cNvPr id="27" name="TextBox 26"/>
          <p:cNvSpPr txBox="1"/>
          <p:nvPr/>
        </p:nvSpPr>
        <p:spPr>
          <a:xfrm>
            <a:off x="777240" y="5413248"/>
            <a:ext cx="7589520" cy="457200"/>
          </a:xfrm>
          <a:prstGeom prst="rect">
            <a:avLst/>
          </a:prstGeom>
          <a:noFill/>
        </p:spPr>
        <p:txBody>
          <a:bodyPr wrap="square" anchor="t" lIns="0" rIns="0" tIns="0" bIns="0"/>
          <a:lstStyle/>
          <a:p>
            <a:pPr algn="l">
              <a:spcAft>
                <a:spcPts val="400"/>
              </a:spcAft>
            </a:pPr>
            <a:r>
              <a:rPr sz="1250" b="0" i="0">
                <a:solidFill>
                  <a:srgbClr val="A3ADC8"/>
                </a:solidFill>
                <a:latin typeface="Calibri"/>
              </a:rPr>
              <a:t>Department of Computer Engineering, Bajaj Institute of Technology, Wardha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17307</TotalTime>
  <Words>822</Words>
  <Application>Microsoft Office PowerPoint</Application>
  <PresentationFormat>On-screen Show (4:3)</PresentationFormat>
  <Paragraphs>87</Paragraphs>
  <Slides>16</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Times New Roman</vt:lpstr>
      <vt:lpstr>Office Theme</vt:lpstr>
      <vt:lpstr>2_Office Theme</vt:lpstr>
      <vt:lpstr>Points to Note</vt:lpstr>
      <vt:lpstr>PowerPoint Presentation</vt:lpstr>
      <vt:lpstr>Title   Delivered By:  Name of Student  Department of Computer Engineering Bajaj Institute of Technology, Wardha.  Under Supervision of:    Name of Faculty Designation of faculty  Computer Engineering Department, BIT, Wardha     </vt:lpstr>
      <vt:lpstr>Index</vt:lpstr>
      <vt:lpstr>PowerPoint Presentation</vt:lpstr>
      <vt:lpstr>Objective </vt:lpstr>
      <vt:lpstr> Literature Review </vt:lpstr>
      <vt:lpstr>PowerPoint Presentation</vt:lpstr>
      <vt:lpstr> Baseline Papers Selected for Seminar Work </vt:lpstr>
      <vt:lpstr>System architecture/Algorithms Studied</vt:lpstr>
      <vt:lpstr>Features/Advantages/Disadvantages </vt:lpstr>
      <vt:lpstr>Applications </vt:lpstr>
      <vt:lpstr>Analysis/Comparison </vt:lpstr>
      <vt:lpstr>Conclusion </vt:lpstr>
      <vt:lpstr>References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Gajanan Tikhe</cp:lastModifiedBy>
  <cp:revision>764</cp:revision>
  <dcterms:created xsi:type="dcterms:W3CDTF">2010-06-24T14:41:07Z</dcterms:created>
  <dcterms:modified xsi:type="dcterms:W3CDTF">2026-09-05T04:49:03Z</dcterms:modified>
</cp:coreProperties>
</file>