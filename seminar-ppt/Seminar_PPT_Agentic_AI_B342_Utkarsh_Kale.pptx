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44" r:id="rId1"/>
    <p:sldMasterId id="2147483804" r:id="rId2"/>
  </p:sldMasterIdLst>
  <p:notesMasterIdLst>
    <p:notesMasterId r:id="rId19"/>
  </p:notesMasterIdLst>
  <p:handoutMasterIdLst>
    <p:handoutMasterId r:id="rId20"/>
  </p:handoutMasterIdLst>
  <p:sldIdLst>
    <p:sldId id="436" r:id="rId25"/>
    <p:sldId id="437" r:id="rId26"/>
    <p:sldId id="438" r:id="rId27"/>
    <p:sldId id="439" r:id="rId28"/>
    <p:sldId id="440" r:id="rId29"/>
    <p:sldId id="441" r:id="rId30"/>
    <p:sldId id="442" r:id="rId31"/>
    <p:sldId id="443" r:id="rId32"/>
    <p:sldId id="444" r:id="rId33"/>
    <p:sldId id="445" r:id="rId34"/>
    <p:sldId id="446" r:id="rId35"/>
    <p:sldId id="447" r:id="rId36"/>
    <p:sldId id="448" r:id="rId37"/>
    <p:sldId id="449" r:id="rId38"/>
    <p:sldId id="450" r:id="rId39"/>
    <p:sldId id="451" r:id="rId40"/>
    <p:sldId id="452" r:id="rId41"/>
    <p:sldId id="453" r:id="rId42"/>
    <p:sldId id="454" r:id="rId43"/>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CFEA"/>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47" autoAdjust="0"/>
    <p:restoredTop sz="94624" autoAdjust="0"/>
  </p:normalViewPr>
  <p:slideViewPr>
    <p:cSldViewPr>
      <p:cViewPr varScale="1">
        <p:scale>
          <a:sx n="65" d="100"/>
          <a:sy n="65" d="100"/>
        </p:scale>
        <p:origin x="1554" y="78"/>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51B6C61-D26D-4CEA-A1F0-27D95809EFC3}" type="datetimeFigureOut">
              <a:rPr lang="en-US" smtClean="0"/>
              <a:pPr/>
              <a:t>9/5/2026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0F6C1F1A-88C9-4BF9-8699-F22C6D8974EF}" type="slidenum">
              <a:rPr lang="en-US" smtClean="0"/>
              <a:pPr/>
              <a:t>‹#›</a:t>
            </a:fld>
            <a:endParaRPr lang="en-US"/>
          </a:p>
        </p:txBody>
      </p:sp>
    </p:spTree>
    <p:extLst>
      <p:ext uri="{BB962C8B-B14F-4D97-AF65-F5344CB8AC3E}">
        <p14:creationId xmlns:p14="http://schemas.microsoft.com/office/powerpoint/2010/main" val="226797534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A13ADEF-1232-40E6-AA0C-2DC4E3D89003}" type="datetimeFigureOut">
              <a:rPr lang="en-GB" smtClean="0"/>
              <a:pPr/>
              <a:t>05/09/2026</a:t>
            </a:fld>
            <a:endParaRPr lang="en-GB"/>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E5E719B-CAD1-4CDF-AC07-FD62E51C143C}" type="slidenum">
              <a:rPr lang="en-GB" smtClean="0"/>
              <a:pPr/>
              <a:t>‹#›</a:t>
            </a:fld>
            <a:endParaRPr lang="en-GB"/>
          </a:p>
        </p:txBody>
      </p:sp>
    </p:spTree>
    <p:extLst>
      <p:ext uri="{BB962C8B-B14F-4D97-AF65-F5344CB8AC3E}">
        <p14:creationId xmlns:p14="http://schemas.microsoft.com/office/powerpoint/2010/main" val="17517176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seminar topic is Agentic AI: autonomous agents built on large language models that can plan, reason, coordinate with other agents and execute tasks. I will cover how these systems work, the main algorithms, applications, and their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flow of the presentation, following the seminar template.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LLM use is prompt-response: you ask, it answers once. Agentic AI turns the model into the 'brain' of a loop: it breaks a goal into steps, calls tools such as web search or a code interpreter, stores what it learns, and checks its own output. The idea grew from reasoning techniques such as Chain-of-Thought and ReAct in 2022, to multi-agent frameworks in 2023-24, and now open protocols like MCP and A2A that let agents connect to tools and to each other.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seminar I aim to explain the internal architecture of an agent, compare ways of coordinating several agents, explain memory management, show real applications, and critically discuss the open challenges.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did not rely on a single paper. The IEEE ICOIN 2026 survey was my architectural starting point; I then used focused papers on memory, protocols, evaluation, security and multi-agent systems. The common message across all of them is that a strong model is not enough: how the agent is orchestrated, what it remembers, and how it is checked matter just as much.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each paper and what it contributes. The first five cover the overall architecture, taxonomy, software evolution, runtime framework and memory.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each paper and what it contributes. These five cover protocols, security, fuzzing, grounded robotic planning and a comparison of agent frameworks.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selected the ICOIN 2026 survey as my primary baseline because it covers the full agent architecture. The taxonomy paper by Arunkumar, Gangadharan and Buyya helped me classify agents and their failure modes, and the MCP/A2A paper explains the interoperability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overall architecture. The user gives a goal. The planner understands it, breaks it into subtasks and builds a task graph. A manager agent assigns subtasks to specialised worker agents - research, coding, testing and critique - which call external tools such as web search, code execution, APIs and files. A memory layer stores short-term, long-term and shared context. Finally the output goes through feedback and verification; if it fails, the system replans.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ReAct, proposed by Yao et al., is the core loop inside most agents. At each step the model first produces a Thought - its reasoning about what to do. It then picks an Action, usually a tool call, and reads the Observation that comes back. The thought, action and observation are added to the history so the next step is better informed. The loop stops when the goal is met. The example shows how the agent decides it needs live data and calls a weather tool.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complex goals, the planner asks the LLM for a plan and decomposes it into subtasks with dependencies - a task graph. Independent tasks such as the two searches run in parallel; dependent ones wait. Each subtask goes to a specialised agent and the manager combines the results. Agents can be coordinated centrally, hierarchically or in a decentralized way: centralized is simplest but creates a bottleneck, hierarchical scales better, decentralized is robust but harder to keep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work over long tasks, so the context window fills up. The memory algorithm combines recent interactions with relevant items retrieved from long-term storage such as a vector database; if the context is too long it summarises or prunes old items. AgeMem goes further by letting the agent learn these memory operations. On the right: MCP is a standard for connecting an agent to tools and data; A2A is a standard for agents talking to other agents. Together they make large agent systems interoperable.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features are autonomy, planning, tool use, memory and reflection. The advantages follow: agents handle complex workflows, specialise and parallelise, and use live data. The disadvantages are important: one wrong step can cascade, external content can inject malicious instructions, multi-agent systems use many model calls so they are costly, and reliable evaluation is still an open problem.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Agentic AI is already used in software engineering, where agents write and test code; in research, where Anthropic describes an orchestrator that runs several search agents in parallel; in cybersecurity for vulnerability discovery; in industrial robotics for long-horizon planning such as GLaMP; and in business and personal productivity.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three levels: a single LLM is cheap but cannot act; a single agent with ReAct and tools handles multi-step tasks; a multi-agent system handles large parallel work but costs more and can fail in coordination. The framework study compares CrewAI, AutoGen and LangChain and proposes a hybrid; its numbers apply to its own benchmark. The practical rule is to start simple.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agentic AI is a shift from prompt-response to goal-directed systems. Its building blocks are the ReAct loop, planning, memory and tools; multi-agent systems add specialisation. Future work is in learned memory, standard evaluation, security, and domain-specific agents. My main conclusion is that reliability comes from the whole system design, not just a bigger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in IEEE format; numbers in square brackets on the slides point to this list.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continued. [11] is an industry engineering report, not a peer-reviewed paper.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C3A9361A-5752-4A3F-B317-24EB821E62FC}"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484ABE7-6F46-483A-A318-EB7CEB294141}"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5677C19-3876-44A2-A0CE-E292A435F0D3}"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B47744B-983E-408C-A292-CA00D1954083}"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83B162A-B07D-4289-86AD-0FFE81BAD1C7}" type="datetime1">
              <a:rPr lang="en-GB" smtClean="0"/>
              <a:t>05/09/2026</a:t>
            </a:fld>
            <a:endParaRPr lang="en-GB"/>
          </a:p>
        </p:txBody>
      </p:sp>
      <p:sp>
        <p:nvSpPr>
          <p:cNvPr id="8" name="Footer Placeholder 7"/>
          <p:cNvSpPr>
            <a:spLocks noGrp="1"/>
          </p:cNvSpPr>
          <p:nvPr>
            <p:ph type="ftr" sz="quarter" idx="11"/>
          </p:nvPr>
        </p:nvSpPr>
        <p:spPr/>
        <p:txBody>
          <a:bodyPr/>
          <a:lstStyle/>
          <a:p>
            <a:r>
              <a:rPr lang="en-GB"/>
              <a:t>1</a:t>
            </a:r>
          </a:p>
        </p:txBody>
      </p:sp>
      <p:sp>
        <p:nvSpPr>
          <p:cNvPr id="9" name="Slide Number Placeholder 8"/>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0661FC8-3BD0-4B3E-92B0-041560FB0C80}" type="datetime1">
              <a:rPr lang="en-GB" smtClean="0"/>
              <a:t>05/09/2026</a:t>
            </a:fld>
            <a:endParaRPr lang="en-GB"/>
          </a:p>
        </p:txBody>
      </p:sp>
      <p:sp>
        <p:nvSpPr>
          <p:cNvPr id="4" name="Footer Placeholder 3"/>
          <p:cNvSpPr>
            <a:spLocks noGrp="1"/>
          </p:cNvSpPr>
          <p:nvPr>
            <p:ph type="ftr" sz="quarter" idx="11"/>
          </p:nvPr>
        </p:nvSpPr>
        <p:spPr/>
        <p:txBody>
          <a:bodyPr/>
          <a:lstStyle/>
          <a:p>
            <a:r>
              <a:rPr lang="en-GB"/>
              <a:t>1</a:t>
            </a:r>
          </a:p>
        </p:txBody>
      </p:sp>
      <p:sp>
        <p:nvSpPr>
          <p:cNvPr id="5" name="Slide Number Placeholder 4"/>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402F35F-FAE8-42C5-8897-AB27EC360220}" type="datetime1">
              <a:rPr lang="en-GB" smtClean="0"/>
              <a:t>05/09/2026</a:t>
            </a:fld>
            <a:endParaRPr lang="en-GB"/>
          </a:p>
        </p:txBody>
      </p:sp>
      <p:sp>
        <p:nvSpPr>
          <p:cNvPr id="3" name="Footer Placeholder 2"/>
          <p:cNvSpPr>
            <a:spLocks noGrp="1"/>
          </p:cNvSpPr>
          <p:nvPr>
            <p:ph type="ftr" sz="quarter" idx="11"/>
          </p:nvPr>
        </p:nvSpPr>
        <p:spPr/>
        <p:txBody>
          <a:bodyPr/>
          <a:lstStyle/>
          <a:p>
            <a:r>
              <a:rPr lang="en-GB"/>
              <a:t>1</a:t>
            </a:r>
          </a:p>
        </p:txBody>
      </p:sp>
      <p:sp>
        <p:nvSpPr>
          <p:cNvPr id="4" name="Slide Number Placeholder 3"/>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047C1F6-3D22-4CB7-8FE7-C5A85987562C}"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7DA32B8-8311-4207-ADB6-15A12511FDD5}"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3FA4A5E-0E72-4911-9A6C-0A673FF39788}"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FDF5CE2-47B1-41AD-9B44-AEAA57961DF6}"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E6448341-C165-4832-A930-9C14941FE0C1}"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45333B3-7E08-4232-BF01-CEA4A255EC85}"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83250C1-0B22-40BA-8D3C-820F66690A62}"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66D7607-6B78-432E-ACEE-70CC6F79C167}"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CB2FA96-2CB9-4FF3-985F-7F96F41E8B43}" type="datetime1">
              <a:rPr lang="en-GB" smtClean="0"/>
              <a:t>05/09/2026</a:t>
            </a:fld>
            <a:endParaRPr lang="en-GB"/>
          </a:p>
        </p:txBody>
      </p:sp>
      <p:sp>
        <p:nvSpPr>
          <p:cNvPr id="8" name="Footer Placeholder 7"/>
          <p:cNvSpPr>
            <a:spLocks noGrp="1"/>
          </p:cNvSpPr>
          <p:nvPr>
            <p:ph type="ftr" sz="quarter" idx="11"/>
          </p:nvPr>
        </p:nvSpPr>
        <p:spPr/>
        <p:txBody>
          <a:bodyPr/>
          <a:lstStyle/>
          <a:p>
            <a:r>
              <a:rPr lang="en-GB"/>
              <a:t>1</a:t>
            </a:r>
          </a:p>
        </p:txBody>
      </p:sp>
      <p:sp>
        <p:nvSpPr>
          <p:cNvPr id="9" name="Slide Number Placeholder 8"/>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D8717EC-8CF9-4F7A-A293-4675CA811524}" type="datetime1">
              <a:rPr lang="en-GB" smtClean="0"/>
              <a:t>05/09/2026</a:t>
            </a:fld>
            <a:endParaRPr lang="en-GB"/>
          </a:p>
        </p:txBody>
      </p:sp>
      <p:sp>
        <p:nvSpPr>
          <p:cNvPr id="4" name="Footer Placeholder 3"/>
          <p:cNvSpPr>
            <a:spLocks noGrp="1"/>
          </p:cNvSpPr>
          <p:nvPr>
            <p:ph type="ftr" sz="quarter" idx="11"/>
          </p:nvPr>
        </p:nvSpPr>
        <p:spPr/>
        <p:txBody>
          <a:bodyPr/>
          <a:lstStyle/>
          <a:p>
            <a:r>
              <a:rPr lang="en-GB"/>
              <a:t>1</a:t>
            </a:r>
          </a:p>
        </p:txBody>
      </p:sp>
      <p:sp>
        <p:nvSpPr>
          <p:cNvPr id="5" name="Slide Number Placeholder 4"/>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A5CBD2-66C1-423B-A11A-13158259126E}" type="datetime1">
              <a:rPr lang="en-GB" smtClean="0"/>
              <a:t>05/09/2026</a:t>
            </a:fld>
            <a:endParaRPr lang="en-GB"/>
          </a:p>
        </p:txBody>
      </p:sp>
      <p:sp>
        <p:nvSpPr>
          <p:cNvPr id="3" name="Footer Placeholder 2"/>
          <p:cNvSpPr>
            <a:spLocks noGrp="1"/>
          </p:cNvSpPr>
          <p:nvPr>
            <p:ph type="ftr" sz="quarter" idx="11"/>
          </p:nvPr>
        </p:nvSpPr>
        <p:spPr/>
        <p:txBody>
          <a:bodyPr/>
          <a:lstStyle/>
          <a:p>
            <a:r>
              <a:rPr lang="en-GB"/>
              <a:t>1</a:t>
            </a:r>
          </a:p>
        </p:txBody>
      </p:sp>
      <p:sp>
        <p:nvSpPr>
          <p:cNvPr id="4" name="Slide Number Placeholder 3"/>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565167D-FA03-46DF-85C9-4E3D5ADDD51D}"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B327E4E-DF66-43CE-8D2C-97EC90D9C7A6}" type="datetime1">
              <a:rPr lang="en-GB" smtClean="0"/>
              <a:t>05/09/2026</a:t>
            </a:fld>
            <a:endParaRPr lang="en-GB"/>
          </a:p>
        </p:txBody>
      </p:sp>
      <p:sp>
        <p:nvSpPr>
          <p:cNvPr id="6" name="Footer Placeholder 5"/>
          <p:cNvSpPr>
            <a:spLocks noGrp="1"/>
          </p:cNvSpPr>
          <p:nvPr>
            <p:ph type="ftr" sz="quarter" idx="11"/>
          </p:nvPr>
        </p:nvSpPr>
        <p:spPr/>
        <p:txBody>
          <a:bodyPr/>
          <a:lstStyle/>
          <a:p>
            <a:r>
              <a:rPr lang="en-GB"/>
              <a:t>1</a:t>
            </a:r>
          </a:p>
        </p:txBody>
      </p:sp>
      <p:sp>
        <p:nvSpPr>
          <p:cNvPr id="7" name="Slide Number Placeholder 6"/>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DF1A745-BAE3-4F75-B15E-70CC5EF55A39}"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73DBEF5-61E2-41D4-ADC0-52B6DDA9D0E3}" type="datetime1">
              <a:rPr lang="en-GB" smtClean="0"/>
              <a:t>05/09/2026</a:t>
            </a:fld>
            <a:endParaRPr lang="en-GB"/>
          </a:p>
        </p:txBody>
      </p:sp>
      <p:sp>
        <p:nvSpPr>
          <p:cNvPr id="5" name="Footer Placeholder 4"/>
          <p:cNvSpPr>
            <a:spLocks noGrp="1"/>
          </p:cNvSpPr>
          <p:nvPr>
            <p:ph type="ftr" sz="quarter" idx="11"/>
          </p:nvPr>
        </p:nvSpPr>
        <p:spPr/>
        <p:txBody>
          <a:bodyPr/>
          <a:lstStyle/>
          <a:p>
            <a:r>
              <a:rPr lang="en-GB"/>
              <a:t>1</a:t>
            </a:r>
          </a:p>
        </p:txBody>
      </p:sp>
      <p:sp>
        <p:nvSpPr>
          <p:cNvPr id="6" name="Slide Number Placeholder 5"/>
          <p:cNvSpPr>
            <a:spLocks noGrp="1"/>
          </p:cNvSpPr>
          <p:nvPr>
            <p:ph type="sldNum" sz="quarter" idx="12"/>
          </p:nvPr>
        </p:nvSpPr>
        <p:spPr/>
        <p:txBody>
          <a:bodyPr/>
          <a:lstStyle/>
          <a:p>
            <a:fld id="{1EC248AB-E565-412B-9D95-9B07D6A4F3F3}" type="slidenum">
              <a:rPr lang="en-GB" smtClean="0"/>
              <a:pPr/>
              <a:t>‹#›</a:t>
            </a:fld>
            <a:endParaRPr lang="en-GB"/>
          </a:p>
        </p:txBody>
      </p:sp>
    </p:spTree>
  </p:cSld>
  <p:clrMapOvr>
    <a:masterClrMapping/>
  </p:clrMapOvr>
  <p:transition advClick="0" advTm="2000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9860F32-3C46-499F-A5B1-466BADF91087}" type="datetime1">
              <a:rPr lang="en-GB" smtClean="0"/>
              <a:t>05/09/2026</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1</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EC248AB-E565-412B-9D95-9B07D6A4F3F3}"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Lst>
  <p:transition advClick="0" advTm="20000"/>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124274D-0DB2-4E56-B769-729881BF81BB}" type="datetime1">
              <a:rPr lang="en-GB" smtClean="0"/>
              <a:t>05/09/2026</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1</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EC248AB-E565-412B-9D95-9B07D6A4F3F3}"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805" r:id="rId1"/>
    <p:sldLayoutId id="2147483806"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Lst>
  <p:transition advClick="0" advTm="20000"/>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jpeg"/><Relationship Id="rId4"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e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notesSlide" Target="../notesSlides/notesSlide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25.png"/><Relationship Id="rId4" Type="http://schemas.openxmlformats.org/officeDocument/2006/relationships/image" Target="../media/image9.png"/><Relationship Id="rId5" Type="http://schemas.openxmlformats.org/officeDocument/2006/relationships/image" Target="../media/image26.png"/><Relationship Id="rId6"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20.png"/><Relationship Id="rId7" Type="http://schemas.openxmlformats.org/officeDocument/2006/relationships/image" Target="../media/image16.png"/><Relationship Id="rId8" Type="http://schemas.openxmlformats.org/officeDocument/2006/relationships/image" Target="../media/image30.png"/><Relationship Id="rId9"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9.png"/><Relationship Id="rId4" Type="http://schemas.openxmlformats.org/officeDocument/2006/relationships/image" Target="../media/image31.png"/><Relationship Id="rId5"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6.jpeg"/><Relationship Id="rId3"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6.jpeg"/><Relationship Id="rId3"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jpeg"/><Relationship Id="rId4" Type="http://schemas.openxmlformats.org/officeDocument/2006/relationships/notesSlide" Target="../notesSlides/notesSlide20.xml"/></Relationships>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85800" y="1417320"/>
            <a:ext cx="7772400" cy="5257800"/>
          </a:xfrm>
        </p:spPr>
        <p:txBody>
          <a:bodyPr anchor="t">
            <a:noAutofit/>
          </a:bodyPr>
          <a:lstStyle/>
          <a:p>
            <a:pPr algn="ctr">
              <a:spcAft>
                <a:spcPts val="0"/>
              </a:spcAft>
            </a:pPr>
            <a:r>
              <a:rPr lang="en-US" sz="2400" b="1" dirty="0">
                <a:solidFill>
                  <a:srgbClr val="1F497D"/>
                </a:solidFill>
                <a:latin typeface="Times New Roman"/>
                <a:cs typeface="Times New Roman"/>
              </a:rPr>
              <a:t>Agentic AI: Autonomous LLM Agents for Planning,</a:t>
            </a:r>
          </a:p>
          <a:p>
            <a:pPr algn="ctr">
              <a:spcAft>
                <a:spcPts val="1400"/>
              </a:spcAft>
            </a:pPr>
            <a:r>
              <a:rPr lang="en-US" sz="2400" b="1" dirty="0">
                <a:solidFill>
                  <a:srgbClr val="1F497D"/>
                </a:solidFill>
                <a:latin typeface="Times New Roman"/>
                <a:cs typeface="Times New Roman"/>
              </a:rPr>
              <a:t>Reasoning, Coordination and Task Execution</a:t>
            </a:r>
          </a:p>
          <a:p>
            <a:pPr algn="ctr">
              <a:spcAft>
                <a:spcPts val="400"/>
              </a:spcAft>
            </a:pPr>
            <a:r>
              <a:rPr lang="en-US" sz="2000" b="1" dirty="0">
                <a:solidFill>
                  <a:srgbClr val="000000"/>
                </a:solidFill>
                <a:latin typeface="Times New Roman"/>
                <a:cs typeface="Times New Roman"/>
              </a:rPr>
              <a:t>Delivered By:</a:t>
            </a:r>
          </a:p>
          <a:p>
            <a:pPr algn="ctr">
              <a:spcAft>
                <a:spcPts val="0"/>
              </a:spcAft>
            </a:pPr>
            <a:r>
              <a:rPr lang="en-US" sz="1800" b="1" dirty="0">
                <a:solidFill>
                  <a:srgbClr val="000000"/>
                </a:solidFill>
                <a:latin typeface="Times New Roman"/>
                <a:cs typeface="Times New Roman"/>
              </a:rPr>
              <a:t>Utkarsh Kale</a:t>
            </a:r>
          </a:p>
          <a:p>
            <a:pPr algn="ctr">
              <a:spcAft>
                <a:spcPts val="1200"/>
              </a:spcAft>
            </a:pPr>
            <a:r>
              <a:rPr lang="en-US" sz="1600" b="0" dirty="0">
                <a:solidFill>
                  <a:srgbClr val="000000"/>
                </a:solidFill>
                <a:latin typeface="Times New Roman"/>
                <a:cs typeface="Times New Roman"/>
              </a:rPr>
              <a:t>Roll No.: B342  |  Third Year (Semester V)</a:t>
            </a:r>
          </a:p>
          <a:p>
            <a:pPr algn="ctr">
              <a:spcAft>
                <a:spcPts val="0"/>
              </a:spcAft>
            </a:pPr>
            <a:r>
              <a:rPr lang="en-US" sz="1800" b="1" dirty="0">
                <a:solidFill>
                  <a:srgbClr val="000000"/>
                </a:solidFill>
                <a:latin typeface="Times New Roman"/>
                <a:cs typeface="Times New Roman"/>
              </a:rPr>
              <a:t>Department of Computer Engineering</a:t>
            </a:r>
          </a:p>
          <a:p>
            <a:pPr algn="ctr">
              <a:spcAft>
                <a:spcPts val="1200"/>
              </a:spcAft>
            </a:pPr>
            <a:r>
              <a:rPr lang="en-US" sz="1800" b="1" dirty="0">
                <a:solidFill>
                  <a:srgbClr val="000000"/>
                </a:solidFill>
                <a:latin typeface="Times New Roman"/>
                <a:cs typeface="Times New Roman"/>
              </a:rPr>
              <a:t>Bajaj Institute of Technology, Wardha.</a:t>
            </a:r>
          </a:p>
          <a:p>
            <a:pPr algn="ctr">
              <a:spcAft>
                <a:spcPts val="400"/>
              </a:spcAft>
            </a:pPr>
            <a:r>
              <a:rPr lang="en-US" sz="1800" b="1" dirty="0">
                <a:solidFill>
                  <a:srgbClr val="000000"/>
                </a:solidFill>
                <a:latin typeface="Times New Roman"/>
                <a:cs typeface="Times New Roman"/>
              </a:rPr>
              <a:t>Under Supervision of:</a:t>
            </a:r>
          </a:p>
          <a:p>
            <a:pPr algn="ctr">
              <a:spcAft>
                <a:spcPts val="0"/>
              </a:spcAft>
            </a:pPr>
            <a:r>
              <a:rPr lang="en-US" sz="1800" b="1" dirty="0">
                <a:solidFill>
                  <a:srgbClr val="FF0000"/>
                </a:solidFill>
                <a:latin typeface="Times New Roman"/>
                <a:cs typeface="Times New Roman"/>
              </a:rPr>
              <a:t>Name of Faculty</a:t>
            </a:r>
          </a:p>
          <a:p>
            <a:pPr algn="ctr">
              <a:spcAft>
                <a:spcPts val="0"/>
              </a:spcAft>
            </a:pPr>
            <a:r>
              <a:rPr lang="en-US" sz="1800" b="1" dirty="0">
                <a:solidFill>
                  <a:srgbClr val="FF0000"/>
                </a:solidFill>
                <a:latin typeface="Times New Roman"/>
                <a:cs typeface="Times New Roman"/>
              </a:rPr>
              <a:t>Designation of faculty</a:t>
            </a:r>
          </a:p>
          <a:p>
            <a:pPr algn="ctr">
              <a:spcAft>
                <a:spcPts val="0"/>
              </a:spcAft>
            </a:pPr>
            <a:r>
              <a:rPr lang="en-US" sz="1800" b="1" dirty="0">
                <a:solidFill>
                  <a:srgbClr val="000000"/>
                </a:solidFill>
                <a:latin typeface="Times New Roman"/>
                <a:cs typeface="Times New Roman"/>
              </a:rPr>
              <a:t>Computer Engineering Department, BIT, Wardha</a:t>
            </a:r>
          </a:p>
        </p:txBody>
      </p:sp>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11745" r="3185"/>
          <a:stretch/>
        </p:blipFill>
        <p:spPr>
          <a:xfrm>
            <a:off x="1167826" y="54591"/>
            <a:ext cx="6984776" cy="1196752"/>
          </a:xfrm>
          <a:prstGeom prst="rect">
            <a:avLst/>
          </a:prstGeom>
        </p:spPr>
      </p:pic>
      <p:pic>
        <p:nvPicPr>
          <p:cNvPr id="8" name="Picture 7"/>
          <p:cNvPicPr>
            <a:picLocks noChangeAspect="1"/>
          </p:cNvPicPr>
          <p:nvPr/>
        </p:nvPicPr>
        <p:blipFill>
          <a:blip r:embed="rId3" cstate="print">
            <a:clrChange>
              <a:clrFrom>
                <a:srgbClr val="FDFCFA"/>
              </a:clrFrom>
              <a:clrTo>
                <a:srgbClr val="FDFCFA">
                  <a:alpha val="0"/>
                </a:srgbClr>
              </a:clrTo>
            </a:clrChange>
            <a:extLst>
              <a:ext uri="{28A0092B-C50C-407E-A947-70E740481C1C}">
                <a14:useLocalDpi xmlns:a14="http://schemas.microsoft.com/office/drawing/2010/main" val="0"/>
              </a:ext>
            </a:extLst>
          </a:blip>
          <a:stretch>
            <a:fillRect/>
          </a:stretch>
        </p:blipFill>
        <p:spPr>
          <a:xfrm>
            <a:off x="226388" y="218109"/>
            <a:ext cx="918823" cy="760533"/>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itle 3"/>
          <p:cNvSpPr>
            <a:spLocks noGrp="1"/>
          </p:cNvSpPr>
          <p:nvPr>
            <p:ph type="title"/>
          </p:nvPr>
        </p:nvSpPr>
        <p:spPr>
          <a:xfrm>
            <a:off x="0" y="-24"/>
            <a:ext cx="9144000" cy="936104"/>
          </a:xfrm>
        </p:spPr>
        <p:style>
          <a:lnRef idx="1">
            <a:schemeClr val="accent1"/>
          </a:lnRef>
          <a:fillRef idx="2">
            <a:schemeClr val="accent1"/>
          </a:fillRef>
          <a:effectRef idx="1">
            <a:schemeClr val="accent1"/>
          </a:effectRef>
          <a:fontRef idx="minor">
            <a:schemeClr val="dk1"/>
          </a:fontRef>
        </p:style>
        <p:txBody>
          <a:bodyPr>
            <a:normAutofit/>
          </a:bodyPr>
          <a:lstStyle/>
          <a:p>
            <a:r>
              <a:rPr lang="en-US" sz="3600" dirty="0">
                <a:latin typeface="Times New Roman" pitchFamily="18" charset="0"/>
                <a:cs typeface="Times New Roman" pitchFamily="18" charset="0"/>
              </a:rPr>
              <a:t>Index</a:t>
            </a:r>
            <a:endParaRPr lang="en-US" sz="3600" b="1" dirty="0">
              <a:solidFill>
                <a:schemeClr val="bg1"/>
              </a:solidFill>
              <a:cs typeface="Times New Roman" pitchFamily="18" charset="0"/>
            </a:endParaRPr>
          </a:p>
        </p:txBody>
      </p:sp>
      <p:sp>
        <p:nvSpPr>
          <p:cNvPr id="6" name="Content Placeholder 6"/>
          <p:cNvSpPr txBox="1">
            <a:spLocks/>
          </p:cNvSpPr>
          <p:nvPr/>
        </p:nvSpPr>
        <p:spPr>
          <a:xfrm>
            <a:off x="0" y="980728"/>
            <a:ext cx="8839200" cy="4525963"/>
          </a:xfrm>
          <a:prstGeom prst="rect">
            <a:avLst/>
          </a:prstGeom>
        </p:spPr>
        <p:txBody>
          <a:bodyPr vert="horz" lIns="91440" tIns="45720" rIns="91440" bIns="45720" rtlCol="0">
            <a:normAutofit/>
          </a:bodyPr>
          <a:lstStyle/>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IN" sz="2400" b="0" i="0" u="none" strike="noStrike" kern="1200" cap="none" spc="0" normalizeH="0" baseline="0" noProof="0" dirty="0">
              <a:ln>
                <a:noFill/>
              </a:ln>
              <a:solidFill>
                <a:schemeClr val="tx1"/>
              </a:solidFill>
              <a:effectLst/>
              <a:uLnTx/>
              <a:uFillTx/>
              <a:latin typeface="Times New Roman" pitchFamily="18" charset="0"/>
              <a:ea typeface="+mn-ea"/>
              <a:cs typeface="Times New Roman" pitchFamily="18" charset="0"/>
            </a:endParaRPr>
          </a:p>
        </p:txBody>
      </p:sp>
      <p:sp>
        <p:nvSpPr>
          <p:cNvPr id="8" name="TextBox 7"/>
          <p:cNvSpPr txBox="1"/>
          <p:nvPr/>
        </p:nvSpPr>
        <p:spPr>
          <a:xfrm>
            <a:off x="179512" y="1014687"/>
            <a:ext cx="8821644" cy="3970318"/>
          </a:xfrm>
          <a:prstGeom prst="rect">
            <a:avLst/>
          </a:prstGeom>
          <a:noFill/>
        </p:spPr>
        <p:txBody>
          <a:bodyPr wrap="square" rtlCol="0">
            <a:spAutoFit/>
          </a:bodyPr>
          <a:lstStyle/>
          <a:p>
            <a:pPr>
              <a:buFont typeface="Arial" pitchFamily="34" charset="0"/>
              <a:buChar char="•"/>
              <a:spcBef>
                <a:spcPts val="300"/>
              </a:spcBef>
            </a:pPr>
            <a:r>
              <a:rPr lang="en-US" sz="2200" dirty="0">
                <a:latin typeface="Times New Roman" pitchFamily="18" charset="0"/>
                <a:cs typeface="Times New Roman" pitchFamily="18" charset="0"/>
              </a:rPr>
              <a:t>  Introduction</a:t>
            </a:r>
          </a:p>
          <a:p>
            <a:pPr>
              <a:buFont typeface="Arial" pitchFamily="34" charset="0"/>
              <a:buChar char="•"/>
              <a:spcBef>
                <a:spcPts val="300"/>
              </a:spcBef>
            </a:pPr>
            <a:r>
              <a:rPr lang="en-US" sz="2200" dirty="0">
                <a:latin typeface="Times New Roman" pitchFamily="18" charset="0"/>
                <a:cs typeface="Times New Roman" pitchFamily="18" charset="0"/>
              </a:rPr>
              <a:t>  Objectives</a:t>
            </a:r>
          </a:p>
          <a:p>
            <a:pPr>
              <a:buFont typeface="Arial" pitchFamily="34" charset="0"/>
              <a:buChar char="•"/>
              <a:spcBef>
                <a:spcPts val="300"/>
              </a:spcBef>
            </a:pPr>
            <a:r>
              <a:rPr lang="en-US" sz="2200" dirty="0">
                <a:latin typeface="Times New Roman" pitchFamily="18" charset="0"/>
                <a:cs typeface="Times New Roman" pitchFamily="18" charset="0"/>
              </a:rPr>
              <a:t>  Literature Review</a:t>
            </a:r>
          </a:p>
          <a:p>
            <a:pPr>
              <a:buFont typeface="Arial" pitchFamily="34" charset="0"/>
              <a:buChar char="•"/>
              <a:spcBef>
                <a:spcPts val="300"/>
              </a:spcBef>
            </a:pPr>
            <a:r>
              <a:rPr lang="en-US" sz="2200" dirty="0">
                <a:latin typeface="Times New Roman" pitchFamily="18" charset="0"/>
                <a:cs typeface="Times New Roman" pitchFamily="18" charset="0"/>
              </a:rPr>
              <a:t>  Literature Survey (Tabular Form)</a:t>
            </a:r>
          </a:p>
          <a:p>
            <a:pPr>
              <a:buFont typeface="Arial" pitchFamily="34" charset="0"/>
              <a:buChar char="•"/>
              <a:spcBef>
                <a:spcPts val="300"/>
              </a:spcBef>
            </a:pPr>
            <a:r>
              <a:rPr lang="en-US" sz="2200" dirty="0">
                <a:latin typeface="Times New Roman" pitchFamily="18" charset="0"/>
                <a:cs typeface="Times New Roman" pitchFamily="18" charset="0"/>
              </a:rPr>
              <a:t>  Baseline Papers Selected</a:t>
            </a:r>
          </a:p>
          <a:p>
            <a:pPr>
              <a:buFont typeface="Arial" pitchFamily="34" charset="0"/>
              <a:buChar char="•"/>
              <a:spcBef>
                <a:spcPts val="300"/>
              </a:spcBef>
            </a:pPr>
            <a:r>
              <a:rPr lang="en-US" sz="2200" dirty="0">
                <a:latin typeface="Times New Roman" pitchFamily="18" charset="0"/>
                <a:cs typeface="Times New Roman" pitchFamily="18" charset="0"/>
              </a:rPr>
              <a:t>  System Architecture / Algorithms Studied</a:t>
            </a:r>
          </a:p>
          <a:p>
            <a:pPr>
              <a:buFont typeface="Arial" pitchFamily="34" charset="0"/>
              <a:buChar char="•"/>
              <a:spcBef>
                <a:spcPts val="300"/>
              </a:spcBef>
            </a:pPr>
            <a:r>
              <a:rPr lang="en-US" sz="2200" dirty="0">
                <a:latin typeface="Times New Roman" pitchFamily="18" charset="0"/>
                <a:cs typeface="Times New Roman" pitchFamily="18" charset="0"/>
              </a:rPr>
              <a:t>  Features / Advantages / Disadvantages</a:t>
            </a:r>
          </a:p>
          <a:p>
            <a:pPr>
              <a:buFont typeface="Arial" pitchFamily="34" charset="0"/>
              <a:buChar char="•"/>
              <a:spcBef>
                <a:spcPts val="300"/>
              </a:spcBef>
            </a:pPr>
            <a:r>
              <a:rPr lang="en-US" sz="2200" dirty="0">
                <a:latin typeface="Times New Roman" pitchFamily="18" charset="0"/>
                <a:cs typeface="Times New Roman" pitchFamily="18" charset="0"/>
              </a:rPr>
              <a:t>  Applications</a:t>
            </a:r>
          </a:p>
          <a:p>
            <a:pPr>
              <a:buFont typeface="Arial" pitchFamily="34" charset="0"/>
              <a:buChar char="•"/>
              <a:spcBef>
                <a:spcPts val="300"/>
              </a:spcBef>
            </a:pPr>
            <a:r>
              <a:rPr lang="en-US" sz="2200" dirty="0">
                <a:latin typeface="Times New Roman" pitchFamily="18" charset="0"/>
                <a:cs typeface="Times New Roman" pitchFamily="18" charset="0"/>
              </a:rPr>
              <a:t>  Analysis / Comparison</a:t>
            </a:r>
          </a:p>
          <a:p>
            <a:pPr>
              <a:buFont typeface="Arial" pitchFamily="34" charset="0"/>
              <a:buChar char="•"/>
              <a:spcBef>
                <a:spcPts val="300"/>
              </a:spcBef>
            </a:pPr>
            <a:r>
              <a:rPr lang="en-US" sz="2200" dirty="0">
                <a:latin typeface="Times New Roman" pitchFamily="18" charset="0"/>
                <a:cs typeface="Times New Roman" pitchFamily="18" charset="0"/>
              </a:rPr>
              <a:t>  Conclusion &amp; Future Scope</a:t>
            </a:r>
          </a:p>
          <a:p>
            <a:pPr>
              <a:buFont typeface="Arial" pitchFamily="34" charset="0"/>
              <a:buChar char="•"/>
              <a:spcBef>
                <a:spcPts val="300"/>
              </a:spcBef>
            </a:pPr>
            <a:r>
              <a:rPr lang="en-US" sz="2200" dirty="0">
                <a:latin typeface="Times New Roman" pitchFamily="18" charset="0"/>
                <a:cs typeface="Times New Roman" pitchFamily="18" charset="0"/>
              </a:rPr>
              <a:t>  References</a:t>
            </a:r>
          </a:p>
        </p:txBody>
      </p:sp>
      <p:sp>
        <p:nvSpPr>
          <p:cNvPr id="11" name="Slide Number Placeholder 10"/>
          <p:cNvSpPr>
            <a:spLocks noGrp="1"/>
          </p:cNvSpPr>
          <p:nvPr>
            <p:ph type="sldNum" sz="quarter" idx="12"/>
          </p:nvPr>
        </p:nvSpPr>
        <p:spPr/>
        <p:txBody>
          <a:bodyPr/>
          <a:lstStyle/>
          <a:p>
            <a:fld id="{1EC248AB-E565-412B-9D95-9B07D6A4F3F3}" type="slidenum">
              <a:rPr lang="en-GB" smtClean="0"/>
              <a:pPr/>
              <a:t>4</a:t>
            </a:fld>
            <a:endParaRPr lang="en-GB"/>
          </a:p>
        </p:txBody>
      </p:sp>
      <p:pic>
        <p:nvPicPr>
          <p:cNvPr id="3" name="Picture 2"/>
          <p:cNvPicPr>
            <a:picLocks noChangeAspect="1"/>
          </p:cNvPicPr>
          <p:nvPr/>
        </p:nvPicPr>
        <p:blipFill>
          <a:blip r:embed="rId2" cstate="print">
            <a:clrChange>
              <a:clrFrom>
                <a:srgbClr val="FDFCFA"/>
              </a:clrFrom>
              <a:clrTo>
                <a:srgbClr val="FDFCFA">
                  <a:alpha val="0"/>
                </a:srgbClr>
              </a:clrTo>
            </a:clrChange>
            <a:extLst>
              <a:ext uri="{28A0092B-C50C-407E-A947-70E740481C1C}">
                <a14:useLocalDpi xmlns:a14="http://schemas.microsoft.com/office/drawing/2010/main" val="0"/>
              </a:ext>
            </a:extLst>
          </a:blip>
          <a:stretch>
            <a:fillRect/>
          </a:stretch>
        </p:blipFill>
        <p:spPr>
          <a:xfrm>
            <a:off x="-1" y="15990"/>
            <a:ext cx="1092271" cy="9041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182880"/>
            <a:ext cx="6766560" cy="822960"/>
          </a:xfrm>
        </p:spPr>
        <p:txBody>
          <a:bodyPr wrap="square" anchor="ctr"/>
          <a:lstStyle/>
          <a:p>
            <a:pPr algn="ctr"/>
            <a:r>
              <a:rPr sz="3000">
                <a:solidFill>
                  <a:srgbClr val="000000"/>
                </a:solidFill>
                <a:latin typeface="Times New Roman"/>
              </a:rPr>
              <a:t>Introduction</a:t>
            </a:r>
            <a:endParaRPr lang="en-IN" dirty="0"/>
          </a:p>
        </p:txBody>
      </p:sp>
      <p:sp>
        <p:nvSpPr>
          <p:cNvPr id="4" name="Slide Number Placeholder 3"/>
          <p:cNvSpPr>
            <a:spLocks noGrp="1"/>
          </p:cNvSpPr>
          <p:nvPr>
            <p:ph type="sldNum" sz="quarter" idx="12"/>
          </p:nvPr>
        </p:nvSpPr>
        <p:spPr/>
        <p:txBody>
          <a:bodyPr/>
          <a:lstStyle/>
          <a:p>
            <a:fld id="{1EC248AB-E565-412B-9D95-9B07D6A4F3F3}" type="slidenum">
              <a:rPr lang="en-GB" smtClean="0"/>
              <a:pPr/>
              <a:t>6</a:t>
            </a:fld>
            <a:endParaRPr lang="en-GB"/>
          </a:p>
        </p:txBody>
      </p:sp>
      <p:pic>
        <p:nvPicPr>
          <p:cNvPr id="5" name="Picture 4" descr="image.jpeg"/>
          <p:cNvPicPr>
            <a:picLocks noChangeAspect="1"/>
          </p:cNvPicPr>
          <p:nvPr/>
        </p:nvPicPr>
        <p:blipFill>
          <a:blip r:embed="rId2"/>
          <a:stretch>
            <a:fillRect/>
          </a:stretch>
        </p:blipFill>
        <p:spPr>
          <a:xfrm>
            <a:off x="164592" y="128016"/>
            <a:ext cx="987552" cy="743789"/>
          </a:xfrm>
          <a:prstGeom prst="rect">
            <a:avLst/>
          </a:prstGeom>
        </p:spPr>
      </p:pic>
      <p:sp>
        <p:nvSpPr>
          <p:cNvPr id="6" name="Rounded Rectangle 5"/>
          <p:cNvSpPr/>
          <p:nvPr/>
        </p:nvSpPr>
        <p:spPr>
          <a:xfrm>
            <a:off x="457200" y="1143000"/>
            <a:ext cx="8229600" cy="749808"/>
          </a:xfrm>
          <a:prstGeom prst="roundRect">
            <a:avLst>
              <a:gd name="adj" fmla="val 9756"/>
            </a:avLst>
          </a:prstGeom>
          <a:solidFill>
            <a:srgbClr val="F2F6FB"/>
          </a:solidFill>
          <a:ln>
            <a:noFill/>
          </a:ln>
        </p:spPr>
        <p:txBody>
          <a:bodyPr rtlCol="0" anchor="ctr" wrap="square" lIns="137160" rIns="137160" tIns="137160" bIns="137160"/>
          <a:lstStyle/>
          <a:p>
            <a:pPr algn="l">
              <a:spcAft>
                <a:spcPts val="0"/>
              </a:spcAft>
            </a:pPr>
            <a:r>
              <a:rPr sz="1500" b="1" i="0">
                <a:solidFill>
                  <a:srgbClr val="1F497D"/>
                </a:solidFill>
                <a:latin typeface="Calibri"/>
              </a:rPr>
              <a:t>Agentic AI: </a:t>
            </a:r>
            <a:r>
              <a:rPr sz="1500" b="0" i="0">
                <a:solidFill>
                  <a:srgbClr val="262626"/>
                </a:solidFill>
                <a:latin typeface="Calibri"/>
              </a:rPr>
              <a:t>LLM-based systems that pursue a goal on their own — they plan, use tools, remember context and check their results with limited human supervision [1], [2].</a:t>
            </a:r>
          </a:p>
        </p:txBody>
      </p:sp>
      <p:sp>
        <p:nvSpPr>
          <p:cNvPr id="7" name="TextBox 6"/>
          <p:cNvSpPr txBox="1"/>
          <p:nvPr/>
        </p:nvSpPr>
        <p:spPr>
          <a:xfrm>
            <a:off x="457200" y="2029968"/>
            <a:ext cx="8229600" cy="365760"/>
          </a:xfrm>
          <a:prstGeom prst="rect">
            <a:avLst/>
          </a:prstGeom>
          <a:noFill/>
        </p:spPr>
        <p:txBody>
          <a:bodyPr wrap="square" anchor="t" lIns="36576" rIns="36576" tIns="36576" bIns="36576"/>
          <a:lstStyle/>
          <a:p>
            <a:pPr algn="l">
              <a:spcAft>
                <a:spcPts val="400"/>
              </a:spcAft>
            </a:pPr>
            <a:r>
              <a:rPr sz="1600" b="1" i="0">
                <a:solidFill>
                  <a:srgbClr val="1F497D"/>
                </a:solidFill>
                <a:latin typeface="Calibri"/>
              </a:rPr>
              <a:t>Evolution: from chatbots to agents</a:t>
            </a:r>
          </a:p>
        </p:txBody>
      </p:sp>
      <p:cxnSp>
        <p:nvCxnSpPr>
          <p:cNvPr id="8" name="Connector 7"/>
          <p:cNvCxnSpPr/>
          <p:nvPr/>
        </p:nvCxnSpPr>
        <p:spPr>
          <a:xfrm>
            <a:off x="685800" y="2834640"/>
            <a:ext cx="7772400" cy="0"/>
          </a:xfrm>
          <a:prstGeom prst="line">
            <a:avLst/>
          </a:prstGeom>
          <a:ln w="31750">
            <a:solidFill>
              <a:srgbClr val="4F81BD"/>
            </a:solidFill>
          </a:ln>
        </p:spPr>
      </p:cxnSp>
      <p:sp>
        <p:nvSpPr>
          <p:cNvPr id="9" name="TextBox 8"/>
          <p:cNvSpPr txBox="1"/>
          <p:nvPr/>
        </p:nvSpPr>
        <p:spPr>
          <a:xfrm>
            <a:off x="411480" y="2395728"/>
            <a:ext cx="1554480" cy="320040"/>
          </a:xfrm>
          <a:prstGeom prst="rect">
            <a:avLst/>
          </a:prstGeom>
          <a:noFill/>
        </p:spPr>
        <p:txBody>
          <a:bodyPr wrap="square" anchor="t" lIns="36576" rIns="36576" tIns="36576" bIns="36576"/>
          <a:lstStyle/>
          <a:p>
            <a:pPr algn="ctr">
              <a:spcAft>
                <a:spcPts val="400"/>
              </a:spcAft>
            </a:pPr>
            <a:r>
              <a:rPr sz="1400" b="1" i="0">
                <a:solidFill>
                  <a:srgbClr val="1F497D"/>
                </a:solidFill>
                <a:latin typeface="Calibri"/>
              </a:rPr>
              <a:t>Pre-2020</a:t>
            </a:r>
          </a:p>
        </p:txBody>
      </p:sp>
      <p:sp>
        <p:nvSpPr>
          <p:cNvPr id="10" name="Oval 9"/>
          <p:cNvSpPr/>
          <p:nvPr/>
        </p:nvSpPr>
        <p:spPr>
          <a:xfrm>
            <a:off x="1060704" y="2706624"/>
            <a:ext cx="256032" cy="256032"/>
          </a:xfrm>
          <a:prstGeom prst="ellipse">
            <a:avLst/>
          </a:prstGeom>
          <a:solidFill>
            <a:srgbClr val="1F497D"/>
          </a:solidFill>
          <a:ln>
            <a:noFill/>
          </a:ln>
        </p:spPr>
        <p:txBody>
          <a:bodyPr rtlCol="0" anchor="ctr" wrap="square" lIns="54864" rIns="54864" tIns="54864" bIns="54864"/>
          <a:lstStyle/>
          <a:p>
            <a:pPr algn="ctr"/>
          </a:p>
        </p:txBody>
      </p:sp>
      <p:sp>
        <p:nvSpPr>
          <p:cNvPr id="11" name="TextBox 10"/>
          <p:cNvSpPr txBox="1"/>
          <p:nvPr/>
        </p:nvSpPr>
        <p:spPr>
          <a:xfrm>
            <a:off x="402336" y="3035808"/>
            <a:ext cx="1572768" cy="914400"/>
          </a:xfrm>
          <a:prstGeom prst="rect">
            <a:avLst/>
          </a:prstGeom>
          <a:noFill/>
        </p:spPr>
        <p:txBody>
          <a:bodyPr wrap="square" anchor="t" lIns="36576" rIns="36576" tIns="36576" bIns="36576"/>
          <a:lstStyle/>
          <a:p>
            <a:pPr algn="ctr">
              <a:spcAft>
                <a:spcPts val="400"/>
              </a:spcAft>
            </a:pPr>
            <a:r>
              <a:rPr sz="1200" b="0" i="0">
                <a:solidFill>
                  <a:srgbClr val="262626"/>
                </a:solidFill>
                <a:latin typeface="Calibri"/>
              </a:rPr>
              <a:t>Rule-based and RL agents in narrow tasks</a:t>
            </a:r>
          </a:p>
        </p:txBody>
      </p:sp>
      <p:sp>
        <p:nvSpPr>
          <p:cNvPr id="12" name="TextBox 11"/>
          <p:cNvSpPr txBox="1"/>
          <p:nvPr/>
        </p:nvSpPr>
        <p:spPr>
          <a:xfrm>
            <a:off x="2103120" y="2395728"/>
            <a:ext cx="1554480" cy="320040"/>
          </a:xfrm>
          <a:prstGeom prst="rect">
            <a:avLst/>
          </a:prstGeom>
          <a:noFill/>
        </p:spPr>
        <p:txBody>
          <a:bodyPr wrap="square" anchor="t" lIns="36576" rIns="36576" tIns="36576" bIns="36576"/>
          <a:lstStyle/>
          <a:p>
            <a:pPr algn="ctr">
              <a:spcAft>
                <a:spcPts val="400"/>
              </a:spcAft>
            </a:pPr>
            <a:r>
              <a:rPr sz="1400" b="1" i="0">
                <a:solidFill>
                  <a:srgbClr val="1F497D"/>
                </a:solidFill>
                <a:latin typeface="Calibri"/>
              </a:rPr>
              <a:t>2020–22</a:t>
            </a:r>
          </a:p>
        </p:txBody>
      </p:sp>
      <p:sp>
        <p:nvSpPr>
          <p:cNvPr id="13" name="Oval 12"/>
          <p:cNvSpPr/>
          <p:nvPr/>
        </p:nvSpPr>
        <p:spPr>
          <a:xfrm>
            <a:off x="2752344" y="2706624"/>
            <a:ext cx="256032" cy="256032"/>
          </a:xfrm>
          <a:prstGeom prst="ellipse">
            <a:avLst/>
          </a:prstGeom>
          <a:solidFill>
            <a:srgbClr val="1F497D"/>
          </a:solidFill>
          <a:ln>
            <a:noFill/>
          </a:ln>
        </p:spPr>
        <p:txBody>
          <a:bodyPr rtlCol="0" anchor="ctr" wrap="square" lIns="54864" rIns="54864" tIns="54864" bIns="54864"/>
          <a:lstStyle/>
          <a:p>
            <a:pPr algn="ctr"/>
          </a:p>
        </p:txBody>
      </p:sp>
      <p:sp>
        <p:nvSpPr>
          <p:cNvPr id="14" name="TextBox 13"/>
          <p:cNvSpPr txBox="1"/>
          <p:nvPr/>
        </p:nvSpPr>
        <p:spPr>
          <a:xfrm>
            <a:off x="2093976" y="3035808"/>
            <a:ext cx="1572768" cy="914400"/>
          </a:xfrm>
          <a:prstGeom prst="rect">
            <a:avLst/>
          </a:prstGeom>
          <a:noFill/>
        </p:spPr>
        <p:txBody>
          <a:bodyPr wrap="square" anchor="t" lIns="36576" rIns="36576" tIns="36576" bIns="36576"/>
          <a:lstStyle/>
          <a:p>
            <a:pPr algn="ctr">
              <a:spcAft>
                <a:spcPts val="400"/>
              </a:spcAft>
            </a:pPr>
            <a:r>
              <a:rPr sz="1200" b="0" i="0">
                <a:solidFill>
                  <a:srgbClr val="262626"/>
                </a:solidFill>
                <a:latin typeface="Calibri"/>
              </a:rPr>
              <a:t>LLMs as text generators (GPT-3, ChatGPT)</a:t>
            </a:r>
          </a:p>
        </p:txBody>
      </p:sp>
      <p:sp>
        <p:nvSpPr>
          <p:cNvPr id="15" name="TextBox 14"/>
          <p:cNvSpPr txBox="1"/>
          <p:nvPr/>
        </p:nvSpPr>
        <p:spPr>
          <a:xfrm>
            <a:off x="3794760" y="2395728"/>
            <a:ext cx="1554480" cy="320040"/>
          </a:xfrm>
          <a:prstGeom prst="rect">
            <a:avLst/>
          </a:prstGeom>
          <a:noFill/>
        </p:spPr>
        <p:txBody>
          <a:bodyPr wrap="square" anchor="t" lIns="36576" rIns="36576" tIns="36576" bIns="36576"/>
          <a:lstStyle/>
          <a:p>
            <a:pPr algn="ctr">
              <a:spcAft>
                <a:spcPts val="400"/>
              </a:spcAft>
            </a:pPr>
            <a:r>
              <a:rPr sz="1400" b="1" i="0">
                <a:solidFill>
                  <a:srgbClr val="1F497D"/>
                </a:solidFill>
                <a:latin typeface="Calibri"/>
              </a:rPr>
              <a:t>2022–23</a:t>
            </a:r>
          </a:p>
        </p:txBody>
      </p:sp>
      <p:sp>
        <p:nvSpPr>
          <p:cNvPr id="16" name="Oval 15"/>
          <p:cNvSpPr/>
          <p:nvPr/>
        </p:nvSpPr>
        <p:spPr>
          <a:xfrm>
            <a:off x="4443984" y="2706624"/>
            <a:ext cx="256032" cy="256032"/>
          </a:xfrm>
          <a:prstGeom prst="ellipse">
            <a:avLst/>
          </a:prstGeom>
          <a:solidFill>
            <a:srgbClr val="1F497D"/>
          </a:solidFill>
          <a:ln>
            <a:noFill/>
          </a:ln>
        </p:spPr>
        <p:txBody>
          <a:bodyPr rtlCol="0" anchor="ctr" wrap="square" lIns="54864" rIns="54864" tIns="54864" bIns="54864"/>
          <a:lstStyle/>
          <a:p>
            <a:pPr algn="ctr"/>
          </a:p>
        </p:txBody>
      </p:sp>
      <p:sp>
        <p:nvSpPr>
          <p:cNvPr id="17" name="TextBox 16"/>
          <p:cNvSpPr txBox="1"/>
          <p:nvPr/>
        </p:nvSpPr>
        <p:spPr>
          <a:xfrm>
            <a:off x="3785615" y="3035808"/>
            <a:ext cx="1572768" cy="914400"/>
          </a:xfrm>
          <a:prstGeom prst="rect">
            <a:avLst/>
          </a:prstGeom>
          <a:noFill/>
        </p:spPr>
        <p:txBody>
          <a:bodyPr wrap="square" anchor="t" lIns="36576" rIns="36576" tIns="36576" bIns="36576"/>
          <a:lstStyle/>
          <a:p>
            <a:pPr algn="ctr">
              <a:spcAft>
                <a:spcPts val="400"/>
              </a:spcAft>
            </a:pPr>
            <a:r>
              <a:rPr sz="1200" b="0" i="0">
                <a:solidFill>
                  <a:srgbClr val="262626"/>
                </a:solidFill>
                <a:latin typeface="Calibri"/>
              </a:rPr>
              <a:t>Reasoning + tool use (Chain-of-Thought, ReAct [12])</a:t>
            </a:r>
          </a:p>
        </p:txBody>
      </p:sp>
      <p:sp>
        <p:nvSpPr>
          <p:cNvPr id="18" name="TextBox 17"/>
          <p:cNvSpPr txBox="1"/>
          <p:nvPr/>
        </p:nvSpPr>
        <p:spPr>
          <a:xfrm>
            <a:off x="5486400" y="2395728"/>
            <a:ext cx="1554480" cy="320040"/>
          </a:xfrm>
          <a:prstGeom prst="rect">
            <a:avLst/>
          </a:prstGeom>
          <a:noFill/>
        </p:spPr>
        <p:txBody>
          <a:bodyPr wrap="square" anchor="t" lIns="36576" rIns="36576" tIns="36576" bIns="36576"/>
          <a:lstStyle/>
          <a:p>
            <a:pPr algn="ctr">
              <a:spcAft>
                <a:spcPts val="400"/>
              </a:spcAft>
            </a:pPr>
            <a:r>
              <a:rPr sz="1400" b="1" i="0">
                <a:solidFill>
                  <a:srgbClr val="1F497D"/>
                </a:solidFill>
                <a:latin typeface="Calibri"/>
              </a:rPr>
              <a:t>2023–24</a:t>
            </a:r>
          </a:p>
        </p:txBody>
      </p:sp>
      <p:sp>
        <p:nvSpPr>
          <p:cNvPr id="19" name="Oval 18"/>
          <p:cNvSpPr/>
          <p:nvPr/>
        </p:nvSpPr>
        <p:spPr>
          <a:xfrm>
            <a:off x="6135624" y="2706624"/>
            <a:ext cx="256032" cy="256032"/>
          </a:xfrm>
          <a:prstGeom prst="ellipse">
            <a:avLst/>
          </a:prstGeom>
          <a:solidFill>
            <a:srgbClr val="1F497D"/>
          </a:solidFill>
          <a:ln>
            <a:noFill/>
          </a:ln>
        </p:spPr>
        <p:txBody>
          <a:bodyPr rtlCol="0" anchor="ctr" wrap="square" lIns="54864" rIns="54864" tIns="54864" bIns="54864"/>
          <a:lstStyle/>
          <a:p>
            <a:pPr algn="ctr"/>
          </a:p>
        </p:txBody>
      </p:sp>
      <p:sp>
        <p:nvSpPr>
          <p:cNvPr id="20" name="TextBox 19"/>
          <p:cNvSpPr txBox="1"/>
          <p:nvPr/>
        </p:nvSpPr>
        <p:spPr>
          <a:xfrm>
            <a:off x="5477256" y="3035808"/>
            <a:ext cx="1572768" cy="914400"/>
          </a:xfrm>
          <a:prstGeom prst="rect">
            <a:avLst/>
          </a:prstGeom>
          <a:noFill/>
        </p:spPr>
        <p:txBody>
          <a:bodyPr wrap="square" anchor="t" lIns="36576" rIns="36576" tIns="36576" bIns="36576"/>
          <a:lstStyle/>
          <a:p>
            <a:pPr algn="ctr">
              <a:spcAft>
                <a:spcPts val="400"/>
              </a:spcAft>
            </a:pPr>
            <a:r>
              <a:rPr sz="1200" b="0" i="0">
                <a:solidFill>
                  <a:srgbClr val="262626"/>
                </a:solidFill>
                <a:latin typeface="Calibri"/>
              </a:rPr>
              <a:t>Multi-agent frameworks (AutoGen, CrewAI)</a:t>
            </a:r>
          </a:p>
        </p:txBody>
      </p:sp>
      <p:sp>
        <p:nvSpPr>
          <p:cNvPr id="21" name="TextBox 20"/>
          <p:cNvSpPr txBox="1"/>
          <p:nvPr/>
        </p:nvSpPr>
        <p:spPr>
          <a:xfrm>
            <a:off x="7178040" y="2395728"/>
            <a:ext cx="1554480" cy="320040"/>
          </a:xfrm>
          <a:prstGeom prst="rect">
            <a:avLst/>
          </a:prstGeom>
          <a:noFill/>
        </p:spPr>
        <p:txBody>
          <a:bodyPr wrap="square" anchor="t" lIns="36576" rIns="36576" tIns="36576" bIns="36576"/>
          <a:lstStyle/>
          <a:p>
            <a:pPr algn="ctr">
              <a:spcAft>
                <a:spcPts val="400"/>
              </a:spcAft>
            </a:pPr>
            <a:r>
              <a:rPr sz="1400" b="1" i="0">
                <a:solidFill>
                  <a:srgbClr val="31859C"/>
                </a:solidFill>
                <a:latin typeface="Calibri"/>
              </a:rPr>
              <a:t>2024–26</a:t>
            </a:r>
          </a:p>
        </p:txBody>
      </p:sp>
      <p:sp>
        <p:nvSpPr>
          <p:cNvPr id="22" name="Oval 21"/>
          <p:cNvSpPr/>
          <p:nvPr/>
        </p:nvSpPr>
        <p:spPr>
          <a:xfrm>
            <a:off x="7827264" y="2706624"/>
            <a:ext cx="256032" cy="256032"/>
          </a:xfrm>
          <a:prstGeom prst="ellipse">
            <a:avLst/>
          </a:prstGeom>
          <a:solidFill>
            <a:srgbClr val="31859C"/>
          </a:solidFill>
          <a:ln>
            <a:noFill/>
          </a:ln>
        </p:spPr>
        <p:txBody>
          <a:bodyPr rtlCol="0" anchor="ctr" wrap="square" lIns="54864" rIns="54864" tIns="54864" bIns="54864"/>
          <a:lstStyle/>
          <a:p>
            <a:pPr algn="ctr"/>
          </a:p>
        </p:txBody>
      </p:sp>
      <p:sp>
        <p:nvSpPr>
          <p:cNvPr id="23" name="TextBox 22"/>
          <p:cNvSpPr txBox="1"/>
          <p:nvPr/>
        </p:nvSpPr>
        <p:spPr>
          <a:xfrm>
            <a:off x="7168896" y="3035808"/>
            <a:ext cx="1572768" cy="914400"/>
          </a:xfrm>
          <a:prstGeom prst="rect">
            <a:avLst/>
          </a:prstGeom>
          <a:noFill/>
        </p:spPr>
        <p:txBody>
          <a:bodyPr wrap="square" anchor="t" lIns="36576" rIns="36576" tIns="36576" bIns="36576"/>
          <a:lstStyle/>
          <a:p>
            <a:pPr algn="ctr">
              <a:spcAft>
                <a:spcPts val="400"/>
              </a:spcAft>
            </a:pPr>
            <a:r>
              <a:rPr sz="1200" b="0" i="0">
                <a:solidFill>
                  <a:srgbClr val="262626"/>
                </a:solidFill>
                <a:latin typeface="Calibri"/>
              </a:rPr>
              <a:t>Open protocols (MCP, A2A) and production agents [6]</a:t>
            </a:r>
          </a:p>
        </p:txBody>
      </p:sp>
      <p:sp>
        <p:nvSpPr>
          <p:cNvPr id="24" name="TextBox 23"/>
          <p:cNvSpPr txBox="1"/>
          <p:nvPr/>
        </p:nvSpPr>
        <p:spPr>
          <a:xfrm>
            <a:off x="457200" y="4023360"/>
            <a:ext cx="8229600" cy="365760"/>
          </a:xfrm>
          <a:prstGeom prst="rect">
            <a:avLst/>
          </a:prstGeom>
          <a:noFill/>
        </p:spPr>
        <p:txBody>
          <a:bodyPr wrap="square" anchor="t" lIns="36576" rIns="36576" tIns="36576" bIns="36576"/>
          <a:lstStyle/>
          <a:p>
            <a:pPr algn="l">
              <a:spcAft>
                <a:spcPts val="400"/>
              </a:spcAft>
            </a:pPr>
            <a:r>
              <a:rPr sz="1600" b="1" i="0">
                <a:solidFill>
                  <a:srgbClr val="1F497D"/>
                </a:solidFill>
                <a:latin typeface="Calibri"/>
              </a:rPr>
              <a:t>Inspiration — why we need agents</a:t>
            </a:r>
          </a:p>
        </p:txBody>
      </p:sp>
      <p:sp>
        <p:nvSpPr>
          <p:cNvPr id="25" name="Rounded Rectangle 24"/>
          <p:cNvSpPr/>
          <p:nvPr/>
        </p:nvSpPr>
        <p:spPr>
          <a:xfrm>
            <a:off x="457200" y="4434840"/>
            <a:ext cx="2606040" cy="1737360"/>
          </a:xfrm>
          <a:prstGeom prst="roundRect">
            <a:avLst>
              <a:gd name="adj" fmla="val 4210"/>
            </a:avLst>
          </a:prstGeom>
          <a:solidFill>
            <a:srgbClr val="F2F6FB"/>
          </a:solidFill>
          <a:ln>
            <a:noFill/>
          </a:ln>
        </p:spPr>
        <p:txBody>
          <a:bodyPr rtlCol="0" anchor="ctr" wrap="square" lIns="54864" rIns="54864" tIns="54864" bIns="54864"/>
          <a:lstStyle/>
          <a:p>
            <a:pPr algn="ctr"/>
          </a:p>
        </p:txBody>
      </p:sp>
      <p:sp>
        <p:nvSpPr>
          <p:cNvPr id="26" name="Oval 25"/>
          <p:cNvSpPr/>
          <p:nvPr/>
        </p:nvSpPr>
        <p:spPr>
          <a:xfrm>
            <a:off x="594360" y="4572000"/>
            <a:ext cx="475488" cy="475488"/>
          </a:xfrm>
          <a:prstGeom prst="ellipse">
            <a:avLst/>
          </a:prstGeom>
          <a:solidFill>
            <a:srgbClr val="31859C"/>
          </a:solidFill>
          <a:ln>
            <a:noFill/>
          </a:ln>
        </p:spPr>
        <p:txBody>
          <a:bodyPr rtlCol="0" anchor="ctr" wrap="square" lIns="54864" rIns="54864" tIns="54864" bIns="54864"/>
          <a:lstStyle/>
          <a:p>
            <a:pPr algn="ctr"/>
          </a:p>
        </p:txBody>
      </p:sp>
      <p:pic>
        <p:nvPicPr>
          <p:cNvPr id="27" name="Picture 26" descr="layers_w.png"/>
          <p:cNvPicPr>
            <a:picLocks noChangeAspect="1"/>
          </p:cNvPicPr>
          <p:nvPr/>
        </p:nvPicPr>
        <p:blipFill>
          <a:blip r:embed="rId3"/>
          <a:stretch>
            <a:fillRect/>
          </a:stretch>
        </p:blipFill>
        <p:spPr>
          <a:xfrm>
            <a:off x="708477" y="4686117"/>
            <a:ext cx="247253" cy="247253"/>
          </a:xfrm>
          <a:prstGeom prst="rect">
            <a:avLst/>
          </a:prstGeom>
        </p:spPr>
      </p:pic>
      <p:sp>
        <p:nvSpPr>
          <p:cNvPr id="28" name="TextBox 27"/>
          <p:cNvSpPr txBox="1"/>
          <p:nvPr/>
        </p:nvSpPr>
        <p:spPr>
          <a:xfrm>
            <a:off x="1143000" y="4544568"/>
            <a:ext cx="1828800" cy="530352"/>
          </a:xfrm>
          <a:prstGeom prst="rect">
            <a:avLst/>
          </a:prstGeom>
          <a:noFill/>
        </p:spPr>
        <p:txBody>
          <a:bodyPr wrap="square" anchor="ctr" lIns="36576" rIns="36576" tIns="36576" bIns="36576"/>
          <a:lstStyle/>
          <a:p>
            <a:pPr algn="l">
              <a:spcAft>
                <a:spcPts val="400"/>
              </a:spcAft>
            </a:pPr>
            <a:r>
              <a:rPr sz="1400" b="1" i="0">
                <a:solidFill>
                  <a:srgbClr val="1F497D"/>
                </a:solidFill>
                <a:latin typeface="Calibri"/>
              </a:rPr>
              <a:t>Real tasks are multi-step</a:t>
            </a:r>
          </a:p>
        </p:txBody>
      </p:sp>
      <p:sp>
        <p:nvSpPr>
          <p:cNvPr id="29" name="TextBox 28"/>
          <p:cNvSpPr txBox="1"/>
          <p:nvPr/>
        </p:nvSpPr>
        <p:spPr>
          <a:xfrm>
            <a:off x="594360" y="5120640"/>
            <a:ext cx="2331720" cy="1005840"/>
          </a:xfrm>
          <a:prstGeom prst="rect">
            <a:avLst/>
          </a:prstGeom>
          <a:noFill/>
        </p:spPr>
        <p:txBody>
          <a:bodyPr wrap="square" anchor="t" lIns="36576" rIns="36576" tIns="36576" bIns="36576"/>
          <a:lstStyle/>
          <a:p>
            <a:pPr algn="l">
              <a:spcAft>
                <a:spcPts val="400"/>
              </a:spcAft>
            </a:pPr>
            <a:r>
              <a:rPr sz="1400" b="0" i="0">
                <a:solidFill>
                  <a:srgbClr val="262626"/>
                </a:solidFill>
                <a:latin typeface="Calibri"/>
              </a:rPr>
              <a:t>Research, coding and booking need many dependent steps, not one reply.</a:t>
            </a:r>
          </a:p>
        </p:txBody>
      </p:sp>
      <p:sp>
        <p:nvSpPr>
          <p:cNvPr id="30" name="Rounded Rectangle 29"/>
          <p:cNvSpPr/>
          <p:nvPr/>
        </p:nvSpPr>
        <p:spPr>
          <a:xfrm>
            <a:off x="3268980" y="4434840"/>
            <a:ext cx="2606040" cy="1737360"/>
          </a:xfrm>
          <a:prstGeom prst="roundRect">
            <a:avLst>
              <a:gd name="adj" fmla="val 4210"/>
            </a:avLst>
          </a:prstGeom>
          <a:solidFill>
            <a:srgbClr val="F2F6FB"/>
          </a:solidFill>
          <a:ln>
            <a:noFill/>
          </a:ln>
        </p:spPr>
        <p:txBody>
          <a:bodyPr rtlCol="0" anchor="ctr" wrap="square" lIns="54864" rIns="54864" tIns="54864" bIns="54864"/>
          <a:lstStyle/>
          <a:p>
            <a:pPr algn="ctr"/>
          </a:p>
        </p:txBody>
      </p:sp>
      <p:sp>
        <p:nvSpPr>
          <p:cNvPr id="31" name="Oval 30"/>
          <p:cNvSpPr/>
          <p:nvPr/>
        </p:nvSpPr>
        <p:spPr>
          <a:xfrm>
            <a:off x="3406140" y="4572000"/>
            <a:ext cx="475488" cy="475488"/>
          </a:xfrm>
          <a:prstGeom prst="ellipse">
            <a:avLst/>
          </a:prstGeom>
          <a:solidFill>
            <a:srgbClr val="31859C"/>
          </a:solidFill>
          <a:ln>
            <a:noFill/>
          </a:ln>
        </p:spPr>
        <p:txBody>
          <a:bodyPr rtlCol="0" anchor="ctr" wrap="square" lIns="54864" rIns="54864" tIns="54864" bIns="54864"/>
          <a:lstStyle/>
          <a:p>
            <a:pPr algn="ctr"/>
          </a:p>
        </p:txBody>
      </p:sp>
      <p:pic>
        <p:nvPicPr>
          <p:cNvPr id="32" name="Picture 31" descr="globe_w.png"/>
          <p:cNvPicPr>
            <a:picLocks noChangeAspect="1"/>
          </p:cNvPicPr>
          <p:nvPr/>
        </p:nvPicPr>
        <p:blipFill>
          <a:blip r:embed="rId4"/>
          <a:stretch>
            <a:fillRect/>
          </a:stretch>
        </p:blipFill>
        <p:spPr>
          <a:xfrm>
            <a:off x="3520257" y="4686117"/>
            <a:ext cx="247253" cy="247253"/>
          </a:xfrm>
          <a:prstGeom prst="rect">
            <a:avLst/>
          </a:prstGeom>
        </p:spPr>
      </p:pic>
      <p:sp>
        <p:nvSpPr>
          <p:cNvPr id="33" name="TextBox 32"/>
          <p:cNvSpPr txBox="1"/>
          <p:nvPr/>
        </p:nvSpPr>
        <p:spPr>
          <a:xfrm>
            <a:off x="3954780" y="4544568"/>
            <a:ext cx="1828800" cy="530352"/>
          </a:xfrm>
          <a:prstGeom prst="rect">
            <a:avLst/>
          </a:prstGeom>
          <a:noFill/>
        </p:spPr>
        <p:txBody>
          <a:bodyPr wrap="square" anchor="ctr" lIns="36576" rIns="36576" tIns="36576" bIns="36576"/>
          <a:lstStyle/>
          <a:p>
            <a:pPr algn="l">
              <a:spcAft>
                <a:spcPts val="400"/>
              </a:spcAft>
            </a:pPr>
            <a:r>
              <a:rPr sz="1400" b="1" i="0">
                <a:solidFill>
                  <a:srgbClr val="1F497D"/>
                </a:solidFill>
                <a:latin typeface="Calibri"/>
              </a:rPr>
              <a:t>Models need live data</a:t>
            </a:r>
          </a:p>
        </p:txBody>
      </p:sp>
      <p:sp>
        <p:nvSpPr>
          <p:cNvPr id="34" name="TextBox 33"/>
          <p:cNvSpPr txBox="1"/>
          <p:nvPr/>
        </p:nvSpPr>
        <p:spPr>
          <a:xfrm>
            <a:off x="3406140" y="5120640"/>
            <a:ext cx="2331720" cy="1005840"/>
          </a:xfrm>
          <a:prstGeom prst="rect">
            <a:avLst/>
          </a:prstGeom>
          <a:noFill/>
        </p:spPr>
        <p:txBody>
          <a:bodyPr wrap="square" anchor="t" lIns="36576" rIns="36576" tIns="36576" bIns="36576"/>
          <a:lstStyle/>
          <a:p>
            <a:pPr algn="l">
              <a:spcAft>
                <a:spcPts val="400"/>
              </a:spcAft>
            </a:pPr>
            <a:r>
              <a:rPr sz="1400" b="0" i="0">
                <a:solidFill>
                  <a:srgbClr val="262626"/>
                </a:solidFill>
                <a:latin typeface="Calibri"/>
              </a:rPr>
              <a:t>Tools give access to the web, code execution, databases and APIs.</a:t>
            </a:r>
          </a:p>
        </p:txBody>
      </p:sp>
      <p:sp>
        <p:nvSpPr>
          <p:cNvPr id="35" name="Rounded Rectangle 34"/>
          <p:cNvSpPr/>
          <p:nvPr/>
        </p:nvSpPr>
        <p:spPr>
          <a:xfrm>
            <a:off x="6080760" y="4434840"/>
            <a:ext cx="2606040" cy="1737360"/>
          </a:xfrm>
          <a:prstGeom prst="roundRect">
            <a:avLst>
              <a:gd name="adj" fmla="val 4210"/>
            </a:avLst>
          </a:prstGeom>
          <a:solidFill>
            <a:srgbClr val="F2F6FB"/>
          </a:solidFill>
          <a:ln>
            <a:noFill/>
          </a:ln>
        </p:spPr>
        <p:txBody>
          <a:bodyPr rtlCol="0" anchor="ctr" wrap="square" lIns="54864" rIns="54864" tIns="54864" bIns="54864"/>
          <a:lstStyle/>
          <a:p>
            <a:pPr algn="ctr"/>
          </a:p>
        </p:txBody>
      </p:sp>
      <p:sp>
        <p:nvSpPr>
          <p:cNvPr id="36" name="Oval 35"/>
          <p:cNvSpPr/>
          <p:nvPr/>
        </p:nvSpPr>
        <p:spPr>
          <a:xfrm>
            <a:off x="6217920" y="4572000"/>
            <a:ext cx="475488" cy="475488"/>
          </a:xfrm>
          <a:prstGeom prst="ellipse">
            <a:avLst/>
          </a:prstGeom>
          <a:solidFill>
            <a:srgbClr val="31859C"/>
          </a:solidFill>
          <a:ln>
            <a:noFill/>
          </a:ln>
        </p:spPr>
        <p:txBody>
          <a:bodyPr rtlCol="0" anchor="ctr" wrap="square" lIns="54864" rIns="54864" tIns="54864" bIns="54864"/>
          <a:lstStyle/>
          <a:p>
            <a:pPr algn="ctr"/>
          </a:p>
        </p:txBody>
      </p:sp>
      <p:pic>
        <p:nvPicPr>
          <p:cNvPr id="37" name="Picture 36" descr="check_w.png"/>
          <p:cNvPicPr>
            <a:picLocks noChangeAspect="1"/>
          </p:cNvPicPr>
          <p:nvPr/>
        </p:nvPicPr>
        <p:blipFill>
          <a:blip r:embed="rId5"/>
          <a:stretch>
            <a:fillRect/>
          </a:stretch>
        </p:blipFill>
        <p:spPr>
          <a:xfrm>
            <a:off x="6332037" y="4686117"/>
            <a:ext cx="247253" cy="247253"/>
          </a:xfrm>
          <a:prstGeom prst="rect">
            <a:avLst/>
          </a:prstGeom>
        </p:spPr>
      </p:pic>
      <p:sp>
        <p:nvSpPr>
          <p:cNvPr id="38" name="TextBox 37"/>
          <p:cNvSpPr txBox="1"/>
          <p:nvPr/>
        </p:nvSpPr>
        <p:spPr>
          <a:xfrm>
            <a:off x="6766560" y="4544568"/>
            <a:ext cx="1828800" cy="530352"/>
          </a:xfrm>
          <a:prstGeom prst="rect">
            <a:avLst/>
          </a:prstGeom>
          <a:noFill/>
        </p:spPr>
        <p:txBody>
          <a:bodyPr wrap="square" anchor="ctr" lIns="36576" rIns="36576" tIns="36576" bIns="36576"/>
          <a:lstStyle/>
          <a:p>
            <a:pPr algn="l">
              <a:spcAft>
                <a:spcPts val="400"/>
              </a:spcAft>
            </a:pPr>
            <a:r>
              <a:rPr sz="1400" b="1" i="0">
                <a:solidFill>
                  <a:srgbClr val="1F497D"/>
                </a:solidFill>
                <a:latin typeface="Calibri"/>
              </a:rPr>
              <a:t>Results must be verified</a:t>
            </a:r>
          </a:p>
        </p:txBody>
      </p:sp>
      <p:sp>
        <p:nvSpPr>
          <p:cNvPr id="39" name="TextBox 38"/>
          <p:cNvSpPr txBox="1"/>
          <p:nvPr/>
        </p:nvSpPr>
        <p:spPr>
          <a:xfrm>
            <a:off x="6217920" y="5120640"/>
            <a:ext cx="2331720" cy="1005840"/>
          </a:xfrm>
          <a:prstGeom prst="rect">
            <a:avLst/>
          </a:prstGeom>
          <a:noFill/>
        </p:spPr>
        <p:txBody>
          <a:bodyPr wrap="square" anchor="t" lIns="36576" rIns="36576" tIns="36576" bIns="36576"/>
          <a:lstStyle/>
          <a:p>
            <a:pPr algn="l">
              <a:spcAft>
                <a:spcPts val="400"/>
              </a:spcAft>
            </a:pPr>
            <a:r>
              <a:rPr sz="1400" b="0" i="0">
                <a:solidFill>
                  <a:srgbClr val="262626"/>
                </a:solidFill>
                <a:latin typeface="Calibri"/>
              </a:rPr>
              <a:t>Feedback loops let an agent detect and correct its own errors.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182880"/>
            <a:ext cx="6766560" cy="822960"/>
          </a:xfrm>
        </p:spPr>
        <p:txBody>
          <a:bodyPr wrap="square" anchor="ctr"/>
          <a:lstStyle/>
          <a:p>
            <a:pPr algn="ctr"/>
            <a:r>
              <a:rPr sz="3000">
                <a:solidFill>
                  <a:srgbClr val="000000"/>
                </a:solidFill>
                <a:latin typeface="Times New Roman"/>
              </a:rPr>
              <a:t>Objectives</a:t>
            </a:r>
            <a:endParaRPr lang="en-IN" dirty="0"/>
          </a:p>
        </p:txBody>
      </p:sp>
      <p:sp>
        <p:nvSpPr>
          <p:cNvPr id="4" name="Slide Number Placeholder 3"/>
          <p:cNvSpPr>
            <a:spLocks noGrp="1"/>
          </p:cNvSpPr>
          <p:nvPr>
            <p:ph type="sldNum" sz="quarter" idx="12"/>
          </p:nvPr>
        </p:nvSpPr>
        <p:spPr/>
        <p:txBody>
          <a:bodyPr/>
          <a:lstStyle/>
          <a:p>
            <a:fld id="{1EC248AB-E565-412B-9D95-9B07D6A4F3F3}" type="slidenum">
              <a:rPr lang="en-GB" smtClean="0"/>
              <a:pPr/>
              <a:t>6</a:t>
            </a:fld>
            <a:endParaRPr lang="en-GB"/>
          </a:p>
        </p:txBody>
      </p:sp>
      <p:pic>
        <p:nvPicPr>
          <p:cNvPr id="5" name="Picture 4" descr="image.jpeg"/>
          <p:cNvPicPr>
            <a:picLocks noChangeAspect="1"/>
          </p:cNvPicPr>
          <p:nvPr/>
        </p:nvPicPr>
        <p:blipFill>
          <a:blip r:embed="rId2"/>
          <a:stretch>
            <a:fillRect/>
          </a:stretch>
        </p:blipFill>
        <p:spPr>
          <a:xfrm>
            <a:off x="164592" y="128016"/>
            <a:ext cx="987552" cy="743789"/>
          </a:xfrm>
          <a:prstGeom prst="rect">
            <a:avLst/>
          </a:prstGeom>
        </p:spPr>
      </p:pic>
      <p:sp>
        <p:nvSpPr>
          <p:cNvPr id="6" name="Rounded Rectangle 5"/>
          <p:cNvSpPr/>
          <p:nvPr/>
        </p:nvSpPr>
        <p:spPr>
          <a:xfrm>
            <a:off x="457200" y="1234440"/>
            <a:ext cx="8229600" cy="841248"/>
          </a:xfrm>
          <a:prstGeom prst="roundRect">
            <a:avLst>
              <a:gd name="adj" fmla="val 8695"/>
            </a:avLst>
          </a:prstGeom>
          <a:solidFill>
            <a:srgbClr val="F2F6FB"/>
          </a:solidFill>
          <a:ln>
            <a:noFill/>
          </a:ln>
        </p:spPr>
        <p:txBody>
          <a:bodyPr rtlCol="0" anchor="ctr" wrap="square" lIns="54864" rIns="54864" tIns="54864" bIns="54864"/>
          <a:lstStyle/>
          <a:p>
            <a:pPr algn="ctr"/>
          </a:p>
        </p:txBody>
      </p:sp>
      <p:sp>
        <p:nvSpPr>
          <p:cNvPr id="7" name="Oval 6"/>
          <p:cNvSpPr/>
          <p:nvPr/>
        </p:nvSpPr>
        <p:spPr>
          <a:xfrm>
            <a:off x="621792" y="1399032"/>
            <a:ext cx="512064" cy="512064"/>
          </a:xfrm>
          <a:prstGeom prst="ellipse">
            <a:avLst/>
          </a:prstGeom>
          <a:solidFill>
            <a:srgbClr val="1F497D"/>
          </a:solidFill>
          <a:ln>
            <a:noFill/>
          </a:ln>
        </p:spPr>
        <p:txBody>
          <a:bodyPr rtlCol="0" anchor="ctr" wrap="square" lIns="54864" rIns="54864" tIns="54864" bIns="54864"/>
          <a:lstStyle/>
          <a:p>
            <a:pPr algn="ctr">
              <a:spcAft>
                <a:spcPts val="0"/>
              </a:spcAft>
            </a:pPr>
            <a:r>
              <a:rPr sz="2000" b="1" i="0">
                <a:solidFill>
                  <a:srgbClr val="FFFFFF"/>
                </a:solidFill>
                <a:latin typeface="Calibri"/>
              </a:rPr>
              <a:t>1</a:t>
            </a:r>
          </a:p>
        </p:txBody>
      </p:sp>
      <p:sp>
        <p:nvSpPr>
          <p:cNvPr id="8" name="TextBox 7"/>
          <p:cNvSpPr txBox="1"/>
          <p:nvPr/>
        </p:nvSpPr>
        <p:spPr>
          <a:xfrm>
            <a:off x="1298448" y="1271016"/>
            <a:ext cx="6583680" cy="768096"/>
          </a:xfrm>
          <a:prstGeom prst="rect">
            <a:avLst/>
          </a:prstGeom>
          <a:noFill/>
        </p:spPr>
        <p:txBody>
          <a:bodyPr wrap="square" anchor="ctr" lIns="36576" rIns="36576" tIns="36576" bIns="36576"/>
          <a:lstStyle/>
          <a:p>
            <a:pPr algn="l">
              <a:spcAft>
                <a:spcPts val="400"/>
              </a:spcAft>
            </a:pPr>
            <a:r>
              <a:rPr sz="1600" b="1" i="0">
                <a:solidFill>
                  <a:srgbClr val="1F497D"/>
                </a:solidFill>
                <a:latin typeface="Calibri"/>
              </a:rPr>
              <a:t>Architecture: </a:t>
            </a:r>
            <a:r>
              <a:rPr sz="1600" b="0" i="0">
                <a:solidFill>
                  <a:srgbClr val="262626"/>
                </a:solidFill>
                <a:latin typeface="Calibri"/>
              </a:rPr>
              <a:t>Study how autonomous LLM agents work: planning, memory, tool use and self-critique.</a:t>
            </a:r>
          </a:p>
        </p:txBody>
      </p:sp>
      <p:pic>
        <p:nvPicPr>
          <p:cNvPr id="9" name="Picture 8" descr="brain_b.png"/>
          <p:cNvPicPr>
            <a:picLocks noChangeAspect="1"/>
          </p:cNvPicPr>
          <p:nvPr/>
        </p:nvPicPr>
        <p:blipFill>
          <a:blip r:embed="rId3"/>
          <a:stretch>
            <a:fillRect/>
          </a:stretch>
        </p:blipFill>
        <p:spPr>
          <a:xfrm>
            <a:off x="8065008" y="1426464"/>
            <a:ext cx="457200" cy="457200"/>
          </a:xfrm>
          <a:prstGeom prst="rect">
            <a:avLst/>
          </a:prstGeom>
        </p:spPr>
      </p:pic>
      <p:sp>
        <p:nvSpPr>
          <p:cNvPr id="10" name="Rounded Rectangle 9"/>
          <p:cNvSpPr/>
          <p:nvPr/>
        </p:nvSpPr>
        <p:spPr>
          <a:xfrm>
            <a:off x="457200" y="2221992"/>
            <a:ext cx="8229600" cy="841248"/>
          </a:xfrm>
          <a:prstGeom prst="roundRect">
            <a:avLst>
              <a:gd name="adj" fmla="val 8695"/>
            </a:avLst>
          </a:prstGeom>
          <a:solidFill>
            <a:srgbClr val="F2F6FB"/>
          </a:solidFill>
          <a:ln>
            <a:noFill/>
          </a:ln>
        </p:spPr>
        <p:txBody>
          <a:bodyPr rtlCol="0" anchor="ctr" wrap="square" lIns="54864" rIns="54864" tIns="54864" bIns="54864"/>
          <a:lstStyle/>
          <a:p>
            <a:pPr algn="ctr"/>
          </a:p>
        </p:txBody>
      </p:sp>
      <p:sp>
        <p:nvSpPr>
          <p:cNvPr id="11" name="Oval 10"/>
          <p:cNvSpPr/>
          <p:nvPr/>
        </p:nvSpPr>
        <p:spPr>
          <a:xfrm>
            <a:off x="621792" y="2386584"/>
            <a:ext cx="512064" cy="512064"/>
          </a:xfrm>
          <a:prstGeom prst="ellipse">
            <a:avLst/>
          </a:prstGeom>
          <a:solidFill>
            <a:srgbClr val="1F497D"/>
          </a:solidFill>
          <a:ln>
            <a:noFill/>
          </a:ln>
        </p:spPr>
        <p:txBody>
          <a:bodyPr rtlCol="0" anchor="ctr" wrap="square" lIns="54864" rIns="54864" tIns="54864" bIns="54864"/>
          <a:lstStyle/>
          <a:p>
            <a:pPr algn="ctr">
              <a:spcAft>
                <a:spcPts val="0"/>
              </a:spcAft>
            </a:pPr>
            <a:r>
              <a:rPr sz="2000" b="1" i="0">
                <a:solidFill>
                  <a:srgbClr val="FFFFFF"/>
                </a:solidFill>
                <a:latin typeface="Calibri"/>
              </a:rPr>
              <a:t>2</a:t>
            </a:r>
          </a:p>
        </p:txBody>
      </p:sp>
      <p:sp>
        <p:nvSpPr>
          <p:cNvPr id="12" name="TextBox 11"/>
          <p:cNvSpPr txBox="1"/>
          <p:nvPr/>
        </p:nvSpPr>
        <p:spPr>
          <a:xfrm>
            <a:off x="1298448" y="2258568"/>
            <a:ext cx="6583680" cy="768096"/>
          </a:xfrm>
          <a:prstGeom prst="rect">
            <a:avLst/>
          </a:prstGeom>
          <a:noFill/>
        </p:spPr>
        <p:txBody>
          <a:bodyPr wrap="square" anchor="ctr" lIns="36576" rIns="36576" tIns="36576" bIns="36576"/>
          <a:lstStyle/>
          <a:p>
            <a:pPr algn="l">
              <a:spcAft>
                <a:spcPts val="400"/>
              </a:spcAft>
            </a:pPr>
            <a:r>
              <a:rPr sz="1600" b="1" i="0">
                <a:solidFill>
                  <a:srgbClr val="1F497D"/>
                </a:solidFill>
                <a:latin typeface="Calibri"/>
              </a:rPr>
              <a:t>Coordination: </a:t>
            </a:r>
            <a:r>
              <a:rPr sz="1600" b="0" i="0">
                <a:solidFill>
                  <a:srgbClr val="262626"/>
                </a:solidFill>
                <a:latin typeface="Calibri"/>
              </a:rPr>
              <a:t>Analyse multi-agent patterns (centralized, hierarchical, decentralized) and their trade-offs.</a:t>
            </a:r>
          </a:p>
        </p:txBody>
      </p:sp>
      <p:pic>
        <p:nvPicPr>
          <p:cNvPr id="13" name="Picture 12" descr="users_b.png"/>
          <p:cNvPicPr>
            <a:picLocks noChangeAspect="1"/>
          </p:cNvPicPr>
          <p:nvPr/>
        </p:nvPicPr>
        <p:blipFill>
          <a:blip r:embed="rId4"/>
          <a:stretch>
            <a:fillRect/>
          </a:stretch>
        </p:blipFill>
        <p:spPr>
          <a:xfrm>
            <a:off x="8065008" y="2414016"/>
            <a:ext cx="457200" cy="457200"/>
          </a:xfrm>
          <a:prstGeom prst="rect">
            <a:avLst/>
          </a:prstGeom>
        </p:spPr>
      </p:pic>
      <p:sp>
        <p:nvSpPr>
          <p:cNvPr id="14" name="Rounded Rectangle 13"/>
          <p:cNvSpPr/>
          <p:nvPr/>
        </p:nvSpPr>
        <p:spPr>
          <a:xfrm>
            <a:off x="457200" y="3209544"/>
            <a:ext cx="8229600" cy="841248"/>
          </a:xfrm>
          <a:prstGeom prst="roundRect">
            <a:avLst>
              <a:gd name="adj" fmla="val 8695"/>
            </a:avLst>
          </a:prstGeom>
          <a:solidFill>
            <a:srgbClr val="F2F6FB"/>
          </a:solidFill>
          <a:ln>
            <a:noFill/>
          </a:ln>
        </p:spPr>
        <p:txBody>
          <a:bodyPr rtlCol="0" anchor="ctr" wrap="square" lIns="54864" rIns="54864" tIns="54864" bIns="54864"/>
          <a:lstStyle/>
          <a:p>
            <a:pPr algn="ctr"/>
          </a:p>
        </p:txBody>
      </p:sp>
      <p:sp>
        <p:nvSpPr>
          <p:cNvPr id="15" name="Oval 14"/>
          <p:cNvSpPr/>
          <p:nvPr/>
        </p:nvSpPr>
        <p:spPr>
          <a:xfrm>
            <a:off x="621792" y="3374136"/>
            <a:ext cx="512064" cy="512064"/>
          </a:xfrm>
          <a:prstGeom prst="ellipse">
            <a:avLst/>
          </a:prstGeom>
          <a:solidFill>
            <a:srgbClr val="1F497D"/>
          </a:solidFill>
          <a:ln>
            <a:noFill/>
          </a:ln>
        </p:spPr>
        <p:txBody>
          <a:bodyPr rtlCol="0" anchor="ctr" wrap="square" lIns="54864" rIns="54864" tIns="54864" bIns="54864"/>
          <a:lstStyle/>
          <a:p>
            <a:pPr algn="ctr">
              <a:spcAft>
                <a:spcPts val="0"/>
              </a:spcAft>
            </a:pPr>
            <a:r>
              <a:rPr sz="2000" b="1" i="0">
                <a:solidFill>
                  <a:srgbClr val="FFFFFF"/>
                </a:solidFill>
                <a:latin typeface="Calibri"/>
              </a:rPr>
              <a:t>3</a:t>
            </a:r>
          </a:p>
        </p:txBody>
      </p:sp>
      <p:sp>
        <p:nvSpPr>
          <p:cNvPr id="16" name="TextBox 15"/>
          <p:cNvSpPr txBox="1"/>
          <p:nvPr/>
        </p:nvSpPr>
        <p:spPr>
          <a:xfrm>
            <a:off x="1298448" y="3246120"/>
            <a:ext cx="6583680" cy="768096"/>
          </a:xfrm>
          <a:prstGeom prst="rect">
            <a:avLst/>
          </a:prstGeom>
          <a:noFill/>
        </p:spPr>
        <p:txBody>
          <a:bodyPr wrap="square" anchor="ctr" lIns="36576" rIns="36576" tIns="36576" bIns="36576"/>
          <a:lstStyle/>
          <a:p>
            <a:pPr algn="l">
              <a:spcAft>
                <a:spcPts val="400"/>
              </a:spcAft>
            </a:pPr>
            <a:r>
              <a:rPr sz="1600" b="1" i="0">
                <a:solidFill>
                  <a:srgbClr val="1F497D"/>
                </a:solidFill>
                <a:latin typeface="Calibri"/>
              </a:rPr>
              <a:t>Memory &amp; context: </a:t>
            </a:r>
            <a:r>
              <a:rPr sz="1600" b="0" i="0">
                <a:solidFill>
                  <a:srgbClr val="262626"/>
                </a:solidFill>
                <a:latin typeface="Calibri"/>
              </a:rPr>
              <a:t>Understand short- and long-term memory management for long-horizon tasks.</a:t>
            </a:r>
          </a:p>
        </p:txBody>
      </p:sp>
      <p:pic>
        <p:nvPicPr>
          <p:cNvPr id="17" name="Picture 16" descr="db_b.png"/>
          <p:cNvPicPr>
            <a:picLocks noChangeAspect="1"/>
          </p:cNvPicPr>
          <p:nvPr/>
        </p:nvPicPr>
        <p:blipFill>
          <a:blip r:embed="rId5"/>
          <a:stretch>
            <a:fillRect/>
          </a:stretch>
        </p:blipFill>
        <p:spPr>
          <a:xfrm>
            <a:off x="8065008" y="3401568"/>
            <a:ext cx="457200" cy="457200"/>
          </a:xfrm>
          <a:prstGeom prst="rect">
            <a:avLst/>
          </a:prstGeom>
        </p:spPr>
      </p:pic>
      <p:sp>
        <p:nvSpPr>
          <p:cNvPr id="18" name="Rounded Rectangle 17"/>
          <p:cNvSpPr/>
          <p:nvPr/>
        </p:nvSpPr>
        <p:spPr>
          <a:xfrm>
            <a:off x="457200" y="4197096"/>
            <a:ext cx="8229600" cy="841248"/>
          </a:xfrm>
          <a:prstGeom prst="roundRect">
            <a:avLst>
              <a:gd name="adj" fmla="val 8695"/>
            </a:avLst>
          </a:prstGeom>
          <a:solidFill>
            <a:srgbClr val="F2F6FB"/>
          </a:solidFill>
          <a:ln>
            <a:noFill/>
          </a:ln>
        </p:spPr>
        <p:txBody>
          <a:bodyPr rtlCol="0" anchor="ctr" wrap="square" lIns="54864" rIns="54864" tIns="54864" bIns="54864"/>
          <a:lstStyle/>
          <a:p>
            <a:pPr algn="ctr"/>
          </a:p>
        </p:txBody>
      </p:sp>
      <p:sp>
        <p:nvSpPr>
          <p:cNvPr id="19" name="Oval 18"/>
          <p:cNvSpPr/>
          <p:nvPr/>
        </p:nvSpPr>
        <p:spPr>
          <a:xfrm>
            <a:off x="621792" y="4361688"/>
            <a:ext cx="512064" cy="512064"/>
          </a:xfrm>
          <a:prstGeom prst="ellipse">
            <a:avLst/>
          </a:prstGeom>
          <a:solidFill>
            <a:srgbClr val="1F497D"/>
          </a:solidFill>
          <a:ln>
            <a:noFill/>
          </a:ln>
        </p:spPr>
        <p:txBody>
          <a:bodyPr rtlCol="0" anchor="ctr" wrap="square" lIns="54864" rIns="54864" tIns="54864" bIns="54864"/>
          <a:lstStyle/>
          <a:p>
            <a:pPr algn="ctr">
              <a:spcAft>
                <a:spcPts val="0"/>
              </a:spcAft>
            </a:pPr>
            <a:r>
              <a:rPr sz="2000" b="1" i="0">
                <a:solidFill>
                  <a:srgbClr val="FFFFFF"/>
                </a:solidFill>
                <a:latin typeface="Calibri"/>
              </a:rPr>
              <a:t>4</a:t>
            </a:r>
          </a:p>
        </p:txBody>
      </p:sp>
      <p:sp>
        <p:nvSpPr>
          <p:cNvPr id="20" name="TextBox 19"/>
          <p:cNvSpPr txBox="1"/>
          <p:nvPr/>
        </p:nvSpPr>
        <p:spPr>
          <a:xfrm>
            <a:off x="1298448" y="4233672"/>
            <a:ext cx="6583680" cy="768096"/>
          </a:xfrm>
          <a:prstGeom prst="rect">
            <a:avLst/>
          </a:prstGeom>
          <a:noFill/>
        </p:spPr>
        <p:txBody>
          <a:bodyPr wrap="square" anchor="ctr" lIns="36576" rIns="36576" tIns="36576" bIns="36576"/>
          <a:lstStyle/>
          <a:p>
            <a:pPr algn="l">
              <a:spcAft>
                <a:spcPts val="400"/>
              </a:spcAft>
            </a:pPr>
            <a:r>
              <a:rPr sz="1600" b="1" i="0">
                <a:solidFill>
                  <a:srgbClr val="1F497D"/>
                </a:solidFill>
                <a:latin typeface="Calibri"/>
              </a:rPr>
              <a:t>Applications: </a:t>
            </a:r>
            <a:r>
              <a:rPr sz="1600" b="0" i="0">
                <a:solidFill>
                  <a:srgbClr val="262626"/>
                </a:solidFill>
                <a:latin typeface="Calibri"/>
              </a:rPr>
              <a:t>Explore real agent systems in software, research, cybersecurity and robotics.</a:t>
            </a:r>
          </a:p>
        </p:txBody>
      </p:sp>
      <p:pic>
        <p:nvPicPr>
          <p:cNvPr id="21" name="Picture 20" descr="cogs_b.png"/>
          <p:cNvPicPr>
            <a:picLocks noChangeAspect="1"/>
          </p:cNvPicPr>
          <p:nvPr/>
        </p:nvPicPr>
        <p:blipFill>
          <a:blip r:embed="rId6"/>
          <a:stretch>
            <a:fillRect/>
          </a:stretch>
        </p:blipFill>
        <p:spPr>
          <a:xfrm>
            <a:off x="8065008" y="4389120"/>
            <a:ext cx="457200" cy="457200"/>
          </a:xfrm>
          <a:prstGeom prst="rect">
            <a:avLst/>
          </a:prstGeom>
        </p:spPr>
      </p:pic>
      <p:sp>
        <p:nvSpPr>
          <p:cNvPr id="22" name="Rounded Rectangle 21"/>
          <p:cNvSpPr/>
          <p:nvPr/>
        </p:nvSpPr>
        <p:spPr>
          <a:xfrm>
            <a:off x="457200" y="5184648"/>
            <a:ext cx="8229600" cy="841248"/>
          </a:xfrm>
          <a:prstGeom prst="roundRect">
            <a:avLst>
              <a:gd name="adj" fmla="val 8695"/>
            </a:avLst>
          </a:prstGeom>
          <a:solidFill>
            <a:srgbClr val="F2F6FB"/>
          </a:solidFill>
          <a:ln>
            <a:noFill/>
          </a:ln>
        </p:spPr>
        <p:txBody>
          <a:bodyPr rtlCol="0" anchor="ctr" wrap="square" lIns="54864" rIns="54864" tIns="54864" bIns="54864"/>
          <a:lstStyle/>
          <a:p>
            <a:pPr algn="ctr"/>
          </a:p>
        </p:txBody>
      </p:sp>
      <p:sp>
        <p:nvSpPr>
          <p:cNvPr id="23" name="Oval 22"/>
          <p:cNvSpPr/>
          <p:nvPr/>
        </p:nvSpPr>
        <p:spPr>
          <a:xfrm>
            <a:off x="621792" y="5349240"/>
            <a:ext cx="512064" cy="512064"/>
          </a:xfrm>
          <a:prstGeom prst="ellipse">
            <a:avLst/>
          </a:prstGeom>
          <a:solidFill>
            <a:srgbClr val="1F497D"/>
          </a:solidFill>
          <a:ln>
            <a:noFill/>
          </a:ln>
        </p:spPr>
        <p:txBody>
          <a:bodyPr rtlCol="0" anchor="ctr" wrap="square" lIns="54864" rIns="54864" tIns="54864" bIns="54864"/>
          <a:lstStyle/>
          <a:p>
            <a:pPr algn="ctr">
              <a:spcAft>
                <a:spcPts val="0"/>
              </a:spcAft>
            </a:pPr>
            <a:r>
              <a:rPr sz="2000" b="1" i="0">
                <a:solidFill>
                  <a:srgbClr val="FFFFFF"/>
                </a:solidFill>
                <a:latin typeface="Calibri"/>
              </a:rPr>
              <a:t>5</a:t>
            </a:r>
          </a:p>
        </p:txBody>
      </p:sp>
      <p:sp>
        <p:nvSpPr>
          <p:cNvPr id="24" name="TextBox 23"/>
          <p:cNvSpPr txBox="1"/>
          <p:nvPr/>
        </p:nvSpPr>
        <p:spPr>
          <a:xfrm>
            <a:off x="1298448" y="5221224"/>
            <a:ext cx="6583680" cy="768096"/>
          </a:xfrm>
          <a:prstGeom prst="rect">
            <a:avLst/>
          </a:prstGeom>
          <a:noFill/>
        </p:spPr>
        <p:txBody>
          <a:bodyPr wrap="square" anchor="ctr" lIns="36576" rIns="36576" tIns="36576" bIns="36576"/>
          <a:lstStyle/>
          <a:p>
            <a:pPr algn="l">
              <a:spcAft>
                <a:spcPts val="400"/>
              </a:spcAft>
            </a:pPr>
            <a:r>
              <a:rPr sz="1600" b="1" i="0">
                <a:solidFill>
                  <a:srgbClr val="1F497D"/>
                </a:solidFill>
                <a:latin typeface="Calibri"/>
              </a:rPr>
              <a:t>Challenges: </a:t>
            </a:r>
            <a:r>
              <a:rPr sz="1600" b="0" i="0">
                <a:solidFill>
                  <a:srgbClr val="262626"/>
                </a:solidFill>
                <a:latin typeface="Calibri"/>
              </a:rPr>
              <a:t>Identify issues in reliability, safety, evaluation and cost; suggest future directions.</a:t>
            </a:r>
          </a:p>
        </p:txBody>
      </p:sp>
      <p:pic>
        <p:nvPicPr>
          <p:cNvPr id="25" name="Picture 24" descr="shield_b.png"/>
          <p:cNvPicPr>
            <a:picLocks noChangeAspect="1"/>
          </p:cNvPicPr>
          <p:nvPr/>
        </p:nvPicPr>
        <p:blipFill>
          <a:blip r:embed="rId7"/>
          <a:stretch>
            <a:fillRect/>
          </a:stretch>
        </p:blipFill>
        <p:spPr>
          <a:xfrm>
            <a:off x="8065008" y="5376672"/>
            <a:ext cx="457200" cy="4572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182880"/>
            <a:ext cx="6766560" cy="822960"/>
          </a:xfrm>
        </p:spPr>
        <p:txBody>
          <a:bodyPr wrap="square" anchor="ctr"/>
          <a:lstStyle/>
          <a:p>
            <a:pPr algn="ctr"/>
            <a:r>
              <a:rPr sz="3000">
                <a:solidFill>
                  <a:srgbClr val="000000"/>
                </a:solidFill>
                <a:latin typeface="Times New Roman"/>
              </a:rPr>
              <a:t>Literature Review</a:t>
            </a:r>
            <a:endParaRPr lang="en-IN" dirty="0"/>
          </a:p>
        </p:txBody>
      </p:sp>
      <p:sp>
        <p:nvSpPr>
          <p:cNvPr id="4" name="Slide Number Placeholder 3"/>
          <p:cNvSpPr>
            <a:spLocks noGrp="1"/>
          </p:cNvSpPr>
          <p:nvPr>
            <p:ph type="sldNum" sz="quarter" idx="12"/>
          </p:nvPr>
        </p:nvSpPr>
        <p:spPr/>
        <p:txBody>
          <a:bodyPr/>
          <a:lstStyle/>
          <a:p>
            <a:fld id="{1EC248AB-E565-412B-9D95-9B07D6A4F3F3}" type="slidenum">
              <a:rPr lang="en-GB" smtClean="0"/>
              <a:pPr/>
              <a:t>6</a:t>
            </a:fld>
            <a:endParaRPr lang="en-GB"/>
          </a:p>
        </p:txBody>
      </p:sp>
      <p:pic>
        <p:nvPicPr>
          <p:cNvPr id="5" name="Picture 4" descr="image.jpeg"/>
          <p:cNvPicPr>
            <a:picLocks noChangeAspect="1"/>
          </p:cNvPicPr>
          <p:nvPr/>
        </p:nvPicPr>
        <p:blipFill>
          <a:blip r:embed="rId2"/>
          <a:stretch>
            <a:fillRect/>
          </a:stretch>
        </p:blipFill>
        <p:spPr>
          <a:xfrm>
            <a:off x="164592" y="128016"/>
            <a:ext cx="987552" cy="743789"/>
          </a:xfrm>
          <a:prstGeom prst="rect">
            <a:avLst/>
          </a:prstGeom>
        </p:spPr>
      </p:pic>
      <p:sp>
        <p:nvSpPr>
          <p:cNvPr id="6" name="TextBox 5"/>
          <p:cNvSpPr txBox="1"/>
          <p:nvPr/>
        </p:nvSpPr>
        <p:spPr>
          <a:xfrm>
            <a:off x="457200" y="1097280"/>
            <a:ext cx="8229600" cy="457200"/>
          </a:xfrm>
          <a:prstGeom prst="rect">
            <a:avLst/>
          </a:prstGeom>
          <a:noFill/>
        </p:spPr>
        <p:txBody>
          <a:bodyPr wrap="square" anchor="t" lIns="36576" rIns="36576" tIns="36576" bIns="36576"/>
          <a:lstStyle/>
          <a:p>
            <a:pPr algn="l">
              <a:spcAft>
                <a:spcPts val="400"/>
              </a:spcAft>
            </a:pPr>
            <a:r>
              <a:rPr sz="1400" b="0" i="1">
                <a:solidFill>
                  <a:srgbClr val="595959"/>
                </a:solidFill>
                <a:latin typeface="Calibri"/>
              </a:rPr>
              <a:t>Sources (2022–2026) were grouped into six themes; each theme fed one part of the architecture studied.</a:t>
            </a:r>
          </a:p>
        </p:txBody>
      </p:sp>
      <p:sp>
        <p:nvSpPr>
          <p:cNvPr id="7" name="Rounded Rectangle 6"/>
          <p:cNvSpPr/>
          <p:nvPr/>
        </p:nvSpPr>
        <p:spPr>
          <a:xfrm>
            <a:off x="457200" y="1600200"/>
            <a:ext cx="2606040" cy="1828800"/>
          </a:xfrm>
          <a:prstGeom prst="roundRect">
            <a:avLst>
              <a:gd name="adj" fmla="val 4000"/>
            </a:avLst>
          </a:prstGeom>
          <a:solidFill>
            <a:srgbClr val="F2F6FB"/>
          </a:solidFill>
          <a:ln>
            <a:noFill/>
          </a:ln>
        </p:spPr>
        <p:txBody>
          <a:bodyPr rtlCol="0" anchor="ctr" wrap="square" lIns="54864" rIns="54864" tIns="54864" bIns="54864"/>
          <a:lstStyle/>
          <a:p>
            <a:pPr algn="ctr"/>
          </a:p>
        </p:txBody>
      </p:sp>
      <p:sp>
        <p:nvSpPr>
          <p:cNvPr id="8" name="Oval 7"/>
          <p:cNvSpPr/>
          <p:nvPr/>
        </p:nvSpPr>
        <p:spPr>
          <a:xfrm>
            <a:off x="594360" y="1737360"/>
            <a:ext cx="502920" cy="502920"/>
          </a:xfrm>
          <a:prstGeom prst="ellipse">
            <a:avLst/>
          </a:prstGeom>
          <a:solidFill>
            <a:srgbClr val="1F497D"/>
          </a:solidFill>
          <a:ln>
            <a:noFill/>
          </a:ln>
        </p:spPr>
        <p:txBody>
          <a:bodyPr rtlCol="0" anchor="ctr" wrap="square" lIns="54864" rIns="54864" tIns="54864" bIns="54864"/>
          <a:lstStyle/>
          <a:p>
            <a:pPr algn="ctr"/>
          </a:p>
        </p:txBody>
      </p:sp>
      <p:pic>
        <p:nvPicPr>
          <p:cNvPr id="9" name="Picture 8" descr="book_w.png"/>
          <p:cNvPicPr>
            <a:picLocks noChangeAspect="1"/>
          </p:cNvPicPr>
          <p:nvPr/>
        </p:nvPicPr>
        <p:blipFill>
          <a:blip r:embed="rId3"/>
          <a:stretch>
            <a:fillRect/>
          </a:stretch>
        </p:blipFill>
        <p:spPr>
          <a:xfrm>
            <a:off x="715060" y="1858060"/>
            <a:ext cx="261518" cy="261518"/>
          </a:xfrm>
          <a:prstGeom prst="rect">
            <a:avLst/>
          </a:prstGeom>
        </p:spPr>
      </p:pic>
      <p:sp>
        <p:nvSpPr>
          <p:cNvPr id="10" name="TextBox 9"/>
          <p:cNvSpPr txBox="1"/>
          <p:nvPr/>
        </p:nvSpPr>
        <p:spPr>
          <a:xfrm>
            <a:off x="1188720" y="1709928"/>
            <a:ext cx="1783080" cy="566928"/>
          </a:xfrm>
          <a:prstGeom prst="rect">
            <a:avLst/>
          </a:prstGeom>
          <a:noFill/>
        </p:spPr>
        <p:txBody>
          <a:bodyPr wrap="square" anchor="ctr" lIns="36576" rIns="36576" tIns="36576" bIns="36576"/>
          <a:lstStyle/>
          <a:p>
            <a:pPr algn="l">
              <a:spcAft>
                <a:spcPts val="0"/>
              </a:spcAft>
            </a:pPr>
            <a:r>
              <a:rPr sz="1400" b="1" i="0">
                <a:solidFill>
                  <a:srgbClr val="1F497D"/>
                </a:solidFill>
                <a:latin typeface="Calibri"/>
              </a:rPr>
              <a:t>Surveys &amp; Taxonomies</a:t>
            </a:r>
          </a:p>
          <a:p>
            <a:pPr algn="l">
              <a:spcAft>
                <a:spcPts val="0"/>
              </a:spcAft>
            </a:pPr>
            <a:r>
              <a:rPr sz="1100" b="0" i="0">
                <a:solidFill>
                  <a:srgbClr val="595959"/>
                </a:solidFill>
                <a:latin typeface="Calibri"/>
              </a:rPr>
              <a:t>[1], [2], [3]</a:t>
            </a:r>
          </a:p>
        </p:txBody>
      </p:sp>
      <p:sp>
        <p:nvSpPr>
          <p:cNvPr id="11" name="TextBox 10"/>
          <p:cNvSpPr txBox="1"/>
          <p:nvPr/>
        </p:nvSpPr>
        <p:spPr>
          <a:xfrm>
            <a:off x="594360" y="2350008"/>
            <a:ext cx="2331720" cy="1005840"/>
          </a:xfrm>
          <a:prstGeom prst="rect">
            <a:avLst/>
          </a:prstGeom>
          <a:noFill/>
        </p:spPr>
        <p:txBody>
          <a:bodyPr wrap="square" anchor="t" lIns="36576" rIns="36576" tIns="36576" bIns="36576"/>
          <a:lstStyle/>
          <a:p>
            <a:pPr algn="l">
              <a:spcAft>
                <a:spcPts val="400"/>
              </a:spcAft>
            </a:pPr>
            <a:r>
              <a:rPr sz="1400" b="0" i="0">
                <a:solidFill>
                  <a:srgbClr val="262626"/>
                </a:solidFill>
                <a:latin typeface="Calibri"/>
              </a:rPr>
              <a:t>Agent = perception + planning + memory + action; shift from prompt-response to goal-directed systems.</a:t>
            </a:r>
          </a:p>
        </p:txBody>
      </p:sp>
      <p:sp>
        <p:nvSpPr>
          <p:cNvPr id="12" name="Rounded Rectangle 11"/>
          <p:cNvSpPr/>
          <p:nvPr/>
        </p:nvSpPr>
        <p:spPr>
          <a:xfrm>
            <a:off x="3268980" y="1600200"/>
            <a:ext cx="2606040" cy="1828800"/>
          </a:xfrm>
          <a:prstGeom prst="roundRect">
            <a:avLst>
              <a:gd name="adj" fmla="val 4000"/>
            </a:avLst>
          </a:prstGeom>
          <a:solidFill>
            <a:srgbClr val="F2F6FB"/>
          </a:solidFill>
          <a:ln>
            <a:noFill/>
          </a:ln>
        </p:spPr>
        <p:txBody>
          <a:bodyPr rtlCol="0" anchor="ctr" wrap="square" lIns="54864" rIns="54864" tIns="54864" bIns="54864"/>
          <a:lstStyle/>
          <a:p>
            <a:pPr algn="ctr"/>
          </a:p>
        </p:txBody>
      </p:sp>
      <p:sp>
        <p:nvSpPr>
          <p:cNvPr id="13" name="Oval 12"/>
          <p:cNvSpPr/>
          <p:nvPr/>
        </p:nvSpPr>
        <p:spPr>
          <a:xfrm>
            <a:off x="3406140" y="1737360"/>
            <a:ext cx="502920" cy="502920"/>
          </a:xfrm>
          <a:prstGeom prst="ellipse">
            <a:avLst/>
          </a:prstGeom>
          <a:solidFill>
            <a:srgbClr val="31859C"/>
          </a:solidFill>
          <a:ln>
            <a:noFill/>
          </a:ln>
        </p:spPr>
        <p:txBody>
          <a:bodyPr rtlCol="0" anchor="ctr" wrap="square" lIns="54864" rIns="54864" tIns="54864" bIns="54864"/>
          <a:lstStyle/>
          <a:p>
            <a:pPr algn="ctr"/>
          </a:p>
        </p:txBody>
      </p:sp>
      <p:pic>
        <p:nvPicPr>
          <p:cNvPr id="14" name="Picture 13" descr="cogs_w.png"/>
          <p:cNvPicPr>
            <a:picLocks noChangeAspect="1"/>
          </p:cNvPicPr>
          <p:nvPr/>
        </p:nvPicPr>
        <p:blipFill>
          <a:blip r:embed="rId4"/>
          <a:stretch>
            <a:fillRect/>
          </a:stretch>
        </p:blipFill>
        <p:spPr>
          <a:xfrm>
            <a:off x="3526840" y="1858060"/>
            <a:ext cx="261518" cy="261518"/>
          </a:xfrm>
          <a:prstGeom prst="rect">
            <a:avLst/>
          </a:prstGeom>
        </p:spPr>
      </p:pic>
      <p:sp>
        <p:nvSpPr>
          <p:cNvPr id="15" name="TextBox 14"/>
          <p:cNvSpPr txBox="1"/>
          <p:nvPr/>
        </p:nvSpPr>
        <p:spPr>
          <a:xfrm>
            <a:off x="4000500" y="1709928"/>
            <a:ext cx="1783080" cy="566928"/>
          </a:xfrm>
          <a:prstGeom prst="rect">
            <a:avLst/>
          </a:prstGeom>
          <a:noFill/>
        </p:spPr>
        <p:txBody>
          <a:bodyPr wrap="square" anchor="ctr" lIns="36576" rIns="36576" tIns="36576" bIns="36576"/>
          <a:lstStyle/>
          <a:p>
            <a:pPr algn="l">
              <a:spcAft>
                <a:spcPts val="0"/>
              </a:spcAft>
            </a:pPr>
            <a:r>
              <a:rPr sz="1400" b="1" i="0">
                <a:solidFill>
                  <a:srgbClr val="1F497D"/>
                </a:solidFill>
                <a:latin typeface="Calibri"/>
              </a:rPr>
              <a:t>Frameworks &amp; Runtime</a:t>
            </a:r>
          </a:p>
          <a:p>
            <a:pPr algn="l">
              <a:spcAft>
                <a:spcPts val="0"/>
              </a:spcAft>
            </a:pPr>
            <a:r>
              <a:rPr sz="1100" b="0" i="0">
                <a:solidFill>
                  <a:srgbClr val="595959"/>
                </a:solidFill>
                <a:latin typeface="Calibri"/>
              </a:rPr>
              <a:t>[4], [10]</a:t>
            </a:r>
          </a:p>
        </p:txBody>
      </p:sp>
      <p:sp>
        <p:nvSpPr>
          <p:cNvPr id="16" name="TextBox 15"/>
          <p:cNvSpPr txBox="1"/>
          <p:nvPr/>
        </p:nvSpPr>
        <p:spPr>
          <a:xfrm>
            <a:off x="3406140" y="2350008"/>
            <a:ext cx="2331720" cy="1005840"/>
          </a:xfrm>
          <a:prstGeom prst="rect">
            <a:avLst/>
          </a:prstGeom>
          <a:noFill/>
        </p:spPr>
        <p:txBody>
          <a:bodyPr wrap="square" anchor="t" lIns="36576" rIns="36576" tIns="36576" bIns="36576"/>
          <a:lstStyle/>
          <a:p>
            <a:pPr algn="l">
              <a:spcAft>
                <a:spcPts val="400"/>
              </a:spcAft>
            </a:pPr>
            <a:r>
              <a:rPr sz="1400" b="0" i="0">
                <a:solidFill>
                  <a:srgbClr val="262626"/>
                </a:solidFill>
                <a:latin typeface="Calibri"/>
              </a:rPr>
              <a:t>Separate the agent's blueprint from its execution; hybrid frameworks for scalable coordination.</a:t>
            </a:r>
          </a:p>
        </p:txBody>
      </p:sp>
      <p:sp>
        <p:nvSpPr>
          <p:cNvPr id="17" name="Rounded Rectangle 16"/>
          <p:cNvSpPr/>
          <p:nvPr/>
        </p:nvSpPr>
        <p:spPr>
          <a:xfrm>
            <a:off x="6080760" y="1600200"/>
            <a:ext cx="2606040" cy="1828800"/>
          </a:xfrm>
          <a:prstGeom prst="roundRect">
            <a:avLst>
              <a:gd name="adj" fmla="val 4000"/>
            </a:avLst>
          </a:prstGeom>
          <a:solidFill>
            <a:srgbClr val="F2F6FB"/>
          </a:solidFill>
          <a:ln>
            <a:noFill/>
          </a:ln>
        </p:spPr>
        <p:txBody>
          <a:bodyPr rtlCol="0" anchor="ctr" wrap="square" lIns="54864" rIns="54864" tIns="54864" bIns="54864"/>
          <a:lstStyle/>
          <a:p>
            <a:pPr algn="ctr"/>
          </a:p>
        </p:txBody>
      </p:sp>
      <p:sp>
        <p:nvSpPr>
          <p:cNvPr id="18" name="Oval 17"/>
          <p:cNvSpPr/>
          <p:nvPr/>
        </p:nvSpPr>
        <p:spPr>
          <a:xfrm>
            <a:off x="6217920" y="1737360"/>
            <a:ext cx="502920" cy="502920"/>
          </a:xfrm>
          <a:prstGeom prst="ellipse">
            <a:avLst/>
          </a:prstGeom>
          <a:solidFill>
            <a:srgbClr val="1F497D"/>
          </a:solidFill>
          <a:ln>
            <a:noFill/>
          </a:ln>
        </p:spPr>
        <p:txBody>
          <a:bodyPr rtlCol="0" anchor="ctr" wrap="square" lIns="54864" rIns="54864" tIns="54864" bIns="54864"/>
          <a:lstStyle/>
          <a:p>
            <a:pPr algn="ctr"/>
          </a:p>
        </p:txBody>
      </p:sp>
      <p:pic>
        <p:nvPicPr>
          <p:cNvPr id="19" name="Picture 18" descr="db_w.png"/>
          <p:cNvPicPr>
            <a:picLocks noChangeAspect="1"/>
          </p:cNvPicPr>
          <p:nvPr/>
        </p:nvPicPr>
        <p:blipFill>
          <a:blip r:embed="rId5"/>
          <a:stretch>
            <a:fillRect/>
          </a:stretch>
        </p:blipFill>
        <p:spPr>
          <a:xfrm>
            <a:off x="6338620" y="1858060"/>
            <a:ext cx="261518" cy="261518"/>
          </a:xfrm>
          <a:prstGeom prst="rect">
            <a:avLst/>
          </a:prstGeom>
        </p:spPr>
      </p:pic>
      <p:sp>
        <p:nvSpPr>
          <p:cNvPr id="20" name="TextBox 19"/>
          <p:cNvSpPr txBox="1"/>
          <p:nvPr/>
        </p:nvSpPr>
        <p:spPr>
          <a:xfrm>
            <a:off x="6812280" y="1709928"/>
            <a:ext cx="1783080" cy="566928"/>
          </a:xfrm>
          <a:prstGeom prst="rect">
            <a:avLst/>
          </a:prstGeom>
          <a:noFill/>
        </p:spPr>
        <p:txBody>
          <a:bodyPr wrap="square" anchor="ctr" lIns="36576" rIns="36576" tIns="36576" bIns="36576"/>
          <a:lstStyle/>
          <a:p>
            <a:pPr algn="l">
              <a:spcAft>
                <a:spcPts val="0"/>
              </a:spcAft>
            </a:pPr>
            <a:r>
              <a:rPr sz="1400" b="1" i="0">
                <a:solidFill>
                  <a:srgbClr val="1F497D"/>
                </a:solidFill>
                <a:latin typeface="Calibri"/>
              </a:rPr>
              <a:t>Memory</a:t>
            </a:r>
          </a:p>
          <a:p>
            <a:pPr algn="l">
              <a:spcAft>
                <a:spcPts val="0"/>
              </a:spcAft>
            </a:pPr>
            <a:r>
              <a:rPr sz="1100" b="0" i="0">
                <a:solidFill>
                  <a:srgbClr val="595959"/>
                </a:solidFill>
                <a:latin typeface="Calibri"/>
              </a:rPr>
              <a:t>[5]</a:t>
            </a:r>
          </a:p>
        </p:txBody>
      </p:sp>
      <p:sp>
        <p:nvSpPr>
          <p:cNvPr id="21" name="TextBox 20"/>
          <p:cNvSpPr txBox="1"/>
          <p:nvPr/>
        </p:nvSpPr>
        <p:spPr>
          <a:xfrm>
            <a:off x="6217920" y="2350008"/>
            <a:ext cx="2331720" cy="1005840"/>
          </a:xfrm>
          <a:prstGeom prst="rect">
            <a:avLst/>
          </a:prstGeom>
          <a:noFill/>
        </p:spPr>
        <p:txBody>
          <a:bodyPr wrap="square" anchor="t" lIns="36576" rIns="36576" tIns="36576" bIns="36576"/>
          <a:lstStyle/>
          <a:p>
            <a:pPr algn="l">
              <a:spcAft>
                <a:spcPts val="400"/>
              </a:spcAft>
            </a:pPr>
            <a:r>
              <a:rPr sz="1400" b="0" i="0">
                <a:solidFill>
                  <a:srgbClr val="262626"/>
                </a:solidFill>
                <a:latin typeface="Calibri"/>
              </a:rPr>
              <a:t>Agents learn when to store, retrieve, summarize or discard memory (AgeMem).</a:t>
            </a:r>
          </a:p>
        </p:txBody>
      </p:sp>
      <p:sp>
        <p:nvSpPr>
          <p:cNvPr id="22" name="Rounded Rectangle 21"/>
          <p:cNvSpPr/>
          <p:nvPr/>
        </p:nvSpPr>
        <p:spPr>
          <a:xfrm>
            <a:off x="457200" y="3566160"/>
            <a:ext cx="2606040" cy="1828800"/>
          </a:xfrm>
          <a:prstGeom prst="roundRect">
            <a:avLst>
              <a:gd name="adj" fmla="val 4000"/>
            </a:avLst>
          </a:prstGeom>
          <a:solidFill>
            <a:srgbClr val="F2F6FB"/>
          </a:solidFill>
          <a:ln>
            <a:noFill/>
          </a:ln>
        </p:spPr>
        <p:txBody>
          <a:bodyPr rtlCol="0" anchor="ctr" wrap="square" lIns="54864" rIns="54864" tIns="54864" bIns="54864"/>
          <a:lstStyle/>
          <a:p>
            <a:pPr algn="ctr"/>
          </a:p>
        </p:txBody>
      </p:sp>
      <p:sp>
        <p:nvSpPr>
          <p:cNvPr id="23" name="Oval 22"/>
          <p:cNvSpPr/>
          <p:nvPr/>
        </p:nvSpPr>
        <p:spPr>
          <a:xfrm>
            <a:off x="594360" y="3703320"/>
            <a:ext cx="502920" cy="502920"/>
          </a:xfrm>
          <a:prstGeom prst="ellipse">
            <a:avLst/>
          </a:prstGeom>
          <a:solidFill>
            <a:srgbClr val="31859C"/>
          </a:solidFill>
          <a:ln>
            <a:noFill/>
          </a:ln>
        </p:spPr>
        <p:txBody>
          <a:bodyPr rtlCol="0" anchor="ctr" wrap="square" lIns="54864" rIns="54864" tIns="54864" bIns="54864"/>
          <a:lstStyle/>
          <a:p>
            <a:pPr algn="ctr"/>
          </a:p>
        </p:txBody>
      </p:sp>
      <p:pic>
        <p:nvPicPr>
          <p:cNvPr id="24" name="Picture 23" descr="plug_w.png"/>
          <p:cNvPicPr>
            <a:picLocks noChangeAspect="1"/>
          </p:cNvPicPr>
          <p:nvPr/>
        </p:nvPicPr>
        <p:blipFill>
          <a:blip r:embed="rId6"/>
          <a:stretch>
            <a:fillRect/>
          </a:stretch>
        </p:blipFill>
        <p:spPr>
          <a:xfrm>
            <a:off x="715060" y="3824020"/>
            <a:ext cx="261518" cy="261518"/>
          </a:xfrm>
          <a:prstGeom prst="rect">
            <a:avLst/>
          </a:prstGeom>
        </p:spPr>
      </p:pic>
      <p:sp>
        <p:nvSpPr>
          <p:cNvPr id="25" name="TextBox 24"/>
          <p:cNvSpPr txBox="1"/>
          <p:nvPr/>
        </p:nvSpPr>
        <p:spPr>
          <a:xfrm>
            <a:off x="1188720" y="3675887"/>
            <a:ext cx="1783080" cy="566928"/>
          </a:xfrm>
          <a:prstGeom prst="rect">
            <a:avLst/>
          </a:prstGeom>
          <a:noFill/>
        </p:spPr>
        <p:txBody>
          <a:bodyPr wrap="square" anchor="ctr" lIns="36576" rIns="36576" tIns="36576" bIns="36576"/>
          <a:lstStyle/>
          <a:p>
            <a:pPr algn="l">
              <a:spcAft>
                <a:spcPts val="0"/>
              </a:spcAft>
            </a:pPr>
            <a:r>
              <a:rPr sz="1400" b="1" i="0">
                <a:solidFill>
                  <a:srgbClr val="1F497D"/>
                </a:solidFill>
                <a:latin typeface="Calibri"/>
              </a:rPr>
              <a:t>Protocols</a:t>
            </a:r>
          </a:p>
          <a:p>
            <a:pPr algn="l">
              <a:spcAft>
                <a:spcPts val="0"/>
              </a:spcAft>
            </a:pPr>
            <a:r>
              <a:rPr sz="1100" b="0" i="0">
                <a:solidFill>
                  <a:srgbClr val="595959"/>
                </a:solidFill>
                <a:latin typeface="Calibri"/>
              </a:rPr>
              <a:t>[6]</a:t>
            </a:r>
          </a:p>
        </p:txBody>
      </p:sp>
      <p:sp>
        <p:nvSpPr>
          <p:cNvPr id="26" name="TextBox 25"/>
          <p:cNvSpPr txBox="1"/>
          <p:nvPr/>
        </p:nvSpPr>
        <p:spPr>
          <a:xfrm>
            <a:off x="594360" y="4315968"/>
            <a:ext cx="2331720" cy="1005840"/>
          </a:xfrm>
          <a:prstGeom prst="rect">
            <a:avLst/>
          </a:prstGeom>
          <a:noFill/>
        </p:spPr>
        <p:txBody>
          <a:bodyPr wrap="square" anchor="t" lIns="36576" rIns="36576" tIns="36576" bIns="36576"/>
          <a:lstStyle/>
          <a:p>
            <a:pPr algn="l">
              <a:spcAft>
                <a:spcPts val="400"/>
              </a:spcAft>
            </a:pPr>
            <a:r>
              <a:rPr sz="1400" b="0" i="0">
                <a:solidFill>
                  <a:srgbClr val="262626"/>
                </a:solidFill>
                <a:latin typeface="Calibri"/>
              </a:rPr>
              <a:t>MCP standardizes tool and data access; A2A standardizes agent-to-agent messaging.</a:t>
            </a:r>
          </a:p>
        </p:txBody>
      </p:sp>
      <p:sp>
        <p:nvSpPr>
          <p:cNvPr id="27" name="Rounded Rectangle 26"/>
          <p:cNvSpPr/>
          <p:nvPr/>
        </p:nvSpPr>
        <p:spPr>
          <a:xfrm>
            <a:off x="3268980" y="3566160"/>
            <a:ext cx="2606040" cy="1828800"/>
          </a:xfrm>
          <a:prstGeom prst="roundRect">
            <a:avLst>
              <a:gd name="adj" fmla="val 4000"/>
            </a:avLst>
          </a:prstGeom>
          <a:solidFill>
            <a:srgbClr val="F2F6FB"/>
          </a:solidFill>
          <a:ln>
            <a:noFill/>
          </a:ln>
        </p:spPr>
        <p:txBody>
          <a:bodyPr rtlCol="0" anchor="ctr" wrap="square" lIns="54864" rIns="54864" tIns="54864" bIns="54864"/>
          <a:lstStyle/>
          <a:p>
            <a:pPr algn="ctr"/>
          </a:p>
        </p:txBody>
      </p:sp>
      <p:sp>
        <p:nvSpPr>
          <p:cNvPr id="28" name="Oval 27"/>
          <p:cNvSpPr/>
          <p:nvPr/>
        </p:nvSpPr>
        <p:spPr>
          <a:xfrm>
            <a:off x="3406140" y="3703320"/>
            <a:ext cx="502920" cy="502920"/>
          </a:xfrm>
          <a:prstGeom prst="ellipse">
            <a:avLst/>
          </a:prstGeom>
          <a:solidFill>
            <a:srgbClr val="1F497D"/>
          </a:solidFill>
          <a:ln>
            <a:noFill/>
          </a:ln>
        </p:spPr>
        <p:txBody>
          <a:bodyPr rtlCol="0" anchor="ctr" wrap="square" lIns="54864" rIns="54864" tIns="54864" bIns="54864"/>
          <a:lstStyle/>
          <a:p>
            <a:pPr algn="ctr"/>
          </a:p>
        </p:txBody>
      </p:sp>
      <p:pic>
        <p:nvPicPr>
          <p:cNvPr id="29" name="Picture 28" descr="shield_w.png"/>
          <p:cNvPicPr>
            <a:picLocks noChangeAspect="1"/>
          </p:cNvPicPr>
          <p:nvPr/>
        </p:nvPicPr>
        <p:blipFill>
          <a:blip r:embed="rId7"/>
          <a:stretch>
            <a:fillRect/>
          </a:stretch>
        </p:blipFill>
        <p:spPr>
          <a:xfrm>
            <a:off x="3526840" y="3824020"/>
            <a:ext cx="261518" cy="261518"/>
          </a:xfrm>
          <a:prstGeom prst="rect">
            <a:avLst/>
          </a:prstGeom>
        </p:spPr>
      </p:pic>
      <p:sp>
        <p:nvSpPr>
          <p:cNvPr id="30" name="TextBox 29"/>
          <p:cNvSpPr txBox="1"/>
          <p:nvPr/>
        </p:nvSpPr>
        <p:spPr>
          <a:xfrm>
            <a:off x="4000500" y="3675887"/>
            <a:ext cx="1783080" cy="566928"/>
          </a:xfrm>
          <a:prstGeom prst="rect">
            <a:avLst/>
          </a:prstGeom>
          <a:noFill/>
        </p:spPr>
        <p:txBody>
          <a:bodyPr wrap="square" anchor="ctr" lIns="36576" rIns="36576" tIns="36576" bIns="36576"/>
          <a:lstStyle/>
          <a:p>
            <a:pPr algn="l">
              <a:spcAft>
                <a:spcPts val="0"/>
              </a:spcAft>
            </a:pPr>
            <a:r>
              <a:rPr sz="1400" b="1" i="0">
                <a:solidFill>
                  <a:srgbClr val="1F497D"/>
                </a:solidFill>
                <a:latin typeface="Calibri"/>
              </a:rPr>
              <a:t>Security &amp; Testing</a:t>
            </a:r>
          </a:p>
          <a:p>
            <a:pPr algn="l">
              <a:spcAft>
                <a:spcPts val="0"/>
              </a:spcAft>
            </a:pPr>
            <a:r>
              <a:rPr sz="1100" b="0" i="0">
                <a:solidFill>
                  <a:srgbClr val="595959"/>
                </a:solidFill>
                <a:latin typeface="Calibri"/>
              </a:rPr>
              <a:t>[7], [8]</a:t>
            </a:r>
          </a:p>
        </p:txBody>
      </p:sp>
      <p:sp>
        <p:nvSpPr>
          <p:cNvPr id="31" name="TextBox 30"/>
          <p:cNvSpPr txBox="1"/>
          <p:nvPr/>
        </p:nvSpPr>
        <p:spPr>
          <a:xfrm>
            <a:off x="3406140" y="4315968"/>
            <a:ext cx="2331720" cy="1005840"/>
          </a:xfrm>
          <a:prstGeom prst="rect">
            <a:avLst/>
          </a:prstGeom>
          <a:noFill/>
        </p:spPr>
        <p:txBody>
          <a:bodyPr wrap="square" anchor="t" lIns="36576" rIns="36576" tIns="36576" bIns="36576"/>
          <a:lstStyle/>
          <a:p>
            <a:pPr algn="l">
              <a:spcAft>
                <a:spcPts val="400"/>
              </a:spcAft>
            </a:pPr>
            <a:r>
              <a:rPr sz="1400" b="0" i="0">
                <a:solidFill>
                  <a:srgbClr val="262626"/>
                </a:solidFill>
                <a:latin typeface="Calibri"/>
              </a:rPr>
              <a:t>Prompt injection, planning hallucination and tool abuse need fuzzing and guardrails.</a:t>
            </a:r>
          </a:p>
        </p:txBody>
      </p:sp>
      <p:sp>
        <p:nvSpPr>
          <p:cNvPr id="32" name="Rounded Rectangle 31"/>
          <p:cNvSpPr/>
          <p:nvPr/>
        </p:nvSpPr>
        <p:spPr>
          <a:xfrm>
            <a:off x="6080760" y="3566160"/>
            <a:ext cx="2606040" cy="1828800"/>
          </a:xfrm>
          <a:prstGeom prst="roundRect">
            <a:avLst>
              <a:gd name="adj" fmla="val 4000"/>
            </a:avLst>
          </a:prstGeom>
          <a:solidFill>
            <a:srgbClr val="F2F6FB"/>
          </a:solidFill>
          <a:ln>
            <a:noFill/>
          </a:ln>
        </p:spPr>
        <p:txBody>
          <a:bodyPr rtlCol="0" anchor="ctr" wrap="square" lIns="54864" rIns="54864" tIns="54864" bIns="54864"/>
          <a:lstStyle/>
          <a:p>
            <a:pPr algn="ctr"/>
          </a:p>
        </p:txBody>
      </p:sp>
      <p:sp>
        <p:nvSpPr>
          <p:cNvPr id="33" name="Oval 32"/>
          <p:cNvSpPr/>
          <p:nvPr/>
        </p:nvSpPr>
        <p:spPr>
          <a:xfrm>
            <a:off x="6217920" y="3703320"/>
            <a:ext cx="502920" cy="502920"/>
          </a:xfrm>
          <a:prstGeom prst="ellipse">
            <a:avLst/>
          </a:prstGeom>
          <a:solidFill>
            <a:srgbClr val="31859C"/>
          </a:solidFill>
          <a:ln>
            <a:noFill/>
          </a:ln>
        </p:spPr>
        <p:txBody>
          <a:bodyPr rtlCol="0" anchor="ctr" wrap="square" lIns="54864" rIns="54864" tIns="54864" bIns="54864"/>
          <a:lstStyle/>
          <a:p>
            <a:pPr algn="ctr"/>
          </a:p>
        </p:txBody>
      </p:sp>
      <p:pic>
        <p:nvPicPr>
          <p:cNvPr id="34" name="Picture 33" descr="robot_w.png"/>
          <p:cNvPicPr>
            <a:picLocks noChangeAspect="1"/>
          </p:cNvPicPr>
          <p:nvPr/>
        </p:nvPicPr>
        <p:blipFill>
          <a:blip r:embed="rId8"/>
          <a:stretch>
            <a:fillRect/>
          </a:stretch>
        </p:blipFill>
        <p:spPr>
          <a:xfrm>
            <a:off x="6338620" y="3824020"/>
            <a:ext cx="261518" cy="261518"/>
          </a:xfrm>
          <a:prstGeom prst="rect">
            <a:avLst/>
          </a:prstGeom>
        </p:spPr>
      </p:pic>
      <p:sp>
        <p:nvSpPr>
          <p:cNvPr id="35" name="TextBox 34"/>
          <p:cNvSpPr txBox="1"/>
          <p:nvPr/>
        </p:nvSpPr>
        <p:spPr>
          <a:xfrm>
            <a:off x="6812280" y="3675887"/>
            <a:ext cx="1783080" cy="566928"/>
          </a:xfrm>
          <a:prstGeom prst="rect">
            <a:avLst/>
          </a:prstGeom>
          <a:noFill/>
        </p:spPr>
        <p:txBody>
          <a:bodyPr wrap="square" anchor="ctr" lIns="36576" rIns="36576" tIns="36576" bIns="36576"/>
          <a:lstStyle/>
          <a:p>
            <a:pPr algn="l">
              <a:spcAft>
                <a:spcPts val="0"/>
              </a:spcAft>
            </a:pPr>
            <a:r>
              <a:rPr sz="1400" b="1" i="0">
                <a:solidFill>
                  <a:srgbClr val="1F497D"/>
                </a:solidFill>
                <a:latin typeface="Calibri"/>
              </a:rPr>
              <a:t>Planning &amp; Multi-Agent</a:t>
            </a:r>
          </a:p>
          <a:p>
            <a:pPr algn="l">
              <a:spcAft>
                <a:spcPts val="0"/>
              </a:spcAft>
            </a:pPr>
            <a:r>
              <a:rPr sz="1100" b="0" i="0">
                <a:solidFill>
                  <a:srgbClr val="595959"/>
                </a:solidFill>
                <a:latin typeface="Calibri"/>
              </a:rPr>
              <a:t>[9], [11], [12]</a:t>
            </a:r>
          </a:p>
        </p:txBody>
      </p:sp>
      <p:sp>
        <p:nvSpPr>
          <p:cNvPr id="36" name="TextBox 35"/>
          <p:cNvSpPr txBox="1"/>
          <p:nvPr/>
        </p:nvSpPr>
        <p:spPr>
          <a:xfrm>
            <a:off x="6217920" y="4315968"/>
            <a:ext cx="2331720" cy="1005840"/>
          </a:xfrm>
          <a:prstGeom prst="rect">
            <a:avLst/>
          </a:prstGeom>
          <a:noFill/>
        </p:spPr>
        <p:txBody>
          <a:bodyPr wrap="square" anchor="t" lIns="36576" rIns="36576" tIns="36576" bIns="36576"/>
          <a:lstStyle/>
          <a:p>
            <a:pPr algn="l">
              <a:spcAft>
                <a:spcPts val="400"/>
              </a:spcAft>
            </a:pPr>
            <a:r>
              <a:rPr sz="1400" b="0" i="0">
                <a:solidFill>
                  <a:srgbClr val="262626"/>
                </a:solidFill>
                <a:latin typeface="Calibri"/>
              </a:rPr>
              <a:t>ReAct loops, grounded planning with replanning, orchestrator-worker research agents.</a:t>
            </a:r>
          </a:p>
        </p:txBody>
      </p:sp>
      <p:sp>
        <p:nvSpPr>
          <p:cNvPr id="37" name="Rounded Rectangle 36"/>
          <p:cNvSpPr/>
          <p:nvPr/>
        </p:nvSpPr>
        <p:spPr>
          <a:xfrm>
            <a:off x="457200" y="5596128"/>
            <a:ext cx="8229600" cy="621792"/>
          </a:xfrm>
          <a:prstGeom prst="roundRect">
            <a:avLst>
              <a:gd name="adj" fmla="val 11764"/>
            </a:avLst>
          </a:prstGeom>
          <a:solidFill>
            <a:srgbClr val="DCE6F2"/>
          </a:solidFill>
          <a:ln>
            <a:noFill/>
          </a:ln>
        </p:spPr>
        <p:txBody>
          <a:bodyPr rtlCol="0" anchor="ctr" wrap="square" lIns="109728" rIns="109728" tIns="109728" bIns="109728"/>
          <a:lstStyle/>
          <a:p>
            <a:pPr algn="ctr">
              <a:spcAft>
                <a:spcPts val="0"/>
              </a:spcAft>
            </a:pPr>
            <a:r>
              <a:rPr sz="1400" b="1" i="0">
                <a:solidFill>
                  <a:srgbClr val="1F497D"/>
                </a:solidFill>
                <a:latin typeface="Calibri"/>
              </a:rPr>
              <a:t>Common finding: </a:t>
            </a:r>
            <a:r>
              <a:rPr sz="1400" b="0" i="0">
                <a:solidFill>
                  <a:srgbClr val="262626"/>
                </a:solidFill>
                <a:latin typeface="Calibri"/>
              </a:rPr>
              <a:t>reliability depends on orchestration, memory, coordination, evaluation and safeguards — not on model capability alone.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182880"/>
            <a:ext cx="6766560" cy="822960"/>
          </a:xfrm>
        </p:spPr>
        <p:txBody>
          <a:bodyPr wrap="square" anchor="ctr"/>
          <a:lstStyle/>
          <a:p>
            <a:pPr algn="ctr"/>
            <a:r>
              <a:rPr sz="2600">
                <a:solidFill>
                  <a:srgbClr val="000000"/>
                </a:solidFill>
                <a:latin typeface="Times New Roman"/>
              </a:rPr>
              <a:t>Literature Survey in Tabular Form (1/2)</a:t>
            </a:r>
            <a:endParaRPr lang="en-IN" dirty="0"/>
          </a:p>
        </p:txBody>
      </p:sp>
      <p:sp>
        <p:nvSpPr>
          <p:cNvPr id="4" name="Slide Number Placeholder 3"/>
          <p:cNvSpPr>
            <a:spLocks noGrp="1"/>
          </p:cNvSpPr>
          <p:nvPr>
            <p:ph type="sldNum" sz="quarter" idx="12"/>
          </p:nvPr>
        </p:nvSpPr>
        <p:spPr/>
        <p:txBody>
          <a:bodyPr/>
          <a:lstStyle/>
          <a:p>
            <a:fld id="{1EC248AB-E565-412B-9D95-9B07D6A4F3F3}" type="slidenum">
              <a:rPr lang="en-GB" smtClean="0"/>
              <a:pPr/>
              <a:t>6</a:t>
            </a:fld>
            <a:endParaRPr lang="en-GB"/>
          </a:p>
        </p:txBody>
      </p:sp>
      <p:pic>
        <p:nvPicPr>
          <p:cNvPr id="5" name="Picture 4" descr="image.jpeg"/>
          <p:cNvPicPr>
            <a:picLocks noChangeAspect="1"/>
          </p:cNvPicPr>
          <p:nvPr/>
        </p:nvPicPr>
        <p:blipFill>
          <a:blip r:embed="rId2"/>
          <a:stretch>
            <a:fillRect/>
          </a:stretch>
        </p:blipFill>
        <p:spPr>
          <a:xfrm>
            <a:off x="164592" y="128016"/>
            <a:ext cx="987552" cy="743789"/>
          </a:xfrm>
          <a:prstGeom prst="rect">
            <a:avLst/>
          </a:prstGeom>
        </p:spPr>
      </p:pic>
      <p:graphicFrame>
        <p:nvGraphicFramePr>
          <p:cNvPr id="6" name="Table 5"/>
          <p:cNvGraphicFramePr>
            <a:graphicFrameLocks noGrp="1"/>
          </p:cNvGraphicFramePr>
          <p:nvPr/>
        </p:nvGraphicFramePr>
        <p:xfrm>
          <a:off x="411480" y="1188720"/>
          <a:ext cx="8321040" cy="4800600"/>
        </p:xfrm>
        <a:graphic>
          <a:graphicData uri="http://schemas.openxmlformats.org/drawingml/2006/table">
            <a:tbl>
              <a:tblPr firstRow="1" bandRow="1">
                <a:tableStyleId>{5C22544A-7EE6-4342-B048-85BDC9FD1C3A}</a:tableStyleId>
              </a:tblPr>
              <a:tblGrid>
                <a:gridCol w="685800"/>
                <a:gridCol w="3520440"/>
                <a:gridCol w="4114800"/>
              </a:tblGrid>
              <a:tr h="457200">
                <a:tc>
                  <a:txBody>
                    <a:bodyPr wrap="square"/>
                    <a:lstStyle/>
                    <a:p>
                      <a:pPr algn="l">
                        <a:spcAft>
                          <a:spcPts val="0"/>
                        </a:spcAft>
                      </a:pPr>
                      <a:r>
                        <a:rPr sz="1300" b="1" i="0">
                          <a:solidFill>
                            <a:srgbClr val="FFFFFF"/>
                          </a:solidFill>
                          <a:latin typeface="Calibri"/>
                        </a:rPr>
                        <a:t>Sr. No</a:t>
                      </a:r>
                    </a:p>
                  </a:txBody>
                  <a:tcPr marL="64008" marR="64008" marT="36576" marB="36576" anchor="ctr"/>
                </a:tc>
                <a:tc>
                  <a:txBody>
                    <a:bodyPr wrap="square"/>
                    <a:lstStyle/>
                    <a:p>
                      <a:pPr algn="l">
                        <a:spcAft>
                          <a:spcPts val="0"/>
                        </a:spcAft>
                      </a:pPr>
                      <a:r>
                        <a:rPr sz="1300" b="1" i="0">
                          <a:solidFill>
                            <a:srgbClr val="FFFFFF"/>
                          </a:solidFill>
                          <a:latin typeface="Calibri"/>
                        </a:rPr>
                        <a:t>Details of Paper</a:t>
                      </a:r>
                    </a:p>
                  </a:txBody>
                  <a:tcPr marL="64008" marR="64008" marT="36576" marB="36576" anchor="ctr"/>
                </a:tc>
                <a:tc>
                  <a:txBody>
                    <a:bodyPr wrap="square"/>
                    <a:lstStyle/>
                    <a:p>
                      <a:pPr algn="l">
                        <a:spcAft>
                          <a:spcPts val="0"/>
                        </a:spcAft>
                      </a:pPr>
                      <a:r>
                        <a:rPr sz="1300" b="1" i="0">
                          <a:solidFill>
                            <a:srgbClr val="FFFFFF"/>
                          </a:solidFill>
                          <a:latin typeface="Calibri"/>
                        </a:rPr>
                        <a:t>Work Reported</a:t>
                      </a:r>
                    </a:p>
                  </a:txBody>
                  <a:tcPr marL="64008" marR="64008" marT="36576" marB="36576" anchor="ctr"/>
                </a:tc>
              </a:tr>
              <a:tr h="868680">
                <a:tc>
                  <a:txBody>
                    <a:bodyPr wrap="square"/>
                    <a:lstStyle/>
                    <a:p>
                      <a:pPr algn="ctr">
                        <a:spcAft>
                          <a:spcPts val="0"/>
                        </a:spcAft>
                      </a:pPr>
                      <a:r>
                        <a:rPr sz="1300" b="0" i="0">
                          <a:solidFill>
                            <a:srgbClr val="262626"/>
                          </a:solidFill>
                          <a:latin typeface="Calibri"/>
                        </a:rPr>
                        <a:t>1</a:t>
                      </a:r>
                    </a:p>
                  </a:txBody>
                  <a:tcPr marL="64008" marR="64008" marT="36576" marB="36576" anchor="ctr"/>
                </a:tc>
                <a:tc>
                  <a:txBody>
                    <a:bodyPr wrap="square"/>
                    <a:lstStyle/>
                    <a:p>
                      <a:pPr algn="l">
                        <a:spcAft>
                          <a:spcPts val="0"/>
                        </a:spcAft>
                      </a:pPr>
                      <a:r>
                        <a:rPr sz="1300" b="1" i="0">
                          <a:solidFill>
                            <a:srgbClr val="262626"/>
                          </a:solidFill>
                          <a:latin typeface="Calibri"/>
                        </a:rPr>
                        <a:t>A Survey on LLM Agents: Architecture, Applications, and Challenges</a:t>
                      </a:r>
                    </a:p>
                    <a:p>
                      <a:pPr algn="l">
                        <a:spcAft>
                          <a:spcPts val="0"/>
                        </a:spcAft>
                      </a:pPr>
                      <a:r>
                        <a:rPr sz="1100" b="0" i="0">
                          <a:solidFill>
                            <a:srgbClr val="595959"/>
                          </a:solidFill>
                          <a:latin typeface="Calibri"/>
                        </a:rPr>
                        <a:t>IEEE ICOIN, 2026</a:t>
                      </a:r>
                    </a:p>
                  </a:txBody>
                  <a:tcPr marL="64008" marR="64008" marT="36576" marB="36576" anchor="ctr"/>
                </a:tc>
                <a:tc>
                  <a:txBody>
                    <a:bodyPr wrap="square"/>
                    <a:lstStyle/>
                    <a:p>
                      <a:pPr algn="l">
                        <a:spcAft>
                          <a:spcPts val="0"/>
                        </a:spcAft>
                      </a:pPr>
                      <a:r>
                        <a:rPr sz="1300" b="0" i="0">
                          <a:solidFill>
                            <a:srgbClr val="262626"/>
                          </a:solidFill>
                          <a:latin typeface="Calibri"/>
                        </a:rPr>
                        <a:t>Surveys agent architecture: memory, planning, tool use and control flows; discusses evaluation, reliability and scalability.</a:t>
                      </a:r>
                    </a:p>
                  </a:txBody>
                  <a:tcPr marL="64008" marR="64008" marT="36576" marB="36576" anchor="ctr"/>
                </a:tc>
              </a:tr>
              <a:tr h="868680">
                <a:tc>
                  <a:txBody>
                    <a:bodyPr wrap="square"/>
                    <a:lstStyle/>
                    <a:p>
                      <a:pPr algn="ctr">
                        <a:spcAft>
                          <a:spcPts val="0"/>
                        </a:spcAft>
                      </a:pPr>
                      <a:r>
                        <a:rPr sz="1300" b="0" i="0">
                          <a:solidFill>
                            <a:srgbClr val="262626"/>
                          </a:solidFill>
                          <a:latin typeface="Calibri"/>
                        </a:rPr>
                        <a:t>2</a:t>
                      </a:r>
                    </a:p>
                  </a:txBody>
                  <a:tcPr marL="64008" marR="64008" marT="36576" marB="36576" anchor="ctr"/>
                </a:tc>
                <a:tc>
                  <a:txBody>
                    <a:bodyPr wrap="square"/>
                    <a:lstStyle/>
                    <a:p>
                      <a:pPr algn="l">
                        <a:spcAft>
                          <a:spcPts val="0"/>
                        </a:spcAft>
                      </a:pPr>
                      <a:r>
                        <a:rPr sz="1300" b="1" i="0">
                          <a:solidFill>
                            <a:srgbClr val="262626"/>
                          </a:solidFill>
                          <a:latin typeface="Calibri"/>
                        </a:rPr>
                        <a:t>Agentic AI: Architectures, Taxonomies, and Evaluation of LLM Agents</a:t>
                      </a:r>
                    </a:p>
                    <a:p>
                      <a:pPr algn="l">
                        <a:spcAft>
                          <a:spcPts val="0"/>
                        </a:spcAft>
                      </a:pPr>
                      <a:r>
                        <a:rPr sz="1100" b="0" i="0">
                          <a:solidFill>
                            <a:srgbClr val="595959"/>
                          </a:solidFill>
                          <a:latin typeface="Calibri"/>
                        </a:rPr>
                        <a:t>V. Arunkumar, G. R. Gangadharan, R. Buyya — arXiv, 2026</a:t>
                      </a:r>
                    </a:p>
                  </a:txBody>
                  <a:tcPr marL="64008" marR="64008" marT="36576" marB="36576" anchor="ctr"/>
                </a:tc>
                <a:tc>
                  <a:txBody>
                    <a:bodyPr wrap="square"/>
                    <a:lstStyle/>
                    <a:p>
                      <a:pPr algn="l">
                        <a:spcAft>
                          <a:spcPts val="0"/>
                        </a:spcAft>
                      </a:pPr>
                      <a:r>
                        <a:rPr sz="1300" b="0" i="0">
                          <a:solidFill>
                            <a:srgbClr val="262626"/>
                          </a:solidFill>
                          <a:latin typeface="Calibri"/>
                        </a:rPr>
                        <a:t>Taxonomy of perception, planning, action, tools and collaboration; catalogues evaluation methods and failure modes.</a:t>
                      </a:r>
                    </a:p>
                  </a:txBody>
                  <a:tcPr marL="64008" marR="64008" marT="36576" marB="36576" anchor="ctr"/>
                </a:tc>
              </a:tr>
              <a:tr h="868680">
                <a:tc>
                  <a:txBody>
                    <a:bodyPr wrap="square"/>
                    <a:lstStyle/>
                    <a:p>
                      <a:pPr algn="ctr">
                        <a:spcAft>
                          <a:spcPts val="0"/>
                        </a:spcAft>
                      </a:pPr>
                      <a:r>
                        <a:rPr sz="1300" b="0" i="0">
                          <a:solidFill>
                            <a:srgbClr val="262626"/>
                          </a:solidFill>
                          <a:latin typeface="Calibri"/>
                        </a:rPr>
                        <a:t>3</a:t>
                      </a:r>
                    </a:p>
                  </a:txBody>
                  <a:tcPr marL="64008" marR="64008" marT="36576" marB="36576" anchor="ctr"/>
                </a:tc>
                <a:tc>
                  <a:txBody>
                    <a:bodyPr wrap="square"/>
                    <a:lstStyle/>
                    <a:p>
                      <a:pPr algn="l">
                        <a:spcAft>
                          <a:spcPts val="0"/>
                        </a:spcAft>
                      </a:pPr>
                      <a:r>
                        <a:rPr sz="1300" b="1" i="0">
                          <a:solidFill>
                            <a:srgbClr val="262626"/>
                          </a:solidFill>
                          <a:latin typeface="Calibri"/>
                        </a:rPr>
                        <a:t>From Prompt-Response to Goal-Directed Systems</a:t>
                      </a:r>
                    </a:p>
                    <a:p>
                      <a:pPr algn="l">
                        <a:spcAft>
                          <a:spcPts val="0"/>
                        </a:spcAft>
                      </a:pPr>
                      <a:r>
                        <a:rPr sz="1100" b="0" i="0">
                          <a:solidFill>
                            <a:srgbClr val="595959"/>
                          </a:solidFill>
                          <a:latin typeface="Calibri"/>
                        </a:rPr>
                        <a:t>M. Alenezi — arXiv, 2026</a:t>
                      </a:r>
                    </a:p>
                  </a:txBody>
                  <a:tcPr marL="64008" marR="64008" marT="36576" marB="36576" anchor="ctr"/>
                </a:tc>
                <a:tc>
                  <a:txBody>
                    <a:bodyPr wrap="square"/>
                    <a:lstStyle/>
                    <a:p>
                      <a:pPr algn="l">
                        <a:spcAft>
                          <a:spcPts val="0"/>
                        </a:spcAft>
                      </a:pPr>
                      <a:r>
                        <a:rPr sz="1300" b="0" i="0">
                          <a:solidFill>
                            <a:srgbClr val="262626"/>
                          </a:solidFill>
                          <a:latin typeface="Calibri"/>
                        </a:rPr>
                        <a:t>Evolution of agent software architecture: typed tool interfaces, multi-agent topologies, governance, observability.</a:t>
                      </a:r>
                    </a:p>
                  </a:txBody>
                  <a:tcPr marL="64008" marR="64008" marT="36576" marB="36576" anchor="ctr"/>
                </a:tc>
              </a:tr>
              <a:tr h="868680">
                <a:tc>
                  <a:txBody>
                    <a:bodyPr wrap="square"/>
                    <a:lstStyle/>
                    <a:p>
                      <a:pPr algn="ctr">
                        <a:spcAft>
                          <a:spcPts val="0"/>
                        </a:spcAft>
                      </a:pPr>
                      <a:r>
                        <a:rPr sz="1300" b="0" i="0">
                          <a:solidFill>
                            <a:srgbClr val="262626"/>
                          </a:solidFill>
                          <a:latin typeface="Calibri"/>
                        </a:rPr>
                        <a:t>4</a:t>
                      </a:r>
                    </a:p>
                  </a:txBody>
                  <a:tcPr marL="64008" marR="64008" marT="36576" marB="36576" anchor="ctr"/>
                </a:tc>
                <a:tc>
                  <a:txBody>
                    <a:bodyPr wrap="square"/>
                    <a:lstStyle/>
                    <a:p>
                      <a:pPr algn="l">
                        <a:spcAft>
                          <a:spcPts val="0"/>
                        </a:spcAft>
                      </a:pPr>
                      <a:r>
                        <a:rPr sz="1300" b="1" i="0">
                          <a:solidFill>
                            <a:srgbClr val="262626"/>
                          </a:solidFill>
                          <a:latin typeface="Calibri"/>
                        </a:rPr>
                        <a:t>The Auton Agentic AI Framework</a:t>
                      </a:r>
                    </a:p>
                    <a:p>
                      <a:pPr algn="l">
                        <a:spcAft>
                          <a:spcPts val="0"/>
                        </a:spcAft>
                      </a:pPr>
                      <a:r>
                        <a:rPr sz="1100" b="0" i="0">
                          <a:solidFill>
                            <a:srgbClr val="595959"/>
                          </a:solidFill>
                          <a:latin typeface="Calibri"/>
                        </a:rPr>
                        <a:t>S. Cao et al. — arXiv, 2026</a:t>
                      </a:r>
                    </a:p>
                  </a:txBody>
                  <a:tcPr marL="64008" marR="64008" marT="36576" marB="36576" anchor="ctr"/>
                </a:tc>
                <a:tc>
                  <a:txBody>
                    <a:bodyPr wrap="square"/>
                    <a:lstStyle/>
                    <a:p>
                      <a:pPr algn="l">
                        <a:spcAft>
                          <a:spcPts val="0"/>
                        </a:spcAft>
                      </a:pPr>
                      <a:r>
                        <a:rPr sz="1300" b="0" i="0">
                          <a:solidFill>
                            <a:srgbClr val="262626"/>
                          </a:solidFill>
                          <a:latin typeface="Calibri"/>
                        </a:rPr>
                        <a:t>Separates the cognitive blueprint from runtime execution; covers memory, MCP, safety and runtime optimization.</a:t>
                      </a:r>
                    </a:p>
                  </a:txBody>
                  <a:tcPr marL="64008" marR="64008" marT="36576" marB="36576" anchor="ctr"/>
                </a:tc>
              </a:tr>
              <a:tr h="868680">
                <a:tc>
                  <a:txBody>
                    <a:bodyPr wrap="square"/>
                    <a:lstStyle/>
                    <a:p>
                      <a:pPr algn="ctr">
                        <a:spcAft>
                          <a:spcPts val="0"/>
                        </a:spcAft>
                      </a:pPr>
                      <a:r>
                        <a:rPr sz="1300" b="0" i="0">
                          <a:solidFill>
                            <a:srgbClr val="262626"/>
                          </a:solidFill>
                          <a:latin typeface="Calibri"/>
                        </a:rPr>
                        <a:t>5</a:t>
                      </a:r>
                    </a:p>
                  </a:txBody>
                  <a:tcPr marL="64008" marR="64008" marT="36576" marB="36576" anchor="ctr"/>
                </a:tc>
                <a:tc>
                  <a:txBody>
                    <a:bodyPr wrap="square"/>
                    <a:lstStyle/>
                    <a:p>
                      <a:pPr algn="l">
                        <a:spcAft>
                          <a:spcPts val="0"/>
                        </a:spcAft>
                      </a:pPr>
                      <a:r>
                        <a:rPr sz="1300" b="1" i="0">
                          <a:solidFill>
                            <a:srgbClr val="262626"/>
                          </a:solidFill>
                          <a:latin typeface="Calibri"/>
                        </a:rPr>
                        <a:t>Agentic Memory (AgeMem)</a:t>
                      </a:r>
                    </a:p>
                    <a:p>
                      <a:pPr algn="l">
                        <a:spcAft>
                          <a:spcPts val="0"/>
                        </a:spcAft>
                      </a:pPr>
                      <a:r>
                        <a:rPr sz="1100" b="0" i="0">
                          <a:solidFill>
                            <a:srgbClr val="595959"/>
                          </a:solidFill>
                          <a:latin typeface="Calibri"/>
                        </a:rPr>
                        <a:t>Y. Yu et al. — ACL, 2026</a:t>
                      </a:r>
                    </a:p>
                  </a:txBody>
                  <a:tcPr marL="64008" marR="64008" marT="36576" marB="36576" anchor="ctr"/>
                </a:tc>
                <a:tc>
                  <a:txBody>
                    <a:bodyPr wrap="square"/>
                    <a:lstStyle/>
                    <a:p>
                      <a:pPr algn="l">
                        <a:spcAft>
                          <a:spcPts val="0"/>
                        </a:spcAft>
                      </a:pPr>
                      <a:r>
                        <a:rPr sz="1300" b="0" i="0">
                          <a:solidFill>
                            <a:srgbClr val="262626"/>
                          </a:solidFill>
                          <a:latin typeface="Calibri"/>
                        </a:rPr>
                        <a:t>Unified long/short-term memory: the agent learns when to store, retrieve, update, summarize or discard.</a:t>
                      </a:r>
                    </a:p>
                  </a:txBody>
                  <a:tcPr marL="64008" marR="64008" marT="36576" marB="36576" anchor="ct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182880"/>
            <a:ext cx="6766560" cy="822960"/>
          </a:xfrm>
        </p:spPr>
        <p:txBody>
          <a:bodyPr wrap="square" anchor="ctr"/>
          <a:lstStyle/>
          <a:p>
            <a:pPr algn="ctr"/>
            <a:r>
              <a:rPr sz="2600">
                <a:solidFill>
                  <a:srgbClr val="000000"/>
                </a:solidFill>
                <a:latin typeface="Times New Roman"/>
              </a:rPr>
              <a:t>Literature Survey in Tabular Form (2/2)</a:t>
            </a:r>
            <a:endParaRPr lang="en-IN" dirty="0"/>
          </a:p>
        </p:txBody>
      </p:sp>
      <p:sp>
        <p:nvSpPr>
          <p:cNvPr id="4" name="Slide Number Placeholder 3"/>
          <p:cNvSpPr>
            <a:spLocks noGrp="1"/>
          </p:cNvSpPr>
          <p:nvPr>
            <p:ph type="sldNum" sz="quarter" idx="12"/>
          </p:nvPr>
        </p:nvSpPr>
        <p:spPr/>
        <p:txBody>
          <a:bodyPr/>
          <a:lstStyle/>
          <a:p>
            <a:fld id="{1EC248AB-E565-412B-9D95-9B07D6A4F3F3}" type="slidenum">
              <a:rPr lang="en-GB" smtClean="0"/>
              <a:pPr/>
              <a:t>6</a:t>
            </a:fld>
            <a:endParaRPr lang="en-GB"/>
          </a:p>
        </p:txBody>
      </p:sp>
      <p:pic>
        <p:nvPicPr>
          <p:cNvPr id="5" name="Picture 4" descr="image.jpeg"/>
          <p:cNvPicPr>
            <a:picLocks noChangeAspect="1"/>
          </p:cNvPicPr>
          <p:nvPr/>
        </p:nvPicPr>
        <p:blipFill>
          <a:blip r:embed="rId2"/>
          <a:stretch>
            <a:fillRect/>
          </a:stretch>
        </p:blipFill>
        <p:spPr>
          <a:xfrm>
            <a:off x="164592" y="128016"/>
            <a:ext cx="987552" cy="743789"/>
          </a:xfrm>
          <a:prstGeom prst="rect">
            <a:avLst/>
          </a:prstGeom>
        </p:spPr>
      </p:pic>
      <p:graphicFrame>
        <p:nvGraphicFramePr>
          <p:cNvPr id="6" name="Table 5"/>
          <p:cNvGraphicFramePr>
            <a:graphicFrameLocks noGrp="1"/>
          </p:cNvGraphicFramePr>
          <p:nvPr/>
        </p:nvGraphicFramePr>
        <p:xfrm>
          <a:off x="411480" y="1188720"/>
          <a:ext cx="8321040" cy="4800600"/>
        </p:xfrm>
        <a:graphic>
          <a:graphicData uri="http://schemas.openxmlformats.org/drawingml/2006/table">
            <a:tbl>
              <a:tblPr firstRow="1" bandRow="1">
                <a:tableStyleId>{5C22544A-7EE6-4342-B048-85BDC9FD1C3A}</a:tableStyleId>
              </a:tblPr>
              <a:tblGrid>
                <a:gridCol w="685800"/>
                <a:gridCol w="3520440"/>
                <a:gridCol w="4114800"/>
              </a:tblGrid>
              <a:tr h="457200">
                <a:tc>
                  <a:txBody>
                    <a:bodyPr wrap="square"/>
                    <a:lstStyle/>
                    <a:p>
                      <a:pPr algn="l">
                        <a:spcAft>
                          <a:spcPts val="0"/>
                        </a:spcAft>
                      </a:pPr>
                      <a:r>
                        <a:rPr sz="1300" b="1" i="0">
                          <a:solidFill>
                            <a:srgbClr val="FFFFFF"/>
                          </a:solidFill>
                          <a:latin typeface="Calibri"/>
                        </a:rPr>
                        <a:t>Sr. No</a:t>
                      </a:r>
                    </a:p>
                  </a:txBody>
                  <a:tcPr marL="64008" marR="64008" marT="36576" marB="36576" anchor="ctr"/>
                </a:tc>
                <a:tc>
                  <a:txBody>
                    <a:bodyPr wrap="square"/>
                    <a:lstStyle/>
                    <a:p>
                      <a:pPr algn="l">
                        <a:spcAft>
                          <a:spcPts val="0"/>
                        </a:spcAft>
                      </a:pPr>
                      <a:r>
                        <a:rPr sz="1300" b="1" i="0">
                          <a:solidFill>
                            <a:srgbClr val="FFFFFF"/>
                          </a:solidFill>
                          <a:latin typeface="Calibri"/>
                        </a:rPr>
                        <a:t>Details of Paper</a:t>
                      </a:r>
                    </a:p>
                  </a:txBody>
                  <a:tcPr marL="64008" marR="64008" marT="36576" marB="36576" anchor="ctr"/>
                </a:tc>
                <a:tc>
                  <a:txBody>
                    <a:bodyPr wrap="square"/>
                    <a:lstStyle/>
                    <a:p>
                      <a:pPr algn="l">
                        <a:spcAft>
                          <a:spcPts val="0"/>
                        </a:spcAft>
                      </a:pPr>
                      <a:r>
                        <a:rPr sz="1300" b="1" i="0">
                          <a:solidFill>
                            <a:srgbClr val="FFFFFF"/>
                          </a:solidFill>
                          <a:latin typeface="Calibri"/>
                        </a:rPr>
                        <a:t>Work Reported</a:t>
                      </a:r>
                    </a:p>
                  </a:txBody>
                  <a:tcPr marL="64008" marR="64008" marT="36576" marB="36576" anchor="ctr"/>
                </a:tc>
              </a:tr>
              <a:tr h="868680">
                <a:tc>
                  <a:txBody>
                    <a:bodyPr wrap="square"/>
                    <a:lstStyle/>
                    <a:p>
                      <a:pPr algn="ctr">
                        <a:spcAft>
                          <a:spcPts val="0"/>
                        </a:spcAft>
                      </a:pPr>
                      <a:r>
                        <a:rPr sz="1300" b="0" i="0">
                          <a:solidFill>
                            <a:srgbClr val="262626"/>
                          </a:solidFill>
                          <a:latin typeface="Calibri"/>
                        </a:rPr>
                        <a:t>6</a:t>
                      </a:r>
                    </a:p>
                  </a:txBody>
                  <a:tcPr marL="64008" marR="64008" marT="36576" marB="36576" anchor="ctr"/>
                </a:tc>
                <a:tc>
                  <a:txBody>
                    <a:bodyPr wrap="square"/>
                    <a:lstStyle/>
                    <a:p>
                      <a:pPr algn="l">
                        <a:spcAft>
                          <a:spcPts val="0"/>
                        </a:spcAft>
                      </a:pPr>
                      <a:r>
                        <a:rPr sz="1300" b="1" i="0">
                          <a:solidFill>
                            <a:srgbClr val="262626"/>
                          </a:solidFill>
                          <a:latin typeface="Calibri"/>
                        </a:rPr>
                        <a:t>MCP and A2A Protocol for Scalable Agentic AI Systems</a:t>
                      </a:r>
                    </a:p>
                    <a:p>
                      <a:pPr algn="l">
                        <a:spcAft>
                          <a:spcPts val="0"/>
                        </a:spcAft>
                      </a:pPr>
                      <a:r>
                        <a:rPr sz="1100" b="0" i="0">
                          <a:solidFill>
                            <a:srgbClr val="595959"/>
                          </a:solidFill>
                          <a:latin typeface="Calibri"/>
                        </a:rPr>
                        <a:t>IEEE ICICDS, 2026</a:t>
                      </a:r>
                    </a:p>
                  </a:txBody>
                  <a:tcPr marL="64008" marR="64008" marT="36576" marB="36576" anchor="ctr"/>
                </a:tc>
                <a:tc>
                  <a:txBody>
                    <a:bodyPr wrap="square"/>
                    <a:lstStyle/>
                    <a:p>
                      <a:pPr algn="l">
                        <a:spcAft>
                          <a:spcPts val="0"/>
                        </a:spcAft>
                      </a:pPr>
                      <a:r>
                        <a:rPr sz="1300" b="0" i="0">
                          <a:solidFill>
                            <a:srgbClr val="262626"/>
                          </a:solidFill>
                          <a:latin typeface="Calibri"/>
                        </a:rPr>
                        <a:t>MCP gives standardized tool/data access; A2A enables communication and coordination between agents.</a:t>
                      </a:r>
                    </a:p>
                  </a:txBody>
                  <a:tcPr marL="64008" marR="64008" marT="36576" marB="36576" anchor="ctr"/>
                </a:tc>
              </a:tr>
              <a:tr h="868680">
                <a:tc>
                  <a:txBody>
                    <a:bodyPr wrap="square"/>
                    <a:lstStyle/>
                    <a:p>
                      <a:pPr algn="ctr">
                        <a:spcAft>
                          <a:spcPts val="0"/>
                        </a:spcAft>
                      </a:pPr>
                      <a:r>
                        <a:rPr sz="1300" b="0" i="0">
                          <a:solidFill>
                            <a:srgbClr val="262626"/>
                          </a:solidFill>
                          <a:latin typeface="Calibri"/>
                        </a:rPr>
                        <a:t>7</a:t>
                      </a:r>
                    </a:p>
                  </a:txBody>
                  <a:tcPr marL="64008" marR="64008" marT="36576" marB="36576" anchor="ctr"/>
                </a:tc>
                <a:tc>
                  <a:txBody>
                    <a:bodyPr wrap="square"/>
                    <a:lstStyle/>
                    <a:p>
                      <a:pPr algn="l">
                        <a:spcAft>
                          <a:spcPts val="0"/>
                        </a:spcAft>
                      </a:pPr>
                      <a:r>
                        <a:rPr sz="1300" b="1" i="0">
                          <a:solidFill>
                            <a:srgbClr val="262626"/>
                          </a:solidFill>
                          <a:latin typeface="Calibri"/>
                        </a:rPr>
                        <a:t>LLM-Based Intelligent Agents for Cybersecurity</a:t>
                      </a:r>
                    </a:p>
                    <a:p>
                      <a:pPr algn="l">
                        <a:spcAft>
                          <a:spcPts val="0"/>
                        </a:spcAft>
                      </a:pPr>
                      <a:r>
                        <a:rPr sz="1100" b="0" i="0">
                          <a:solidFill>
                            <a:srgbClr val="595959"/>
                          </a:solidFill>
                          <a:latin typeface="Calibri"/>
                        </a:rPr>
                        <a:t>IEEE Access, 2026</a:t>
                      </a:r>
                    </a:p>
                  </a:txBody>
                  <a:tcPr marL="64008" marR="64008" marT="36576" marB="36576" anchor="ctr"/>
                </a:tc>
                <a:tc>
                  <a:txBody>
                    <a:bodyPr wrap="square"/>
                    <a:lstStyle/>
                    <a:p>
                      <a:pPr algn="l">
                        <a:spcAft>
                          <a:spcPts val="0"/>
                        </a:spcAft>
                      </a:pPr>
                      <a:r>
                        <a:rPr sz="1300" b="0" i="0">
                          <a:solidFill>
                            <a:srgbClr val="262626"/>
                          </a:solidFill>
                          <a:latin typeface="Calibri"/>
                        </a:rPr>
                        <a:t>Tool-using agents for automated vulnerability discovery; discusses reliability, cost and ethics.</a:t>
                      </a:r>
                    </a:p>
                  </a:txBody>
                  <a:tcPr marL="64008" marR="64008" marT="36576" marB="36576" anchor="ctr"/>
                </a:tc>
              </a:tr>
              <a:tr h="868680">
                <a:tc>
                  <a:txBody>
                    <a:bodyPr wrap="square"/>
                    <a:lstStyle/>
                    <a:p>
                      <a:pPr algn="ctr">
                        <a:spcAft>
                          <a:spcPts val="0"/>
                        </a:spcAft>
                      </a:pPr>
                      <a:r>
                        <a:rPr sz="1300" b="0" i="0">
                          <a:solidFill>
                            <a:srgbClr val="262626"/>
                          </a:solidFill>
                          <a:latin typeface="Calibri"/>
                        </a:rPr>
                        <a:t>8</a:t>
                      </a:r>
                    </a:p>
                  </a:txBody>
                  <a:tcPr marL="64008" marR="64008" marT="36576" marB="36576" anchor="ctr"/>
                </a:tc>
                <a:tc>
                  <a:txBody>
                    <a:bodyPr wrap="square"/>
                    <a:lstStyle/>
                    <a:p>
                      <a:pPr algn="l">
                        <a:spcAft>
                          <a:spcPts val="0"/>
                        </a:spcAft>
                      </a:pPr>
                      <a:r>
                        <a:rPr sz="1300" b="1" i="0">
                          <a:solidFill>
                            <a:srgbClr val="262626"/>
                          </a:solidFill>
                          <a:latin typeface="Calibri"/>
                        </a:rPr>
                        <a:t>A Survey of Fuzzing Techniques for LLM Agents</a:t>
                      </a:r>
                    </a:p>
                    <a:p>
                      <a:pPr algn="l">
                        <a:spcAft>
                          <a:spcPts val="0"/>
                        </a:spcAft>
                      </a:pPr>
                      <a:r>
                        <a:rPr sz="1100" b="0" i="0">
                          <a:solidFill>
                            <a:srgbClr val="595959"/>
                          </a:solidFill>
                          <a:latin typeface="Calibri"/>
                        </a:rPr>
                        <a:t>IEEE BDAI, 2026</a:t>
                      </a:r>
                    </a:p>
                  </a:txBody>
                  <a:tcPr marL="64008" marR="64008" marT="36576" marB="36576" anchor="ctr"/>
                </a:tc>
                <a:tc>
                  <a:txBody>
                    <a:bodyPr wrap="square"/>
                    <a:lstStyle/>
                    <a:p>
                      <a:pPr algn="l">
                        <a:spcAft>
                          <a:spcPts val="0"/>
                        </a:spcAft>
                      </a:pPr>
                      <a:r>
                        <a:rPr sz="1300" b="0" i="0">
                          <a:solidFill>
                            <a:srgbClr val="262626"/>
                          </a:solidFill>
                          <a:latin typeface="Calibri"/>
                        </a:rPr>
                        <a:t>Agent security testing: indirect prompt injection, planning hallucination and tool abuse.</a:t>
                      </a:r>
                    </a:p>
                  </a:txBody>
                  <a:tcPr marL="64008" marR="64008" marT="36576" marB="36576" anchor="ctr"/>
                </a:tc>
              </a:tr>
              <a:tr h="868680">
                <a:tc>
                  <a:txBody>
                    <a:bodyPr wrap="square"/>
                    <a:lstStyle/>
                    <a:p>
                      <a:pPr algn="ctr">
                        <a:spcAft>
                          <a:spcPts val="0"/>
                        </a:spcAft>
                      </a:pPr>
                      <a:r>
                        <a:rPr sz="1300" b="0" i="0">
                          <a:solidFill>
                            <a:srgbClr val="262626"/>
                          </a:solidFill>
                          <a:latin typeface="Calibri"/>
                        </a:rPr>
                        <a:t>9</a:t>
                      </a:r>
                    </a:p>
                  </a:txBody>
                  <a:tcPr marL="64008" marR="64008" marT="36576" marB="36576" anchor="ctr"/>
                </a:tc>
                <a:tc>
                  <a:txBody>
                    <a:bodyPr wrap="square"/>
                    <a:lstStyle/>
                    <a:p>
                      <a:pPr algn="l">
                        <a:spcAft>
                          <a:spcPts val="0"/>
                        </a:spcAft>
                      </a:pPr>
                      <a:r>
                        <a:rPr sz="1300" b="1" i="0">
                          <a:solidFill>
                            <a:srgbClr val="262626"/>
                          </a:solidFill>
                          <a:latin typeface="Calibri"/>
                        </a:rPr>
                        <a:t>GLaMP: Grounded LM-Based Multiagent System</a:t>
                      </a:r>
                    </a:p>
                    <a:p>
                      <a:pPr algn="l">
                        <a:spcAft>
                          <a:spcPts val="0"/>
                        </a:spcAft>
                      </a:pPr>
                      <a:r>
                        <a:rPr sz="1100" b="0" i="0">
                          <a:solidFill>
                            <a:srgbClr val="595959"/>
                          </a:solidFill>
                          <a:latin typeface="Calibri"/>
                        </a:rPr>
                        <a:t>IEEE Trans. Industrial Electronics, 2026</a:t>
                      </a:r>
                    </a:p>
                  </a:txBody>
                  <a:tcPr marL="64008" marR="64008" marT="36576" marB="36576" anchor="ctr"/>
                </a:tc>
                <a:tc>
                  <a:txBody>
                    <a:bodyPr wrap="square"/>
                    <a:lstStyle/>
                    <a:p>
                      <a:pPr algn="l">
                        <a:spcAft>
                          <a:spcPts val="0"/>
                        </a:spcAft>
                      </a:pPr>
                      <a:r>
                        <a:rPr sz="1300" b="0" i="0">
                          <a:solidFill>
                            <a:srgbClr val="262626"/>
                          </a:solidFill>
                          <a:latin typeface="Calibri"/>
                        </a:rPr>
                        <a:t>VLM + LLM planning with symbolic grounding and failure-aware replanning for long-horizon robot tasks.</a:t>
                      </a:r>
                    </a:p>
                  </a:txBody>
                  <a:tcPr marL="64008" marR="64008" marT="36576" marB="36576" anchor="ctr"/>
                </a:tc>
              </a:tr>
              <a:tr h="868680">
                <a:tc>
                  <a:txBody>
                    <a:bodyPr wrap="square"/>
                    <a:lstStyle/>
                    <a:p>
                      <a:pPr algn="ctr">
                        <a:spcAft>
                          <a:spcPts val="0"/>
                        </a:spcAft>
                      </a:pPr>
                      <a:r>
                        <a:rPr sz="1300" b="0" i="0">
                          <a:solidFill>
                            <a:srgbClr val="262626"/>
                          </a:solidFill>
                          <a:latin typeface="Calibri"/>
                        </a:rPr>
                        <a:t>10</a:t>
                      </a:r>
                    </a:p>
                  </a:txBody>
                  <a:tcPr marL="64008" marR="64008" marT="36576" marB="36576" anchor="ctr"/>
                </a:tc>
                <a:tc>
                  <a:txBody>
                    <a:bodyPr wrap="square"/>
                    <a:lstStyle/>
                    <a:p>
                      <a:pPr algn="l">
                        <a:spcAft>
                          <a:spcPts val="0"/>
                        </a:spcAft>
                      </a:pPr>
                      <a:r>
                        <a:rPr sz="1300" b="1" i="0">
                          <a:solidFill>
                            <a:srgbClr val="262626"/>
                          </a:solidFill>
                          <a:latin typeface="Calibri"/>
                        </a:rPr>
                        <a:t>Beyond Single-Framework Architectures</a:t>
                      </a:r>
                    </a:p>
                    <a:p>
                      <a:pPr algn="l">
                        <a:spcAft>
                          <a:spcPts val="0"/>
                        </a:spcAft>
                      </a:pPr>
                      <a:r>
                        <a:rPr sz="1100" b="0" i="0">
                          <a:solidFill>
                            <a:srgbClr val="595959"/>
                          </a:solidFill>
                          <a:latin typeface="Calibri"/>
                        </a:rPr>
                        <a:t>IEEE Access, 2026</a:t>
                      </a:r>
                    </a:p>
                  </a:txBody>
                  <a:tcPr marL="64008" marR="64008" marT="36576" marB="36576" anchor="ctr"/>
                </a:tc>
                <a:tc>
                  <a:txBody>
                    <a:bodyPr wrap="square"/>
                    <a:lstStyle/>
                    <a:p>
                      <a:pPr algn="l">
                        <a:spcAft>
                          <a:spcPts val="0"/>
                        </a:spcAft>
                      </a:pPr>
                      <a:r>
                        <a:rPr sz="1300" b="0" i="0">
                          <a:solidFill>
                            <a:srgbClr val="262626"/>
                          </a:solidFill>
                          <a:latin typeface="Calibri"/>
                        </a:rPr>
                        <a:t>Evaluates CrewAI, AutoGen and LangChain; proposes a hybrid design (results on its own benchmark).</a:t>
                      </a:r>
                    </a:p>
                  </a:txBody>
                  <a:tcPr marL="64008" marR="64008" marT="36576" marB="36576" anchor="ct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182880"/>
            <a:ext cx="6766560" cy="822960"/>
          </a:xfrm>
        </p:spPr>
        <p:txBody>
          <a:bodyPr wrap="square" anchor="ctr"/>
          <a:lstStyle/>
          <a:p>
            <a:pPr algn="ctr"/>
            <a:r>
              <a:rPr sz="2600">
                <a:solidFill>
                  <a:srgbClr val="000000"/>
                </a:solidFill>
                <a:latin typeface="Times New Roman"/>
              </a:rPr>
              <a:t>Baseline Papers Selected for Seminar Work</a:t>
            </a:r>
            <a:endParaRPr lang="en-IN" dirty="0"/>
          </a:p>
        </p:txBody>
      </p:sp>
      <p:sp>
        <p:nvSpPr>
          <p:cNvPr id="4" name="Slide Number Placeholder 3"/>
          <p:cNvSpPr>
            <a:spLocks noGrp="1"/>
          </p:cNvSpPr>
          <p:nvPr>
            <p:ph type="sldNum" sz="quarter" idx="12"/>
          </p:nvPr>
        </p:nvSpPr>
        <p:spPr/>
        <p:txBody>
          <a:bodyPr/>
          <a:lstStyle/>
          <a:p>
            <a:fld id="{1EC248AB-E565-412B-9D95-9B07D6A4F3F3}" type="slidenum">
              <a:rPr lang="en-GB" smtClean="0"/>
              <a:pPr/>
              <a:t>6</a:t>
            </a:fld>
            <a:endParaRPr lang="en-GB"/>
          </a:p>
        </p:txBody>
      </p:sp>
      <p:pic>
        <p:nvPicPr>
          <p:cNvPr id="5" name="Picture 4" descr="image.jpeg"/>
          <p:cNvPicPr>
            <a:picLocks noChangeAspect="1"/>
          </p:cNvPicPr>
          <p:nvPr/>
        </p:nvPicPr>
        <p:blipFill>
          <a:blip r:embed="rId2"/>
          <a:stretch>
            <a:fillRect/>
          </a:stretch>
        </p:blipFill>
        <p:spPr>
          <a:xfrm>
            <a:off x="164592" y="128016"/>
            <a:ext cx="987552" cy="743789"/>
          </a:xfrm>
          <a:prstGeom prst="rect">
            <a:avLst/>
          </a:prstGeom>
        </p:spPr>
      </p:pic>
      <p:sp>
        <p:nvSpPr>
          <p:cNvPr id="6" name="Rounded Rectangle 5"/>
          <p:cNvSpPr/>
          <p:nvPr/>
        </p:nvSpPr>
        <p:spPr>
          <a:xfrm>
            <a:off x="457200" y="1234440"/>
            <a:ext cx="2606040" cy="4114800"/>
          </a:xfrm>
          <a:prstGeom prst="roundRect">
            <a:avLst>
              <a:gd name="adj" fmla="val 2807"/>
            </a:avLst>
          </a:prstGeom>
          <a:solidFill>
            <a:srgbClr val="F2F6FB"/>
          </a:solidFill>
          <a:ln>
            <a:noFill/>
          </a:ln>
        </p:spPr>
        <p:txBody>
          <a:bodyPr rtlCol="0" anchor="ctr" wrap="square" lIns="54864" rIns="54864" tIns="54864" bIns="54864"/>
          <a:lstStyle/>
          <a:p>
            <a:pPr algn="ctr"/>
          </a:p>
        </p:txBody>
      </p:sp>
      <p:sp>
        <p:nvSpPr>
          <p:cNvPr id="7" name="Rounded Rectangle 6"/>
          <p:cNvSpPr/>
          <p:nvPr/>
        </p:nvSpPr>
        <p:spPr>
          <a:xfrm>
            <a:off x="457200" y="1234440"/>
            <a:ext cx="2606040" cy="457200"/>
          </a:xfrm>
          <a:prstGeom prst="roundRect">
            <a:avLst>
              <a:gd name="adj" fmla="val 16000"/>
            </a:avLst>
          </a:prstGeom>
          <a:solidFill>
            <a:srgbClr val="1F497D"/>
          </a:solidFill>
          <a:ln>
            <a:noFill/>
          </a:ln>
        </p:spPr>
        <p:txBody>
          <a:bodyPr rtlCol="0" anchor="ctr" wrap="square" lIns="54864" rIns="54864" tIns="54864" bIns="54864"/>
          <a:lstStyle/>
          <a:p>
            <a:pPr algn="ctr">
              <a:spcAft>
                <a:spcPts val="0"/>
              </a:spcAft>
            </a:pPr>
            <a:r>
              <a:rPr sz="1300" b="1" i="0">
                <a:solidFill>
                  <a:srgbClr val="FFFFFF"/>
                </a:solidFill>
                <a:latin typeface="Calibri"/>
              </a:rPr>
              <a:t>PRIMARY BASELINE</a:t>
            </a:r>
          </a:p>
        </p:txBody>
      </p:sp>
      <p:sp>
        <p:nvSpPr>
          <p:cNvPr id="8" name="TextBox 7"/>
          <p:cNvSpPr txBox="1"/>
          <p:nvPr/>
        </p:nvSpPr>
        <p:spPr>
          <a:xfrm>
            <a:off x="594360" y="1783080"/>
            <a:ext cx="2331720" cy="1143000"/>
          </a:xfrm>
          <a:prstGeom prst="rect">
            <a:avLst/>
          </a:prstGeom>
          <a:noFill/>
        </p:spPr>
        <p:txBody>
          <a:bodyPr wrap="square" anchor="t" lIns="36576" rIns="36576" tIns="36576" bIns="36576"/>
          <a:lstStyle/>
          <a:p>
            <a:pPr algn="l">
              <a:spcAft>
                <a:spcPts val="400"/>
              </a:spcAft>
            </a:pPr>
            <a:r>
              <a:rPr sz="1400" b="1" i="0">
                <a:solidFill>
                  <a:srgbClr val="1F497D"/>
                </a:solidFill>
                <a:latin typeface="Calibri"/>
              </a:rPr>
              <a:t>[1] A Survey on LLM Agents: Architecture, Applications, and Challenges</a:t>
            </a:r>
          </a:p>
        </p:txBody>
      </p:sp>
      <p:sp>
        <p:nvSpPr>
          <p:cNvPr id="9" name="TextBox 8"/>
          <p:cNvSpPr txBox="1"/>
          <p:nvPr/>
        </p:nvSpPr>
        <p:spPr>
          <a:xfrm>
            <a:off x="594360" y="2926080"/>
            <a:ext cx="2331720" cy="292608"/>
          </a:xfrm>
          <a:prstGeom prst="rect">
            <a:avLst/>
          </a:prstGeom>
          <a:noFill/>
        </p:spPr>
        <p:txBody>
          <a:bodyPr wrap="square" anchor="t" lIns="36576" rIns="36576" tIns="36576" bIns="36576"/>
          <a:lstStyle/>
          <a:p>
            <a:pPr algn="l">
              <a:spcAft>
                <a:spcPts val="400"/>
              </a:spcAft>
            </a:pPr>
            <a:r>
              <a:rPr sz="1200" b="0" i="1">
                <a:solidFill>
                  <a:srgbClr val="595959"/>
                </a:solidFill>
                <a:latin typeface="Calibri"/>
              </a:rPr>
              <a:t>IEEE ICOIN 2026</a:t>
            </a:r>
          </a:p>
        </p:txBody>
      </p:sp>
      <p:sp>
        <p:nvSpPr>
          <p:cNvPr id="10" name="TextBox 9"/>
          <p:cNvSpPr txBox="1"/>
          <p:nvPr/>
        </p:nvSpPr>
        <p:spPr>
          <a:xfrm>
            <a:off x="594360" y="3291840"/>
            <a:ext cx="2331720" cy="1051560"/>
          </a:xfrm>
          <a:prstGeom prst="rect">
            <a:avLst/>
          </a:prstGeom>
          <a:noFill/>
        </p:spPr>
        <p:txBody>
          <a:bodyPr wrap="square" anchor="t" lIns="36576" rIns="36576" tIns="36576" bIns="36576"/>
          <a:lstStyle/>
          <a:p>
            <a:pPr algn="l">
              <a:spcAft>
                <a:spcPts val="400"/>
              </a:spcAft>
            </a:pPr>
            <a:r>
              <a:rPr sz="1300" b="1" i="0">
                <a:solidFill>
                  <a:srgbClr val="1F497D"/>
                </a:solidFill>
                <a:latin typeface="Calibri"/>
              </a:rPr>
              <a:t>Why selected: </a:t>
            </a:r>
            <a:r>
              <a:rPr sz="1300" b="0" i="0">
                <a:solidFill>
                  <a:srgbClr val="262626"/>
                </a:solidFill>
                <a:latin typeface="Calibri"/>
              </a:rPr>
              <a:t>Broad, recent view of agent architecture — the starting point of this seminar.</a:t>
            </a:r>
          </a:p>
        </p:txBody>
      </p:sp>
      <p:sp>
        <p:nvSpPr>
          <p:cNvPr id="11" name="TextBox 10"/>
          <p:cNvSpPr txBox="1"/>
          <p:nvPr/>
        </p:nvSpPr>
        <p:spPr>
          <a:xfrm>
            <a:off x="594360" y="4343400"/>
            <a:ext cx="2331720" cy="960120"/>
          </a:xfrm>
          <a:prstGeom prst="rect">
            <a:avLst/>
          </a:prstGeom>
          <a:noFill/>
        </p:spPr>
        <p:txBody>
          <a:bodyPr wrap="square" anchor="t" lIns="36576" rIns="36576" tIns="36576" bIns="36576"/>
          <a:lstStyle/>
          <a:p>
            <a:pPr algn="l">
              <a:spcAft>
                <a:spcPts val="400"/>
              </a:spcAft>
            </a:pPr>
            <a:r>
              <a:rPr sz="1300" b="1" i="0">
                <a:solidFill>
                  <a:srgbClr val="1F497D"/>
                </a:solidFill>
                <a:latin typeface="Calibri"/>
              </a:rPr>
              <a:t>Used for: </a:t>
            </a:r>
            <a:r>
              <a:rPr sz="1300" b="0" i="0">
                <a:solidFill>
                  <a:srgbClr val="262626"/>
                </a:solidFill>
                <a:latin typeface="Calibri"/>
              </a:rPr>
              <a:t>Overall architecture: planning, memory, tools and control flow.</a:t>
            </a:r>
          </a:p>
        </p:txBody>
      </p:sp>
      <p:sp>
        <p:nvSpPr>
          <p:cNvPr id="12" name="Rounded Rectangle 11"/>
          <p:cNvSpPr/>
          <p:nvPr/>
        </p:nvSpPr>
        <p:spPr>
          <a:xfrm>
            <a:off x="3268980" y="1234440"/>
            <a:ext cx="2606040" cy="4114800"/>
          </a:xfrm>
          <a:prstGeom prst="roundRect">
            <a:avLst>
              <a:gd name="adj" fmla="val 2807"/>
            </a:avLst>
          </a:prstGeom>
          <a:solidFill>
            <a:srgbClr val="F2F6FB"/>
          </a:solidFill>
          <a:ln>
            <a:noFill/>
          </a:ln>
        </p:spPr>
        <p:txBody>
          <a:bodyPr rtlCol="0" anchor="ctr" wrap="square" lIns="54864" rIns="54864" tIns="54864" bIns="54864"/>
          <a:lstStyle/>
          <a:p>
            <a:pPr algn="ctr"/>
          </a:p>
        </p:txBody>
      </p:sp>
      <p:sp>
        <p:nvSpPr>
          <p:cNvPr id="13" name="Rounded Rectangle 12"/>
          <p:cNvSpPr/>
          <p:nvPr/>
        </p:nvSpPr>
        <p:spPr>
          <a:xfrm>
            <a:off x="3268980" y="1234440"/>
            <a:ext cx="2606040" cy="457200"/>
          </a:xfrm>
          <a:prstGeom prst="roundRect">
            <a:avLst>
              <a:gd name="adj" fmla="val 16000"/>
            </a:avLst>
          </a:prstGeom>
          <a:solidFill>
            <a:srgbClr val="31859C"/>
          </a:solidFill>
          <a:ln>
            <a:noFill/>
          </a:ln>
        </p:spPr>
        <p:txBody>
          <a:bodyPr rtlCol="0" anchor="ctr" wrap="square" lIns="54864" rIns="54864" tIns="54864" bIns="54864"/>
          <a:lstStyle/>
          <a:p>
            <a:pPr algn="ctr">
              <a:spcAft>
                <a:spcPts val="0"/>
              </a:spcAft>
            </a:pPr>
            <a:r>
              <a:rPr sz="1300" b="1" i="0">
                <a:solidFill>
                  <a:srgbClr val="FFFFFF"/>
                </a:solidFill>
                <a:latin typeface="Calibri"/>
              </a:rPr>
              <a:t>SUPPORTING</a:t>
            </a:r>
          </a:p>
        </p:txBody>
      </p:sp>
      <p:sp>
        <p:nvSpPr>
          <p:cNvPr id="14" name="TextBox 13"/>
          <p:cNvSpPr txBox="1"/>
          <p:nvPr/>
        </p:nvSpPr>
        <p:spPr>
          <a:xfrm>
            <a:off x="3406140" y="1783080"/>
            <a:ext cx="2331720" cy="1143000"/>
          </a:xfrm>
          <a:prstGeom prst="rect">
            <a:avLst/>
          </a:prstGeom>
          <a:noFill/>
        </p:spPr>
        <p:txBody>
          <a:bodyPr wrap="square" anchor="t" lIns="36576" rIns="36576" tIns="36576" bIns="36576"/>
          <a:lstStyle/>
          <a:p>
            <a:pPr algn="l">
              <a:spcAft>
                <a:spcPts val="400"/>
              </a:spcAft>
            </a:pPr>
            <a:r>
              <a:rPr sz="1400" b="1" i="0">
                <a:solidFill>
                  <a:srgbClr val="1F497D"/>
                </a:solidFill>
                <a:latin typeface="Calibri"/>
              </a:rPr>
              <a:t>[2] Agentic AI: Architectures, Taxonomies, and Evaluation of LLM Agents</a:t>
            </a:r>
          </a:p>
        </p:txBody>
      </p:sp>
      <p:sp>
        <p:nvSpPr>
          <p:cNvPr id="15" name="TextBox 14"/>
          <p:cNvSpPr txBox="1"/>
          <p:nvPr/>
        </p:nvSpPr>
        <p:spPr>
          <a:xfrm>
            <a:off x="3406140" y="2926080"/>
            <a:ext cx="2331720" cy="292608"/>
          </a:xfrm>
          <a:prstGeom prst="rect">
            <a:avLst/>
          </a:prstGeom>
          <a:noFill/>
        </p:spPr>
        <p:txBody>
          <a:bodyPr wrap="square" anchor="t" lIns="36576" rIns="36576" tIns="36576" bIns="36576"/>
          <a:lstStyle/>
          <a:p>
            <a:pPr algn="l">
              <a:spcAft>
                <a:spcPts val="400"/>
              </a:spcAft>
            </a:pPr>
            <a:r>
              <a:rPr sz="1200" b="0" i="1">
                <a:solidFill>
                  <a:srgbClr val="595959"/>
                </a:solidFill>
                <a:latin typeface="Calibri"/>
              </a:rPr>
              <a:t>arXiv 2026</a:t>
            </a:r>
          </a:p>
        </p:txBody>
      </p:sp>
      <p:sp>
        <p:nvSpPr>
          <p:cNvPr id="16" name="TextBox 15"/>
          <p:cNvSpPr txBox="1"/>
          <p:nvPr/>
        </p:nvSpPr>
        <p:spPr>
          <a:xfrm>
            <a:off x="3406140" y="3291840"/>
            <a:ext cx="2331720" cy="1051560"/>
          </a:xfrm>
          <a:prstGeom prst="rect">
            <a:avLst/>
          </a:prstGeom>
          <a:noFill/>
        </p:spPr>
        <p:txBody>
          <a:bodyPr wrap="square" anchor="t" lIns="36576" rIns="36576" tIns="36576" bIns="36576"/>
          <a:lstStyle/>
          <a:p>
            <a:pPr algn="l">
              <a:spcAft>
                <a:spcPts val="400"/>
              </a:spcAft>
            </a:pPr>
            <a:r>
              <a:rPr sz="1300" b="1" i="0">
                <a:solidFill>
                  <a:srgbClr val="31859C"/>
                </a:solidFill>
                <a:latin typeface="Calibri"/>
              </a:rPr>
              <a:t>Why selected: </a:t>
            </a:r>
            <a:r>
              <a:rPr sz="1300" b="0" i="0">
                <a:solidFill>
                  <a:srgbClr val="262626"/>
                </a:solidFill>
                <a:latin typeface="Calibri"/>
              </a:rPr>
              <a:t>Clear taxonomy and evaluation dimensions.</a:t>
            </a:r>
          </a:p>
        </p:txBody>
      </p:sp>
      <p:sp>
        <p:nvSpPr>
          <p:cNvPr id="17" name="TextBox 16"/>
          <p:cNvSpPr txBox="1"/>
          <p:nvPr/>
        </p:nvSpPr>
        <p:spPr>
          <a:xfrm>
            <a:off x="3406140" y="4343400"/>
            <a:ext cx="2331720" cy="960120"/>
          </a:xfrm>
          <a:prstGeom prst="rect">
            <a:avLst/>
          </a:prstGeom>
          <a:noFill/>
        </p:spPr>
        <p:txBody>
          <a:bodyPr wrap="square" anchor="t" lIns="36576" rIns="36576" tIns="36576" bIns="36576"/>
          <a:lstStyle/>
          <a:p>
            <a:pPr algn="l">
              <a:spcAft>
                <a:spcPts val="400"/>
              </a:spcAft>
            </a:pPr>
            <a:r>
              <a:rPr sz="1300" b="1" i="0">
                <a:solidFill>
                  <a:srgbClr val="31859C"/>
                </a:solidFill>
                <a:latin typeface="Calibri"/>
              </a:rPr>
              <a:t>Used for: </a:t>
            </a:r>
            <a:r>
              <a:rPr sz="1300" b="0" i="0">
                <a:solidFill>
                  <a:srgbClr val="262626"/>
                </a:solidFill>
                <a:latin typeface="Calibri"/>
              </a:rPr>
              <a:t>Comparing agent types, failure modes and evaluation.</a:t>
            </a:r>
          </a:p>
        </p:txBody>
      </p:sp>
      <p:sp>
        <p:nvSpPr>
          <p:cNvPr id="18" name="Rounded Rectangle 17"/>
          <p:cNvSpPr/>
          <p:nvPr/>
        </p:nvSpPr>
        <p:spPr>
          <a:xfrm>
            <a:off x="6080760" y="1234440"/>
            <a:ext cx="2606040" cy="4114800"/>
          </a:xfrm>
          <a:prstGeom prst="roundRect">
            <a:avLst>
              <a:gd name="adj" fmla="val 2807"/>
            </a:avLst>
          </a:prstGeom>
          <a:solidFill>
            <a:srgbClr val="F2F6FB"/>
          </a:solidFill>
          <a:ln>
            <a:noFill/>
          </a:ln>
        </p:spPr>
        <p:txBody>
          <a:bodyPr rtlCol="0" anchor="ctr" wrap="square" lIns="54864" rIns="54864" tIns="54864" bIns="54864"/>
          <a:lstStyle/>
          <a:p>
            <a:pPr algn="ctr"/>
          </a:p>
        </p:txBody>
      </p:sp>
      <p:sp>
        <p:nvSpPr>
          <p:cNvPr id="19" name="Rounded Rectangle 18"/>
          <p:cNvSpPr/>
          <p:nvPr/>
        </p:nvSpPr>
        <p:spPr>
          <a:xfrm>
            <a:off x="6080760" y="1234440"/>
            <a:ext cx="2606040" cy="457200"/>
          </a:xfrm>
          <a:prstGeom prst="roundRect">
            <a:avLst>
              <a:gd name="adj" fmla="val 16000"/>
            </a:avLst>
          </a:prstGeom>
          <a:solidFill>
            <a:srgbClr val="31859C"/>
          </a:solidFill>
          <a:ln>
            <a:noFill/>
          </a:ln>
        </p:spPr>
        <p:txBody>
          <a:bodyPr rtlCol="0" anchor="ctr" wrap="square" lIns="54864" rIns="54864" tIns="54864" bIns="54864"/>
          <a:lstStyle/>
          <a:p>
            <a:pPr algn="ctr">
              <a:spcAft>
                <a:spcPts val="0"/>
              </a:spcAft>
            </a:pPr>
            <a:r>
              <a:rPr sz="1300" b="1" i="0">
                <a:solidFill>
                  <a:srgbClr val="FFFFFF"/>
                </a:solidFill>
                <a:latin typeface="Calibri"/>
              </a:rPr>
              <a:t>SUPPORTING</a:t>
            </a:r>
          </a:p>
        </p:txBody>
      </p:sp>
      <p:sp>
        <p:nvSpPr>
          <p:cNvPr id="20" name="TextBox 19"/>
          <p:cNvSpPr txBox="1"/>
          <p:nvPr/>
        </p:nvSpPr>
        <p:spPr>
          <a:xfrm>
            <a:off x="6217920" y="1783080"/>
            <a:ext cx="2331720" cy="1143000"/>
          </a:xfrm>
          <a:prstGeom prst="rect">
            <a:avLst/>
          </a:prstGeom>
          <a:noFill/>
        </p:spPr>
        <p:txBody>
          <a:bodyPr wrap="square" anchor="t" lIns="36576" rIns="36576" tIns="36576" bIns="36576"/>
          <a:lstStyle/>
          <a:p>
            <a:pPr algn="l">
              <a:spcAft>
                <a:spcPts val="400"/>
              </a:spcAft>
            </a:pPr>
            <a:r>
              <a:rPr sz="1400" b="1" i="0">
                <a:solidFill>
                  <a:srgbClr val="1F497D"/>
                </a:solidFill>
                <a:latin typeface="Calibri"/>
              </a:rPr>
              <a:t>[6] MCP and A2A Protocol for Scalable Agentic AI Systems</a:t>
            </a:r>
          </a:p>
        </p:txBody>
      </p:sp>
      <p:sp>
        <p:nvSpPr>
          <p:cNvPr id="21" name="TextBox 20"/>
          <p:cNvSpPr txBox="1"/>
          <p:nvPr/>
        </p:nvSpPr>
        <p:spPr>
          <a:xfrm>
            <a:off x="6217920" y="2926080"/>
            <a:ext cx="2331720" cy="292608"/>
          </a:xfrm>
          <a:prstGeom prst="rect">
            <a:avLst/>
          </a:prstGeom>
          <a:noFill/>
        </p:spPr>
        <p:txBody>
          <a:bodyPr wrap="square" anchor="t" lIns="36576" rIns="36576" tIns="36576" bIns="36576"/>
          <a:lstStyle/>
          <a:p>
            <a:pPr algn="l">
              <a:spcAft>
                <a:spcPts val="400"/>
              </a:spcAft>
            </a:pPr>
            <a:r>
              <a:rPr sz="1200" b="0" i="1">
                <a:solidFill>
                  <a:srgbClr val="595959"/>
                </a:solidFill>
                <a:latin typeface="Calibri"/>
              </a:rPr>
              <a:t>IEEE ICICDS 2026</a:t>
            </a:r>
          </a:p>
        </p:txBody>
      </p:sp>
      <p:sp>
        <p:nvSpPr>
          <p:cNvPr id="22" name="TextBox 21"/>
          <p:cNvSpPr txBox="1"/>
          <p:nvPr/>
        </p:nvSpPr>
        <p:spPr>
          <a:xfrm>
            <a:off x="6217920" y="3291840"/>
            <a:ext cx="2331720" cy="1051560"/>
          </a:xfrm>
          <a:prstGeom prst="rect">
            <a:avLst/>
          </a:prstGeom>
          <a:noFill/>
        </p:spPr>
        <p:txBody>
          <a:bodyPr wrap="square" anchor="t" lIns="36576" rIns="36576" tIns="36576" bIns="36576"/>
          <a:lstStyle/>
          <a:p>
            <a:pPr algn="l">
              <a:spcAft>
                <a:spcPts val="400"/>
              </a:spcAft>
            </a:pPr>
            <a:r>
              <a:rPr sz="1300" b="1" i="0">
                <a:solidFill>
                  <a:srgbClr val="31859C"/>
                </a:solidFill>
                <a:latin typeface="Calibri"/>
              </a:rPr>
              <a:t>Why selected: </a:t>
            </a:r>
            <a:r>
              <a:rPr sz="1300" b="0" i="0">
                <a:solidFill>
                  <a:srgbClr val="262626"/>
                </a:solidFill>
                <a:latin typeface="Calibri"/>
              </a:rPr>
              <a:t>Explains how agents connect to tools and to each other.</a:t>
            </a:r>
          </a:p>
        </p:txBody>
      </p:sp>
      <p:sp>
        <p:nvSpPr>
          <p:cNvPr id="23" name="TextBox 22"/>
          <p:cNvSpPr txBox="1"/>
          <p:nvPr/>
        </p:nvSpPr>
        <p:spPr>
          <a:xfrm>
            <a:off x="6217920" y="4343400"/>
            <a:ext cx="2331720" cy="960120"/>
          </a:xfrm>
          <a:prstGeom prst="rect">
            <a:avLst/>
          </a:prstGeom>
          <a:noFill/>
        </p:spPr>
        <p:txBody>
          <a:bodyPr wrap="square" anchor="t" lIns="36576" rIns="36576" tIns="36576" bIns="36576"/>
          <a:lstStyle/>
          <a:p>
            <a:pPr algn="l">
              <a:spcAft>
                <a:spcPts val="400"/>
              </a:spcAft>
            </a:pPr>
            <a:r>
              <a:rPr sz="1300" b="1" i="0">
                <a:solidFill>
                  <a:srgbClr val="31859C"/>
                </a:solidFill>
                <a:latin typeface="Calibri"/>
              </a:rPr>
              <a:t>Used for: </a:t>
            </a:r>
            <a:r>
              <a:rPr sz="1300" b="0" i="0">
                <a:solidFill>
                  <a:srgbClr val="262626"/>
                </a:solidFill>
                <a:latin typeface="Calibri"/>
              </a:rPr>
              <a:t>Interoperability layer of the architecture.</a:t>
            </a:r>
          </a:p>
        </p:txBody>
      </p:sp>
      <p:sp>
        <p:nvSpPr>
          <p:cNvPr id="24" name="TextBox 23"/>
          <p:cNvSpPr txBox="1"/>
          <p:nvPr/>
        </p:nvSpPr>
        <p:spPr>
          <a:xfrm>
            <a:off x="457200" y="5532120"/>
            <a:ext cx="8229600" cy="640080"/>
          </a:xfrm>
          <a:prstGeom prst="rect">
            <a:avLst/>
          </a:prstGeom>
          <a:noFill/>
        </p:spPr>
        <p:txBody>
          <a:bodyPr wrap="square" anchor="ctr" lIns="36576" rIns="36576" tIns="36576" bIns="36576"/>
          <a:lstStyle/>
          <a:p>
            <a:pPr algn="ctr">
              <a:spcAft>
                <a:spcPts val="400"/>
              </a:spcAft>
            </a:pPr>
            <a:r>
              <a:rPr sz="1400" b="0" i="1">
                <a:solidFill>
                  <a:srgbClr val="595959"/>
                </a:solidFill>
                <a:latin typeface="Calibri"/>
              </a:rPr>
              <a:t>Focused papers [4], [5], [7]–[10] were then used for runtime, memory, security and multi-agent details.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182880"/>
            <a:ext cx="6766560" cy="822960"/>
          </a:xfrm>
        </p:spPr>
        <p:txBody>
          <a:bodyPr wrap="square" anchor="ctr"/>
          <a:lstStyle/>
          <a:p>
            <a:pPr algn="ctr"/>
            <a:r>
              <a:rPr sz="3000">
                <a:solidFill>
                  <a:srgbClr val="000000"/>
                </a:solidFill>
                <a:latin typeface="Times New Roman"/>
              </a:rPr>
              <a:t>System Architecture</a:t>
            </a:r>
            <a:endParaRPr lang="en-IN" dirty="0"/>
          </a:p>
        </p:txBody>
      </p:sp>
      <p:sp>
        <p:nvSpPr>
          <p:cNvPr id="4" name="Slide Number Placeholder 3"/>
          <p:cNvSpPr>
            <a:spLocks noGrp="1"/>
          </p:cNvSpPr>
          <p:nvPr>
            <p:ph type="sldNum" sz="quarter" idx="12"/>
          </p:nvPr>
        </p:nvSpPr>
        <p:spPr/>
        <p:txBody>
          <a:bodyPr/>
          <a:lstStyle/>
          <a:p>
            <a:fld id="{1EC248AB-E565-412B-9D95-9B07D6A4F3F3}" type="slidenum">
              <a:rPr lang="en-GB" smtClean="0"/>
              <a:pPr/>
              <a:t>6</a:t>
            </a:fld>
            <a:endParaRPr lang="en-GB"/>
          </a:p>
        </p:txBody>
      </p:sp>
      <p:pic>
        <p:nvPicPr>
          <p:cNvPr id="5" name="Picture 4" descr="image.jpeg"/>
          <p:cNvPicPr>
            <a:picLocks noChangeAspect="1"/>
          </p:cNvPicPr>
          <p:nvPr/>
        </p:nvPicPr>
        <p:blipFill>
          <a:blip r:embed="rId2"/>
          <a:stretch>
            <a:fillRect/>
          </a:stretch>
        </p:blipFill>
        <p:spPr>
          <a:xfrm>
            <a:off x="164592" y="128016"/>
            <a:ext cx="987552" cy="743789"/>
          </a:xfrm>
          <a:prstGeom prst="rect">
            <a:avLst/>
          </a:prstGeom>
        </p:spPr>
      </p:pic>
      <p:sp>
        <p:nvSpPr>
          <p:cNvPr id="6" name="TextBox 5"/>
          <p:cNvSpPr txBox="1"/>
          <p:nvPr/>
        </p:nvSpPr>
        <p:spPr>
          <a:xfrm>
            <a:off x="457200" y="987552"/>
            <a:ext cx="8229600" cy="320040"/>
          </a:xfrm>
          <a:prstGeom prst="rect">
            <a:avLst/>
          </a:prstGeom>
          <a:noFill/>
        </p:spPr>
        <p:txBody>
          <a:bodyPr wrap="square" anchor="t" lIns="36576" rIns="36576" tIns="36576" bIns="36576"/>
          <a:lstStyle/>
          <a:p>
            <a:pPr algn="ctr">
              <a:spcAft>
                <a:spcPts val="400"/>
              </a:spcAft>
            </a:pPr>
            <a:r>
              <a:rPr sz="1300" b="0" i="1">
                <a:solidFill>
                  <a:srgbClr val="595959"/>
                </a:solidFill>
                <a:latin typeface="Calibri"/>
              </a:rPr>
              <a:t>Hierarchical multi-agent architecture for autonomous task execution [1], [11]</a:t>
            </a:r>
          </a:p>
        </p:txBody>
      </p:sp>
      <p:sp>
        <p:nvSpPr>
          <p:cNvPr id="7" name="Rounded Rectangle 6"/>
          <p:cNvSpPr/>
          <p:nvPr/>
        </p:nvSpPr>
        <p:spPr>
          <a:xfrm>
            <a:off x="274320" y="2240280"/>
            <a:ext cx="1188720" cy="1188720"/>
          </a:xfrm>
          <a:prstGeom prst="roundRect">
            <a:avLst>
              <a:gd name="adj" fmla="val 6153"/>
            </a:avLst>
          </a:prstGeom>
          <a:solidFill>
            <a:srgbClr val="4F81BD"/>
          </a:solidFill>
          <a:ln>
            <a:noFill/>
          </a:ln>
        </p:spPr>
        <p:txBody>
          <a:bodyPr rtlCol="0" anchor="ctr" wrap="square" lIns="54864" rIns="54864" tIns="54864" bIns="54864"/>
          <a:lstStyle/>
          <a:p>
            <a:pPr algn="ctr">
              <a:spcAft>
                <a:spcPts val="0"/>
              </a:spcAft>
            </a:pPr>
            <a:r>
              <a:rPr sz="1400" b="1" i="0">
                <a:solidFill>
                  <a:srgbClr val="FFFFFF"/>
                </a:solidFill>
                <a:latin typeface="Calibri"/>
              </a:rPr>
              <a:t>User Goal</a:t>
            </a:r>
          </a:p>
          <a:p>
            <a:pPr algn="ctr">
              <a:spcAft>
                <a:spcPts val="0"/>
              </a:spcAft>
            </a:pPr>
            <a:r>
              <a:rPr sz="1100" b="0" i="0">
                <a:solidFill>
                  <a:srgbClr val="FFFFFF"/>
                </a:solidFill>
                <a:latin typeface="Calibri"/>
              </a:rPr>
              <a:t>task / objective</a:t>
            </a:r>
          </a:p>
        </p:txBody>
      </p:sp>
      <p:sp>
        <p:nvSpPr>
          <p:cNvPr id="8" name="Rounded Rectangle 7"/>
          <p:cNvSpPr/>
          <p:nvPr/>
        </p:nvSpPr>
        <p:spPr>
          <a:xfrm>
            <a:off x="1645920" y="1417320"/>
            <a:ext cx="1463040" cy="2788920"/>
          </a:xfrm>
          <a:prstGeom prst="roundRect">
            <a:avLst>
              <a:gd name="adj" fmla="val 5000"/>
            </a:avLst>
          </a:prstGeom>
          <a:solidFill>
            <a:srgbClr val="F2F6FB"/>
          </a:solidFill>
          <a:ln w="12700">
            <a:solidFill>
              <a:srgbClr val="4F81BD"/>
            </a:solidFill>
          </a:ln>
        </p:spPr>
        <p:txBody>
          <a:bodyPr rtlCol="0" anchor="ctr" wrap="square" lIns="54864" rIns="54864" tIns="54864" bIns="54864"/>
          <a:lstStyle/>
          <a:p>
            <a:pPr algn="ctr"/>
          </a:p>
        </p:txBody>
      </p:sp>
      <p:sp>
        <p:nvSpPr>
          <p:cNvPr id="9" name="TextBox 8"/>
          <p:cNvSpPr txBox="1"/>
          <p:nvPr/>
        </p:nvSpPr>
        <p:spPr>
          <a:xfrm>
            <a:off x="1645920" y="1444752"/>
            <a:ext cx="1463040" cy="320040"/>
          </a:xfrm>
          <a:prstGeom prst="rect">
            <a:avLst/>
          </a:prstGeom>
          <a:noFill/>
        </p:spPr>
        <p:txBody>
          <a:bodyPr wrap="square" anchor="t" lIns="36576" rIns="36576" tIns="36576" bIns="36576"/>
          <a:lstStyle/>
          <a:p>
            <a:pPr algn="ctr">
              <a:spcAft>
                <a:spcPts val="400"/>
              </a:spcAft>
            </a:pPr>
            <a:r>
              <a:rPr sz="1300" b="1" i="0">
                <a:solidFill>
                  <a:srgbClr val="1F497D"/>
                </a:solidFill>
                <a:latin typeface="Calibri"/>
              </a:rPr>
              <a:t>Planning</a:t>
            </a:r>
          </a:p>
        </p:txBody>
      </p:sp>
      <p:sp>
        <p:nvSpPr>
          <p:cNvPr id="10" name="Rounded Rectangle 9"/>
          <p:cNvSpPr/>
          <p:nvPr/>
        </p:nvSpPr>
        <p:spPr>
          <a:xfrm>
            <a:off x="1755648" y="1828800"/>
            <a:ext cx="1243584" cy="566928"/>
          </a:xfrm>
          <a:prstGeom prst="roundRect">
            <a:avLst>
              <a:gd name="adj" fmla="val 12903"/>
            </a:avLst>
          </a:prstGeom>
          <a:solidFill>
            <a:srgbClr val="FFFFFF"/>
          </a:solidFill>
          <a:ln w="12700">
            <a:solidFill>
              <a:srgbClr val="4F81BD"/>
            </a:solidFill>
          </a:ln>
        </p:spPr>
        <p:txBody>
          <a:bodyPr rtlCol="0" anchor="ctr" wrap="square" lIns="54864" rIns="54864" tIns="54864" bIns="54864"/>
          <a:lstStyle/>
          <a:p>
            <a:pPr algn="ctr">
              <a:spcAft>
                <a:spcPts val="0"/>
              </a:spcAft>
            </a:pPr>
            <a:r>
              <a:rPr sz="1100" b="0" i="0">
                <a:solidFill>
                  <a:srgbClr val="262626"/>
                </a:solidFill>
                <a:latin typeface="Calibri"/>
              </a:rPr>
              <a:t>Understand goal</a:t>
            </a:r>
          </a:p>
        </p:txBody>
      </p:sp>
      <p:cxnSp>
        <p:nvCxnSpPr>
          <p:cNvPr id="11" name="Connector 10"/>
          <p:cNvCxnSpPr/>
          <p:nvPr/>
        </p:nvCxnSpPr>
        <p:spPr>
          <a:xfrm>
            <a:off x="2377440" y="2395728"/>
            <a:ext cx="0" cy="219456"/>
          </a:xfrm>
          <a:prstGeom prst="line">
            <a:avLst/>
          </a:prstGeom>
          <a:ln w="15875">
            <a:solidFill>
              <a:srgbClr val="4F81BD"/>
            </a:solidFill>
            <a:tailEnd type="triangle" w="med" len="med"/>
          </a:ln>
        </p:spPr>
      </p:cxnSp>
      <p:sp>
        <p:nvSpPr>
          <p:cNvPr id="12" name="Rounded Rectangle 11"/>
          <p:cNvSpPr/>
          <p:nvPr/>
        </p:nvSpPr>
        <p:spPr>
          <a:xfrm>
            <a:off x="1755648" y="2615184"/>
            <a:ext cx="1243584" cy="566928"/>
          </a:xfrm>
          <a:prstGeom prst="roundRect">
            <a:avLst>
              <a:gd name="adj" fmla="val 12903"/>
            </a:avLst>
          </a:prstGeom>
          <a:solidFill>
            <a:srgbClr val="FFFFFF"/>
          </a:solidFill>
          <a:ln w="12700">
            <a:solidFill>
              <a:srgbClr val="4F81BD"/>
            </a:solidFill>
          </a:ln>
        </p:spPr>
        <p:txBody>
          <a:bodyPr rtlCol="0" anchor="ctr" wrap="square" lIns="54864" rIns="54864" tIns="54864" bIns="54864"/>
          <a:lstStyle/>
          <a:p>
            <a:pPr algn="ctr">
              <a:spcAft>
                <a:spcPts val="0"/>
              </a:spcAft>
            </a:pPr>
            <a:r>
              <a:rPr sz="1100" b="0" i="0">
                <a:solidFill>
                  <a:srgbClr val="262626"/>
                </a:solidFill>
                <a:latin typeface="Calibri"/>
              </a:rPr>
              <a:t>Decompose into subtasks</a:t>
            </a:r>
          </a:p>
        </p:txBody>
      </p:sp>
      <p:cxnSp>
        <p:nvCxnSpPr>
          <p:cNvPr id="13" name="Connector 12"/>
          <p:cNvCxnSpPr/>
          <p:nvPr/>
        </p:nvCxnSpPr>
        <p:spPr>
          <a:xfrm>
            <a:off x="2377440" y="3182112"/>
            <a:ext cx="0" cy="219456"/>
          </a:xfrm>
          <a:prstGeom prst="line">
            <a:avLst/>
          </a:prstGeom>
          <a:ln w="15875">
            <a:solidFill>
              <a:srgbClr val="4F81BD"/>
            </a:solidFill>
            <a:tailEnd type="triangle" w="med" len="med"/>
          </a:ln>
        </p:spPr>
      </p:cxnSp>
      <p:sp>
        <p:nvSpPr>
          <p:cNvPr id="14" name="Rounded Rectangle 13"/>
          <p:cNvSpPr/>
          <p:nvPr/>
        </p:nvSpPr>
        <p:spPr>
          <a:xfrm>
            <a:off x="1755648" y="3401568"/>
            <a:ext cx="1243584" cy="566928"/>
          </a:xfrm>
          <a:prstGeom prst="roundRect">
            <a:avLst>
              <a:gd name="adj" fmla="val 12903"/>
            </a:avLst>
          </a:prstGeom>
          <a:solidFill>
            <a:srgbClr val="FFFFFF"/>
          </a:solidFill>
          <a:ln w="12700">
            <a:solidFill>
              <a:srgbClr val="4F81BD"/>
            </a:solidFill>
          </a:ln>
        </p:spPr>
        <p:txBody>
          <a:bodyPr rtlCol="0" anchor="ctr" wrap="square" lIns="54864" rIns="54864" tIns="54864" bIns="54864"/>
          <a:lstStyle/>
          <a:p>
            <a:pPr algn="ctr">
              <a:spcAft>
                <a:spcPts val="0"/>
              </a:spcAft>
            </a:pPr>
            <a:r>
              <a:rPr sz="1100" b="0" i="0">
                <a:solidFill>
                  <a:srgbClr val="262626"/>
                </a:solidFill>
                <a:latin typeface="Calibri"/>
              </a:rPr>
              <a:t>Build task graph</a:t>
            </a:r>
          </a:p>
        </p:txBody>
      </p:sp>
      <p:sp>
        <p:nvSpPr>
          <p:cNvPr id="15" name="Rounded Rectangle 14"/>
          <p:cNvSpPr/>
          <p:nvPr/>
        </p:nvSpPr>
        <p:spPr>
          <a:xfrm>
            <a:off x="3291840" y="1417320"/>
            <a:ext cx="3017520" cy="2788920"/>
          </a:xfrm>
          <a:prstGeom prst="roundRect">
            <a:avLst>
              <a:gd name="adj" fmla="val 2622"/>
            </a:avLst>
          </a:prstGeom>
          <a:solidFill>
            <a:srgbClr val="F2F6FB"/>
          </a:solidFill>
          <a:ln w="12700">
            <a:solidFill>
              <a:srgbClr val="4F81BD"/>
            </a:solidFill>
          </a:ln>
        </p:spPr>
        <p:txBody>
          <a:bodyPr rtlCol="0" anchor="ctr" wrap="square" lIns="54864" rIns="54864" tIns="54864" bIns="54864"/>
          <a:lstStyle/>
          <a:p>
            <a:pPr algn="ctr"/>
          </a:p>
        </p:txBody>
      </p:sp>
      <p:sp>
        <p:nvSpPr>
          <p:cNvPr id="16" name="TextBox 15"/>
          <p:cNvSpPr txBox="1"/>
          <p:nvPr/>
        </p:nvSpPr>
        <p:spPr>
          <a:xfrm>
            <a:off x="3291840" y="1444752"/>
            <a:ext cx="3017520" cy="320040"/>
          </a:xfrm>
          <a:prstGeom prst="rect">
            <a:avLst/>
          </a:prstGeom>
          <a:noFill/>
        </p:spPr>
        <p:txBody>
          <a:bodyPr wrap="square" anchor="t" lIns="36576" rIns="36576" tIns="36576" bIns="36576"/>
          <a:lstStyle/>
          <a:p>
            <a:pPr algn="ctr">
              <a:spcAft>
                <a:spcPts val="400"/>
              </a:spcAft>
            </a:pPr>
            <a:r>
              <a:rPr sz="1300" b="1" i="0">
                <a:solidFill>
                  <a:srgbClr val="1F497D"/>
                </a:solidFill>
                <a:latin typeface="Calibri"/>
              </a:rPr>
              <a:t>Multi-Agent System</a:t>
            </a:r>
          </a:p>
        </p:txBody>
      </p:sp>
      <p:sp>
        <p:nvSpPr>
          <p:cNvPr id="17" name="Rounded Rectangle 16"/>
          <p:cNvSpPr/>
          <p:nvPr/>
        </p:nvSpPr>
        <p:spPr>
          <a:xfrm>
            <a:off x="3429000" y="1810512"/>
            <a:ext cx="2743200" cy="640080"/>
          </a:xfrm>
          <a:prstGeom prst="roundRect">
            <a:avLst>
              <a:gd name="adj" fmla="val 11428"/>
            </a:avLst>
          </a:prstGeom>
          <a:solidFill>
            <a:srgbClr val="1F497D"/>
          </a:solidFill>
          <a:ln>
            <a:noFill/>
          </a:ln>
        </p:spPr>
        <p:txBody>
          <a:bodyPr rtlCol="0" anchor="ctr" wrap="square" lIns="54864" rIns="54864" tIns="54864" bIns="54864"/>
          <a:lstStyle/>
          <a:p>
            <a:pPr algn="ctr">
              <a:spcAft>
                <a:spcPts val="0"/>
              </a:spcAft>
            </a:pPr>
            <a:r>
              <a:rPr sz="1100" b="1" i="0">
                <a:solidFill>
                  <a:srgbClr val="FFFFFF"/>
                </a:solidFill>
                <a:latin typeface="Calibri"/>
              </a:rPr>
              <a:t>Manager / Orchestrator Agent</a:t>
            </a:r>
          </a:p>
          <a:p>
            <a:pPr algn="ctr">
              <a:spcAft>
                <a:spcPts val="0"/>
              </a:spcAft>
            </a:pPr>
            <a:r>
              <a:rPr sz="1100" b="0" i="0">
                <a:solidFill>
                  <a:srgbClr val="FFFFFF"/>
                </a:solidFill>
                <a:latin typeface="Calibri"/>
              </a:rPr>
              <a:t>assigns · monitors · replans</a:t>
            </a:r>
          </a:p>
        </p:txBody>
      </p:sp>
      <p:sp>
        <p:nvSpPr>
          <p:cNvPr id="18" name="Rounded Rectangle 17"/>
          <p:cNvSpPr/>
          <p:nvPr/>
        </p:nvSpPr>
        <p:spPr>
          <a:xfrm>
            <a:off x="3429000" y="2788920"/>
            <a:ext cx="1325880" cy="530352"/>
          </a:xfrm>
          <a:prstGeom prst="roundRect">
            <a:avLst>
              <a:gd name="adj" fmla="val 13793"/>
            </a:avLst>
          </a:prstGeom>
          <a:solidFill>
            <a:srgbClr val="FFFFFF"/>
          </a:solidFill>
          <a:ln w="15875">
            <a:solidFill>
              <a:srgbClr val="31859C"/>
            </a:solidFill>
          </a:ln>
        </p:spPr>
        <p:txBody>
          <a:bodyPr rtlCol="0" anchor="ctr" wrap="square" lIns="54864" rIns="54864" tIns="54864" bIns="54864"/>
          <a:lstStyle/>
          <a:p>
            <a:pPr algn="ctr">
              <a:spcAft>
                <a:spcPts val="0"/>
              </a:spcAft>
            </a:pPr>
            <a:r>
              <a:rPr sz="1100" b="1" i="0">
                <a:solidFill>
                  <a:srgbClr val="31859C"/>
                </a:solidFill>
                <a:latin typeface="Calibri"/>
              </a:rPr>
              <a:t>Research Agent</a:t>
            </a:r>
          </a:p>
        </p:txBody>
      </p:sp>
      <p:sp>
        <p:nvSpPr>
          <p:cNvPr id="19" name="Rounded Rectangle 18"/>
          <p:cNvSpPr/>
          <p:nvPr/>
        </p:nvSpPr>
        <p:spPr>
          <a:xfrm>
            <a:off x="4846320" y="2788920"/>
            <a:ext cx="1325880" cy="530352"/>
          </a:xfrm>
          <a:prstGeom prst="roundRect">
            <a:avLst>
              <a:gd name="adj" fmla="val 13793"/>
            </a:avLst>
          </a:prstGeom>
          <a:solidFill>
            <a:srgbClr val="FFFFFF"/>
          </a:solidFill>
          <a:ln w="15875">
            <a:solidFill>
              <a:srgbClr val="31859C"/>
            </a:solidFill>
          </a:ln>
        </p:spPr>
        <p:txBody>
          <a:bodyPr rtlCol="0" anchor="ctr" wrap="square" lIns="54864" rIns="54864" tIns="54864" bIns="54864"/>
          <a:lstStyle/>
          <a:p>
            <a:pPr algn="ctr">
              <a:spcAft>
                <a:spcPts val="0"/>
              </a:spcAft>
            </a:pPr>
            <a:r>
              <a:rPr sz="1100" b="1" i="0">
                <a:solidFill>
                  <a:srgbClr val="31859C"/>
                </a:solidFill>
                <a:latin typeface="Calibri"/>
              </a:rPr>
              <a:t>Coding Agent</a:t>
            </a:r>
          </a:p>
        </p:txBody>
      </p:sp>
      <p:sp>
        <p:nvSpPr>
          <p:cNvPr id="20" name="Rounded Rectangle 19"/>
          <p:cNvSpPr/>
          <p:nvPr/>
        </p:nvSpPr>
        <p:spPr>
          <a:xfrm>
            <a:off x="3429000" y="3447287"/>
            <a:ext cx="1325880" cy="530352"/>
          </a:xfrm>
          <a:prstGeom prst="roundRect">
            <a:avLst>
              <a:gd name="adj" fmla="val 13793"/>
            </a:avLst>
          </a:prstGeom>
          <a:solidFill>
            <a:srgbClr val="FFFFFF"/>
          </a:solidFill>
          <a:ln w="15875">
            <a:solidFill>
              <a:srgbClr val="31859C"/>
            </a:solidFill>
          </a:ln>
        </p:spPr>
        <p:txBody>
          <a:bodyPr rtlCol="0" anchor="ctr" wrap="square" lIns="54864" rIns="54864" tIns="54864" bIns="54864"/>
          <a:lstStyle/>
          <a:p>
            <a:pPr algn="ctr">
              <a:spcAft>
                <a:spcPts val="0"/>
              </a:spcAft>
            </a:pPr>
            <a:r>
              <a:rPr sz="1100" b="1" i="0">
                <a:solidFill>
                  <a:srgbClr val="31859C"/>
                </a:solidFill>
                <a:latin typeface="Calibri"/>
              </a:rPr>
              <a:t>Testing Agent</a:t>
            </a:r>
          </a:p>
        </p:txBody>
      </p:sp>
      <p:sp>
        <p:nvSpPr>
          <p:cNvPr id="21" name="Rounded Rectangle 20"/>
          <p:cNvSpPr/>
          <p:nvPr/>
        </p:nvSpPr>
        <p:spPr>
          <a:xfrm>
            <a:off x="4846320" y="3447287"/>
            <a:ext cx="1325880" cy="530352"/>
          </a:xfrm>
          <a:prstGeom prst="roundRect">
            <a:avLst>
              <a:gd name="adj" fmla="val 13793"/>
            </a:avLst>
          </a:prstGeom>
          <a:solidFill>
            <a:srgbClr val="FFFFFF"/>
          </a:solidFill>
          <a:ln w="15875">
            <a:solidFill>
              <a:srgbClr val="31859C"/>
            </a:solidFill>
          </a:ln>
        </p:spPr>
        <p:txBody>
          <a:bodyPr rtlCol="0" anchor="ctr" wrap="square" lIns="54864" rIns="54864" tIns="54864" bIns="54864"/>
          <a:lstStyle/>
          <a:p>
            <a:pPr algn="ctr">
              <a:spcAft>
                <a:spcPts val="0"/>
              </a:spcAft>
            </a:pPr>
            <a:r>
              <a:rPr sz="1100" b="1" i="0">
                <a:solidFill>
                  <a:srgbClr val="31859C"/>
                </a:solidFill>
                <a:latin typeface="Calibri"/>
              </a:rPr>
              <a:t>Critique Agent</a:t>
            </a:r>
          </a:p>
        </p:txBody>
      </p:sp>
      <p:cxnSp>
        <p:nvCxnSpPr>
          <p:cNvPr id="22" name="Connector 21"/>
          <p:cNvCxnSpPr/>
          <p:nvPr/>
        </p:nvCxnSpPr>
        <p:spPr>
          <a:xfrm>
            <a:off x="4800600" y="2450592"/>
            <a:ext cx="0" cy="182880"/>
          </a:xfrm>
          <a:prstGeom prst="line">
            <a:avLst/>
          </a:prstGeom>
          <a:ln w="15875">
            <a:solidFill>
              <a:srgbClr val="1F497D"/>
            </a:solidFill>
          </a:ln>
        </p:spPr>
      </p:cxnSp>
      <p:cxnSp>
        <p:nvCxnSpPr>
          <p:cNvPr id="23" name="Connector 22"/>
          <p:cNvCxnSpPr/>
          <p:nvPr/>
        </p:nvCxnSpPr>
        <p:spPr>
          <a:xfrm>
            <a:off x="4087368" y="2633472"/>
            <a:ext cx="1426464" cy="0"/>
          </a:xfrm>
          <a:prstGeom prst="line">
            <a:avLst/>
          </a:prstGeom>
          <a:ln w="15875">
            <a:solidFill>
              <a:srgbClr val="1F497D"/>
            </a:solidFill>
          </a:ln>
        </p:spPr>
      </p:cxnSp>
      <p:cxnSp>
        <p:nvCxnSpPr>
          <p:cNvPr id="24" name="Connector 23"/>
          <p:cNvCxnSpPr/>
          <p:nvPr/>
        </p:nvCxnSpPr>
        <p:spPr>
          <a:xfrm>
            <a:off x="4087368" y="2633472"/>
            <a:ext cx="0" cy="155448"/>
          </a:xfrm>
          <a:prstGeom prst="line">
            <a:avLst/>
          </a:prstGeom>
          <a:ln w="15875">
            <a:solidFill>
              <a:srgbClr val="1F497D"/>
            </a:solidFill>
            <a:tailEnd type="triangle" w="med" len="med"/>
          </a:ln>
        </p:spPr>
      </p:cxnSp>
      <p:cxnSp>
        <p:nvCxnSpPr>
          <p:cNvPr id="25" name="Connector 24"/>
          <p:cNvCxnSpPr/>
          <p:nvPr/>
        </p:nvCxnSpPr>
        <p:spPr>
          <a:xfrm>
            <a:off x="5513832" y="2633472"/>
            <a:ext cx="0" cy="155448"/>
          </a:xfrm>
          <a:prstGeom prst="line">
            <a:avLst/>
          </a:prstGeom>
          <a:ln w="15875">
            <a:solidFill>
              <a:srgbClr val="1F497D"/>
            </a:solidFill>
            <a:tailEnd type="triangle" w="med" len="med"/>
          </a:ln>
        </p:spPr>
      </p:cxnSp>
      <p:sp>
        <p:nvSpPr>
          <p:cNvPr id="26" name="Rounded Rectangle 25"/>
          <p:cNvSpPr/>
          <p:nvPr/>
        </p:nvSpPr>
        <p:spPr>
          <a:xfrm>
            <a:off x="6492240" y="1417320"/>
            <a:ext cx="1188720" cy="2788920"/>
          </a:xfrm>
          <a:prstGeom prst="roundRect">
            <a:avLst>
              <a:gd name="adj" fmla="val 6153"/>
            </a:avLst>
          </a:prstGeom>
          <a:solidFill>
            <a:srgbClr val="F2F6FB"/>
          </a:solidFill>
          <a:ln w="12700">
            <a:solidFill>
              <a:srgbClr val="4F81BD"/>
            </a:solidFill>
          </a:ln>
        </p:spPr>
        <p:txBody>
          <a:bodyPr rtlCol="0" anchor="ctr" wrap="square" lIns="54864" rIns="54864" tIns="54864" bIns="54864"/>
          <a:lstStyle/>
          <a:p>
            <a:pPr algn="ctr"/>
          </a:p>
        </p:txBody>
      </p:sp>
      <p:sp>
        <p:nvSpPr>
          <p:cNvPr id="27" name="TextBox 26"/>
          <p:cNvSpPr txBox="1"/>
          <p:nvPr/>
        </p:nvSpPr>
        <p:spPr>
          <a:xfrm>
            <a:off x="6492240" y="1444752"/>
            <a:ext cx="1188720" cy="502920"/>
          </a:xfrm>
          <a:prstGeom prst="rect">
            <a:avLst/>
          </a:prstGeom>
          <a:noFill/>
        </p:spPr>
        <p:txBody>
          <a:bodyPr wrap="square" anchor="t" lIns="36576" rIns="36576" tIns="36576" bIns="36576"/>
          <a:lstStyle/>
          <a:p>
            <a:pPr algn="ctr">
              <a:spcAft>
                <a:spcPts val="400"/>
              </a:spcAft>
            </a:pPr>
            <a:r>
              <a:rPr sz="1200" b="1" i="0">
                <a:solidFill>
                  <a:srgbClr val="1F497D"/>
                </a:solidFill>
                <a:latin typeface="Calibri"/>
              </a:rPr>
              <a:t>Tools &amp; Environment</a:t>
            </a:r>
          </a:p>
        </p:txBody>
      </p:sp>
      <p:pic>
        <p:nvPicPr>
          <p:cNvPr id="28" name="Picture 27" descr="search_n.png"/>
          <p:cNvPicPr>
            <a:picLocks noChangeAspect="1"/>
          </p:cNvPicPr>
          <p:nvPr/>
        </p:nvPicPr>
        <p:blipFill>
          <a:blip r:embed="rId3"/>
          <a:stretch>
            <a:fillRect/>
          </a:stretch>
        </p:blipFill>
        <p:spPr>
          <a:xfrm>
            <a:off x="6583680" y="2066544"/>
            <a:ext cx="274320" cy="274320"/>
          </a:xfrm>
          <a:prstGeom prst="rect">
            <a:avLst/>
          </a:prstGeom>
        </p:spPr>
      </p:pic>
      <p:sp>
        <p:nvSpPr>
          <p:cNvPr id="29" name="TextBox 28"/>
          <p:cNvSpPr txBox="1"/>
          <p:nvPr/>
        </p:nvSpPr>
        <p:spPr>
          <a:xfrm>
            <a:off x="6903720" y="2011680"/>
            <a:ext cx="777240" cy="384048"/>
          </a:xfrm>
          <a:prstGeom prst="rect">
            <a:avLst/>
          </a:prstGeom>
          <a:noFill/>
        </p:spPr>
        <p:txBody>
          <a:bodyPr wrap="square" anchor="ctr" lIns="36576" rIns="36576" tIns="36576" bIns="36576"/>
          <a:lstStyle/>
          <a:p>
            <a:pPr algn="l">
              <a:spcAft>
                <a:spcPts val="400"/>
              </a:spcAft>
            </a:pPr>
            <a:r>
              <a:rPr sz="1100" b="0" i="0">
                <a:solidFill>
                  <a:srgbClr val="262626"/>
                </a:solidFill>
                <a:latin typeface="Calibri"/>
              </a:rPr>
              <a:t>Web search</a:t>
            </a:r>
          </a:p>
        </p:txBody>
      </p:sp>
      <p:pic>
        <p:nvPicPr>
          <p:cNvPr id="30" name="Picture 29" descr="terminal_n.png"/>
          <p:cNvPicPr>
            <a:picLocks noChangeAspect="1"/>
          </p:cNvPicPr>
          <p:nvPr/>
        </p:nvPicPr>
        <p:blipFill>
          <a:blip r:embed="rId4"/>
          <a:stretch>
            <a:fillRect/>
          </a:stretch>
        </p:blipFill>
        <p:spPr>
          <a:xfrm>
            <a:off x="6583680" y="2596896"/>
            <a:ext cx="274320" cy="274320"/>
          </a:xfrm>
          <a:prstGeom prst="rect">
            <a:avLst/>
          </a:prstGeom>
        </p:spPr>
      </p:pic>
      <p:sp>
        <p:nvSpPr>
          <p:cNvPr id="31" name="TextBox 30"/>
          <p:cNvSpPr txBox="1"/>
          <p:nvPr/>
        </p:nvSpPr>
        <p:spPr>
          <a:xfrm>
            <a:off x="6903720" y="2542032"/>
            <a:ext cx="777240" cy="384048"/>
          </a:xfrm>
          <a:prstGeom prst="rect">
            <a:avLst/>
          </a:prstGeom>
          <a:noFill/>
        </p:spPr>
        <p:txBody>
          <a:bodyPr wrap="square" anchor="ctr" lIns="36576" rIns="36576" tIns="36576" bIns="36576"/>
          <a:lstStyle/>
          <a:p>
            <a:pPr algn="l">
              <a:spcAft>
                <a:spcPts val="400"/>
              </a:spcAft>
            </a:pPr>
            <a:r>
              <a:rPr sz="1100" b="0" i="0">
                <a:solidFill>
                  <a:srgbClr val="262626"/>
                </a:solidFill>
                <a:latin typeface="Calibri"/>
              </a:rPr>
              <a:t>Code exec</a:t>
            </a:r>
          </a:p>
        </p:txBody>
      </p:sp>
      <p:pic>
        <p:nvPicPr>
          <p:cNvPr id="32" name="Picture 31" descr="db_n.png"/>
          <p:cNvPicPr>
            <a:picLocks noChangeAspect="1"/>
          </p:cNvPicPr>
          <p:nvPr/>
        </p:nvPicPr>
        <p:blipFill>
          <a:blip r:embed="rId5"/>
          <a:stretch>
            <a:fillRect/>
          </a:stretch>
        </p:blipFill>
        <p:spPr>
          <a:xfrm>
            <a:off x="6583680" y="3127248"/>
            <a:ext cx="274320" cy="274320"/>
          </a:xfrm>
          <a:prstGeom prst="rect">
            <a:avLst/>
          </a:prstGeom>
        </p:spPr>
      </p:pic>
      <p:sp>
        <p:nvSpPr>
          <p:cNvPr id="33" name="TextBox 32"/>
          <p:cNvSpPr txBox="1"/>
          <p:nvPr/>
        </p:nvSpPr>
        <p:spPr>
          <a:xfrm>
            <a:off x="6903720" y="3072384"/>
            <a:ext cx="777240" cy="384048"/>
          </a:xfrm>
          <a:prstGeom prst="rect">
            <a:avLst/>
          </a:prstGeom>
          <a:noFill/>
        </p:spPr>
        <p:txBody>
          <a:bodyPr wrap="square" anchor="ctr" lIns="36576" rIns="36576" tIns="36576" bIns="36576"/>
          <a:lstStyle/>
          <a:p>
            <a:pPr algn="l">
              <a:spcAft>
                <a:spcPts val="400"/>
              </a:spcAft>
            </a:pPr>
            <a:r>
              <a:rPr sz="1100" b="0" i="0">
                <a:solidFill>
                  <a:srgbClr val="262626"/>
                </a:solidFill>
                <a:latin typeface="Calibri"/>
              </a:rPr>
              <a:t>APIs / DB</a:t>
            </a:r>
          </a:p>
        </p:txBody>
      </p:sp>
      <p:pic>
        <p:nvPicPr>
          <p:cNvPr id="34" name="Picture 33" descr="file_n.png"/>
          <p:cNvPicPr>
            <a:picLocks noChangeAspect="1"/>
          </p:cNvPicPr>
          <p:nvPr/>
        </p:nvPicPr>
        <p:blipFill>
          <a:blip r:embed="rId6"/>
          <a:stretch>
            <a:fillRect/>
          </a:stretch>
        </p:blipFill>
        <p:spPr>
          <a:xfrm>
            <a:off x="6583680" y="3657600"/>
            <a:ext cx="274320" cy="274320"/>
          </a:xfrm>
          <a:prstGeom prst="rect">
            <a:avLst/>
          </a:prstGeom>
        </p:spPr>
      </p:pic>
      <p:sp>
        <p:nvSpPr>
          <p:cNvPr id="35" name="TextBox 34"/>
          <p:cNvSpPr txBox="1"/>
          <p:nvPr/>
        </p:nvSpPr>
        <p:spPr>
          <a:xfrm>
            <a:off x="6903720" y="3602736"/>
            <a:ext cx="777240" cy="384048"/>
          </a:xfrm>
          <a:prstGeom prst="rect">
            <a:avLst/>
          </a:prstGeom>
          <a:noFill/>
        </p:spPr>
        <p:txBody>
          <a:bodyPr wrap="square" anchor="ctr" lIns="36576" rIns="36576" tIns="36576" bIns="36576"/>
          <a:lstStyle/>
          <a:p>
            <a:pPr algn="l">
              <a:spcAft>
                <a:spcPts val="400"/>
              </a:spcAft>
            </a:pPr>
            <a:r>
              <a:rPr sz="1100" b="0" i="0">
                <a:solidFill>
                  <a:srgbClr val="262626"/>
                </a:solidFill>
                <a:latin typeface="Calibri"/>
              </a:rPr>
              <a:t>Files</a:t>
            </a:r>
          </a:p>
        </p:txBody>
      </p:sp>
      <p:sp>
        <p:nvSpPr>
          <p:cNvPr id="36" name="Rounded Rectangle 35"/>
          <p:cNvSpPr/>
          <p:nvPr/>
        </p:nvSpPr>
        <p:spPr>
          <a:xfrm>
            <a:off x="7863840" y="2240280"/>
            <a:ext cx="1005840" cy="1188720"/>
          </a:xfrm>
          <a:prstGeom prst="roundRect">
            <a:avLst>
              <a:gd name="adj" fmla="val 7272"/>
            </a:avLst>
          </a:prstGeom>
          <a:solidFill>
            <a:srgbClr val="31859C"/>
          </a:solidFill>
          <a:ln>
            <a:noFill/>
          </a:ln>
        </p:spPr>
        <p:txBody>
          <a:bodyPr rtlCol="0" anchor="ctr" wrap="square" lIns="54864" rIns="54864" tIns="54864" bIns="54864"/>
          <a:lstStyle/>
          <a:p>
            <a:pPr algn="ctr">
              <a:spcAft>
                <a:spcPts val="0"/>
              </a:spcAft>
            </a:pPr>
            <a:r>
              <a:rPr sz="1300" b="1" i="0">
                <a:solidFill>
                  <a:srgbClr val="FFFFFF"/>
                </a:solidFill>
                <a:latin typeface="Calibri"/>
              </a:rPr>
              <a:t>Output</a:t>
            </a:r>
          </a:p>
          <a:p>
            <a:pPr algn="ctr">
              <a:spcAft>
                <a:spcPts val="0"/>
              </a:spcAft>
            </a:pPr>
            <a:r>
              <a:rPr sz="1100" b="0" i="0">
                <a:solidFill>
                  <a:srgbClr val="FFFFFF"/>
                </a:solidFill>
                <a:latin typeface="Calibri"/>
              </a:rPr>
              <a:t>answer / artifacts</a:t>
            </a:r>
          </a:p>
        </p:txBody>
      </p:sp>
      <p:cxnSp>
        <p:nvCxnSpPr>
          <p:cNvPr id="37" name="Connector 36"/>
          <p:cNvCxnSpPr/>
          <p:nvPr/>
        </p:nvCxnSpPr>
        <p:spPr>
          <a:xfrm>
            <a:off x="1463040" y="2834640"/>
            <a:ext cx="182880" cy="0"/>
          </a:xfrm>
          <a:prstGeom prst="line">
            <a:avLst/>
          </a:prstGeom>
          <a:ln w="25400">
            <a:solidFill>
              <a:srgbClr val="595959"/>
            </a:solidFill>
            <a:tailEnd type="triangle" w="med" len="med"/>
          </a:ln>
        </p:spPr>
      </p:cxnSp>
      <p:cxnSp>
        <p:nvCxnSpPr>
          <p:cNvPr id="38" name="Connector 37"/>
          <p:cNvCxnSpPr/>
          <p:nvPr/>
        </p:nvCxnSpPr>
        <p:spPr>
          <a:xfrm>
            <a:off x="3108960" y="2834640"/>
            <a:ext cx="182880" cy="0"/>
          </a:xfrm>
          <a:prstGeom prst="line">
            <a:avLst/>
          </a:prstGeom>
          <a:ln w="25400">
            <a:solidFill>
              <a:srgbClr val="595959"/>
            </a:solidFill>
            <a:tailEnd type="triangle" w="med" len="med"/>
          </a:ln>
        </p:spPr>
      </p:cxnSp>
      <p:cxnSp>
        <p:nvCxnSpPr>
          <p:cNvPr id="39" name="Connector 38"/>
          <p:cNvCxnSpPr/>
          <p:nvPr/>
        </p:nvCxnSpPr>
        <p:spPr>
          <a:xfrm>
            <a:off x="6309360" y="2834640"/>
            <a:ext cx="182880" cy="0"/>
          </a:xfrm>
          <a:prstGeom prst="line">
            <a:avLst/>
          </a:prstGeom>
          <a:ln w="25400">
            <a:solidFill>
              <a:srgbClr val="595959"/>
            </a:solidFill>
            <a:headEnd type="triangle" w="med" len="med"/>
            <a:tailEnd type="triangle" w="med" len="med"/>
          </a:ln>
        </p:spPr>
      </p:cxnSp>
      <p:cxnSp>
        <p:nvCxnSpPr>
          <p:cNvPr id="40" name="Connector 39"/>
          <p:cNvCxnSpPr/>
          <p:nvPr/>
        </p:nvCxnSpPr>
        <p:spPr>
          <a:xfrm>
            <a:off x="7680960" y="2834640"/>
            <a:ext cx="182880" cy="0"/>
          </a:xfrm>
          <a:prstGeom prst="line">
            <a:avLst/>
          </a:prstGeom>
          <a:ln w="25400">
            <a:solidFill>
              <a:srgbClr val="595959"/>
            </a:solidFill>
            <a:tailEnd type="triangle" w="med" len="med"/>
          </a:ln>
        </p:spPr>
      </p:cxnSp>
      <p:sp>
        <p:nvSpPr>
          <p:cNvPr id="41" name="Rounded Rectangle 40"/>
          <p:cNvSpPr/>
          <p:nvPr/>
        </p:nvSpPr>
        <p:spPr>
          <a:xfrm>
            <a:off x="1645920" y="4434840"/>
            <a:ext cx="6035040" cy="914400"/>
          </a:xfrm>
          <a:prstGeom prst="roundRect">
            <a:avLst>
              <a:gd name="adj" fmla="val 8000"/>
            </a:avLst>
          </a:prstGeom>
          <a:solidFill>
            <a:srgbClr val="DCE6F2"/>
          </a:solidFill>
          <a:ln w="12700">
            <a:solidFill>
              <a:srgbClr val="4F81BD"/>
            </a:solidFill>
          </a:ln>
        </p:spPr>
        <p:txBody>
          <a:bodyPr rtlCol="0" anchor="ctr" wrap="square" lIns="54864" rIns="54864" tIns="54864" bIns="54864"/>
          <a:lstStyle/>
          <a:p>
            <a:pPr algn="ctr"/>
          </a:p>
        </p:txBody>
      </p:sp>
      <p:sp>
        <p:nvSpPr>
          <p:cNvPr id="42" name="TextBox 41"/>
          <p:cNvSpPr txBox="1"/>
          <p:nvPr/>
        </p:nvSpPr>
        <p:spPr>
          <a:xfrm>
            <a:off x="1691640" y="4453128"/>
            <a:ext cx="1188720" cy="868680"/>
          </a:xfrm>
          <a:prstGeom prst="rect">
            <a:avLst/>
          </a:prstGeom>
          <a:noFill/>
        </p:spPr>
        <p:txBody>
          <a:bodyPr wrap="square" anchor="ctr" lIns="36576" rIns="36576" tIns="36576" bIns="36576"/>
          <a:lstStyle/>
          <a:p>
            <a:pPr algn="ctr">
              <a:spcAft>
                <a:spcPts val="400"/>
              </a:spcAft>
            </a:pPr>
            <a:r>
              <a:rPr sz="1300" b="1" i="0">
                <a:solidFill>
                  <a:srgbClr val="1F497D"/>
                </a:solidFill>
                <a:latin typeface="Calibri"/>
              </a:rPr>
              <a:t>Memory Layer</a:t>
            </a:r>
          </a:p>
        </p:txBody>
      </p:sp>
      <p:sp>
        <p:nvSpPr>
          <p:cNvPr id="43" name="Rounded Rectangle 42"/>
          <p:cNvSpPr/>
          <p:nvPr/>
        </p:nvSpPr>
        <p:spPr>
          <a:xfrm>
            <a:off x="2926080" y="4553712"/>
            <a:ext cx="1481328" cy="676656"/>
          </a:xfrm>
          <a:prstGeom prst="roundRect">
            <a:avLst>
              <a:gd name="adj" fmla="val 10810"/>
            </a:avLst>
          </a:prstGeom>
          <a:solidFill>
            <a:srgbClr val="FFFFFF"/>
          </a:solidFill>
          <a:ln w="12700">
            <a:solidFill>
              <a:srgbClr val="4F81BD"/>
            </a:solidFill>
          </a:ln>
        </p:spPr>
        <p:txBody>
          <a:bodyPr rtlCol="0" anchor="ctr" wrap="square" lIns="54864" rIns="54864" tIns="54864" bIns="54864"/>
          <a:lstStyle/>
          <a:p>
            <a:pPr algn="ctr">
              <a:spcAft>
                <a:spcPts val="0"/>
              </a:spcAft>
            </a:pPr>
            <a:r>
              <a:rPr sz="1100" b="1" i="0">
                <a:solidFill>
                  <a:srgbClr val="262626"/>
                </a:solidFill>
                <a:latin typeface="Calibri"/>
              </a:rPr>
              <a:t>Short-term</a:t>
            </a:r>
          </a:p>
          <a:p>
            <a:pPr algn="ctr">
              <a:spcAft>
                <a:spcPts val="0"/>
              </a:spcAft>
            </a:pPr>
            <a:r>
              <a:rPr sz="1100" b="0" i="0">
                <a:solidFill>
                  <a:srgbClr val="262626"/>
                </a:solidFill>
                <a:latin typeface="Calibri"/>
              </a:rPr>
              <a:t>conversation, recent steps</a:t>
            </a:r>
          </a:p>
        </p:txBody>
      </p:sp>
      <p:sp>
        <p:nvSpPr>
          <p:cNvPr id="44" name="Rounded Rectangle 43"/>
          <p:cNvSpPr/>
          <p:nvPr/>
        </p:nvSpPr>
        <p:spPr>
          <a:xfrm>
            <a:off x="4526280" y="4553712"/>
            <a:ext cx="1481328" cy="676656"/>
          </a:xfrm>
          <a:prstGeom prst="roundRect">
            <a:avLst>
              <a:gd name="adj" fmla="val 10810"/>
            </a:avLst>
          </a:prstGeom>
          <a:solidFill>
            <a:srgbClr val="FFFFFF"/>
          </a:solidFill>
          <a:ln w="12700">
            <a:solidFill>
              <a:srgbClr val="4F81BD"/>
            </a:solidFill>
          </a:ln>
        </p:spPr>
        <p:txBody>
          <a:bodyPr rtlCol="0" anchor="ctr" wrap="square" lIns="54864" rIns="54864" tIns="54864" bIns="54864"/>
          <a:lstStyle/>
          <a:p>
            <a:pPr algn="ctr">
              <a:spcAft>
                <a:spcPts val="0"/>
              </a:spcAft>
            </a:pPr>
            <a:r>
              <a:rPr sz="1100" b="1" i="0">
                <a:solidFill>
                  <a:srgbClr val="262626"/>
                </a:solidFill>
                <a:latin typeface="Calibri"/>
              </a:rPr>
              <a:t>Long-term</a:t>
            </a:r>
          </a:p>
          <a:p>
            <a:pPr algn="ctr">
              <a:spcAft>
                <a:spcPts val="0"/>
              </a:spcAft>
            </a:pPr>
            <a:r>
              <a:rPr sz="1100" b="0" i="0">
                <a:solidFill>
                  <a:srgbClr val="262626"/>
                </a:solidFill>
                <a:latin typeface="Calibri"/>
              </a:rPr>
              <a:t>vector store, external DB</a:t>
            </a:r>
          </a:p>
        </p:txBody>
      </p:sp>
      <p:sp>
        <p:nvSpPr>
          <p:cNvPr id="45" name="Rounded Rectangle 44"/>
          <p:cNvSpPr/>
          <p:nvPr/>
        </p:nvSpPr>
        <p:spPr>
          <a:xfrm>
            <a:off x="6126480" y="4553712"/>
            <a:ext cx="1481328" cy="676656"/>
          </a:xfrm>
          <a:prstGeom prst="roundRect">
            <a:avLst>
              <a:gd name="adj" fmla="val 10810"/>
            </a:avLst>
          </a:prstGeom>
          <a:solidFill>
            <a:srgbClr val="FFFFFF"/>
          </a:solidFill>
          <a:ln w="12700">
            <a:solidFill>
              <a:srgbClr val="4F81BD"/>
            </a:solidFill>
          </a:ln>
        </p:spPr>
        <p:txBody>
          <a:bodyPr rtlCol="0" anchor="ctr" wrap="square" lIns="54864" rIns="54864" tIns="54864" bIns="54864"/>
          <a:lstStyle/>
          <a:p>
            <a:pPr algn="ctr">
              <a:spcAft>
                <a:spcPts val="0"/>
              </a:spcAft>
            </a:pPr>
            <a:r>
              <a:rPr sz="1100" b="1" i="0">
                <a:solidFill>
                  <a:srgbClr val="262626"/>
                </a:solidFill>
                <a:latin typeface="Calibri"/>
              </a:rPr>
              <a:t>Shared</a:t>
            </a:r>
          </a:p>
          <a:p>
            <a:pPr algn="ctr">
              <a:spcAft>
                <a:spcPts val="0"/>
              </a:spcAft>
            </a:pPr>
            <a:r>
              <a:rPr sz="1100" b="0" i="0">
                <a:solidFill>
                  <a:srgbClr val="262626"/>
                </a:solidFill>
                <a:latin typeface="Calibri"/>
              </a:rPr>
              <a:t>multi-agent context</a:t>
            </a:r>
          </a:p>
        </p:txBody>
      </p:sp>
      <p:cxnSp>
        <p:nvCxnSpPr>
          <p:cNvPr id="46" name="Connector 45"/>
          <p:cNvCxnSpPr/>
          <p:nvPr/>
        </p:nvCxnSpPr>
        <p:spPr>
          <a:xfrm>
            <a:off x="4800600" y="4206240"/>
            <a:ext cx="0" cy="228600"/>
          </a:xfrm>
          <a:prstGeom prst="line">
            <a:avLst/>
          </a:prstGeom>
          <a:ln w="25400">
            <a:solidFill>
              <a:srgbClr val="1F497D"/>
            </a:solidFill>
            <a:headEnd type="triangle" w="med" len="med"/>
            <a:tailEnd type="triangle" w="med" len="med"/>
          </a:ln>
        </p:spPr>
      </p:cxnSp>
      <p:sp>
        <p:nvSpPr>
          <p:cNvPr id="47" name="Rounded Rectangle 46"/>
          <p:cNvSpPr/>
          <p:nvPr/>
        </p:nvSpPr>
        <p:spPr>
          <a:xfrm>
            <a:off x="1645920" y="5577840"/>
            <a:ext cx="6035040" cy="502920"/>
          </a:xfrm>
          <a:prstGeom prst="roundRect">
            <a:avLst>
              <a:gd name="adj" fmla="val 14545"/>
            </a:avLst>
          </a:prstGeom>
          <a:solidFill>
            <a:srgbClr val="E46C0A"/>
          </a:solidFill>
          <a:ln>
            <a:noFill/>
          </a:ln>
        </p:spPr>
        <p:txBody>
          <a:bodyPr rtlCol="0" anchor="ctr" wrap="square" lIns="54864" rIns="54864" tIns="54864" bIns="54864"/>
          <a:lstStyle/>
          <a:p>
            <a:pPr algn="ctr">
              <a:spcAft>
                <a:spcPts val="0"/>
              </a:spcAft>
            </a:pPr>
            <a:r>
              <a:rPr sz="1400" b="1" i="0">
                <a:solidFill>
                  <a:srgbClr val="FFFFFF"/>
                </a:solidFill>
                <a:latin typeface="Calibri"/>
              </a:rPr>
              <a:t>Feedback · Verification · Replanning</a:t>
            </a:r>
          </a:p>
        </p:txBody>
      </p:sp>
      <p:cxnSp>
        <p:nvCxnSpPr>
          <p:cNvPr id="48" name="Connector 47"/>
          <p:cNvCxnSpPr/>
          <p:nvPr/>
        </p:nvCxnSpPr>
        <p:spPr>
          <a:xfrm>
            <a:off x="8366760" y="3429000"/>
            <a:ext cx="0" cy="2395728"/>
          </a:xfrm>
          <a:prstGeom prst="line">
            <a:avLst/>
          </a:prstGeom>
          <a:ln w="25400">
            <a:solidFill>
              <a:srgbClr val="E46C0A"/>
            </a:solidFill>
          </a:ln>
        </p:spPr>
      </p:cxnSp>
      <p:cxnSp>
        <p:nvCxnSpPr>
          <p:cNvPr id="49" name="Connector 48"/>
          <p:cNvCxnSpPr/>
          <p:nvPr/>
        </p:nvCxnSpPr>
        <p:spPr>
          <a:xfrm flipH="1">
            <a:off x="7680960" y="5824728"/>
            <a:ext cx="685800" cy="0"/>
          </a:xfrm>
          <a:prstGeom prst="line">
            <a:avLst/>
          </a:prstGeom>
          <a:ln w="25400">
            <a:solidFill>
              <a:srgbClr val="E46C0A"/>
            </a:solidFill>
            <a:tailEnd type="triangle" w="med" len="med"/>
          </a:ln>
        </p:spPr>
      </p:cxnSp>
      <p:cxnSp>
        <p:nvCxnSpPr>
          <p:cNvPr id="50" name="Connector 49"/>
          <p:cNvCxnSpPr/>
          <p:nvPr/>
        </p:nvCxnSpPr>
        <p:spPr>
          <a:xfrm flipH="1">
            <a:off x="868680" y="5824728"/>
            <a:ext cx="777240" cy="0"/>
          </a:xfrm>
          <a:prstGeom prst="line">
            <a:avLst/>
          </a:prstGeom>
          <a:ln w="25400">
            <a:solidFill>
              <a:srgbClr val="E46C0A"/>
            </a:solidFill>
          </a:ln>
        </p:spPr>
      </p:cxnSp>
      <p:cxnSp>
        <p:nvCxnSpPr>
          <p:cNvPr id="51" name="Connector 50"/>
          <p:cNvCxnSpPr/>
          <p:nvPr/>
        </p:nvCxnSpPr>
        <p:spPr>
          <a:xfrm flipV="1">
            <a:off x="868680" y="3429000"/>
            <a:ext cx="0" cy="2395728"/>
          </a:xfrm>
          <a:prstGeom prst="line">
            <a:avLst/>
          </a:prstGeom>
          <a:ln w="25400">
            <a:solidFill>
              <a:srgbClr val="E46C0A"/>
            </a:solidFill>
            <a:tailEnd type="triangle" w="med" len="med"/>
          </a:ln>
        </p:spPr>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182880"/>
            <a:ext cx="6766560" cy="822960"/>
          </a:xfrm>
        </p:spPr>
        <p:txBody>
          <a:bodyPr wrap="square" anchor="ctr"/>
          <a:lstStyle/>
          <a:p>
            <a:pPr algn="ctr"/>
            <a:r>
              <a:rPr sz="2600">
                <a:solidFill>
                  <a:srgbClr val="000000"/>
                </a:solidFill>
                <a:latin typeface="Times New Roman"/>
              </a:rPr>
              <a:t>Algorithm 1: ReAct Reasoning–Acting Loop</a:t>
            </a:r>
            <a:endParaRPr lang="en-IN" dirty="0"/>
          </a:p>
        </p:txBody>
      </p:sp>
      <p:sp>
        <p:nvSpPr>
          <p:cNvPr id="4" name="Slide Number Placeholder 3"/>
          <p:cNvSpPr>
            <a:spLocks noGrp="1"/>
          </p:cNvSpPr>
          <p:nvPr>
            <p:ph type="sldNum" sz="quarter" idx="12"/>
          </p:nvPr>
        </p:nvSpPr>
        <p:spPr/>
        <p:txBody>
          <a:bodyPr/>
          <a:lstStyle/>
          <a:p>
            <a:fld id="{1EC248AB-E565-412B-9D95-9B07D6A4F3F3}" type="slidenum">
              <a:rPr lang="en-GB" smtClean="0"/>
              <a:pPr/>
              <a:t>6</a:t>
            </a:fld>
            <a:endParaRPr lang="en-GB"/>
          </a:p>
        </p:txBody>
      </p:sp>
      <p:pic>
        <p:nvPicPr>
          <p:cNvPr id="5" name="Picture 4" descr="image.jpeg"/>
          <p:cNvPicPr>
            <a:picLocks noChangeAspect="1"/>
          </p:cNvPicPr>
          <p:nvPr/>
        </p:nvPicPr>
        <p:blipFill>
          <a:blip r:embed="rId2"/>
          <a:stretch>
            <a:fillRect/>
          </a:stretch>
        </p:blipFill>
        <p:spPr>
          <a:xfrm>
            <a:off x="164592" y="128016"/>
            <a:ext cx="987552" cy="743789"/>
          </a:xfrm>
          <a:prstGeom prst="rect">
            <a:avLst/>
          </a:prstGeom>
        </p:spPr>
      </p:pic>
      <p:sp>
        <p:nvSpPr>
          <p:cNvPr id="6" name="TextBox 5"/>
          <p:cNvSpPr txBox="1"/>
          <p:nvPr/>
        </p:nvSpPr>
        <p:spPr>
          <a:xfrm>
            <a:off x="457200" y="987552"/>
            <a:ext cx="8229600" cy="320040"/>
          </a:xfrm>
          <a:prstGeom prst="rect">
            <a:avLst/>
          </a:prstGeom>
          <a:noFill/>
        </p:spPr>
        <p:txBody>
          <a:bodyPr wrap="square" anchor="t" lIns="36576" rIns="36576" tIns="36576" bIns="36576"/>
          <a:lstStyle/>
          <a:p>
            <a:pPr algn="ctr">
              <a:spcAft>
                <a:spcPts val="400"/>
              </a:spcAft>
            </a:pPr>
            <a:r>
              <a:rPr sz="1300" b="0" i="1">
                <a:solidFill>
                  <a:srgbClr val="595959"/>
                </a:solidFill>
                <a:latin typeface="Calibri"/>
              </a:rPr>
              <a:t>Interleaves reasoning (Thought) with actions (tool calls) and observations [12]</a:t>
            </a:r>
          </a:p>
        </p:txBody>
      </p:sp>
      <p:sp>
        <p:nvSpPr>
          <p:cNvPr id="7" name="Oval 6"/>
          <p:cNvSpPr/>
          <p:nvPr/>
        </p:nvSpPr>
        <p:spPr>
          <a:xfrm>
            <a:off x="1965960" y="3200400"/>
            <a:ext cx="1097280" cy="822960"/>
          </a:xfrm>
          <a:prstGeom prst="ellipse">
            <a:avLst/>
          </a:prstGeom>
          <a:solidFill>
            <a:srgbClr val="DCE6F2"/>
          </a:solidFill>
          <a:ln>
            <a:noFill/>
          </a:ln>
        </p:spPr>
        <p:txBody>
          <a:bodyPr rtlCol="0" anchor="ctr" wrap="square" lIns="54864" rIns="54864" tIns="54864" bIns="54864"/>
          <a:lstStyle/>
          <a:p>
            <a:pPr algn="ctr">
              <a:spcAft>
                <a:spcPts val="0"/>
              </a:spcAft>
            </a:pPr>
            <a:r>
              <a:rPr sz="1200" b="1" i="0">
                <a:solidFill>
                  <a:srgbClr val="1F497D"/>
                </a:solidFill>
                <a:latin typeface="Calibri"/>
              </a:rPr>
              <a:t>Goal G</a:t>
            </a:r>
          </a:p>
          <a:p>
            <a:pPr algn="ctr">
              <a:spcAft>
                <a:spcPts val="0"/>
              </a:spcAft>
            </a:pPr>
            <a:r>
              <a:rPr sz="1200" b="0" i="0">
                <a:solidFill>
                  <a:srgbClr val="1F497D"/>
                </a:solidFill>
                <a:latin typeface="Calibri"/>
              </a:rPr>
              <a:t>history H</a:t>
            </a:r>
          </a:p>
        </p:txBody>
      </p:sp>
      <p:sp>
        <p:nvSpPr>
          <p:cNvPr id="8" name="Rounded Rectangle 7"/>
          <p:cNvSpPr/>
          <p:nvPr/>
        </p:nvSpPr>
        <p:spPr>
          <a:xfrm>
            <a:off x="1801368" y="1828800"/>
            <a:ext cx="1426464" cy="731520"/>
          </a:xfrm>
          <a:prstGeom prst="roundRect">
            <a:avLst>
              <a:gd name="adj" fmla="val 10000"/>
            </a:avLst>
          </a:prstGeom>
          <a:solidFill>
            <a:srgbClr val="1F497D"/>
          </a:solidFill>
          <a:ln>
            <a:noFill/>
          </a:ln>
        </p:spPr>
        <p:txBody>
          <a:bodyPr rtlCol="0" anchor="ctr" wrap="square" lIns="54864" rIns="54864" tIns="54864" bIns="54864"/>
          <a:lstStyle/>
          <a:p>
            <a:pPr algn="ctr">
              <a:spcAft>
                <a:spcPts val="0"/>
              </a:spcAft>
            </a:pPr>
            <a:r>
              <a:rPr sz="1400" b="1" i="0">
                <a:solidFill>
                  <a:srgbClr val="FFFFFF"/>
                </a:solidFill>
                <a:latin typeface="Calibri"/>
              </a:rPr>
              <a:t>Thought</a:t>
            </a:r>
          </a:p>
          <a:p>
            <a:pPr algn="ctr">
              <a:spcAft>
                <a:spcPts val="0"/>
              </a:spcAft>
            </a:pPr>
            <a:r>
              <a:rPr sz="1100" b="0" i="0">
                <a:solidFill>
                  <a:srgbClr val="FFFFFF"/>
                </a:solidFill>
                <a:latin typeface="Calibri"/>
              </a:rPr>
              <a:t>reason about next step</a:t>
            </a:r>
          </a:p>
        </p:txBody>
      </p:sp>
      <p:sp>
        <p:nvSpPr>
          <p:cNvPr id="9" name="Rounded Rectangle 8"/>
          <p:cNvSpPr/>
          <p:nvPr/>
        </p:nvSpPr>
        <p:spPr>
          <a:xfrm>
            <a:off x="3310128" y="3246120"/>
            <a:ext cx="1426464" cy="731520"/>
          </a:xfrm>
          <a:prstGeom prst="roundRect">
            <a:avLst>
              <a:gd name="adj" fmla="val 10000"/>
            </a:avLst>
          </a:prstGeom>
          <a:solidFill>
            <a:srgbClr val="4F81BD"/>
          </a:solidFill>
          <a:ln>
            <a:noFill/>
          </a:ln>
        </p:spPr>
        <p:txBody>
          <a:bodyPr rtlCol="0" anchor="ctr" wrap="square" lIns="54864" rIns="54864" tIns="54864" bIns="54864"/>
          <a:lstStyle/>
          <a:p>
            <a:pPr algn="ctr">
              <a:spcAft>
                <a:spcPts val="0"/>
              </a:spcAft>
            </a:pPr>
            <a:r>
              <a:rPr sz="1400" b="1" i="0">
                <a:solidFill>
                  <a:srgbClr val="FFFFFF"/>
                </a:solidFill>
                <a:latin typeface="Calibri"/>
              </a:rPr>
              <a:t>Action</a:t>
            </a:r>
          </a:p>
          <a:p>
            <a:pPr algn="ctr">
              <a:spcAft>
                <a:spcPts val="0"/>
              </a:spcAft>
            </a:pPr>
            <a:r>
              <a:rPr sz="1100" b="0" i="0">
                <a:solidFill>
                  <a:srgbClr val="FFFFFF"/>
                </a:solidFill>
                <a:latin typeface="Calibri"/>
              </a:rPr>
              <a:t>call a tool</a:t>
            </a:r>
          </a:p>
        </p:txBody>
      </p:sp>
      <p:sp>
        <p:nvSpPr>
          <p:cNvPr id="10" name="Rounded Rectangle 9"/>
          <p:cNvSpPr/>
          <p:nvPr/>
        </p:nvSpPr>
        <p:spPr>
          <a:xfrm>
            <a:off x="1801368" y="4663440"/>
            <a:ext cx="1426464" cy="731520"/>
          </a:xfrm>
          <a:prstGeom prst="roundRect">
            <a:avLst>
              <a:gd name="adj" fmla="val 10000"/>
            </a:avLst>
          </a:prstGeom>
          <a:solidFill>
            <a:srgbClr val="31859C"/>
          </a:solidFill>
          <a:ln>
            <a:noFill/>
          </a:ln>
        </p:spPr>
        <p:txBody>
          <a:bodyPr rtlCol="0" anchor="ctr" wrap="square" lIns="54864" rIns="54864" tIns="54864" bIns="54864"/>
          <a:lstStyle/>
          <a:p>
            <a:pPr algn="ctr">
              <a:spcAft>
                <a:spcPts val="0"/>
              </a:spcAft>
            </a:pPr>
            <a:r>
              <a:rPr sz="1400" b="1" i="0">
                <a:solidFill>
                  <a:srgbClr val="FFFFFF"/>
                </a:solidFill>
                <a:latin typeface="Calibri"/>
              </a:rPr>
              <a:t>Observation</a:t>
            </a:r>
          </a:p>
          <a:p>
            <a:pPr algn="ctr">
              <a:spcAft>
                <a:spcPts val="0"/>
              </a:spcAft>
            </a:pPr>
            <a:r>
              <a:rPr sz="1100" b="0" i="0">
                <a:solidFill>
                  <a:srgbClr val="FFFFFF"/>
                </a:solidFill>
                <a:latin typeface="Calibri"/>
              </a:rPr>
              <a:t>read tool result</a:t>
            </a:r>
          </a:p>
        </p:txBody>
      </p:sp>
      <p:sp>
        <p:nvSpPr>
          <p:cNvPr id="11" name="Rounded Rectangle 10"/>
          <p:cNvSpPr/>
          <p:nvPr/>
        </p:nvSpPr>
        <p:spPr>
          <a:xfrm>
            <a:off x="292608" y="3246120"/>
            <a:ext cx="1426464" cy="731520"/>
          </a:xfrm>
          <a:prstGeom prst="roundRect">
            <a:avLst>
              <a:gd name="adj" fmla="val 10000"/>
            </a:avLst>
          </a:prstGeom>
          <a:solidFill>
            <a:srgbClr val="E46C0A"/>
          </a:solidFill>
          <a:ln>
            <a:noFill/>
          </a:ln>
        </p:spPr>
        <p:txBody>
          <a:bodyPr rtlCol="0" anchor="ctr" wrap="square" lIns="54864" rIns="54864" tIns="54864" bIns="54864"/>
          <a:lstStyle/>
          <a:p>
            <a:pPr algn="ctr">
              <a:spcAft>
                <a:spcPts val="0"/>
              </a:spcAft>
            </a:pPr>
            <a:r>
              <a:rPr sz="1400" b="1" i="0">
                <a:solidFill>
                  <a:srgbClr val="FFFFFF"/>
                </a:solidFill>
                <a:latin typeface="Calibri"/>
              </a:rPr>
              <a:t>Update</a:t>
            </a:r>
          </a:p>
          <a:p>
            <a:pPr algn="ctr">
              <a:spcAft>
                <a:spcPts val="0"/>
              </a:spcAft>
            </a:pPr>
            <a:r>
              <a:rPr sz="1100" b="0" i="0">
                <a:solidFill>
                  <a:srgbClr val="FFFFFF"/>
                </a:solidFill>
                <a:latin typeface="Calibri"/>
              </a:rPr>
              <a:t>add (r, a, o) to H</a:t>
            </a:r>
          </a:p>
        </p:txBody>
      </p:sp>
      <p:cxnSp>
        <p:nvCxnSpPr>
          <p:cNvPr id="12" name="Connector 11"/>
          <p:cNvCxnSpPr/>
          <p:nvPr/>
        </p:nvCxnSpPr>
        <p:spPr>
          <a:xfrm>
            <a:off x="3227832" y="2286000"/>
            <a:ext cx="612648" cy="960120"/>
          </a:xfrm>
          <a:prstGeom prst="line">
            <a:avLst/>
          </a:prstGeom>
          <a:ln w="25400">
            <a:solidFill>
              <a:srgbClr val="595959"/>
            </a:solidFill>
            <a:tailEnd type="triangle" w="med" len="med"/>
          </a:ln>
        </p:spPr>
      </p:cxnSp>
      <p:cxnSp>
        <p:nvCxnSpPr>
          <p:cNvPr id="13" name="Connector 12"/>
          <p:cNvCxnSpPr/>
          <p:nvPr/>
        </p:nvCxnSpPr>
        <p:spPr>
          <a:xfrm flipH="1">
            <a:off x="3227832" y="3977640"/>
            <a:ext cx="612648" cy="960120"/>
          </a:xfrm>
          <a:prstGeom prst="line">
            <a:avLst/>
          </a:prstGeom>
          <a:ln w="25400">
            <a:solidFill>
              <a:srgbClr val="595959"/>
            </a:solidFill>
            <a:tailEnd type="triangle" w="med" len="med"/>
          </a:ln>
        </p:spPr>
      </p:cxnSp>
      <p:cxnSp>
        <p:nvCxnSpPr>
          <p:cNvPr id="14" name="Connector 13"/>
          <p:cNvCxnSpPr/>
          <p:nvPr/>
        </p:nvCxnSpPr>
        <p:spPr>
          <a:xfrm flipH="1" flipV="1">
            <a:off x="1188720" y="3977640"/>
            <a:ext cx="612648" cy="960120"/>
          </a:xfrm>
          <a:prstGeom prst="line">
            <a:avLst/>
          </a:prstGeom>
          <a:ln w="25400">
            <a:solidFill>
              <a:srgbClr val="595959"/>
            </a:solidFill>
            <a:tailEnd type="triangle" w="med" len="med"/>
          </a:ln>
        </p:spPr>
      </p:cxnSp>
      <p:cxnSp>
        <p:nvCxnSpPr>
          <p:cNvPr id="15" name="Connector 14"/>
          <p:cNvCxnSpPr/>
          <p:nvPr/>
        </p:nvCxnSpPr>
        <p:spPr>
          <a:xfrm flipV="1">
            <a:off x="1188720" y="2286000"/>
            <a:ext cx="612648" cy="960120"/>
          </a:xfrm>
          <a:prstGeom prst="line">
            <a:avLst/>
          </a:prstGeom>
          <a:ln w="25400">
            <a:solidFill>
              <a:srgbClr val="595959"/>
            </a:solidFill>
            <a:tailEnd type="triangle" w="med" len="med"/>
          </a:ln>
        </p:spPr>
      </p:cxnSp>
      <p:sp>
        <p:nvSpPr>
          <p:cNvPr id="16" name="Rounded Rectangle 15"/>
          <p:cNvSpPr/>
          <p:nvPr/>
        </p:nvSpPr>
        <p:spPr>
          <a:xfrm>
            <a:off x="4846320" y="1417320"/>
            <a:ext cx="3977639" cy="3246120"/>
          </a:xfrm>
          <a:prstGeom prst="roundRect">
            <a:avLst>
              <a:gd name="adj" fmla="val 1690"/>
            </a:avLst>
          </a:prstGeom>
          <a:solidFill>
            <a:srgbClr val="F2F2F2"/>
          </a:solidFill>
          <a:ln w="9525">
            <a:solidFill>
              <a:srgbClr val="BFBFBF"/>
            </a:solidFill>
          </a:ln>
        </p:spPr>
        <p:txBody>
          <a:bodyPr rtlCol="0" anchor="ctr" wrap="square" lIns="54864" rIns="54864" tIns="54864" bIns="54864"/>
          <a:lstStyle/>
          <a:p>
            <a:pPr algn="ctr"/>
          </a:p>
        </p:txBody>
      </p:sp>
      <p:sp>
        <p:nvSpPr>
          <p:cNvPr id="17" name="TextBox 16"/>
          <p:cNvSpPr txBox="1"/>
          <p:nvPr/>
        </p:nvSpPr>
        <p:spPr>
          <a:xfrm>
            <a:off x="4956048" y="1490472"/>
            <a:ext cx="3758183" cy="292608"/>
          </a:xfrm>
          <a:prstGeom prst="rect">
            <a:avLst/>
          </a:prstGeom>
          <a:noFill/>
        </p:spPr>
        <p:txBody>
          <a:bodyPr wrap="square" anchor="t" lIns="36576" rIns="36576" tIns="36576" bIns="36576"/>
          <a:lstStyle/>
          <a:p>
            <a:pPr algn="l">
              <a:spcAft>
                <a:spcPts val="400"/>
              </a:spcAft>
            </a:pPr>
            <a:r>
              <a:rPr sz="1300" b="1" i="0">
                <a:solidFill>
                  <a:srgbClr val="1F497D"/>
                </a:solidFill>
                <a:latin typeface="Calibri"/>
              </a:rPr>
              <a:t>Pseudocode</a:t>
            </a:r>
          </a:p>
        </p:txBody>
      </p:sp>
      <p:sp>
        <p:nvSpPr>
          <p:cNvPr id="18" name="TextBox 17"/>
          <p:cNvSpPr txBox="1"/>
          <p:nvPr/>
        </p:nvSpPr>
        <p:spPr>
          <a:xfrm>
            <a:off x="4937759" y="1819656"/>
            <a:ext cx="3794759" cy="2798063"/>
          </a:xfrm>
          <a:prstGeom prst="rect">
            <a:avLst/>
          </a:prstGeom>
          <a:noFill/>
        </p:spPr>
        <p:txBody>
          <a:bodyPr wrap="square" anchor="t" lIns="36576" rIns="36576" tIns="36576" bIns="36576"/>
          <a:lstStyle/>
          <a:p>
            <a:pPr algn="l">
              <a:spcAft>
                <a:spcPts val="100"/>
              </a:spcAft>
            </a:pPr>
            <a:r>
              <a:rPr sz="1200" b="0" i="0">
                <a:solidFill>
                  <a:srgbClr val="7F7F7F"/>
                </a:solidFill>
                <a:latin typeface="Courier New"/>
              </a:rPr>
              <a:t> 1  </a:t>
            </a:r>
            <a:r>
              <a:rPr sz="1200" b="0" i="0">
                <a:solidFill>
                  <a:srgbClr val="262626"/>
                </a:solidFill>
                <a:latin typeface="Courier New"/>
              </a:rPr>
              <a:t>Input: goal G, environment E</a:t>
            </a:r>
          </a:p>
          <a:p>
            <a:pPr algn="l">
              <a:spcAft>
                <a:spcPts val="100"/>
              </a:spcAft>
            </a:pPr>
            <a:r>
              <a:rPr sz="1200" b="0" i="0">
                <a:solidFill>
                  <a:srgbClr val="7F7F7F"/>
                </a:solidFill>
                <a:latin typeface="Courier New"/>
              </a:rPr>
              <a:t> 2  </a:t>
            </a:r>
            <a:r>
              <a:rPr sz="1200" b="0" i="0">
                <a:solidFill>
                  <a:srgbClr val="262626"/>
                </a:solidFill>
                <a:latin typeface="Courier New"/>
              </a:rPr>
              <a:t>H ← ∅                  # history</a:t>
            </a:r>
          </a:p>
          <a:p>
            <a:pPr algn="l">
              <a:spcAft>
                <a:spcPts val="100"/>
              </a:spcAft>
            </a:pPr>
            <a:r>
              <a:rPr sz="1200" b="0" i="0">
                <a:solidFill>
                  <a:srgbClr val="7F7F7F"/>
                </a:solidFill>
                <a:latin typeface="Courier New"/>
              </a:rPr>
              <a:t> 3  </a:t>
            </a:r>
            <a:r>
              <a:rPr sz="1200" b="0" i="0">
                <a:solidFill>
                  <a:srgbClr val="262626"/>
                </a:solidFill>
                <a:latin typeface="Courier New"/>
              </a:rPr>
              <a:t>while not Done(G) do</a:t>
            </a:r>
          </a:p>
          <a:p>
            <a:pPr algn="l">
              <a:spcAft>
                <a:spcPts val="100"/>
              </a:spcAft>
            </a:pPr>
            <a:r>
              <a:rPr sz="1200" b="0" i="0">
                <a:solidFill>
                  <a:srgbClr val="7F7F7F"/>
                </a:solidFill>
                <a:latin typeface="Courier New"/>
              </a:rPr>
              <a:t> 4  </a:t>
            </a:r>
            <a:r>
              <a:rPr sz="1200" b="0" i="0">
                <a:solidFill>
                  <a:srgbClr val="262626"/>
                </a:solidFill>
                <a:latin typeface="Courier New"/>
              </a:rPr>
              <a:t>  r ← LLM_Reason(G, H)  # Thought</a:t>
            </a:r>
          </a:p>
          <a:p>
            <a:pPr algn="l">
              <a:spcAft>
                <a:spcPts val="100"/>
              </a:spcAft>
            </a:pPr>
            <a:r>
              <a:rPr sz="1200" b="0" i="0">
                <a:solidFill>
                  <a:srgbClr val="7F7F7F"/>
                </a:solidFill>
                <a:latin typeface="Courier New"/>
              </a:rPr>
              <a:t> 5  </a:t>
            </a:r>
            <a:r>
              <a:rPr sz="1200" b="0" i="0">
                <a:solidFill>
                  <a:srgbClr val="262626"/>
                </a:solidFill>
                <a:latin typeface="Courier New"/>
              </a:rPr>
              <a:t>  a ← Select_Tool(r)    # Action</a:t>
            </a:r>
          </a:p>
          <a:p>
            <a:pPr algn="l">
              <a:spcAft>
                <a:spcPts val="100"/>
              </a:spcAft>
            </a:pPr>
            <a:r>
              <a:rPr sz="1200" b="0" i="0">
                <a:solidFill>
                  <a:srgbClr val="7F7F7F"/>
                </a:solidFill>
                <a:latin typeface="Courier New"/>
              </a:rPr>
              <a:t> 6  </a:t>
            </a:r>
            <a:r>
              <a:rPr sz="1200" b="0" i="0">
                <a:solidFill>
                  <a:srgbClr val="262626"/>
                </a:solidFill>
                <a:latin typeface="Courier New"/>
              </a:rPr>
              <a:t>  o ← Execute(a, E)     # Observe</a:t>
            </a:r>
          </a:p>
          <a:p>
            <a:pPr algn="l">
              <a:spcAft>
                <a:spcPts val="100"/>
              </a:spcAft>
            </a:pPr>
            <a:r>
              <a:rPr sz="1200" b="0" i="0">
                <a:solidFill>
                  <a:srgbClr val="7F7F7F"/>
                </a:solidFill>
                <a:latin typeface="Courier New"/>
              </a:rPr>
              <a:t> 7  </a:t>
            </a:r>
            <a:r>
              <a:rPr sz="1200" b="0" i="0">
                <a:solidFill>
                  <a:srgbClr val="262626"/>
                </a:solidFill>
                <a:latin typeface="Courier New"/>
              </a:rPr>
              <a:t>  H ← H ∪ {(r, a, o)}</a:t>
            </a:r>
          </a:p>
          <a:p>
            <a:pPr algn="l">
              <a:spcAft>
                <a:spcPts val="100"/>
              </a:spcAft>
            </a:pPr>
            <a:r>
              <a:rPr sz="1200" b="0" i="0">
                <a:solidFill>
                  <a:srgbClr val="7F7F7F"/>
                </a:solidFill>
                <a:latin typeface="Courier New"/>
              </a:rPr>
              <a:t> 8  </a:t>
            </a:r>
            <a:r>
              <a:rPr sz="1200" b="0" i="0">
                <a:solidFill>
                  <a:srgbClr val="262626"/>
                </a:solidFill>
                <a:latin typeface="Courier New"/>
              </a:rPr>
              <a:t>  if Need_Replan(o):</a:t>
            </a:r>
          </a:p>
          <a:p>
            <a:pPr algn="l">
              <a:spcAft>
                <a:spcPts val="100"/>
              </a:spcAft>
            </a:pPr>
            <a:r>
              <a:rPr sz="1200" b="0" i="0">
                <a:solidFill>
                  <a:srgbClr val="7F7F7F"/>
                </a:solidFill>
                <a:latin typeface="Courier New"/>
              </a:rPr>
              <a:t> 9  </a:t>
            </a:r>
            <a:r>
              <a:rPr sz="1200" b="0" i="0">
                <a:solidFill>
                  <a:srgbClr val="262626"/>
                </a:solidFill>
                <a:latin typeface="Courier New"/>
              </a:rPr>
              <a:t>      G ← Update(G, o)</a:t>
            </a:r>
          </a:p>
          <a:p>
            <a:pPr algn="l">
              <a:spcAft>
                <a:spcPts val="100"/>
              </a:spcAft>
            </a:pPr>
            <a:r>
              <a:rPr sz="1200" b="0" i="0">
                <a:solidFill>
                  <a:srgbClr val="7F7F7F"/>
                </a:solidFill>
                <a:latin typeface="Courier New"/>
              </a:rPr>
              <a:t>10  </a:t>
            </a:r>
            <a:r>
              <a:rPr sz="1200" b="0" i="0">
                <a:solidFill>
                  <a:srgbClr val="262626"/>
                </a:solidFill>
                <a:latin typeface="Courier New"/>
              </a:rPr>
              <a:t>return FinalAnswer(G, H)</a:t>
            </a:r>
          </a:p>
        </p:txBody>
      </p:sp>
      <p:sp>
        <p:nvSpPr>
          <p:cNvPr id="19" name="Rounded Rectangle 18"/>
          <p:cNvSpPr/>
          <p:nvPr/>
        </p:nvSpPr>
        <p:spPr>
          <a:xfrm>
            <a:off x="4846320" y="4846320"/>
            <a:ext cx="3977639" cy="1325880"/>
          </a:xfrm>
          <a:prstGeom prst="roundRect">
            <a:avLst>
              <a:gd name="adj" fmla="val 5517"/>
            </a:avLst>
          </a:prstGeom>
          <a:solidFill>
            <a:srgbClr val="F2F6FB"/>
          </a:solidFill>
          <a:ln>
            <a:noFill/>
          </a:ln>
        </p:spPr>
        <p:txBody>
          <a:bodyPr rtlCol="0" anchor="ctr" wrap="square" lIns="109728" rIns="109728" tIns="109728" bIns="109728"/>
          <a:lstStyle/>
          <a:p>
            <a:pPr algn="l">
              <a:spcAft>
                <a:spcPts val="300"/>
              </a:spcAft>
            </a:pPr>
            <a:r>
              <a:rPr sz="1300" b="1" i="0">
                <a:solidFill>
                  <a:srgbClr val="1F497D"/>
                </a:solidFill>
                <a:latin typeface="Calibri"/>
              </a:rPr>
              <a:t>Example: </a:t>
            </a:r>
            <a:r>
              <a:rPr sz="1300" b="0" i="1">
                <a:solidFill>
                  <a:srgbClr val="262626"/>
                </a:solidFill>
                <a:latin typeface="Calibri"/>
              </a:rPr>
              <a:t>“What is the weather in Wardha?”</a:t>
            </a:r>
          </a:p>
          <a:p>
            <a:pPr algn="l">
              <a:spcAft>
                <a:spcPts val="300"/>
              </a:spcAft>
            </a:pPr>
            <a:r>
              <a:rPr sz="1300" b="0" i="0">
                <a:solidFill>
                  <a:srgbClr val="262626"/>
                </a:solidFill>
                <a:latin typeface="Calibri"/>
              </a:rPr>
              <a:t>Thought: needs live data → Action: weather_api("Wardha") → Observation: 31 °C, clear → Answer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182880"/>
            <a:ext cx="6766560" cy="822960"/>
          </a:xfrm>
        </p:spPr>
        <p:txBody>
          <a:bodyPr wrap="square" anchor="ctr"/>
          <a:lstStyle/>
          <a:p>
            <a:pPr algn="ctr"/>
            <a:r>
              <a:rPr sz="2600">
                <a:solidFill>
                  <a:srgbClr val="000000"/>
                </a:solidFill>
                <a:latin typeface="Times New Roman"/>
              </a:rPr>
              <a:t>Algorithm 2: Planning &amp; Coordination</a:t>
            </a:r>
            <a:endParaRPr lang="en-IN" dirty="0"/>
          </a:p>
        </p:txBody>
      </p:sp>
      <p:sp>
        <p:nvSpPr>
          <p:cNvPr id="4" name="Slide Number Placeholder 3"/>
          <p:cNvSpPr>
            <a:spLocks noGrp="1"/>
          </p:cNvSpPr>
          <p:nvPr>
            <p:ph type="sldNum" sz="quarter" idx="12"/>
          </p:nvPr>
        </p:nvSpPr>
        <p:spPr/>
        <p:txBody>
          <a:bodyPr/>
          <a:lstStyle/>
          <a:p>
            <a:fld id="{1EC248AB-E565-412B-9D95-9B07D6A4F3F3}" type="slidenum">
              <a:rPr lang="en-GB" smtClean="0"/>
              <a:pPr/>
              <a:t>6</a:t>
            </a:fld>
            <a:endParaRPr lang="en-GB"/>
          </a:p>
        </p:txBody>
      </p:sp>
      <p:pic>
        <p:nvPicPr>
          <p:cNvPr id="5" name="Picture 4" descr="image.jpeg"/>
          <p:cNvPicPr>
            <a:picLocks noChangeAspect="1"/>
          </p:cNvPicPr>
          <p:nvPr/>
        </p:nvPicPr>
        <p:blipFill>
          <a:blip r:embed="rId2"/>
          <a:stretch>
            <a:fillRect/>
          </a:stretch>
        </p:blipFill>
        <p:spPr>
          <a:xfrm>
            <a:off x="164592" y="128016"/>
            <a:ext cx="987552" cy="743789"/>
          </a:xfrm>
          <a:prstGeom prst="rect">
            <a:avLst/>
          </a:prstGeom>
        </p:spPr>
      </p:pic>
      <p:sp>
        <p:nvSpPr>
          <p:cNvPr id="6" name="TextBox 5"/>
          <p:cNvSpPr txBox="1"/>
          <p:nvPr/>
        </p:nvSpPr>
        <p:spPr>
          <a:xfrm>
            <a:off x="457200" y="1024128"/>
            <a:ext cx="8229600" cy="320040"/>
          </a:xfrm>
          <a:prstGeom prst="rect">
            <a:avLst/>
          </a:prstGeom>
          <a:noFill/>
        </p:spPr>
        <p:txBody>
          <a:bodyPr wrap="square" anchor="t" lIns="36576" rIns="36576" tIns="36576" bIns="36576"/>
          <a:lstStyle/>
          <a:p>
            <a:pPr algn="l">
              <a:spcAft>
                <a:spcPts val="400"/>
              </a:spcAft>
            </a:pPr>
            <a:r>
              <a:rPr sz="1400" b="1" i="0">
                <a:solidFill>
                  <a:srgbClr val="1F497D"/>
                </a:solidFill>
                <a:latin typeface="Calibri"/>
              </a:rPr>
              <a:t>Task decomposition into a task graph (example goal: market-research report)</a:t>
            </a:r>
          </a:p>
        </p:txBody>
      </p:sp>
      <p:sp>
        <p:nvSpPr>
          <p:cNvPr id="7" name="Rounded Rectangle 6"/>
          <p:cNvSpPr/>
          <p:nvPr/>
        </p:nvSpPr>
        <p:spPr>
          <a:xfrm>
            <a:off x="365760" y="1783080"/>
            <a:ext cx="1325880" cy="960120"/>
          </a:xfrm>
          <a:prstGeom prst="roundRect">
            <a:avLst>
              <a:gd name="adj" fmla="val 7619"/>
            </a:avLst>
          </a:prstGeom>
          <a:solidFill>
            <a:srgbClr val="4F81BD"/>
          </a:solidFill>
          <a:ln>
            <a:noFill/>
          </a:ln>
        </p:spPr>
        <p:txBody>
          <a:bodyPr rtlCol="0" anchor="ctr" wrap="square" lIns="54864" rIns="54864" tIns="54864" bIns="54864"/>
          <a:lstStyle/>
          <a:p>
            <a:pPr algn="ctr">
              <a:spcAft>
                <a:spcPts val="0"/>
              </a:spcAft>
            </a:pPr>
            <a:r>
              <a:rPr sz="1200" b="1" i="0">
                <a:solidFill>
                  <a:srgbClr val="FFFFFF"/>
                </a:solidFill>
                <a:latin typeface="Calibri"/>
              </a:rPr>
              <a:t>Goal</a:t>
            </a:r>
          </a:p>
          <a:p>
            <a:pPr algn="ctr">
              <a:spcAft>
                <a:spcPts val="0"/>
              </a:spcAft>
            </a:pPr>
            <a:r>
              <a:rPr sz="1200" b="0" i="0">
                <a:solidFill>
                  <a:srgbClr val="FFFFFF"/>
                </a:solidFill>
                <a:latin typeface="Calibri"/>
              </a:rPr>
              <a:t>research report</a:t>
            </a:r>
          </a:p>
        </p:txBody>
      </p:sp>
      <p:sp>
        <p:nvSpPr>
          <p:cNvPr id="8" name="Rounded Rectangle 7"/>
          <p:cNvSpPr/>
          <p:nvPr/>
        </p:nvSpPr>
        <p:spPr>
          <a:xfrm>
            <a:off x="1965960" y="1463040"/>
            <a:ext cx="1508760" cy="713232"/>
          </a:xfrm>
          <a:prstGeom prst="roundRect">
            <a:avLst>
              <a:gd name="adj" fmla="val 10256"/>
            </a:avLst>
          </a:prstGeom>
          <a:solidFill>
            <a:srgbClr val="FFFFFF"/>
          </a:solidFill>
          <a:ln w="12700">
            <a:solidFill>
              <a:srgbClr val="1F497D"/>
            </a:solidFill>
          </a:ln>
        </p:spPr>
        <p:txBody>
          <a:bodyPr rtlCol="0" anchor="ctr" wrap="square" lIns="54864" rIns="54864" tIns="54864" bIns="54864"/>
          <a:lstStyle/>
          <a:p>
            <a:pPr algn="ctr">
              <a:spcAft>
                <a:spcPts val="0"/>
              </a:spcAft>
            </a:pPr>
            <a:r>
              <a:rPr sz="1200" b="1" i="0">
                <a:solidFill>
                  <a:srgbClr val="262626"/>
                </a:solidFill>
                <a:latin typeface="Calibri"/>
              </a:rPr>
              <a:t>t1: Search news</a:t>
            </a:r>
          </a:p>
          <a:p>
            <a:pPr algn="ctr">
              <a:spcAft>
                <a:spcPts val="0"/>
              </a:spcAft>
            </a:pPr>
            <a:r>
              <a:rPr sz="1100" b="0" i="1">
                <a:solidFill>
                  <a:srgbClr val="31859C"/>
                </a:solidFill>
                <a:latin typeface="Calibri"/>
              </a:rPr>
              <a:t>Research agent</a:t>
            </a:r>
          </a:p>
        </p:txBody>
      </p:sp>
      <p:sp>
        <p:nvSpPr>
          <p:cNvPr id="9" name="Rounded Rectangle 8"/>
          <p:cNvSpPr/>
          <p:nvPr/>
        </p:nvSpPr>
        <p:spPr>
          <a:xfrm>
            <a:off x="1965960" y="2395728"/>
            <a:ext cx="1508760" cy="713232"/>
          </a:xfrm>
          <a:prstGeom prst="roundRect">
            <a:avLst>
              <a:gd name="adj" fmla="val 10256"/>
            </a:avLst>
          </a:prstGeom>
          <a:solidFill>
            <a:srgbClr val="FFFFFF"/>
          </a:solidFill>
          <a:ln w="12700">
            <a:solidFill>
              <a:srgbClr val="1F497D"/>
            </a:solidFill>
          </a:ln>
        </p:spPr>
        <p:txBody>
          <a:bodyPr rtlCol="0" anchor="ctr" wrap="square" lIns="54864" rIns="54864" tIns="54864" bIns="54864"/>
          <a:lstStyle/>
          <a:p>
            <a:pPr algn="ctr">
              <a:spcAft>
                <a:spcPts val="0"/>
              </a:spcAft>
            </a:pPr>
            <a:r>
              <a:rPr sz="1200" b="1" i="0">
                <a:solidFill>
                  <a:srgbClr val="262626"/>
                </a:solidFill>
                <a:latin typeface="Calibri"/>
              </a:rPr>
              <a:t>t2: Search papers</a:t>
            </a:r>
          </a:p>
          <a:p>
            <a:pPr algn="ctr">
              <a:spcAft>
                <a:spcPts val="0"/>
              </a:spcAft>
            </a:pPr>
            <a:r>
              <a:rPr sz="1100" b="0" i="1">
                <a:solidFill>
                  <a:srgbClr val="31859C"/>
                </a:solidFill>
                <a:latin typeface="Calibri"/>
              </a:rPr>
              <a:t>Research agent</a:t>
            </a:r>
          </a:p>
        </p:txBody>
      </p:sp>
      <p:sp>
        <p:nvSpPr>
          <p:cNvPr id="10" name="Rounded Rectangle 9"/>
          <p:cNvSpPr/>
          <p:nvPr/>
        </p:nvSpPr>
        <p:spPr>
          <a:xfrm>
            <a:off x="3749039" y="1929384"/>
            <a:ext cx="1508760" cy="713232"/>
          </a:xfrm>
          <a:prstGeom prst="roundRect">
            <a:avLst>
              <a:gd name="adj" fmla="val 10256"/>
            </a:avLst>
          </a:prstGeom>
          <a:solidFill>
            <a:srgbClr val="FFFFFF"/>
          </a:solidFill>
          <a:ln w="12700">
            <a:solidFill>
              <a:srgbClr val="1F497D"/>
            </a:solidFill>
          </a:ln>
        </p:spPr>
        <p:txBody>
          <a:bodyPr rtlCol="0" anchor="ctr" wrap="square" lIns="54864" rIns="54864" tIns="54864" bIns="54864"/>
          <a:lstStyle/>
          <a:p>
            <a:pPr algn="ctr">
              <a:spcAft>
                <a:spcPts val="0"/>
              </a:spcAft>
            </a:pPr>
            <a:r>
              <a:rPr sz="1200" b="1" i="0">
                <a:solidFill>
                  <a:srgbClr val="262626"/>
                </a:solidFill>
                <a:latin typeface="Calibri"/>
              </a:rPr>
              <a:t>t3: Analyse data</a:t>
            </a:r>
          </a:p>
          <a:p>
            <a:pPr algn="ctr">
              <a:spcAft>
                <a:spcPts val="0"/>
              </a:spcAft>
            </a:pPr>
            <a:r>
              <a:rPr sz="1100" b="0" i="1">
                <a:solidFill>
                  <a:srgbClr val="31859C"/>
                </a:solidFill>
                <a:latin typeface="Calibri"/>
              </a:rPr>
              <a:t>Coding agent</a:t>
            </a:r>
          </a:p>
        </p:txBody>
      </p:sp>
      <p:sp>
        <p:nvSpPr>
          <p:cNvPr id="11" name="Rounded Rectangle 10"/>
          <p:cNvSpPr/>
          <p:nvPr/>
        </p:nvSpPr>
        <p:spPr>
          <a:xfrm>
            <a:off x="5486400" y="1929384"/>
            <a:ext cx="1508760" cy="713232"/>
          </a:xfrm>
          <a:prstGeom prst="roundRect">
            <a:avLst>
              <a:gd name="adj" fmla="val 10256"/>
            </a:avLst>
          </a:prstGeom>
          <a:solidFill>
            <a:srgbClr val="FFFFFF"/>
          </a:solidFill>
          <a:ln w="12700">
            <a:solidFill>
              <a:srgbClr val="1F497D"/>
            </a:solidFill>
          </a:ln>
        </p:spPr>
        <p:txBody>
          <a:bodyPr rtlCol="0" anchor="ctr" wrap="square" lIns="54864" rIns="54864" tIns="54864" bIns="54864"/>
          <a:lstStyle/>
          <a:p>
            <a:pPr algn="ctr">
              <a:spcAft>
                <a:spcPts val="0"/>
              </a:spcAft>
            </a:pPr>
            <a:r>
              <a:rPr sz="1200" b="1" i="0">
                <a:solidFill>
                  <a:srgbClr val="262626"/>
                </a:solidFill>
                <a:latin typeface="Calibri"/>
              </a:rPr>
              <a:t>t4: Draft report</a:t>
            </a:r>
          </a:p>
          <a:p>
            <a:pPr algn="ctr">
              <a:spcAft>
                <a:spcPts val="0"/>
              </a:spcAft>
            </a:pPr>
            <a:r>
              <a:rPr sz="1100" b="0" i="1">
                <a:solidFill>
                  <a:srgbClr val="31859C"/>
                </a:solidFill>
                <a:latin typeface="Calibri"/>
              </a:rPr>
              <a:t>Writer agent</a:t>
            </a:r>
          </a:p>
        </p:txBody>
      </p:sp>
      <p:sp>
        <p:nvSpPr>
          <p:cNvPr id="12" name="Rounded Rectangle 11"/>
          <p:cNvSpPr/>
          <p:nvPr/>
        </p:nvSpPr>
        <p:spPr>
          <a:xfrm>
            <a:off x="7223760" y="1929384"/>
            <a:ext cx="1508760" cy="713232"/>
          </a:xfrm>
          <a:prstGeom prst="roundRect">
            <a:avLst>
              <a:gd name="adj" fmla="val 10256"/>
            </a:avLst>
          </a:prstGeom>
          <a:solidFill>
            <a:srgbClr val="FFFFFF"/>
          </a:solidFill>
          <a:ln w="12700">
            <a:solidFill>
              <a:srgbClr val="1F497D"/>
            </a:solidFill>
          </a:ln>
        </p:spPr>
        <p:txBody>
          <a:bodyPr rtlCol="0" anchor="ctr" wrap="square" lIns="54864" rIns="54864" tIns="54864" bIns="54864"/>
          <a:lstStyle/>
          <a:p>
            <a:pPr algn="ctr">
              <a:spcAft>
                <a:spcPts val="0"/>
              </a:spcAft>
            </a:pPr>
            <a:r>
              <a:rPr sz="1200" b="1" i="0">
                <a:solidFill>
                  <a:srgbClr val="262626"/>
                </a:solidFill>
                <a:latin typeface="Calibri"/>
              </a:rPr>
              <a:t>t5: Review &amp; fix</a:t>
            </a:r>
          </a:p>
          <a:p>
            <a:pPr algn="ctr">
              <a:spcAft>
                <a:spcPts val="0"/>
              </a:spcAft>
            </a:pPr>
            <a:r>
              <a:rPr sz="1100" b="0" i="1">
                <a:solidFill>
                  <a:srgbClr val="31859C"/>
                </a:solidFill>
                <a:latin typeface="Calibri"/>
              </a:rPr>
              <a:t>Critique agent</a:t>
            </a:r>
          </a:p>
        </p:txBody>
      </p:sp>
      <p:cxnSp>
        <p:nvCxnSpPr>
          <p:cNvPr id="13" name="Connector 12"/>
          <p:cNvCxnSpPr/>
          <p:nvPr/>
        </p:nvCxnSpPr>
        <p:spPr>
          <a:xfrm flipV="1">
            <a:off x="1691640" y="1819656"/>
            <a:ext cx="274320" cy="283464"/>
          </a:xfrm>
          <a:prstGeom prst="line">
            <a:avLst/>
          </a:prstGeom>
          <a:ln w="19050">
            <a:solidFill>
              <a:srgbClr val="595959"/>
            </a:solidFill>
            <a:tailEnd type="triangle" w="med" len="med"/>
          </a:ln>
        </p:spPr>
      </p:cxnSp>
      <p:cxnSp>
        <p:nvCxnSpPr>
          <p:cNvPr id="14" name="Connector 13"/>
          <p:cNvCxnSpPr/>
          <p:nvPr/>
        </p:nvCxnSpPr>
        <p:spPr>
          <a:xfrm>
            <a:off x="1691640" y="2423160"/>
            <a:ext cx="274320" cy="329184"/>
          </a:xfrm>
          <a:prstGeom prst="line">
            <a:avLst/>
          </a:prstGeom>
          <a:ln w="19050">
            <a:solidFill>
              <a:srgbClr val="595959"/>
            </a:solidFill>
            <a:tailEnd type="triangle" w="med" len="med"/>
          </a:ln>
        </p:spPr>
      </p:cxnSp>
      <p:cxnSp>
        <p:nvCxnSpPr>
          <p:cNvPr id="15" name="Connector 14"/>
          <p:cNvCxnSpPr/>
          <p:nvPr/>
        </p:nvCxnSpPr>
        <p:spPr>
          <a:xfrm>
            <a:off x="3474720" y="1819656"/>
            <a:ext cx="274319" cy="329184"/>
          </a:xfrm>
          <a:prstGeom prst="line">
            <a:avLst/>
          </a:prstGeom>
          <a:ln w="19050">
            <a:solidFill>
              <a:srgbClr val="595959"/>
            </a:solidFill>
            <a:tailEnd type="triangle" w="med" len="med"/>
          </a:ln>
        </p:spPr>
      </p:cxnSp>
      <p:cxnSp>
        <p:nvCxnSpPr>
          <p:cNvPr id="16" name="Connector 15"/>
          <p:cNvCxnSpPr/>
          <p:nvPr/>
        </p:nvCxnSpPr>
        <p:spPr>
          <a:xfrm flipV="1">
            <a:off x="3474720" y="2514600"/>
            <a:ext cx="274319" cy="237744"/>
          </a:xfrm>
          <a:prstGeom prst="line">
            <a:avLst/>
          </a:prstGeom>
          <a:ln w="19050">
            <a:solidFill>
              <a:srgbClr val="595959"/>
            </a:solidFill>
            <a:tailEnd type="triangle" w="med" len="med"/>
          </a:ln>
        </p:spPr>
      </p:cxnSp>
      <p:cxnSp>
        <p:nvCxnSpPr>
          <p:cNvPr id="17" name="Connector 16"/>
          <p:cNvCxnSpPr/>
          <p:nvPr/>
        </p:nvCxnSpPr>
        <p:spPr>
          <a:xfrm>
            <a:off x="5257800" y="2286000"/>
            <a:ext cx="228600" cy="0"/>
          </a:xfrm>
          <a:prstGeom prst="line">
            <a:avLst/>
          </a:prstGeom>
          <a:ln w="19050">
            <a:solidFill>
              <a:srgbClr val="595959"/>
            </a:solidFill>
            <a:tailEnd type="triangle" w="med" len="med"/>
          </a:ln>
        </p:spPr>
      </p:cxnSp>
      <p:cxnSp>
        <p:nvCxnSpPr>
          <p:cNvPr id="18" name="Connector 17"/>
          <p:cNvCxnSpPr/>
          <p:nvPr/>
        </p:nvCxnSpPr>
        <p:spPr>
          <a:xfrm>
            <a:off x="6995160" y="2286000"/>
            <a:ext cx="228600" cy="0"/>
          </a:xfrm>
          <a:prstGeom prst="line">
            <a:avLst/>
          </a:prstGeom>
          <a:ln w="19050">
            <a:solidFill>
              <a:srgbClr val="595959"/>
            </a:solidFill>
            <a:tailEnd type="triangle" w="med" len="med"/>
          </a:ln>
        </p:spPr>
      </p:cxnSp>
      <p:sp>
        <p:nvSpPr>
          <p:cNvPr id="19" name="TextBox 18"/>
          <p:cNvSpPr txBox="1"/>
          <p:nvPr/>
        </p:nvSpPr>
        <p:spPr>
          <a:xfrm>
            <a:off x="365760" y="3200400"/>
            <a:ext cx="8412480" cy="320040"/>
          </a:xfrm>
          <a:prstGeom prst="rect">
            <a:avLst/>
          </a:prstGeom>
          <a:noFill/>
        </p:spPr>
        <p:txBody>
          <a:bodyPr wrap="square" anchor="t" lIns="36576" rIns="36576" tIns="36576" bIns="36576"/>
          <a:lstStyle/>
          <a:p>
            <a:pPr algn="ctr">
              <a:spcAft>
                <a:spcPts val="400"/>
              </a:spcAft>
            </a:pPr>
            <a:r>
              <a:rPr sz="1200" b="0" i="0">
                <a:solidFill>
                  <a:srgbClr val="262626"/>
                </a:solidFill>
                <a:latin typeface="Courier New"/>
              </a:rPr>
              <a:t>P ← LLM_Plan(G); T ← Decompose(P); assign agents; merge results</a:t>
            </a:r>
          </a:p>
        </p:txBody>
      </p:sp>
      <p:sp>
        <p:nvSpPr>
          <p:cNvPr id="20" name="TextBox 19"/>
          <p:cNvSpPr txBox="1"/>
          <p:nvPr/>
        </p:nvSpPr>
        <p:spPr>
          <a:xfrm>
            <a:off x="457200" y="3611880"/>
            <a:ext cx="8229600" cy="365760"/>
          </a:xfrm>
          <a:prstGeom prst="rect">
            <a:avLst/>
          </a:prstGeom>
          <a:noFill/>
        </p:spPr>
        <p:txBody>
          <a:bodyPr wrap="square" anchor="t" lIns="36576" rIns="36576" tIns="36576" bIns="36576"/>
          <a:lstStyle/>
          <a:p>
            <a:pPr algn="l">
              <a:spcAft>
                <a:spcPts val="400"/>
              </a:spcAft>
            </a:pPr>
            <a:r>
              <a:rPr sz="1600" b="1" i="0">
                <a:solidFill>
                  <a:srgbClr val="1F497D"/>
                </a:solidFill>
                <a:latin typeface="Calibri"/>
              </a:rPr>
              <a:t>Coordination patterns</a:t>
            </a:r>
          </a:p>
        </p:txBody>
      </p:sp>
      <p:sp>
        <p:nvSpPr>
          <p:cNvPr id="21" name="Rounded Rectangle 20"/>
          <p:cNvSpPr/>
          <p:nvPr/>
        </p:nvSpPr>
        <p:spPr>
          <a:xfrm>
            <a:off x="457200" y="4023360"/>
            <a:ext cx="2606040" cy="2194560"/>
          </a:xfrm>
          <a:prstGeom prst="roundRect">
            <a:avLst>
              <a:gd name="adj" fmla="val 3333"/>
            </a:avLst>
          </a:prstGeom>
          <a:solidFill>
            <a:srgbClr val="F2F6FB"/>
          </a:solidFill>
          <a:ln>
            <a:noFill/>
          </a:ln>
        </p:spPr>
        <p:txBody>
          <a:bodyPr rtlCol="0" anchor="ctr" wrap="square" lIns="54864" rIns="54864" tIns="54864" bIns="54864"/>
          <a:lstStyle/>
          <a:p>
            <a:pPr algn="ctr"/>
          </a:p>
        </p:txBody>
      </p:sp>
      <p:sp>
        <p:nvSpPr>
          <p:cNvPr id="22" name="TextBox 21"/>
          <p:cNvSpPr txBox="1"/>
          <p:nvPr/>
        </p:nvSpPr>
        <p:spPr>
          <a:xfrm>
            <a:off x="548640" y="4069080"/>
            <a:ext cx="2423160" cy="320040"/>
          </a:xfrm>
          <a:prstGeom prst="rect">
            <a:avLst/>
          </a:prstGeom>
          <a:noFill/>
        </p:spPr>
        <p:txBody>
          <a:bodyPr wrap="square" anchor="t" lIns="36576" rIns="36576" tIns="36576" bIns="36576"/>
          <a:lstStyle/>
          <a:p>
            <a:pPr algn="ctr">
              <a:spcAft>
                <a:spcPts val="400"/>
              </a:spcAft>
            </a:pPr>
            <a:r>
              <a:rPr sz="1400" b="1" i="0">
                <a:solidFill>
                  <a:srgbClr val="1F497D"/>
                </a:solidFill>
                <a:latin typeface="Calibri"/>
              </a:rPr>
              <a:t>Centralized</a:t>
            </a:r>
          </a:p>
        </p:txBody>
      </p:sp>
      <p:cxnSp>
        <p:nvCxnSpPr>
          <p:cNvPr id="23" name="Connector 22"/>
          <p:cNvCxnSpPr/>
          <p:nvPr/>
        </p:nvCxnSpPr>
        <p:spPr>
          <a:xfrm flipH="1">
            <a:off x="1028700" y="4709159"/>
            <a:ext cx="731520" cy="411481"/>
          </a:xfrm>
          <a:prstGeom prst="line">
            <a:avLst/>
          </a:prstGeom>
          <a:ln w="15875">
            <a:solidFill>
              <a:srgbClr val="595959"/>
            </a:solidFill>
          </a:ln>
        </p:spPr>
      </p:cxnSp>
      <p:cxnSp>
        <p:nvCxnSpPr>
          <p:cNvPr id="24" name="Connector 23"/>
          <p:cNvCxnSpPr/>
          <p:nvPr/>
        </p:nvCxnSpPr>
        <p:spPr>
          <a:xfrm>
            <a:off x="1760220" y="4709159"/>
            <a:ext cx="0" cy="521209"/>
          </a:xfrm>
          <a:prstGeom prst="line">
            <a:avLst/>
          </a:prstGeom>
          <a:ln w="15875">
            <a:solidFill>
              <a:srgbClr val="595959"/>
            </a:solidFill>
          </a:ln>
        </p:spPr>
      </p:cxnSp>
      <p:cxnSp>
        <p:nvCxnSpPr>
          <p:cNvPr id="25" name="Connector 24"/>
          <p:cNvCxnSpPr/>
          <p:nvPr/>
        </p:nvCxnSpPr>
        <p:spPr>
          <a:xfrm>
            <a:off x="1760220" y="4709159"/>
            <a:ext cx="731520" cy="411481"/>
          </a:xfrm>
          <a:prstGeom prst="line">
            <a:avLst/>
          </a:prstGeom>
          <a:ln w="15875">
            <a:solidFill>
              <a:srgbClr val="595959"/>
            </a:solidFill>
          </a:ln>
        </p:spPr>
      </p:cxnSp>
      <p:sp>
        <p:nvSpPr>
          <p:cNvPr id="26" name="Oval 25"/>
          <p:cNvSpPr/>
          <p:nvPr/>
        </p:nvSpPr>
        <p:spPr>
          <a:xfrm>
            <a:off x="1595628" y="4498848"/>
            <a:ext cx="329184" cy="329184"/>
          </a:xfrm>
          <a:prstGeom prst="ellipse">
            <a:avLst/>
          </a:prstGeom>
          <a:solidFill>
            <a:srgbClr val="1F497D"/>
          </a:solidFill>
          <a:ln>
            <a:noFill/>
          </a:ln>
        </p:spPr>
        <p:txBody>
          <a:bodyPr rtlCol="0" anchor="ctr" wrap="square" lIns="54864" rIns="54864" tIns="54864" bIns="54864"/>
          <a:lstStyle/>
          <a:p>
            <a:pPr algn="ctr"/>
          </a:p>
        </p:txBody>
      </p:sp>
      <p:sp>
        <p:nvSpPr>
          <p:cNvPr id="27" name="Oval 26"/>
          <p:cNvSpPr/>
          <p:nvPr/>
        </p:nvSpPr>
        <p:spPr>
          <a:xfrm>
            <a:off x="909828" y="5001768"/>
            <a:ext cx="237744" cy="237744"/>
          </a:xfrm>
          <a:prstGeom prst="ellipse">
            <a:avLst/>
          </a:prstGeom>
          <a:solidFill>
            <a:srgbClr val="31859C"/>
          </a:solidFill>
          <a:ln>
            <a:noFill/>
          </a:ln>
        </p:spPr>
        <p:txBody>
          <a:bodyPr rtlCol="0" anchor="ctr" wrap="square" lIns="54864" rIns="54864" tIns="54864" bIns="54864"/>
          <a:lstStyle/>
          <a:p>
            <a:pPr algn="ctr"/>
          </a:p>
        </p:txBody>
      </p:sp>
      <p:sp>
        <p:nvSpPr>
          <p:cNvPr id="28" name="Oval 27"/>
          <p:cNvSpPr/>
          <p:nvPr/>
        </p:nvSpPr>
        <p:spPr>
          <a:xfrm>
            <a:off x="1641348" y="5111496"/>
            <a:ext cx="237744" cy="237744"/>
          </a:xfrm>
          <a:prstGeom prst="ellipse">
            <a:avLst/>
          </a:prstGeom>
          <a:solidFill>
            <a:srgbClr val="31859C"/>
          </a:solidFill>
          <a:ln>
            <a:noFill/>
          </a:ln>
        </p:spPr>
        <p:txBody>
          <a:bodyPr rtlCol="0" anchor="ctr" wrap="square" lIns="54864" rIns="54864" tIns="54864" bIns="54864"/>
          <a:lstStyle/>
          <a:p>
            <a:pPr algn="ctr"/>
          </a:p>
        </p:txBody>
      </p:sp>
      <p:sp>
        <p:nvSpPr>
          <p:cNvPr id="29" name="Oval 28"/>
          <p:cNvSpPr/>
          <p:nvPr/>
        </p:nvSpPr>
        <p:spPr>
          <a:xfrm>
            <a:off x="2372868" y="5001768"/>
            <a:ext cx="237744" cy="237744"/>
          </a:xfrm>
          <a:prstGeom prst="ellipse">
            <a:avLst/>
          </a:prstGeom>
          <a:solidFill>
            <a:srgbClr val="31859C"/>
          </a:solidFill>
          <a:ln>
            <a:noFill/>
          </a:ln>
        </p:spPr>
        <p:txBody>
          <a:bodyPr rtlCol="0" anchor="ctr" wrap="square" lIns="54864" rIns="54864" tIns="54864" bIns="54864"/>
          <a:lstStyle/>
          <a:p>
            <a:pPr algn="ctr"/>
          </a:p>
        </p:txBody>
      </p:sp>
      <p:sp>
        <p:nvSpPr>
          <p:cNvPr id="30" name="TextBox 29"/>
          <p:cNvSpPr txBox="1"/>
          <p:nvPr/>
        </p:nvSpPr>
        <p:spPr>
          <a:xfrm>
            <a:off x="566928" y="5349240"/>
            <a:ext cx="2386584" cy="868680"/>
          </a:xfrm>
          <a:prstGeom prst="rect">
            <a:avLst/>
          </a:prstGeom>
          <a:noFill/>
        </p:spPr>
        <p:txBody>
          <a:bodyPr wrap="square" anchor="t" lIns="36576" rIns="36576" tIns="36576" bIns="36576"/>
          <a:lstStyle/>
          <a:p>
            <a:pPr algn="ctr">
              <a:spcAft>
                <a:spcPts val="100"/>
              </a:spcAft>
            </a:pPr>
            <a:r>
              <a:rPr sz="1200" b="0" i="0">
                <a:solidFill>
                  <a:srgbClr val="262626"/>
                </a:solidFill>
                <a:latin typeface="Calibri"/>
              </a:rPr>
              <a:t>One orchestrator assigns all work</a:t>
            </a:r>
          </a:p>
          <a:p>
            <a:pPr algn="ctr">
              <a:spcAft>
                <a:spcPts val="100"/>
              </a:spcAft>
            </a:pPr>
            <a:r>
              <a:rPr sz="1200" b="1" i="0">
                <a:solidFill>
                  <a:srgbClr val="76923C"/>
                </a:solidFill>
                <a:latin typeface="Calibri"/>
              </a:rPr>
              <a:t>+ simple control</a:t>
            </a:r>
          </a:p>
          <a:p>
            <a:pPr algn="ctr">
              <a:spcAft>
                <a:spcPts val="100"/>
              </a:spcAft>
            </a:pPr>
            <a:r>
              <a:rPr sz="1200" b="1" i="0">
                <a:solidFill>
                  <a:srgbClr val="C0504D"/>
                </a:solidFill>
                <a:latin typeface="Calibri"/>
              </a:rPr>
              <a:t>− single bottleneck</a:t>
            </a:r>
          </a:p>
        </p:txBody>
      </p:sp>
      <p:sp>
        <p:nvSpPr>
          <p:cNvPr id="31" name="Rounded Rectangle 30"/>
          <p:cNvSpPr/>
          <p:nvPr/>
        </p:nvSpPr>
        <p:spPr>
          <a:xfrm>
            <a:off x="3268980" y="4023360"/>
            <a:ext cx="2606040" cy="2194560"/>
          </a:xfrm>
          <a:prstGeom prst="roundRect">
            <a:avLst>
              <a:gd name="adj" fmla="val 3333"/>
            </a:avLst>
          </a:prstGeom>
          <a:solidFill>
            <a:srgbClr val="F2F6FB"/>
          </a:solidFill>
          <a:ln>
            <a:noFill/>
          </a:ln>
        </p:spPr>
        <p:txBody>
          <a:bodyPr rtlCol="0" anchor="ctr" wrap="square" lIns="54864" rIns="54864" tIns="54864" bIns="54864"/>
          <a:lstStyle/>
          <a:p>
            <a:pPr algn="ctr"/>
          </a:p>
        </p:txBody>
      </p:sp>
      <p:sp>
        <p:nvSpPr>
          <p:cNvPr id="32" name="TextBox 31"/>
          <p:cNvSpPr txBox="1"/>
          <p:nvPr/>
        </p:nvSpPr>
        <p:spPr>
          <a:xfrm>
            <a:off x="3360420" y="4069080"/>
            <a:ext cx="2423160" cy="320040"/>
          </a:xfrm>
          <a:prstGeom prst="rect">
            <a:avLst/>
          </a:prstGeom>
          <a:noFill/>
        </p:spPr>
        <p:txBody>
          <a:bodyPr wrap="square" anchor="t" lIns="36576" rIns="36576" tIns="36576" bIns="36576"/>
          <a:lstStyle/>
          <a:p>
            <a:pPr algn="ctr">
              <a:spcAft>
                <a:spcPts val="400"/>
              </a:spcAft>
            </a:pPr>
            <a:r>
              <a:rPr sz="1400" b="1" i="0">
                <a:solidFill>
                  <a:srgbClr val="1F497D"/>
                </a:solidFill>
                <a:latin typeface="Calibri"/>
              </a:rPr>
              <a:t>Hierarchical</a:t>
            </a:r>
          </a:p>
        </p:txBody>
      </p:sp>
      <p:cxnSp>
        <p:nvCxnSpPr>
          <p:cNvPr id="33" name="Connector 32"/>
          <p:cNvCxnSpPr/>
          <p:nvPr/>
        </p:nvCxnSpPr>
        <p:spPr>
          <a:xfrm flipH="1">
            <a:off x="4023360" y="4572000"/>
            <a:ext cx="548640" cy="320040"/>
          </a:xfrm>
          <a:prstGeom prst="line">
            <a:avLst/>
          </a:prstGeom>
          <a:ln w="15875">
            <a:solidFill>
              <a:srgbClr val="595959"/>
            </a:solidFill>
          </a:ln>
        </p:spPr>
      </p:cxnSp>
      <p:cxnSp>
        <p:nvCxnSpPr>
          <p:cNvPr id="34" name="Connector 33"/>
          <p:cNvCxnSpPr/>
          <p:nvPr/>
        </p:nvCxnSpPr>
        <p:spPr>
          <a:xfrm>
            <a:off x="4572000" y="4572000"/>
            <a:ext cx="548640" cy="320040"/>
          </a:xfrm>
          <a:prstGeom prst="line">
            <a:avLst/>
          </a:prstGeom>
          <a:ln w="15875">
            <a:solidFill>
              <a:srgbClr val="595959"/>
            </a:solidFill>
          </a:ln>
        </p:spPr>
      </p:cxnSp>
      <p:cxnSp>
        <p:nvCxnSpPr>
          <p:cNvPr id="35" name="Connector 34"/>
          <p:cNvCxnSpPr/>
          <p:nvPr/>
        </p:nvCxnSpPr>
        <p:spPr>
          <a:xfrm flipH="1">
            <a:off x="3749039" y="4892040"/>
            <a:ext cx="274321" cy="365760"/>
          </a:xfrm>
          <a:prstGeom prst="line">
            <a:avLst/>
          </a:prstGeom>
          <a:ln w="15875">
            <a:solidFill>
              <a:srgbClr val="595959"/>
            </a:solidFill>
          </a:ln>
        </p:spPr>
      </p:cxnSp>
      <p:cxnSp>
        <p:nvCxnSpPr>
          <p:cNvPr id="36" name="Connector 35"/>
          <p:cNvCxnSpPr/>
          <p:nvPr/>
        </p:nvCxnSpPr>
        <p:spPr>
          <a:xfrm>
            <a:off x="4023360" y="4892040"/>
            <a:ext cx="274320" cy="365760"/>
          </a:xfrm>
          <a:prstGeom prst="line">
            <a:avLst/>
          </a:prstGeom>
          <a:ln w="15875">
            <a:solidFill>
              <a:srgbClr val="595959"/>
            </a:solidFill>
          </a:ln>
        </p:spPr>
      </p:cxnSp>
      <p:cxnSp>
        <p:nvCxnSpPr>
          <p:cNvPr id="37" name="Connector 36"/>
          <p:cNvCxnSpPr/>
          <p:nvPr/>
        </p:nvCxnSpPr>
        <p:spPr>
          <a:xfrm flipH="1">
            <a:off x="4846320" y="4892040"/>
            <a:ext cx="274320" cy="365760"/>
          </a:xfrm>
          <a:prstGeom prst="line">
            <a:avLst/>
          </a:prstGeom>
          <a:ln w="15875">
            <a:solidFill>
              <a:srgbClr val="595959"/>
            </a:solidFill>
          </a:ln>
        </p:spPr>
      </p:cxnSp>
      <p:cxnSp>
        <p:nvCxnSpPr>
          <p:cNvPr id="38" name="Connector 37"/>
          <p:cNvCxnSpPr/>
          <p:nvPr/>
        </p:nvCxnSpPr>
        <p:spPr>
          <a:xfrm>
            <a:off x="5120640" y="4892040"/>
            <a:ext cx="274320" cy="365760"/>
          </a:xfrm>
          <a:prstGeom prst="line">
            <a:avLst/>
          </a:prstGeom>
          <a:ln w="15875">
            <a:solidFill>
              <a:srgbClr val="595959"/>
            </a:solidFill>
          </a:ln>
        </p:spPr>
      </p:cxnSp>
      <p:sp>
        <p:nvSpPr>
          <p:cNvPr id="39" name="Oval 38"/>
          <p:cNvSpPr/>
          <p:nvPr/>
        </p:nvSpPr>
        <p:spPr>
          <a:xfrm>
            <a:off x="4425696" y="4425696"/>
            <a:ext cx="292608" cy="292608"/>
          </a:xfrm>
          <a:prstGeom prst="ellipse">
            <a:avLst/>
          </a:prstGeom>
          <a:solidFill>
            <a:srgbClr val="1F497D"/>
          </a:solidFill>
          <a:ln>
            <a:noFill/>
          </a:ln>
        </p:spPr>
        <p:txBody>
          <a:bodyPr rtlCol="0" anchor="ctr" wrap="square" lIns="54864" rIns="54864" tIns="54864" bIns="54864"/>
          <a:lstStyle/>
          <a:p>
            <a:pPr algn="ctr"/>
          </a:p>
        </p:txBody>
      </p:sp>
      <p:sp>
        <p:nvSpPr>
          <p:cNvPr id="40" name="Oval 39"/>
          <p:cNvSpPr/>
          <p:nvPr/>
        </p:nvSpPr>
        <p:spPr>
          <a:xfrm>
            <a:off x="3904488" y="4773168"/>
            <a:ext cx="237744" cy="237744"/>
          </a:xfrm>
          <a:prstGeom prst="ellipse">
            <a:avLst/>
          </a:prstGeom>
          <a:solidFill>
            <a:srgbClr val="4F81BD"/>
          </a:solidFill>
          <a:ln>
            <a:noFill/>
          </a:ln>
        </p:spPr>
        <p:txBody>
          <a:bodyPr rtlCol="0" anchor="ctr" wrap="square" lIns="54864" rIns="54864" tIns="54864" bIns="54864"/>
          <a:lstStyle/>
          <a:p>
            <a:pPr algn="ctr"/>
          </a:p>
        </p:txBody>
      </p:sp>
      <p:sp>
        <p:nvSpPr>
          <p:cNvPr id="41" name="Oval 40"/>
          <p:cNvSpPr/>
          <p:nvPr/>
        </p:nvSpPr>
        <p:spPr>
          <a:xfrm>
            <a:off x="5001768" y="4773168"/>
            <a:ext cx="237744" cy="237744"/>
          </a:xfrm>
          <a:prstGeom prst="ellipse">
            <a:avLst/>
          </a:prstGeom>
          <a:solidFill>
            <a:srgbClr val="4F81BD"/>
          </a:solidFill>
          <a:ln>
            <a:noFill/>
          </a:ln>
        </p:spPr>
        <p:txBody>
          <a:bodyPr rtlCol="0" anchor="ctr" wrap="square" lIns="54864" rIns="54864" tIns="54864" bIns="54864"/>
          <a:lstStyle/>
          <a:p>
            <a:pPr algn="ctr"/>
          </a:p>
        </p:txBody>
      </p:sp>
      <p:sp>
        <p:nvSpPr>
          <p:cNvPr id="42" name="Oval 41"/>
          <p:cNvSpPr/>
          <p:nvPr/>
        </p:nvSpPr>
        <p:spPr>
          <a:xfrm>
            <a:off x="3657599" y="5166360"/>
            <a:ext cx="182880" cy="182880"/>
          </a:xfrm>
          <a:prstGeom prst="ellipse">
            <a:avLst/>
          </a:prstGeom>
          <a:solidFill>
            <a:srgbClr val="31859C"/>
          </a:solidFill>
          <a:ln>
            <a:noFill/>
          </a:ln>
        </p:spPr>
        <p:txBody>
          <a:bodyPr rtlCol="0" anchor="ctr" wrap="square" lIns="54864" rIns="54864" tIns="54864" bIns="54864"/>
          <a:lstStyle/>
          <a:p>
            <a:pPr algn="ctr"/>
          </a:p>
        </p:txBody>
      </p:sp>
      <p:sp>
        <p:nvSpPr>
          <p:cNvPr id="43" name="Oval 42"/>
          <p:cNvSpPr/>
          <p:nvPr/>
        </p:nvSpPr>
        <p:spPr>
          <a:xfrm>
            <a:off x="4206240" y="5166360"/>
            <a:ext cx="182880" cy="182880"/>
          </a:xfrm>
          <a:prstGeom prst="ellipse">
            <a:avLst/>
          </a:prstGeom>
          <a:solidFill>
            <a:srgbClr val="31859C"/>
          </a:solidFill>
          <a:ln>
            <a:noFill/>
          </a:ln>
        </p:spPr>
        <p:txBody>
          <a:bodyPr rtlCol="0" anchor="ctr" wrap="square" lIns="54864" rIns="54864" tIns="54864" bIns="54864"/>
          <a:lstStyle/>
          <a:p>
            <a:pPr algn="ctr"/>
          </a:p>
        </p:txBody>
      </p:sp>
      <p:sp>
        <p:nvSpPr>
          <p:cNvPr id="44" name="Oval 43"/>
          <p:cNvSpPr/>
          <p:nvPr/>
        </p:nvSpPr>
        <p:spPr>
          <a:xfrm>
            <a:off x="4754880" y="5166360"/>
            <a:ext cx="182880" cy="182880"/>
          </a:xfrm>
          <a:prstGeom prst="ellipse">
            <a:avLst/>
          </a:prstGeom>
          <a:solidFill>
            <a:srgbClr val="31859C"/>
          </a:solidFill>
          <a:ln>
            <a:noFill/>
          </a:ln>
        </p:spPr>
        <p:txBody>
          <a:bodyPr rtlCol="0" anchor="ctr" wrap="square" lIns="54864" rIns="54864" tIns="54864" bIns="54864"/>
          <a:lstStyle/>
          <a:p>
            <a:pPr algn="ctr"/>
          </a:p>
        </p:txBody>
      </p:sp>
      <p:sp>
        <p:nvSpPr>
          <p:cNvPr id="45" name="Oval 44"/>
          <p:cNvSpPr/>
          <p:nvPr/>
        </p:nvSpPr>
        <p:spPr>
          <a:xfrm>
            <a:off x="5303520" y="5166360"/>
            <a:ext cx="182880" cy="182880"/>
          </a:xfrm>
          <a:prstGeom prst="ellipse">
            <a:avLst/>
          </a:prstGeom>
          <a:solidFill>
            <a:srgbClr val="31859C"/>
          </a:solidFill>
          <a:ln>
            <a:noFill/>
          </a:ln>
        </p:spPr>
        <p:txBody>
          <a:bodyPr rtlCol="0" anchor="ctr" wrap="square" lIns="54864" rIns="54864" tIns="54864" bIns="54864"/>
          <a:lstStyle/>
          <a:p>
            <a:pPr algn="ctr"/>
          </a:p>
        </p:txBody>
      </p:sp>
      <p:sp>
        <p:nvSpPr>
          <p:cNvPr id="46" name="TextBox 45"/>
          <p:cNvSpPr txBox="1"/>
          <p:nvPr/>
        </p:nvSpPr>
        <p:spPr>
          <a:xfrm>
            <a:off x="3378708" y="5349240"/>
            <a:ext cx="2386584" cy="868680"/>
          </a:xfrm>
          <a:prstGeom prst="rect">
            <a:avLst/>
          </a:prstGeom>
          <a:noFill/>
        </p:spPr>
        <p:txBody>
          <a:bodyPr wrap="square" anchor="t" lIns="36576" rIns="36576" tIns="36576" bIns="36576"/>
          <a:lstStyle/>
          <a:p>
            <a:pPr algn="ctr">
              <a:spcAft>
                <a:spcPts val="100"/>
              </a:spcAft>
            </a:pPr>
            <a:r>
              <a:rPr sz="1200" b="0" i="0">
                <a:solidFill>
                  <a:srgbClr val="262626"/>
                </a:solidFill>
                <a:latin typeface="Calibri"/>
              </a:rPr>
              <a:t>Managers delegate to sub-teams</a:t>
            </a:r>
          </a:p>
          <a:p>
            <a:pPr algn="ctr">
              <a:spcAft>
                <a:spcPts val="100"/>
              </a:spcAft>
            </a:pPr>
            <a:r>
              <a:rPr sz="1200" b="1" i="0">
                <a:solidFill>
                  <a:srgbClr val="76923C"/>
                </a:solidFill>
                <a:latin typeface="Calibri"/>
              </a:rPr>
              <a:t>+ scales to big tasks</a:t>
            </a:r>
          </a:p>
          <a:p>
            <a:pPr algn="ctr">
              <a:spcAft>
                <a:spcPts val="100"/>
              </a:spcAft>
            </a:pPr>
            <a:r>
              <a:rPr sz="1200" b="1" i="0">
                <a:solidFill>
                  <a:srgbClr val="C0504D"/>
                </a:solidFill>
                <a:latin typeface="Calibri"/>
              </a:rPr>
              <a:t>− more delay</a:t>
            </a:r>
          </a:p>
        </p:txBody>
      </p:sp>
      <p:sp>
        <p:nvSpPr>
          <p:cNvPr id="47" name="Rounded Rectangle 46"/>
          <p:cNvSpPr/>
          <p:nvPr/>
        </p:nvSpPr>
        <p:spPr>
          <a:xfrm>
            <a:off x="6080760" y="4023360"/>
            <a:ext cx="2606040" cy="2194560"/>
          </a:xfrm>
          <a:prstGeom prst="roundRect">
            <a:avLst>
              <a:gd name="adj" fmla="val 3333"/>
            </a:avLst>
          </a:prstGeom>
          <a:solidFill>
            <a:srgbClr val="F2F6FB"/>
          </a:solidFill>
          <a:ln>
            <a:noFill/>
          </a:ln>
        </p:spPr>
        <p:txBody>
          <a:bodyPr rtlCol="0" anchor="ctr" wrap="square" lIns="54864" rIns="54864" tIns="54864" bIns="54864"/>
          <a:lstStyle/>
          <a:p>
            <a:pPr algn="ctr"/>
          </a:p>
        </p:txBody>
      </p:sp>
      <p:sp>
        <p:nvSpPr>
          <p:cNvPr id="48" name="TextBox 47"/>
          <p:cNvSpPr txBox="1"/>
          <p:nvPr/>
        </p:nvSpPr>
        <p:spPr>
          <a:xfrm>
            <a:off x="6172200" y="4069080"/>
            <a:ext cx="2423160" cy="320040"/>
          </a:xfrm>
          <a:prstGeom prst="rect">
            <a:avLst/>
          </a:prstGeom>
          <a:noFill/>
        </p:spPr>
        <p:txBody>
          <a:bodyPr wrap="square" anchor="t" lIns="36576" rIns="36576" tIns="36576" bIns="36576"/>
          <a:lstStyle/>
          <a:p>
            <a:pPr algn="ctr">
              <a:spcAft>
                <a:spcPts val="400"/>
              </a:spcAft>
            </a:pPr>
            <a:r>
              <a:rPr sz="1400" b="1" i="0">
                <a:solidFill>
                  <a:srgbClr val="1F497D"/>
                </a:solidFill>
                <a:latin typeface="Calibri"/>
              </a:rPr>
              <a:t>Decentralized</a:t>
            </a:r>
          </a:p>
        </p:txBody>
      </p:sp>
      <p:cxnSp>
        <p:nvCxnSpPr>
          <p:cNvPr id="49" name="Connector 48"/>
          <p:cNvCxnSpPr/>
          <p:nvPr/>
        </p:nvCxnSpPr>
        <p:spPr>
          <a:xfrm>
            <a:off x="6880860" y="4572000"/>
            <a:ext cx="1005840" cy="0"/>
          </a:xfrm>
          <a:prstGeom prst="line">
            <a:avLst/>
          </a:prstGeom>
          <a:ln w="15875">
            <a:solidFill>
              <a:srgbClr val="595959"/>
            </a:solidFill>
          </a:ln>
        </p:spPr>
      </p:cxnSp>
      <p:cxnSp>
        <p:nvCxnSpPr>
          <p:cNvPr id="50" name="Connector 49"/>
          <p:cNvCxnSpPr/>
          <p:nvPr/>
        </p:nvCxnSpPr>
        <p:spPr>
          <a:xfrm>
            <a:off x="6880860" y="4572000"/>
            <a:ext cx="1005840" cy="594359"/>
          </a:xfrm>
          <a:prstGeom prst="line">
            <a:avLst/>
          </a:prstGeom>
          <a:ln w="15875">
            <a:solidFill>
              <a:srgbClr val="595959"/>
            </a:solidFill>
          </a:ln>
        </p:spPr>
      </p:cxnSp>
      <p:cxnSp>
        <p:nvCxnSpPr>
          <p:cNvPr id="51" name="Connector 50"/>
          <p:cNvCxnSpPr/>
          <p:nvPr/>
        </p:nvCxnSpPr>
        <p:spPr>
          <a:xfrm>
            <a:off x="6880860" y="4572000"/>
            <a:ext cx="0" cy="594359"/>
          </a:xfrm>
          <a:prstGeom prst="line">
            <a:avLst/>
          </a:prstGeom>
          <a:ln w="15875">
            <a:solidFill>
              <a:srgbClr val="595959"/>
            </a:solidFill>
          </a:ln>
        </p:spPr>
      </p:cxnSp>
      <p:cxnSp>
        <p:nvCxnSpPr>
          <p:cNvPr id="52" name="Connector 51"/>
          <p:cNvCxnSpPr/>
          <p:nvPr/>
        </p:nvCxnSpPr>
        <p:spPr>
          <a:xfrm>
            <a:off x="7886700" y="4572000"/>
            <a:ext cx="0" cy="594359"/>
          </a:xfrm>
          <a:prstGeom prst="line">
            <a:avLst/>
          </a:prstGeom>
          <a:ln w="15875">
            <a:solidFill>
              <a:srgbClr val="595959"/>
            </a:solidFill>
          </a:ln>
        </p:spPr>
      </p:cxnSp>
      <p:cxnSp>
        <p:nvCxnSpPr>
          <p:cNvPr id="53" name="Connector 52"/>
          <p:cNvCxnSpPr/>
          <p:nvPr/>
        </p:nvCxnSpPr>
        <p:spPr>
          <a:xfrm flipH="1">
            <a:off x="6880860" y="4572000"/>
            <a:ext cx="1005840" cy="594359"/>
          </a:xfrm>
          <a:prstGeom prst="line">
            <a:avLst/>
          </a:prstGeom>
          <a:ln w="15875">
            <a:solidFill>
              <a:srgbClr val="595959"/>
            </a:solidFill>
          </a:ln>
        </p:spPr>
      </p:cxnSp>
      <p:cxnSp>
        <p:nvCxnSpPr>
          <p:cNvPr id="54" name="Connector 53"/>
          <p:cNvCxnSpPr/>
          <p:nvPr/>
        </p:nvCxnSpPr>
        <p:spPr>
          <a:xfrm flipH="1">
            <a:off x="6880860" y="5166359"/>
            <a:ext cx="1005840" cy="0"/>
          </a:xfrm>
          <a:prstGeom prst="line">
            <a:avLst/>
          </a:prstGeom>
          <a:ln w="15875">
            <a:solidFill>
              <a:srgbClr val="595959"/>
            </a:solidFill>
          </a:ln>
        </p:spPr>
      </p:cxnSp>
      <p:sp>
        <p:nvSpPr>
          <p:cNvPr id="55" name="Oval 54"/>
          <p:cNvSpPr/>
          <p:nvPr/>
        </p:nvSpPr>
        <p:spPr>
          <a:xfrm>
            <a:off x="6761988" y="4453128"/>
            <a:ext cx="237744" cy="237744"/>
          </a:xfrm>
          <a:prstGeom prst="ellipse">
            <a:avLst/>
          </a:prstGeom>
          <a:solidFill>
            <a:srgbClr val="31859C"/>
          </a:solidFill>
          <a:ln>
            <a:noFill/>
          </a:ln>
        </p:spPr>
        <p:txBody>
          <a:bodyPr rtlCol="0" anchor="ctr" wrap="square" lIns="54864" rIns="54864" tIns="54864" bIns="54864"/>
          <a:lstStyle/>
          <a:p>
            <a:pPr algn="ctr"/>
          </a:p>
        </p:txBody>
      </p:sp>
      <p:sp>
        <p:nvSpPr>
          <p:cNvPr id="56" name="Oval 55"/>
          <p:cNvSpPr/>
          <p:nvPr/>
        </p:nvSpPr>
        <p:spPr>
          <a:xfrm>
            <a:off x="7767828" y="4453128"/>
            <a:ext cx="237744" cy="237744"/>
          </a:xfrm>
          <a:prstGeom prst="ellipse">
            <a:avLst/>
          </a:prstGeom>
          <a:solidFill>
            <a:srgbClr val="31859C"/>
          </a:solidFill>
          <a:ln>
            <a:noFill/>
          </a:ln>
        </p:spPr>
        <p:txBody>
          <a:bodyPr rtlCol="0" anchor="ctr" wrap="square" lIns="54864" rIns="54864" tIns="54864" bIns="54864"/>
          <a:lstStyle/>
          <a:p>
            <a:pPr algn="ctr"/>
          </a:p>
        </p:txBody>
      </p:sp>
      <p:sp>
        <p:nvSpPr>
          <p:cNvPr id="57" name="Oval 56"/>
          <p:cNvSpPr/>
          <p:nvPr/>
        </p:nvSpPr>
        <p:spPr>
          <a:xfrm>
            <a:off x="7767828" y="5047488"/>
            <a:ext cx="237744" cy="237744"/>
          </a:xfrm>
          <a:prstGeom prst="ellipse">
            <a:avLst/>
          </a:prstGeom>
          <a:solidFill>
            <a:srgbClr val="31859C"/>
          </a:solidFill>
          <a:ln>
            <a:noFill/>
          </a:ln>
        </p:spPr>
        <p:txBody>
          <a:bodyPr rtlCol="0" anchor="ctr" wrap="square" lIns="54864" rIns="54864" tIns="54864" bIns="54864"/>
          <a:lstStyle/>
          <a:p>
            <a:pPr algn="ctr"/>
          </a:p>
        </p:txBody>
      </p:sp>
      <p:sp>
        <p:nvSpPr>
          <p:cNvPr id="58" name="Oval 57"/>
          <p:cNvSpPr/>
          <p:nvPr/>
        </p:nvSpPr>
        <p:spPr>
          <a:xfrm>
            <a:off x="6761988" y="5047488"/>
            <a:ext cx="237744" cy="237744"/>
          </a:xfrm>
          <a:prstGeom prst="ellipse">
            <a:avLst/>
          </a:prstGeom>
          <a:solidFill>
            <a:srgbClr val="31859C"/>
          </a:solidFill>
          <a:ln>
            <a:noFill/>
          </a:ln>
        </p:spPr>
        <p:txBody>
          <a:bodyPr rtlCol="0" anchor="ctr" wrap="square" lIns="54864" rIns="54864" tIns="54864" bIns="54864"/>
          <a:lstStyle/>
          <a:p>
            <a:pPr algn="ctr"/>
          </a:p>
        </p:txBody>
      </p:sp>
      <p:sp>
        <p:nvSpPr>
          <p:cNvPr id="59" name="TextBox 58"/>
          <p:cNvSpPr txBox="1"/>
          <p:nvPr/>
        </p:nvSpPr>
        <p:spPr>
          <a:xfrm>
            <a:off x="6190488" y="5349240"/>
            <a:ext cx="2386584" cy="868680"/>
          </a:xfrm>
          <a:prstGeom prst="rect">
            <a:avLst/>
          </a:prstGeom>
          <a:noFill/>
        </p:spPr>
        <p:txBody>
          <a:bodyPr wrap="square" anchor="t" lIns="36576" rIns="36576" tIns="36576" bIns="36576"/>
          <a:lstStyle/>
          <a:p>
            <a:pPr algn="ctr">
              <a:spcAft>
                <a:spcPts val="100"/>
              </a:spcAft>
            </a:pPr>
            <a:r>
              <a:rPr sz="1200" b="0" i="0">
                <a:solidFill>
                  <a:srgbClr val="262626"/>
                </a:solidFill>
                <a:latin typeface="Calibri"/>
              </a:rPr>
              <a:t>Peers negotiate directly</a:t>
            </a:r>
          </a:p>
          <a:p>
            <a:pPr algn="ctr">
              <a:spcAft>
                <a:spcPts val="100"/>
              </a:spcAft>
            </a:pPr>
            <a:r>
              <a:rPr sz="1200" b="1" i="0">
                <a:solidFill>
                  <a:srgbClr val="76923C"/>
                </a:solidFill>
                <a:latin typeface="Calibri"/>
              </a:rPr>
              <a:t>+ robust, no single point</a:t>
            </a:r>
          </a:p>
          <a:p>
            <a:pPr algn="ctr">
              <a:spcAft>
                <a:spcPts val="100"/>
              </a:spcAft>
            </a:pPr>
            <a:r>
              <a:rPr sz="1200" b="1" i="0">
                <a:solidFill>
                  <a:srgbClr val="C0504D"/>
                </a:solidFill>
                <a:latin typeface="Calibri"/>
              </a:rPr>
              <a:t>− hard to coordinate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182880"/>
            <a:ext cx="6766560" cy="822960"/>
          </a:xfrm>
        </p:spPr>
        <p:txBody>
          <a:bodyPr wrap="square" anchor="ctr"/>
          <a:lstStyle/>
          <a:p>
            <a:pPr algn="ctr"/>
            <a:r>
              <a:rPr sz="2600">
                <a:solidFill>
                  <a:srgbClr val="000000"/>
                </a:solidFill>
                <a:latin typeface="Times New Roman"/>
              </a:rPr>
              <a:t>Algorithm 3: Memory &amp; Interoperability</a:t>
            </a:r>
            <a:endParaRPr lang="en-IN" dirty="0"/>
          </a:p>
        </p:txBody>
      </p:sp>
      <p:sp>
        <p:nvSpPr>
          <p:cNvPr id="4" name="Slide Number Placeholder 3"/>
          <p:cNvSpPr>
            <a:spLocks noGrp="1"/>
          </p:cNvSpPr>
          <p:nvPr>
            <p:ph type="sldNum" sz="quarter" idx="12"/>
          </p:nvPr>
        </p:nvSpPr>
        <p:spPr/>
        <p:txBody>
          <a:bodyPr/>
          <a:lstStyle/>
          <a:p>
            <a:fld id="{1EC248AB-E565-412B-9D95-9B07D6A4F3F3}" type="slidenum">
              <a:rPr lang="en-GB" smtClean="0"/>
              <a:pPr/>
              <a:t>6</a:t>
            </a:fld>
            <a:endParaRPr lang="en-GB"/>
          </a:p>
        </p:txBody>
      </p:sp>
      <p:pic>
        <p:nvPicPr>
          <p:cNvPr id="5" name="Picture 4" descr="image.jpeg"/>
          <p:cNvPicPr>
            <a:picLocks noChangeAspect="1"/>
          </p:cNvPicPr>
          <p:nvPr/>
        </p:nvPicPr>
        <p:blipFill>
          <a:blip r:embed="rId2"/>
          <a:stretch>
            <a:fillRect/>
          </a:stretch>
        </p:blipFill>
        <p:spPr>
          <a:xfrm>
            <a:off x="164592" y="128016"/>
            <a:ext cx="987552" cy="743789"/>
          </a:xfrm>
          <a:prstGeom prst="rect">
            <a:avLst/>
          </a:prstGeom>
        </p:spPr>
      </p:pic>
      <p:sp>
        <p:nvSpPr>
          <p:cNvPr id="6" name="TextBox 5"/>
          <p:cNvSpPr txBox="1"/>
          <p:nvPr/>
        </p:nvSpPr>
        <p:spPr>
          <a:xfrm>
            <a:off x="365760" y="1024128"/>
            <a:ext cx="4023360" cy="347472"/>
          </a:xfrm>
          <a:prstGeom prst="rect">
            <a:avLst/>
          </a:prstGeom>
          <a:noFill/>
        </p:spPr>
        <p:txBody>
          <a:bodyPr wrap="square" anchor="t" lIns="36576" rIns="36576" tIns="36576" bIns="36576"/>
          <a:lstStyle/>
          <a:p>
            <a:pPr algn="l">
              <a:spcAft>
                <a:spcPts val="400"/>
              </a:spcAft>
            </a:pPr>
            <a:r>
              <a:rPr sz="1600" b="1" i="0">
                <a:solidFill>
                  <a:srgbClr val="1F497D"/>
                </a:solidFill>
                <a:latin typeface="Calibri"/>
              </a:rPr>
              <a:t>Context management [5]</a:t>
            </a:r>
          </a:p>
        </p:txBody>
      </p:sp>
      <p:sp>
        <p:nvSpPr>
          <p:cNvPr id="7" name="Rounded Rectangle 6"/>
          <p:cNvSpPr/>
          <p:nvPr/>
        </p:nvSpPr>
        <p:spPr>
          <a:xfrm>
            <a:off x="365760" y="1463040"/>
            <a:ext cx="1874519" cy="713232"/>
          </a:xfrm>
          <a:prstGeom prst="roundRect">
            <a:avLst>
              <a:gd name="adj" fmla="val 10256"/>
            </a:avLst>
          </a:prstGeom>
          <a:solidFill>
            <a:srgbClr val="4F81BD"/>
          </a:solidFill>
          <a:ln>
            <a:noFill/>
          </a:ln>
        </p:spPr>
        <p:txBody>
          <a:bodyPr rtlCol="0" anchor="ctr" wrap="square" lIns="54864" rIns="54864" tIns="54864" bIns="54864"/>
          <a:lstStyle/>
          <a:p>
            <a:pPr algn="ctr">
              <a:spcAft>
                <a:spcPts val="0"/>
              </a:spcAft>
            </a:pPr>
            <a:r>
              <a:rPr sz="1200" b="1" i="0">
                <a:solidFill>
                  <a:srgbClr val="FFFFFF"/>
                </a:solidFill>
                <a:latin typeface="Calibri"/>
              </a:rPr>
              <a:t>Short-term</a:t>
            </a:r>
          </a:p>
          <a:p>
            <a:pPr algn="ctr">
              <a:spcAft>
                <a:spcPts val="0"/>
              </a:spcAft>
            </a:pPr>
            <a:r>
              <a:rPr sz="1200" b="0" i="0">
                <a:solidFill>
                  <a:srgbClr val="FFFFFF"/>
                </a:solidFill>
                <a:latin typeface="Calibri"/>
              </a:rPr>
              <a:t>recent k turns</a:t>
            </a:r>
          </a:p>
        </p:txBody>
      </p:sp>
      <p:sp>
        <p:nvSpPr>
          <p:cNvPr id="8" name="Rounded Rectangle 7"/>
          <p:cNvSpPr/>
          <p:nvPr/>
        </p:nvSpPr>
        <p:spPr>
          <a:xfrm>
            <a:off x="2423160" y="1463040"/>
            <a:ext cx="1874519" cy="713232"/>
          </a:xfrm>
          <a:prstGeom prst="roundRect">
            <a:avLst>
              <a:gd name="adj" fmla="val 10256"/>
            </a:avLst>
          </a:prstGeom>
          <a:solidFill>
            <a:srgbClr val="4F81BD"/>
          </a:solidFill>
          <a:ln>
            <a:noFill/>
          </a:ln>
        </p:spPr>
        <p:txBody>
          <a:bodyPr rtlCol="0" anchor="ctr" wrap="square" lIns="54864" rIns="54864" tIns="54864" bIns="54864"/>
          <a:lstStyle/>
          <a:p>
            <a:pPr algn="ctr">
              <a:spcAft>
                <a:spcPts val="0"/>
              </a:spcAft>
            </a:pPr>
            <a:r>
              <a:rPr sz="1200" b="1" i="0">
                <a:solidFill>
                  <a:srgbClr val="FFFFFF"/>
                </a:solidFill>
                <a:latin typeface="Calibri"/>
              </a:rPr>
              <a:t>Long-term</a:t>
            </a:r>
          </a:p>
          <a:p>
            <a:pPr algn="ctr">
              <a:spcAft>
                <a:spcPts val="0"/>
              </a:spcAft>
            </a:pPr>
            <a:r>
              <a:rPr sz="1200" b="0" i="0">
                <a:solidFill>
                  <a:srgbClr val="FFFFFF"/>
                </a:solidFill>
                <a:latin typeface="Calibri"/>
              </a:rPr>
              <a:t>retrieve from vector DB</a:t>
            </a:r>
          </a:p>
        </p:txBody>
      </p:sp>
      <p:sp>
        <p:nvSpPr>
          <p:cNvPr id="9" name="Rounded Rectangle 8"/>
          <p:cNvSpPr/>
          <p:nvPr/>
        </p:nvSpPr>
        <p:spPr>
          <a:xfrm>
            <a:off x="1188720" y="2450592"/>
            <a:ext cx="2286000" cy="457200"/>
          </a:xfrm>
          <a:prstGeom prst="roundRect">
            <a:avLst>
              <a:gd name="adj" fmla="val 16000"/>
            </a:avLst>
          </a:prstGeom>
          <a:solidFill>
            <a:srgbClr val="FFFFFF"/>
          </a:solidFill>
          <a:ln w="12700">
            <a:solidFill>
              <a:srgbClr val="1F497D"/>
            </a:solidFill>
          </a:ln>
        </p:spPr>
        <p:txBody>
          <a:bodyPr rtlCol="0" anchor="ctr" wrap="square" lIns="54864" rIns="54864" tIns="54864" bIns="54864"/>
          <a:lstStyle/>
          <a:p>
            <a:pPr algn="ctr">
              <a:spcAft>
                <a:spcPts val="0"/>
              </a:spcAft>
            </a:pPr>
            <a:r>
              <a:rPr sz="1200" b="1" i="0">
                <a:solidFill>
                  <a:srgbClr val="262626"/>
                </a:solidFill>
                <a:latin typeface="Calibri"/>
              </a:rPr>
              <a:t>Merge into context</a:t>
            </a:r>
          </a:p>
        </p:txBody>
      </p:sp>
      <p:cxnSp>
        <p:nvCxnSpPr>
          <p:cNvPr id="10" name="Connector 9"/>
          <p:cNvCxnSpPr/>
          <p:nvPr/>
        </p:nvCxnSpPr>
        <p:spPr>
          <a:xfrm>
            <a:off x="1298448" y="2176272"/>
            <a:ext cx="438912" cy="274320"/>
          </a:xfrm>
          <a:prstGeom prst="line">
            <a:avLst/>
          </a:prstGeom>
          <a:ln w="19050">
            <a:solidFill>
              <a:srgbClr val="595959"/>
            </a:solidFill>
            <a:tailEnd type="triangle" w="med" len="med"/>
          </a:ln>
        </p:spPr>
      </p:cxnSp>
      <p:cxnSp>
        <p:nvCxnSpPr>
          <p:cNvPr id="11" name="Connector 10"/>
          <p:cNvCxnSpPr/>
          <p:nvPr/>
        </p:nvCxnSpPr>
        <p:spPr>
          <a:xfrm flipH="1">
            <a:off x="2926080" y="2176272"/>
            <a:ext cx="438912" cy="274320"/>
          </a:xfrm>
          <a:prstGeom prst="line">
            <a:avLst/>
          </a:prstGeom>
          <a:ln w="19050">
            <a:solidFill>
              <a:srgbClr val="595959"/>
            </a:solidFill>
            <a:tailEnd type="triangle" w="med" len="med"/>
          </a:ln>
        </p:spPr>
      </p:cxnSp>
      <p:sp>
        <p:nvSpPr>
          <p:cNvPr id="12" name="Diamond 11"/>
          <p:cNvSpPr/>
          <p:nvPr/>
        </p:nvSpPr>
        <p:spPr>
          <a:xfrm>
            <a:off x="1371600" y="3127248"/>
            <a:ext cx="1920240" cy="868680"/>
          </a:xfrm>
          <a:prstGeom prst="diamond">
            <a:avLst/>
          </a:prstGeom>
          <a:solidFill>
            <a:srgbClr val="F2C314"/>
          </a:solidFill>
          <a:ln>
            <a:noFill/>
          </a:ln>
        </p:spPr>
        <p:txBody>
          <a:bodyPr rtlCol="0" anchor="ctr" wrap="square" lIns="54864" rIns="54864" tIns="54864" bIns="54864"/>
          <a:lstStyle/>
          <a:p>
            <a:pPr algn="ctr">
              <a:spcAft>
                <a:spcPts val="0"/>
              </a:spcAft>
            </a:pPr>
            <a:r>
              <a:rPr sz="1200" b="1" i="0">
                <a:solidFill>
                  <a:srgbClr val="262626"/>
                </a:solidFill>
                <a:latin typeface="Calibri"/>
              </a:rPr>
              <a:t>Too long?</a:t>
            </a:r>
          </a:p>
        </p:txBody>
      </p:sp>
      <p:cxnSp>
        <p:nvCxnSpPr>
          <p:cNvPr id="13" name="Connector 12"/>
          <p:cNvCxnSpPr/>
          <p:nvPr/>
        </p:nvCxnSpPr>
        <p:spPr>
          <a:xfrm>
            <a:off x="2331720" y="2907792"/>
            <a:ext cx="0" cy="219456"/>
          </a:xfrm>
          <a:prstGeom prst="line">
            <a:avLst/>
          </a:prstGeom>
          <a:ln w="19050">
            <a:solidFill>
              <a:srgbClr val="595959"/>
            </a:solidFill>
            <a:tailEnd type="triangle" w="med" len="med"/>
          </a:ln>
        </p:spPr>
      </p:cxnSp>
      <p:sp>
        <p:nvSpPr>
          <p:cNvPr id="14" name="Rounded Rectangle 13"/>
          <p:cNvSpPr/>
          <p:nvPr/>
        </p:nvSpPr>
        <p:spPr>
          <a:xfrm>
            <a:off x="1188720" y="4251960"/>
            <a:ext cx="2286000" cy="502920"/>
          </a:xfrm>
          <a:prstGeom prst="roundRect">
            <a:avLst>
              <a:gd name="adj" fmla="val 14545"/>
            </a:avLst>
          </a:prstGeom>
          <a:solidFill>
            <a:srgbClr val="FFFFFF"/>
          </a:solidFill>
          <a:ln w="12700">
            <a:solidFill>
              <a:srgbClr val="E46C0A"/>
            </a:solidFill>
          </a:ln>
        </p:spPr>
        <p:txBody>
          <a:bodyPr rtlCol="0" anchor="ctr" wrap="square" lIns="54864" rIns="54864" tIns="54864" bIns="54864"/>
          <a:lstStyle/>
          <a:p>
            <a:pPr algn="ctr">
              <a:spcAft>
                <a:spcPts val="0"/>
              </a:spcAft>
            </a:pPr>
            <a:r>
              <a:rPr sz="1200" b="0" i="0">
                <a:solidFill>
                  <a:srgbClr val="262626"/>
                </a:solidFill>
                <a:latin typeface="Calibri"/>
              </a:rPr>
              <a:t>Summarize / prune old items</a:t>
            </a:r>
          </a:p>
        </p:txBody>
      </p:sp>
      <p:cxnSp>
        <p:nvCxnSpPr>
          <p:cNvPr id="15" name="Connector 14"/>
          <p:cNvCxnSpPr/>
          <p:nvPr/>
        </p:nvCxnSpPr>
        <p:spPr>
          <a:xfrm>
            <a:off x="2331720" y="3995928"/>
            <a:ext cx="0" cy="256032"/>
          </a:xfrm>
          <a:prstGeom prst="line">
            <a:avLst/>
          </a:prstGeom>
          <a:ln w="19050">
            <a:solidFill>
              <a:srgbClr val="595959"/>
            </a:solidFill>
            <a:tailEnd type="triangle" w="med" len="med"/>
          </a:ln>
        </p:spPr>
      </p:cxnSp>
      <p:sp>
        <p:nvSpPr>
          <p:cNvPr id="16" name="TextBox 15"/>
          <p:cNvSpPr txBox="1"/>
          <p:nvPr/>
        </p:nvSpPr>
        <p:spPr>
          <a:xfrm>
            <a:off x="2377440" y="3959352"/>
            <a:ext cx="548640" cy="274320"/>
          </a:xfrm>
          <a:prstGeom prst="rect">
            <a:avLst/>
          </a:prstGeom>
          <a:noFill/>
        </p:spPr>
        <p:txBody>
          <a:bodyPr wrap="square" anchor="t" lIns="36576" rIns="36576" tIns="36576" bIns="36576"/>
          <a:lstStyle/>
          <a:p>
            <a:pPr algn="l">
              <a:spcAft>
                <a:spcPts val="400"/>
              </a:spcAft>
            </a:pPr>
            <a:r>
              <a:rPr sz="1100" b="0" i="0">
                <a:solidFill>
                  <a:srgbClr val="595959"/>
                </a:solidFill>
                <a:latin typeface="Calibri"/>
              </a:rPr>
              <a:t>yes</a:t>
            </a:r>
          </a:p>
        </p:txBody>
      </p:sp>
      <p:sp>
        <p:nvSpPr>
          <p:cNvPr id="17" name="Rounded Rectangle 16"/>
          <p:cNvSpPr/>
          <p:nvPr/>
        </p:nvSpPr>
        <p:spPr>
          <a:xfrm>
            <a:off x="1188720" y="5029200"/>
            <a:ext cx="2286000" cy="548640"/>
          </a:xfrm>
          <a:prstGeom prst="roundRect">
            <a:avLst>
              <a:gd name="adj" fmla="val 13333"/>
            </a:avLst>
          </a:prstGeom>
          <a:solidFill>
            <a:srgbClr val="1F497D"/>
          </a:solidFill>
          <a:ln>
            <a:noFill/>
          </a:ln>
        </p:spPr>
        <p:txBody>
          <a:bodyPr rtlCol="0" anchor="ctr" wrap="square" lIns="54864" rIns="54864" tIns="54864" bIns="54864"/>
          <a:lstStyle/>
          <a:p>
            <a:pPr algn="ctr">
              <a:spcAft>
                <a:spcPts val="0"/>
              </a:spcAft>
            </a:pPr>
            <a:r>
              <a:rPr sz="1300" b="1" i="0">
                <a:solidFill>
                  <a:srgbClr val="FFFFFF"/>
                </a:solidFill>
                <a:latin typeface="Calibri"/>
              </a:rPr>
              <a:t>Context sent to LLM</a:t>
            </a:r>
          </a:p>
        </p:txBody>
      </p:sp>
      <p:cxnSp>
        <p:nvCxnSpPr>
          <p:cNvPr id="18" name="Connector 17"/>
          <p:cNvCxnSpPr/>
          <p:nvPr/>
        </p:nvCxnSpPr>
        <p:spPr>
          <a:xfrm>
            <a:off x="2331720" y="4754880"/>
            <a:ext cx="0" cy="274320"/>
          </a:xfrm>
          <a:prstGeom prst="line">
            <a:avLst/>
          </a:prstGeom>
          <a:ln w="19050">
            <a:solidFill>
              <a:srgbClr val="595959"/>
            </a:solidFill>
            <a:tailEnd type="triangle" w="med" len="med"/>
          </a:ln>
        </p:spPr>
      </p:cxnSp>
      <p:cxnSp>
        <p:nvCxnSpPr>
          <p:cNvPr id="19" name="Connector 18"/>
          <p:cNvCxnSpPr/>
          <p:nvPr/>
        </p:nvCxnSpPr>
        <p:spPr>
          <a:xfrm flipH="1">
            <a:off x="685800" y="3566160"/>
            <a:ext cx="685800" cy="0"/>
          </a:xfrm>
          <a:prstGeom prst="line">
            <a:avLst/>
          </a:prstGeom>
          <a:ln w="19050">
            <a:solidFill>
              <a:srgbClr val="595959"/>
            </a:solidFill>
          </a:ln>
        </p:spPr>
      </p:cxnSp>
      <p:cxnSp>
        <p:nvCxnSpPr>
          <p:cNvPr id="20" name="Connector 19"/>
          <p:cNvCxnSpPr/>
          <p:nvPr/>
        </p:nvCxnSpPr>
        <p:spPr>
          <a:xfrm>
            <a:off x="685800" y="3566160"/>
            <a:ext cx="0" cy="1737360"/>
          </a:xfrm>
          <a:prstGeom prst="line">
            <a:avLst/>
          </a:prstGeom>
          <a:ln w="19050">
            <a:solidFill>
              <a:srgbClr val="595959"/>
            </a:solidFill>
          </a:ln>
        </p:spPr>
      </p:cxnSp>
      <p:cxnSp>
        <p:nvCxnSpPr>
          <p:cNvPr id="21" name="Connector 20"/>
          <p:cNvCxnSpPr/>
          <p:nvPr/>
        </p:nvCxnSpPr>
        <p:spPr>
          <a:xfrm>
            <a:off x="685800" y="5303520"/>
            <a:ext cx="502920" cy="0"/>
          </a:xfrm>
          <a:prstGeom prst="line">
            <a:avLst/>
          </a:prstGeom>
          <a:ln w="19050">
            <a:solidFill>
              <a:srgbClr val="595959"/>
            </a:solidFill>
            <a:tailEnd type="triangle" w="med" len="med"/>
          </a:ln>
        </p:spPr>
      </p:cxnSp>
      <p:sp>
        <p:nvSpPr>
          <p:cNvPr id="22" name="TextBox 21"/>
          <p:cNvSpPr txBox="1"/>
          <p:nvPr/>
        </p:nvSpPr>
        <p:spPr>
          <a:xfrm>
            <a:off x="731520" y="3291840"/>
            <a:ext cx="548640" cy="274320"/>
          </a:xfrm>
          <a:prstGeom prst="rect">
            <a:avLst/>
          </a:prstGeom>
          <a:noFill/>
        </p:spPr>
        <p:txBody>
          <a:bodyPr wrap="square" anchor="t" lIns="36576" rIns="36576" tIns="36576" bIns="36576"/>
          <a:lstStyle/>
          <a:p>
            <a:pPr algn="l">
              <a:spcAft>
                <a:spcPts val="400"/>
              </a:spcAft>
            </a:pPr>
            <a:r>
              <a:rPr sz="1100" b="0" i="0">
                <a:solidFill>
                  <a:srgbClr val="595959"/>
                </a:solidFill>
                <a:latin typeface="Calibri"/>
              </a:rPr>
              <a:t>no</a:t>
            </a:r>
          </a:p>
        </p:txBody>
      </p:sp>
      <p:sp>
        <p:nvSpPr>
          <p:cNvPr id="23" name="TextBox 22"/>
          <p:cNvSpPr txBox="1"/>
          <p:nvPr/>
        </p:nvSpPr>
        <p:spPr>
          <a:xfrm>
            <a:off x="365760" y="5715000"/>
            <a:ext cx="4023360" cy="502920"/>
          </a:xfrm>
          <a:prstGeom prst="rect">
            <a:avLst/>
          </a:prstGeom>
          <a:noFill/>
        </p:spPr>
        <p:txBody>
          <a:bodyPr wrap="square" anchor="t" lIns="36576" rIns="36576" tIns="36576" bIns="36576"/>
          <a:lstStyle/>
          <a:p>
            <a:pPr algn="l">
              <a:spcAft>
                <a:spcPts val="400"/>
              </a:spcAft>
            </a:pPr>
            <a:r>
              <a:rPr sz="1200" b="0" i="1">
                <a:solidFill>
                  <a:srgbClr val="595959"/>
                </a:solidFill>
                <a:latin typeface="Calibri"/>
              </a:rPr>
              <a:t>AgeMem: the agent learns when to store, retrieve, update, summarize or discard.</a:t>
            </a:r>
          </a:p>
        </p:txBody>
      </p:sp>
      <p:cxnSp>
        <p:nvCxnSpPr>
          <p:cNvPr id="24" name="Connector 23"/>
          <p:cNvCxnSpPr/>
          <p:nvPr/>
        </p:nvCxnSpPr>
        <p:spPr>
          <a:xfrm>
            <a:off x="4572000" y="1097280"/>
            <a:ext cx="0" cy="5074920"/>
          </a:xfrm>
          <a:prstGeom prst="line">
            <a:avLst/>
          </a:prstGeom>
          <a:ln w="19050">
            <a:solidFill>
              <a:srgbClr val="DCE6F2"/>
            </a:solidFill>
          </a:ln>
        </p:spPr>
      </p:cxnSp>
      <p:sp>
        <p:nvSpPr>
          <p:cNvPr id="25" name="TextBox 24"/>
          <p:cNvSpPr txBox="1"/>
          <p:nvPr/>
        </p:nvSpPr>
        <p:spPr>
          <a:xfrm>
            <a:off x="4754880" y="1024128"/>
            <a:ext cx="4023360" cy="347472"/>
          </a:xfrm>
          <a:prstGeom prst="rect">
            <a:avLst/>
          </a:prstGeom>
          <a:noFill/>
        </p:spPr>
        <p:txBody>
          <a:bodyPr wrap="square" anchor="t" lIns="36576" rIns="36576" tIns="36576" bIns="36576"/>
          <a:lstStyle/>
          <a:p>
            <a:pPr algn="l">
              <a:spcAft>
                <a:spcPts val="400"/>
              </a:spcAft>
            </a:pPr>
            <a:r>
              <a:rPr sz="1600" b="1" i="0">
                <a:solidFill>
                  <a:srgbClr val="1F497D"/>
                </a:solidFill>
                <a:latin typeface="Calibri"/>
              </a:rPr>
              <a:t>MCP &amp; A2A protocols [6]</a:t>
            </a:r>
          </a:p>
        </p:txBody>
      </p:sp>
      <p:sp>
        <p:nvSpPr>
          <p:cNvPr id="26" name="Rounded Rectangle 25"/>
          <p:cNvSpPr/>
          <p:nvPr/>
        </p:nvSpPr>
        <p:spPr>
          <a:xfrm>
            <a:off x="4800600" y="1600200"/>
            <a:ext cx="1417320" cy="594360"/>
          </a:xfrm>
          <a:prstGeom prst="roundRect">
            <a:avLst>
              <a:gd name="adj" fmla="val 12307"/>
            </a:avLst>
          </a:prstGeom>
          <a:solidFill>
            <a:srgbClr val="1F497D"/>
          </a:solidFill>
          <a:ln>
            <a:noFill/>
          </a:ln>
        </p:spPr>
        <p:txBody>
          <a:bodyPr rtlCol="0" anchor="ctr" wrap="square" lIns="54864" rIns="54864" tIns="54864" bIns="54864"/>
          <a:lstStyle/>
          <a:p>
            <a:pPr algn="ctr">
              <a:spcAft>
                <a:spcPts val="0"/>
              </a:spcAft>
            </a:pPr>
            <a:r>
              <a:rPr sz="1300" b="1" i="0">
                <a:solidFill>
                  <a:srgbClr val="FFFFFF"/>
                </a:solidFill>
                <a:latin typeface="Calibri"/>
              </a:rPr>
              <a:t>Agent A</a:t>
            </a:r>
          </a:p>
        </p:txBody>
      </p:sp>
      <p:sp>
        <p:nvSpPr>
          <p:cNvPr id="27" name="Rounded Rectangle 26"/>
          <p:cNvSpPr/>
          <p:nvPr/>
        </p:nvSpPr>
        <p:spPr>
          <a:xfrm>
            <a:off x="7315200" y="1600200"/>
            <a:ext cx="1417320" cy="594360"/>
          </a:xfrm>
          <a:prstGeom prst="roundRect">
            <a:avLst>
              <a:gd name="adj" fmla="val 12307"/>
            </a:avLst>
          </a:prstGeom>
          <a:solidFill>
            <a:srgbClr val="1F497D"/>
          </a:solidFill>
          <a:ln>
            <a:noFill/>
          </a:ln>
        </p:spPr>
        <p:txBody>
          <a:bodyPr rtlCol="0" anchor="ctr" wrap="square" lIns="54864" rIns="54864" tIns="54864" bIns="54864"/>
          <a:lstStyle/>
          <a:p>
            <a:pPr algn="ctr">
              <a:spcAft>
                <a:spcPts val="0"/>
              </a:spcAft>
            </a:pPr>
            <a:r>
              <a:rPr sz="1300" b="1" i="0">
                <a:solidFill>
                  <a:srgbClr val="FFFFFF"/>
                </a:solidFill>
                <a:latin typeface="Calibri"/>
              </a:rPr>
              <a:t>Agent B</a:t>
            </a:r>
          </a:p>
        </p:txBody>
      </p:sp>
      <p:cxnSp>
        <p:nvCxnSpPr>
          <p:cNvPr id="28" name="Connector 27"/>
          <p:cNvCxnSpPr/>
          <p:nvPr/>
        </p:nvCxnSpPr>
        <p:spPr>
          <a:xfrm>
            <a:off x="6217920" y="1901952"/>
            <a:ext cx="1097280" cy="0"/>
          </a:xfrm>
          <a:prstGeom prst="line">
            <a:avLst/>
          </a:prstGeom>
          <a:ln w="31750">
            <a:solidFill>
              <a:srgbClr val="31859C"/>
            </a:solidFill>
            <a:headEnd type="triangle" w="med" len="med"/>
            <a:tailEnd type="triangle" w="med" len="med"/>
          </a:ln>
        </p:spPr>
      </p:cxnSp>
      <p:sp>
        <p:nvSpPr>
          <p:cNvPr id="29" name="TextBox 28"/>
          <p:cNvSpPr txBox="1"/>
          <p:nvPr/>
        </p:nvSpPr>
        <p:spPr>
          <a:xfrm>
            <a:off x="6217920" y="1371600"/>
            <a:ext cx="1097280" cy="274320"/>
          </a:xfrm>
          <a:prstGeom prst="rect">
            <a:avLst/>
          </a:prstGeom>
          <a:noFill/>
        </p:spPr>
        <p:txBody>
          <a:bodyPr wrap="square" anchor="t" lIns="36576" rIns="36576" tIns="36576" bIns="36576"/>
          <a:lstStyle/>
          <a:p>
            <a:pPr algn="ctr">
              <a:spcAft>
                <a:spcPts val="400"/>
              </a:spcAft>
            </a:pPr>
            <a:r>
              <a:rPr sz="1300" b="1" i="0">
                <a:solidFill>
                  <a:srgbClr val="31859C"/>
                </a:solidFill>
                <a:latin typeface="Calibri"/>
              </a:rPr>
              <a:t>A2A</a:t>
            </a:r>
          </a:p>
        </p:txBody>
      </p:sp>
      <p:sp>
        <p:nvSpPr>
          <p:cNvPr id="30" name="Rounded Rectangle 29"/>
          <p:cNvSpPr/>
          <p:nvPr/>
        </p:nvSpPr>
        <p:spPr>
          <a:xfrm>
            <a:off x="4754880" y="2926080"/>
            <a:ext cx="713232" cy="457200"/>
          </a:xfrm>
          <a:prstGeom prst="roundRect">
            <a:avLst>
              <a:gd name="adj" fmla="val 16000"/>
            </a:avLst>
          </a:prstGeom>
          <a:solidFill>
            <a:srgbClr val="DCE6F2"/>
          </a:solidFill>
          <a:ln>
            <a:noFill/>
          </a:ln>
        </p:spPr>
        <p:txBody>
          <a:bodyPr rtlCol="0" anchor="ctr" wrap="square" lIns="54864" rIns="54864" tIns="54864" bIns="54864"/>
          <a:lstStyle/>
          <a:p>
            <a:pPr algn="ctr">
              <a:spcAft>
                <a:spcPts val="0"/>
              </a:spcAft>
            </a:pPr>
            <a:r>
              <a:rPr sz="1100" b="0" i="0">
                <a:solidFill>
                  <a:srgbClr val="262626"/>
                </a:solidFill>
                <a:latin typeface="Calibri"/>
              </a:rPr>
              <a:t>Database</a:t>
            </a:r>
          </a:p>
        </p:txBody>
      </p:sp>
      <p:cxnSp>
        <p:nvCxnSpPr>
          <p:cNvPr id="31" name="Connector 30"/>
          <p:cNvCxnSpPr/>
          <p:nvPr/>
        </p:nvCxnSpPr>
        <p:spPr>
          <a:xfrm flipH="1">
            <a:off x="5111496" y="2194560"/>
            <a:ext cx="397764" cy="731520"/>
          </a:xfrm>
          <a:prstGeom prst="line">
            <a:avLst/>
          </a:prstGeom>
          <a:ln w="19050">
            <a:solidFill>
              <a:srgbClr val="4F81BD"/>
            </a:solidFill>
            <a:tailEnd type="triangle" w="med" len="med"/>
          </a:ln>
        </p:spPr>
      </p:cxnSp>
      <p:sp>
        <p:nvSpPr>
          <p:cNvPr id="32" name="Rounded Rectangle 31"/>
          <p:cNvSpPr/>
          <p:nvPr/>
        </p:nvSpPr>
        <p:spPr>
          <a:xfrm>
            <a:off x="5504688" y="2926080"/>
            <a:ext cx="713232" cy="457200"/>
          </a:xfrm>
          <a:prstGeom prst="roundRect">
            <a:avLst>
              <a:gd name="adj" fmla="val 16000"/>
            </a:avLst>
          </a:prstGeom>
          <a:solidFill>
            <a:srgbClr val="DCE6F2"/>
          </a:solidFill>
          <a:ln>
            <a:noFill/>
          </a:ln>
        </p:spPr>
        <p:txBody>
          <a:bodyPr rtlCol="0" anchor="ctr" wrap="square" lIns="54864" rIns="54864" tIns="54864" bIns="54864"/>
          <a:lstStyle/>
          <a:p>
            <a:pPr algn="ctr">
              <a:spcAft>
                <a:spcPts val="0"/>
              </a:spcAft>
            </a:pPr>
            <a:r>
              <a:rPr sz="1100" b="0" i="0">
                <a:solidFill>
                  <a:srgbClr val="262626"/>
                </a:solidFill>
                <a:latin typeface="Calibri"/>
              </a:rPr>
              <a:t>GitHub</a:t>
            </a:r>
          </a:p>
        </p:txBody>
      </p:sp>
      <p:cxnSp>
        <p:nvCxnSpPr>
          <p:cNvPr id="33" name="Connector 32"/>
          <p:cNvCxnSpPr/>
          <p:nvPr/>
        </p:nvCxnSpPr>
        <p:spPr>
          <a:xfrm>
            <a:off x="5509260" y="2194560"/>
            <a:ext cx="352044" cy="731520"/>
          </a:xfrm>
          <a:prstGeom prst="line">
            <a:avLst/>
          </a:prstGeom>
          <a:ln w="19050">
            <a:solidFill>
              <a:srgbClr val="4F81BD"/>
            </a:solidFill>
            <a:tailEnd type="triangle" w="med" len="med"/>
          </a:ln>
        </p:spPr>
      </p:cxnSp>
      <p:sp>
        <p:nvSpPr>
          <p:cNvPr id="34" name="Rounded Rectangle 33"/>
          <p:cNvSpPr/>
          <p:nvPr/>
        </p:nvSpPr>
        <p:spPr>
          <a:xfrm>
            <a:off x="5230368" y="2395728"/>
            <a:ext cx="548640" cy="274320"/>
          </a:xfrm>
          <a:prstGeom prst="roundRect">
            <a:avLst>
              <a:gd name="adj" fmla="val 26666"/>
            </a:avLst>
          </a:prstGeom>
          <a:solidFill>
            <a:srgbClr val="FFFFFF"/>
          </a:solidFill>
          <a:ln w="12700">
            <a:solidFill>
              <a:srgbClr val="4F81BD"/>
            </a:solidFill>
          </a:ln>
        </p:spPr>
        <p:txBody>
          <a:bodyPr rtlCol="0" anchor="ctr" wrap="square" lIns="9144" rIns="9144" tIns="9144" bIns="9144"/>
          <a:lstStyle/>
          <a:p>
            <a:pPr algn="ctr">
              <a:spcAft>
                <a:spcPts val="0"/>
              </a:spcAft>
            </a:pPr>
            <a:r>
              <a:rPr sz="1100" b="1" i="0">
                <a:solidFill>
                  <a:srgbClr val="4F81BD"/>
                </a:solidFill>
                <a:latin typeface="Calibri"/>
              </a:rPr>
              <a:t>MCP</a:t>
            </a:r>
          </a:p>
        </p:txBody>
      </p:sp>
      <p:sp>
        <p:nvSpPr>
          <p:cNvPr id="35" name="Rounded Rectangle 34"/>
          <p:cNvSpPr/>
          <p:nvPr/>
        </p:nvSpPr>
        <p:spPr>
          <a:xfrm>
            <a:off x="7269480" y="2926080"/>
            <a:ext cx="713232" cy="457200"/>
          </a:xfrm>
          <a:prstGeom prst="roundRect">
            <a:avLst>
              <a:gd name="adj" fmla="val 16000"/>
            </a:avLst>
          </a:prstGeom>
          <a:solidFill>
            <a:srgbClr val="DCE6F2"/>
          </a:solidFill>
          <a:ln>
            <a:noFill/>
          </a:ln>
        </p:spPr>
        <p:txBody>
          <a:bodyPr rtlCol="0" anchor="ctr" wrap="square" lIns="54864" rIns="54864" tIns="54864" bIns="54864"/>
          <a:lstStyle/>
          <a:p>
            <a:pPr algn="ctr">
              <a:spcAft>
                <a:spcPts val="0"/>
              </a:spcAft>
            </a:pPr>
            <a:r>
              <a:rPr sz="1100" b="0" i="0">
                <a:solidFill>
                  <a:srgbClr val="262626"/>
                </a:solidFill>
                <a:latin typeface="Calibri"/>
              </a:rPr>
              <a:t>Files</a:t>
            </a:r>
          </a:p>
        </p:txBody>
      </p:sp>
      <p:cxnSp>
        <p:nvCxnSpPr>
          <p:cNvPr id="36" name="Connector 35"/>
          <p:cNvCxnSpPr/>
          <p:nvPr/>
        </p:nvCxnSpPr>
        <p:spPr>
          <a:xfrm flipH="1">
            <a:off x="7626096" y="2194560"/>
            <a:ext cx="397764" cy="731520"/>
          </a:xfrm>
          <a:prstGeom prst="line">
            <a:avLst/>
          </a:prstGeom>
          <a:ln w="19050">
            <a:solidFill>
              <a:srgbClr val="4F81BD"/>
            </a:solidFill>
            <a:tailEnd type="triangle" w="med" len="med"/>
          </a:ln>
        </p:spPr>
      </p:cxnSp>
      <p:sp>
        <p:nvSpPr>
          <p:cNvPr id="37" name="Rounded Rectangle 36"/>
          <p:cNvSpPr/>
          <p:nvPr/>
        </p:nvSpPr>
        <p:spPr>
          <a:xfrm>
            <a:off x="8019288" y="2926080"/>
            <a:ext cx="713232" cy="457200"/>
          </a:xfrm>
          <a:prstGeom prst="roundRect">
            <a:avLst>
              <a:gd name="adj" fmla="val 16000"/>
            </a:avLst>
          </a:prstGeom>
          <a:solidFill>
            <a:srgbClr val="DCE6F2"/>
          </a:solidFill>
          <a:ln>
            <a:noFill/>
          </a:ln>
        </p:spPr>
        <p:txBody>
          <a:bodyPr rtlCol="0" anchor="ctr" wrap="square" lIns="54864" rIns="54864" tIns="54864" bIns="54864"/>
          <a:lstStyle/>
          <a:p>
            <a:pPr algn="ctr">
              <a:spcAft>
                <a:spcPts val="0"/>
              </a:spcAft>
            </a:pPr>
            <a:r>
              <a:rPr sz="1100" b="0" i="0">
                <a:solidFill>
                  <a:srgbClr val="262626"/>
                </a:solidFill>
                <a:latin typeface="Calibri"/>
              </a:rPr>
              <a:t>Web API</a:t>
            </a:r>
          </a:p>
        </p:txBody>
      </p:sp>
      <p:cxnSp>
        <p:nvCxnSpPr>
          <p:cNvPr id="38" name="Connector 37"/>
          <p:cNvCxnSpPr/>
          <p:nvPr/>
        </p:nvCxnSpPr>
        <p:spPr>
          <a:xfrm>
            <a:off x="8023860" y="2194560"/>
            <a:ext cx="352044" cy="731520"/>
          </a:xfrm>
          <a:prstGeom prst="line">
            <a:avLst/>
          </a:prstGeom>
          <a:ln w="19050">
            <a:solidFill>
              <a:srgbClr val="4F81BD"/>
            </a:solidFill>
            <a:tailEnd type="triangle" w="med" len="med"/>
          </a:ln>
        </p:spPr>
      </p:cxnSp>
      <p:sp>
        <p:nvSpPr>
          <p:cNvPr id="39" name="Rounded Rectangle 38"/>
          <p:cNvSpPr/>
          <p:nvPr/>
        </p:nvSpPr>
        <p:spPr>
          <a:xfrm>
            <a:off x="7744968" y="2395728"/>
            <a:ext cx="548640" cy="274320"/>
          </a:xfrm>
          <a:prstGeom prst="roundRect">
            <a:avLst>
              <a:gd name="adj" fmla="val 26666"/>
            </a:avLst>
          </a:prstGeom>
          <a:solidFill>
            <a:srgbClr val="FFFFFF"/>
          </a:solidFill>
          <a:ln w="12700">
            <a:solidFill>
              <a:srgbClr val="4F81BD"/>
            </a:solidFill>
          </a:ln>
        </p:spPr>
        <p:txBody>
          <a:bodyPr rtlCol="0" anchor="ctr" wrap="square" lIns="9144" rIns="9144" tIns="9144" bIns="9144"/>
          <a:lstStyle/>
          <a:p>
            <a:pPr algn="ctr">
              <a:spcAft>
                <a:spcPts val="0"/>
              </a:spcAft>
            </a:pPr>
            <a:r>
              <a:rPr sz="1100" b="1" i="0">
                <a:solidFill>
                  <a:srgbClr val="4F81BD"/>
                </a:solidFill>
                <a:latin typeface="Calibri"/>
              </a:rPr>
              <a:t>MCP</a:t>
            </a:r>
          </a:p>
        </p:txBody>
      </p:sp>
      <p:sp>
        <p:nvSpPr>
          <p:cNvPr id="40" name="Rounded Rectangle 39"/>
          <p:cNvSpPr/>
          <p:nvPr/>
        </p:nvSpPr>
        <p:spPr>
          <a:xfrm>
            <a:off x="4754880" y="3703320"/>
            <a:ext cx="1965960" cy="2468880"/>
          </a:xfrm>
          <a:prstGeom prst="roundRect">
            <a:avLst>
              <a:gd name="adj" fmla="val 3720"/>
            </a:avLst>
          </a:prstGeom>
          <a:solidFill>
            <a:srgbClr val="F2F6FB"/>
          </a:solidFill>
          <a:ln>
            <a:noFill/>
          </a:ln>
        </p:spPr>
        <p:txBody>
          <a:bodyPr rtlCol="0" anchor="ctr" wrap="square" lIns="54864" rIns="54864" tIns="54864" bIns="54864"/>
          <a:lstStyle/>
          <a:p>
            <a:pPr algn="ctr"/>
          </a:p>
        </p:txBody>
      </p:sp>
      <p:sp>
        <p:nvSpPr>
          <p:cNvPr id="41" name="TextBox 40"/>
          <p:cNvSpPr txBox="1"/>
          <p:nvPr/>
        </p:nvSpPr>
        <p:spPr>
          <a:xfrm>
            <a:off x="4846320" y="3767328"/>
            <a:ext cx="1783080" cy="384048"/>
          </a:xfrm>
          <a:prstGeom prst="rect">
            <a:avLst/>
          </a:prstGeom>
          <a:noFill/>
        </p:spPr>
        <p:txBody>
          <a:bodyPr wrap="square" anchor="t" lIns="36576" rIns="36576" tIns="36576" bIns="36576"/>
          <a:lstStyle/>
          <a:p>
            <a:pPr algn="ctr">
              <a:spcAft>
                <a:spcPts val="400"/>
              </a:spcAft>
            </a:pPr>
            <a:r>
              <a:rPr sz="1800" b="1" i="0">
                <a:solidFill>
                  <a:srgbClr val="4F81BD"/>
                </a:solidFill>
                <a:latin typeface="Calibri"/>
              </a:rPr>
              <a:t>MCP</a:t>
            </a:r>
          </a:p>
        </p:txBody>
      </p:sp>
      <p:sp>
        <p:nvSpPr>
          <p:cNvPr id="42" name="TextBox 41"/>
          <p:cNvSpPr txBox="1"/>
          <p:nvPr/>
        </p:nvSpPr>
        <p:spPr>
          <a:xfrm>
            <a:off x="4864608" y="4187952"/>
            <a:ext cx="1746504" cy="1920240"/>
          </a:xfrm>
          <a:prstGeom prst="rect">
            <a:avLst/>
          </a:prstGeom>
          <a:noFill/>
        </p:spPr>
        <p:txBody>
          <a:bodyPr wrap="square" anchor="t" lIns="36576" rIns="36576" tIns="36576" bIns="36576"/>
          <a:lstStyle/>
          <a:p>
            <a:pPr algn="ctr">
              <a:spcAft>
                <a:spcPts val="600"/>
              </a:spcAft>
            </a:pPr>
            <a:r>
              <a:rPr sz="1300" b="0" i="0">
                <a:solidFill>
                  <a:srgbClr val="262626"/>
                </a:solidFill>
                <a:latin typeface="Calibri"/>
              </a:rPr>
              <a:t>Standard way for an agent to discover and call tools and data (agent ↔ tool).</a:t>
            </a:r>
          </a:p>
          <a:p>
            <a:pPr algn="ctr">
              <a:spcAft>
                <a:spcPts val="600"/>
              </a:spcAft>
            </a:pPr>
            <a:r>
              <a:rPr sz="1200" b="0" i="1">
                <a:solidFill>
                  <a:srgbClr val="595959"/>
                </a:solidFill>
                <a:latin typeface="Calibri"/>
              </a:rPr>
              <a:t>e.g. query a database or GitHub through an MCP server</a:t>
            </a:r>
          </a:p>
        </p:txBody>
      </p:sp>
      <p:sp>
        <p:nvSpPr>
          <p:cNvPr id="43" name="Rounded Rectangle 42"/>
          <p:cNvSpPr/>
          <p:nvPr/>
        </p:nvSpPr>
        <p:spPr>
          <a:xfrm>
            <a:off x="6812280" y="3703320"/>
            <a:ext cx="1965960" cy="2468880"/>
          </a:xfrm>
          <a:prstGeom prst="roundRect">
            <a:avLst>
              <a:gd name="adj" fmla="val 3720"/>
            </a:avLst>
          </a:prstGeom>
          <a:solidFill>
            <a:srgbClr val="F2F6FB"/>
          </a:solidFill>
          <a:ln>
            <a:noFill/>
          </a:ln>
        </p:spPr>
        <p:txBody>
          <a:bodyPr rtlCol="0" anchor="ctr" wrap="square" lIns="54864" rIns="54864" tIns="54864" bIns="54864"/>
          <a:lstStyle/>
          <a:p>
            <a:pPr algn="ctr"/>
          </a:p>
        </p:txBody>
      </p:sp>
      <p:sp>
        <p:nvSpPr>
          <p:cNvPr id="44" name="TextBox 43"/>
          <p:cNvSpPr txBox="1"/>
          <p:nvPr/>
        </p:nvSpPr>
        <p:spPr>
          <a:xfrm>
            <a:off x="6903720" y="3767328"/>
            <a:ext cx="1783080" cy="384048"/>
          </a:xfrm>
          <a:prstGeom prst="rect">
            <a:avLst/>
          </a:prstGeom>
          <a:noFill/>
        </p:spPr>
        <p:txBody>
          <a:bodyPr wrap="square" anchor="t" lIns="36576" rIns="36576" tIns="36576" bIns="36576"/>
          <a:lstStyle/>
          <a:p>
            <a:pPr algn="ctr">
              <a:spcAft>
                <a:spcPts val="400"/>
              </a:spcAft>
            </a:pPr>
            <a:r>
              <a:rPr sz="1800" b="1" i="0">
                <a:solidFill>
                  <a:srgbClr val="31859C"/>
                </a:solidFill>
                <a:latin typeface="Calibri"/>
              </a:rPr>
              <a:t>A2A</a:t>
            </a:r>
          </a:p>
        </p:txBody>
      </p:sp>
      <p:sp>
        <p:nvSpPr>
          <p:cNvPr id="45" name="TextBox 44"/>
          <p:cNvSpPr txBox="1"/>
          <p:nvPr/>
        </p:nvSpPr>
        <p:spPr>
          <a:xfrm>
            <a:off x="6922008" y="4187952"/>
            <a:ext cx="1746504" cy="1920240"/>
          </a:xfrm>
          <a:prstGeom prst="rect">
            <a:avLst/>
          </a:prstGeom>
          <a:noFill/>
        </p:spPr>
        <p:txBody>
          <a:bodyPr wrap="square" anchor="t" lIns="36576" rIns="36576" tIns="36576" bIns="36576"/>
          <a:lstStyle/>
          <a:p>
            <a:pPr algn="ctr">
              <a:spcAft>
                <a:spcPts val="600"/>
              </a:spcAft>
            </a:pPr>
            <a:r>
              <a:rPr sz="1300" b="0" i="0">
                <a:solidFill>
                  <a:srgbClr val="262626"/>
                </a:solidFill>
                <a:latin typeface="Calibri"/>
              </a:rPr>
              <a:t>Standard way for agents to delegate tasks and share results (agent ↔ agent).</a:t>
            </a:r>
          </a:p>
          <a:p>
            <a:pPr algn="ctr">
              <a:spcAft>
                <a:spcPts val="600"/>
              </a:spcAft>
            </a:pPr>
            <a:r>
              <a:rPr sz="1200" b="0" i="1">
                <a:solidFill>
                  <a:srgbClr val="595959"/>
                </a:solidFill>
                <a:latin typeface="Calibri"/>
              </a:rPr>
              <a:t>e.g. a planner agent hands a coding task to a coding agent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182880"/>
            <a:ext cx="6766560" cy="822960"/>
          </a:xfrm>
        </p:spPr>
        <p:txBody>
          <a:bodyPr wrap="square" anchor="ctr"/>
          <a:lstStyle/>
          <a:p>
            <a:pPr algn="ctr"/>
            <a:r>
              <a:rPr sz="2600">
                <a:solidFill>
                  <a:srgbClr val="000000"/>
                </a:solidFill>
                <a:latin typeface="Times New Roman"/>
              </a:rPr>
              <a:t>Features / Advantages / Disadvantages</a:t>
            </a:r>
            <a:endParaRPr lang="en-IN" dirty="0"/>
          </a:p>
        </p:txBody>
      </p:sp>
      <p:sp>
        <p:nvSpPr>
          <p:cNvPr id="4" name="Slide Number Placeholder 3"/>
          <p:cNvSpPr>
            <a:spLocks noGrp="1"/>
          </p:cNvSpPr>
          <p:nvPr>
            <p:ph type="sldNum" sz="quarter" idx="12"/>
          </p:nvPr>
        </p:nvSpPr>
        <p:spPr/>
        <p:txBody>
          <a:bodyPr/>
          <a:lstStyle/>
          <a:p>
            <a:fld id="{1EC248AB-E565-412B-9D95-9B07D6A4F3F3}" type="slidenum">
              <a:rPr lang="en-GB" smtClean="0"/>
              <a:pPr/>
              <a:t>6</a:t>
            </a:fld>
            <a:endParaRPr lang="en-GB"/>
          </a:p>
        </p:txBody>
      </p:sp>
      <p:pic>
        <p:nvPicPr>
          <p:cNvPr id="5" name="Picture 4" descr="image.jpeg"/>
          <p:cNvPicPr>
            <a:picLocks noChangeAspect="1"/>
          </p:cNvPicPr>
          <p:nvPr/>
        </p:nvPicPr>
        <p:blipFill>
          <a:blip r:embed="rId2"/>
          <a:stretch>
            <a:fillRect/>
          </a:stretch>
        </p:blipFill>
        <p:spPr>
          <a:xfrm>
            <a:off x="164592" y="128016"/>
            <a:ext cx="987552" cy="743789"/>
          </a:xfrm>
          <a:prstGeom prst="rect">
            <a:avLst/>
          </a:prstGeom>
        </p:spPr>
      </p:pic>
      <p:sp>
        <p:nvSpPr>
          <p:cNvPr id="6" name="Rounded Rectangle 5"/>
          <p:cNvSpPr/>
          <p:nvPr/>
        </p:nvSpPr>
        <p:spPr>
          <a:xfrm>
            <a:off x="457200" y="1234440"/>
            <a:ext cx="2606040" cy="4937760"/>
          </a:xfrm>
          <a:prstGeom prst="roundRect">
            <a:avLst>
              <a:gd name="adj" fmla="val 2807"/>
            </a:avLst>
          </a:prstGeom>
          <a:solidFill>
            <a:srgbClr val="F2F6FB"/>
          </a:solidFill>
          <a:ln>
            <a:noFill/>
          </a:ln>
        </p:spPr>
        <p:txBody>
          <a:bodyPr rtlCol="0" anchor="ctr" wrap="square" lIns="54864" rIns="54864" tIns="54864" bIns="54864"/>
          <a:lstStyle/>
          <a:p>
            <a:pPr algn="ctr"/>
          </a:p>
        </p:txBody>
      </p:sp>
      <p:sp>
        <p:nvSpPr>
          <p:cNvPr id="7" name="Rounded Rectangle 6"/>
          <p:cNvSpPr/>
          <p:nvPr/>
        </p:nvSpPr>
        <p:spPr>
          <a:xfrm>
            <a:off x="457200" y="1234440"/>
            <a:ext cx="2606040" cy="566928"/>
          </a:xfrm>
          <a:prstGeom prst="roundRect">
            <a:avLst>
              <a:gd name="adj" fmla="val 12903"/>
            </a:avLst>
          </a:prstGeom>
          <a:solidFill>
            <a:srgbClr val="1F497D"/>
          </a:solidFill>
          <a:ln>
            <a:noFill/>
          </a:ln>
        </p:spPr>
        <p:txBody>
          <a:bodyPr rtlCol="0" anchor="ctr" wrap="square" lIns="109728" rIns="109728" tIns="109728" bIns="109728"/>
          <a:lstStyle/>
          <a:p>
            <a:pPr algn="l">
              <a:spcAft>
                <a:spcPts val="0"/>
              </a:spcAft>
            </a:pPr>
            <a:r>
              <a:rPr sz="1700" b="1" i="0">
                <a:solidFill>
                  <a:srgbClr val="FFFFFF"/>
                </a:solidFill>
                <a:latin typeface="Calibri"/>
              </a:rPr>
              <a:t>Features</a:t>
            </a:r>
          </a:p>
        </p:txBody>
      </p:sp>
      <p:pic>
        <p:nvPicPr>
          <p:cNvPr id="8" name="Picture 7" descr="star_w.png"/>
          <p:cNvPicPr>
            <a:picLocks noChangeAspect="1"/>
          </p:cNvPicPr>
          <p:nvPr/>
        </p:nvPicPr>
        <p:blipFill>
          <a:blip r:embed="rId3"/>
          <a:stretch>
            <a:fillRect/>
          </a:stretch>
        </p:blipFill>
        <p:spPr>
          <a:xfrm>
            <a:off x="2587752" y="1335024"/>
            <a:ext cx="365760" cy="365760"/>
          </a:xfrm>
          <a:prstGeom prst="rect">
            <a:avLst/>
          </a:prstGeom>
        </p:spPr>
      </p:pic>
      <p:sp>
        <p:nvSpPr>
          <p:cNvPr id="9" name="Rounded Rectangle 8"/>
          <p:cNvSpPr/>
          <p:nvPr/>
        </p:nvSpPr>
        <p:spPr>
          <a:xfrm>
            <a:off x="566928" y="1965960"/>
            <a:ext cx="2386584" cy="786384"/>
          </a:xfrm>
          <a:prstGeom prst="roundRect">
            <a:avLst>
              <a:gd name="adj" fmla="val 9302"/>
            </a:avLst>
          </a:prstGeom>
          <a:solidFill>
            <a:srgbClr val="FFFFFF"/>
          </a:solidFill>
          <a:ln w="9525">
            <a:solidFill>
              <a:srgbClr val="DCE6F2"/>
            </a:solidFill>
          </a:ln>
        </p:spPr>
        <p:txBody>
          <a:bodyPr rtlCol="0" anchor="ctr" wrap="square" lIns="54864" rIns="54864" tIns="54864" bIns="54864"/>
          <a:lstStyle/>
          <a:p>
            <a:pPr algn="ctr"/>
          </a:p>
        </p:txBody>
      </p:sp>
      <p:sp>
        <p:nvSpPr>
          <p:cNvPr id="10" name="TextBox 9"/>
          <p:cNvSpPr txBox="1"/>
          <p:nvPr/>
        </p:nvSpPr>
        <p:spPr>
          <a:xfrm>
            <a:off x="658368" y="1993392"/>
            <a:ext cx="2203704" cy="731520"/>
          </a:xfrm>
          <a:prstGeom prst="rect">
            <a:avLst/>
          </a:prstGeom>
          <a:noFill/>
        </p:spPr>
        <p:txBody>
          <a:bodyPr wrap="square" anchor="ctr" lIns="36576" rIns="36576" tIns="36576" bIns="36576"/>
          <a:lstStyle/>
          <a:p>
            <a:pPr algn="l">
              <a:spcAft>
                <a:spcPts val="0"/>
              </a:spcAft>
            </a:pPr>
            <a:r>
              <a:rPr sz="1400" b="1" i="0">
                <a:solidFill>
                  <a:srgbClr val="1F497D"/>
                </a:solidFill>
                <a:latin typeface="Calibri"/>
              </a:rPr>
              <a:t>Autonomy</a:t>
            </a:r>
          </a:p>
          <a:p>
            <a:pPr algn="l">
              <a:spcAft>
                <a:spcPts val="0"/>
              </a:spcAft>
            </a:pPr>
            <a:r>
              <a:rPr sz="1200" b="0" i="0">
                <a:solidFill>
                  <a:srgbClr val="262626"/>
                </a:solidFill>
                <a:latin typeface="Calibri"/>
              </a:rPr>
              <a:t>pursues a goal over many steps</a:t>
            </a:r>
          </a:p>
        </p:txBody>
      </p:sp>
      <p:sp>
        <p:nvSpPr>
          <p:cNvPr id="11" name="Rounded Rectangle 10"/>
          <p:cNvSpPr/>
          <p:nvPr/>
        </p:nvSpPr>
        <p:spPr>
          <a:xfrm>
            <a:off x="566928" y="2825496"/>
            <a:ext cx="2386584" cy="786384"/>
          </a:xfrm>
          <a:prstGeom prst="roundRect">
            <a:avLst>
              <a:gd name="adj" fmla="val 9302"/>
            </a:avLst>
          </a:prstGeom>
          <a:solidFill>
            <a:srgbClr val="FFFFFF"/>
          </a:solidFill>
          <a:ln w="9525">
            <a:solidFill>
              <a:srgbClr val="DCE6F2"/>
            </a:solidFill>
          </a:ln>
        </p:spPr>
        <p:txBody>
          <a:bodyPr rtlCol="0" anchor="ctr" wrap="square" lIns="54864" rIns="54864" tIns="54864" bIns="54864"/>
          <a:lstStyle/>
          <a:p>
            <a:pPr algn="ctr"/>
          </a:p>
        </p:txBody>
      </p:sp>
      <p:sp>
        <p:nvSpPr>
          <p:cNvPr id="12" name="TextBox 11"/>
          <p:cNvSpPr txBox="1"/>
          <p:nvPr/>
        </p:nvSpPr>
        <p:spPr>
          <a:xfrm>
            <a:off x="658368" y="2852928"/>
            <a:ext cx="2203704" cy="731520"/>
          </a:xfrm>
          <a:prstGeom prst="rect">
            <a:avLst/>
          </a:prstGeom>
          <a:noFill/>
        </p:spPr>
        <p:txBody>
          <a:bodyPr wrap="square" anchor="ctr" lIns="36576" rIns="36576" tIns="36576" bIns="36576"/>
          <a:lstStyle/>
          <a:p>
            <a:pPr algn="l">
              <a:spcAft>
                <a:spcPts val="0"/>
              </a:spcAft>
            </a:pPr>
            <a:r>
              <a:rPr sz="1400" b="1" i="0">
                <a:solidFill>
                  <a:srgbClr val="1F497D"/>
                </a:solidFill>
                <a:latin typeface="Calibri"/>
              </a:rPr>
              <a:t>Planning</a:t>
            </a:r>
          </a:p>
          <a:p>
            <a:pPr algn="l">
              <a:spcAft>
                <a:spcPts val="0"/>
              </a:spcAft>
            </a:pPr>
            <a:r>
              <a:rPr sz="1200" b="0" i="0">
                <a:solidFill>
                  <a:srgbClr val="262626"/>
                </a:solidFill>
                <a:latin typeface="Calibri"/>
              </a:rPr>
              <a:t>breaks goals into subtasks</a:t>
            </a:r>
          </a:p>
        </p:txBody>
      </p:sp>
      <p:sp>
        <p:nvSpPr>
          <p:cNvPr id="13" name="Rounded Rectangle 12"/>
          <p:cNvSpPr/>
          <p:nvPr/>
        </p:nvSpPr>
        <p:spPr>
          <a:xfrm>
            <a:off x="566928" y="3685032"/>
            <a:ext cx="2386584" cy="786384"/>
          </a:xfrm>
          <a:prstGeom prst="roundRect">
            <a:avLst>
              <a:gd name="adj" fmla="val 9302"/>
            </a:avLst>
          </a:prstGeom>
          <a:solidFill>
            <a:srgbClr val="FFFFFF"/>
          </a:solidFill>
          <a:ln w="9525">
            <a:solidFill>
              <a:srgbClr val="DCE6F2"/>
            </a:solidFill>
          </a:ln>
        </p:spPr>
        <p:txBody>
          <a:bodyPr rtlCol="0" anchor="ctr" wrap="square" lIns="54864" rIns="54864" tIns="54864" bIns="54864"/>
          <a:lstStyle/>
          <a:p>
            <a:pPr algn="ctr"/>
          </a:p>
        </p:txBody>
      </p:sp>
      <p:sp>
        <p:nvSpPr>
          <p:cNvPr id="14" name="TextBox 13"/>
          <p:cNvSpPr txBox="1"/>
          <p:nvPr/>
        </p:nvSpPr>
        <p:spPr>
          <a:xfrm>
            <a:off x="658368" y="3712464"/>
            <a:ext cx="2203704" cy="731520"/>
          </a:xfrm>
          <a:prstGeom prst="rect">
            <a:avLst/>
          </a:prstGeom>
          <a:noFill/>
        </p:spPr>
        <p:txBody>
          <a:bodyPr wrap="square" anchor="ctr" lIns="36576" rIns="36576" tIns="36576" bIns="36576"/>
          <a:lstStyle/>
          <a:p>
            <a:pPr algn="l">
              <a:spcAft>
                <a:spcPts val="0"/>
              </a:spcAft>
            </a:pPr>
            <a:r>
              <a:rPr sz="1400" b="1" i="0">
                <a:solidFill>
                  <a:srgbClr val="1F497D"/>
                </a:solidFill>
                <a:latin typeface="Calibri"/>
              </a:rPr>
              <a:t>Tool use</a:t>
            </a:r>
          </a:p>
          <a:p>
            <a:pPr algn="l">
              <a:spcAft>
                <a:spcPts val="0"/>
              </a:spcAft>
            </a:pPr>
            <a:r>
              <a:rPr sz="1200" b="0" i="0">
                <a:solidFill>
                  <a:srgbClr val="262626"/>
                </a:solidFill>
                <a:latin typeface="Calibri"/>
              </a:rPr>
              <a:t>web, code, APIs, databases</a:t>
            </a:r>
          </a:p>
        </p:txBody>
      </p:sp>
      <p:sp>
        <p:nvSpPr>
          <p:cNvPr id="15" name="Rounded Rectangle 14"/>
          <p:cNvSpPr/>
          <p:nvPr/>
        </p:nvSpPr>
        <p:spPr>
          <a:xfrm>
            <a:off x="566928" y="4544568"/>
            <a:ext cx="2386584" cy="786384"/>
          </a:xfrm>
          <a:prstGeom prst="roundRect">
            <a:avLst>
              <a:gd name="adj" fmla="val 9302"/>
            </a:avLst>
          </a:prstGeom>
          <a:solidFill>
            <a:srgbClr val="FFFFFF"/>
          </a:solidFill>
          <a:ln w="9525">
            <a:solidFill>
              <a:srgbClr val="DCE6F2"/>
            </a:solidFill>
          </a:ln>
        </p:spPr>
        <p:txBody>
          <a:bodyPr rtlCol="0" anchor="ctr" wrap="square" lIns="54864" rIns="54864" tIns="54864" bIns="54864"/>
          <a:lstStyle/>
          <a:p>
            <a:pPr algn="ctr"/>
          </a:p>
        </p:txBody>
      </p:sp>
      <p:sp>
        <p:nvSpPr>
          <p:cNvPr id="16" name="TextBox 15"/>
          <p:cNvSpPr txBox="1"/>
          <p:nvPr/>
        </p:nvSpPr>
        <p:spPr>
          <a:xfrm>
            <a:off x="658368" y="4572000"/>
            <a:ext cx="2203704" cy="731520"/>
          </a:xfrm>
          <a:prstGeom prst="rect">
            <a:avLst/>
          </a:prstGeom>
          <a:noFill/>
        </p:spPr>
        <p:txBody>
          <a:bodyPr wrap="square" anchor="ctr" lIns="36576" rIns="36576" tIns="36576" bIns="36576"/>
          <a:lstStyle/>
          <a:p>
            <a:pPr algn="l">
              <a:spcAft>
                <a:spcPts val="0"/>
              </a:spcAft>
            </a:pPr>
            <a:r>
              <a:rPr sz="1400" b="1" i="0">
                <a:solidFill>
                  <a:srgbClr val="1F497D"/>
                </a:solidFill>
                <a:latin typeface="Calibri"/>
              </a:rPr>
              <a:t>Memory</a:t>
            </a:r>
          </a:p>
          <a:p>
            <a:pPr algn="l">
              <a:spcAft>
                <a:spcPts val="0"/>
              </a:spcAft>
            </a:pPr>
            <a:r>
              <a:rPr sz="1200" b="0" i="0">
                <a:solidFill>
                  <a:srgbClr val="262626"/>
                </a:solidFill>
                <a:latin typeface="Calibri"/>
              </a:rPr>
              <a:t>short- and long-term context</a:t>
            </a:r>
          </a:p>
        </p:txBody>
      </p:sp>
      <p:sp>
        <p:nvSpPr>
          <p:cNvPr id="17" name="Rounded Rectangle 16"/>
          <p:cNvSpPr/>
          <p:nvPr/>
        </p:nvSpPr>
        <p:spPr>
          <a:xfrm>
            <a:off x="566928" y="5404104"/>
            <a:ext cx="2386584" cy="786384"/>
          </a:xfrm>
          <a:prstGeom prst="roundRect">
            <a:avLst>
              <a:gd name="adj" fmla="val 9302"/>
            </a:avLst>
          </a:prstGeom>
          <a:solidFill>
            <a:srgbClr val="FFFFFF"/>
          </a:solidFill>
          <a:ln w="9525">
            <a:solidFill>
              <a:srgbClr val="DCE6F2"/>
            </a:solidFill>
          </a:ln>
        </p:spPr>
        <p:txBody>
          <a:bodyPr rtlCol="0" anchor="ctr" wrap="square" lIns="54864" rIns="54864" tIns="54864" bIns="54864"/>
          <a:lstStyle/>
          <a:p>
            <a:pPr algn="ctr"/>
          </a:p>
        </p:txBody>
      </p:sp>
      <p:sp>
        <p:nvSpPr>
          <p:cNvPr id="18" name="TextBox 17"/>
          <p:cNvSpPr txBox="1"/>
          <p:nvPr/>
        </p:nvSpPr>
        <p:spPr>
          <a:xfrm>
            <a:off x="658368" y="5431536"/>
            <a:ext cx="2203704" cy="731520"/>
          </a:xfrm>
          <a:prstGeom prst="rect">
            <a:avLst/>
          </a:prstGeom>
          <a:noFill/>
        </p:spPr>
        <p:txBody>
          <a:bodyPr wrap="square" anchor="ctr" lIns="36576" rIns="36576" tIns="36576" bIns="36576"/>
          <a:lstStyle/>
          <a:p>
            <a:pPr algn="l">
              <a:spcAft>
                <a:spcPts val="0"/>
              </a:spcAft>
            </a:pPr>
            <a:r>
              <a:rPr sz="1400" b="1" i="0">
                <a:solidFill>
                  <a:srgbClr val="1F497D"/>
                </a:solidFill>
                <a:latin typeface="Calibri"/>
              </a:rPr>
              <a:t>Reflection</a:t>
            </a:r>
          </a:p>
          <a:p>
            <a:pPr algn="l">
              <a:spcAft>
                <a:spcPts val="0"/>
              </a:spcAft>
            </a:pPr>
            <a:r>
              <a:rPr sz="1200" b="0" i="0">
                <a:solidFill>
                  <a:srgbClr val="262626"/>
                </a:solidFill>
                <a:latin typeface="Calibri"/>
              </a:rPr>
              <a:t>verifies and replans</a:t>
            </a:r>
          </a:p>
        </p:txBody>
      </p:sp>
      <p:sp>
        <p:nvSpPr>
          <p:cNvPr id="19" name="Rounded Rectangle 18"/>
          <p:cNvSpPr/>
          <p:nvPr/>
        </p:nvSpPr>
        <p:spPr>
          <a:xfrm>
            <a:off x="3268980" y="1234440"/>
            <a:ext cx="2606040" cy="4937760"/>
          </a:xfrm>
          <a:prstGeom prst="roundRect">
            <a:avLst>
              <a:gd name="adj" fmla="val 2807"/>
            </a:avLst>
          </a:prstGeom>
          <a:solidFill>
            <a:srgbClr val="F2F6FB"/>
          </a:solidFill>
          <a:ln>
            <a:noFill/>
          </a:ln>
        </p:spPr>
        <p:txBody>
          <a:bodyPr rtlCol="0" anchor="ctr" wrap="square" lIns="54864" rIns="54864" tIns="54864" bIns="54864"/>
          <a:lstStyle/>
          <a:p>
            <a:pPr algn="ctr"/>
          </a:p>
        </p:txBody>
      </p:sp>
      <p:sp>
        <p:nvSpPr>
          <p:cNvPr id="20" name="Rounded Rectangle 19"/>
          <p:cNvSpPr/>
          <p:nvPr/>
        </p:nvSpPr>
        <p:spPr>
          <a:xfrm>
            <a:off x="3268980" y="1234440"/>
            <a:ext cx="2606040" cy="566928"/>
          </a:xfrm>
          <a:prstGeom prst="roundRect">
            <a:avLst>
              <a:gd name="adj" fmla="val 12903"/>
            </a:avLst>
          </a:prstGeom>
          <a:solidFill>
            <a:srgbClr val="76923C"/>
          </a:solidFill>
          <a:ln>
            <a:noFill/>
          </a:ln>
        </p:spPr>
        <p:txBody>
          <a:bodyPr rtlCol="0" anchor="ctr" wrap="square" lIns="109728" rIns="109728" tIns="109728" bIns="109728"/>
          <a:lstStyle/>
          <a:p>
            <a:pPr algn="l">
              <a:spcAft>
                <a:spcPts val="0"/>
              </a:spcAft>
            </a:pPr>
            <a:r>
              <a:rPr sz="1700" b="1" i="0">
                <a:solidFill>
                  <a:srgbClr val="FFFFFF"/>
                </a:solidFill>
                <a:latin typeface="Calibri"/>
              </a:rPr>
              <a:t>Advantages</a:t>
            </a:r>
          </a:p>
        </p:txBody>
      </p:sp>
      <p:pic>
        <p:nvPicPr>
          <p:cNvPr id="21" name="Picture 20" descr="check_w.png"/>
          <p:cNvPicPr>
            <a:picLocks noChangeAspect="1"/>
          </p:cNvPicPr>
          <p:nvPr/>
        </p:nvPicPr>
        <p:blipFill>
          <a:blip r:embed="rId4"/>
          <a:stretch>
            <a:fillRect/>
          </a:stretch>
        </p:blipFill>
        <p:spPr>
          <a:xfrm>
            <a:off x="5399532" y="1335024"/>
            <a:ext cx="365760" cy="365760"/>
          </a:xfrm>
          <a:prstGeom prst="rect">
            <a:avLst/>
          </a:prstGeom>
        </p:spPr>
      </p:pic>
      <p:sp>
        <p:nvSpPr>
          <p:cNvPr id="22" name="Rounded Rectangle 21"/>
          <p:cNvSpPr/>
          <p:nvPr/>
        </p:nvSpPr>
        <p:spPr>
          <a:xfrm>
            <a:off x="3378708" y="1965960"/>
            <a:ext cx="2386584" cy="786384"/>
          </a:xfrm>
          <a:prstGeom prst="roundRect">
            <a:avLst>
              <a:gd name="adj" fmla="val 9302"/>
            </a:avLst>
          </a:prstGeom>
          <a:solidFill>
            <a:srgbClr val="FFFFFF"/>
          </a:solidFill>
          <a:ln w="9525">
            <a:solidFill>
              <a:srgbClr val="DCE6F2"/>
            </a:solidFill>
          </a:ln>
        </p:spPr>
        <p:txBody>
          <a:bodyPr rtlCol="0" anchor="ctr" wrap="square" lIns="54864" rIns="54864" tIns="54864" bIns="54864"/>
          <a:lstStyle/>
          <a:p>
            <a:pPr algn="ctr"/>
          </a:p>
        </p:txBody>
      </p:sp>
      <p:sp>
        <p:nvSpPr>
          <p:cNvPr id="23" name="TextBox 22"/>
          <p:cNvSpPr txBox="1"/>
          <p:nvPr/>
        </p:nvSpPr>
        <p:spPr>
          <a:xfrm>
            <a:off x="3470148" y="1993392"/>
            <a:ext cx="2203704" cy="731520"/>
          </a:xfrm>
          <a:prstGeom prst="rect">
            <a:avLst/>
          </a:prstGeom>
          <a:noFill/>
        </p:spPr>
        <p:txBody>
          <a:bodyPr wrap="square" anchor="ctr" lIns="36576" rIns="36576" tIns="36576" bIns="36576"/>
          <a:lstStyle/>
          <a:p>
            <a:pPr algn="l">
              <a:spcAft>
                <a:spcPts val="0"/>
              </a:spcAft>
            </a:pPr>
            <a:r>
              <a:rPr sz="1400" b="1" i="0">
                <a:solidFill>
                  <a:srgbClr val="76923C"/>
                </a:solidFill>
                <a:latin typeface="Calibri"/>
              </a:rPr>
              <a:t>Complex tasks</a:t>
            </a:r>
          </a:p>
          <a:p>
            <a:pPr algn="l">
              <a:spcAft>
                <a:spcPts val="0"/>
              </a:spcAft>
            </a:pPr>
            <a:r>
              <a:rPr sz="1200" b="0" i="0">
                <a:solidFill>
                  <a:srgbClr val="262626"/>
                </a:solidFill>
                <a:latin typeface="Calibri"/>
              </a:rPr>
              <a:t>handles multi-step workflows</a:t>
            </a:r>
          </a:p>
        </p:txBody>
      </p:sp>
      <p:sp>
        <p:nvSpPr>
          <p:cNvPr id="24" name="Rounded Rectangle 23"/>
          <p:cNvSpPr/>
          <p:nvPr/>
        </p:nvSpPr>
        <p:spPr>
          <a:xfrm>
            <a:off x="3378708" y="2825496"/>
            <a:ext cx="2386584" cy="786384"/>
          </a:xfrm>
          <a:prstGeom prst="roundRect">
            <a:avLst>
              <a:gd name="adj" fmla="val 9302"/>
            </a:avLst>
          </a:prstGeom>
          <a:solidFill>
            <a:srgbClr val="FFFFFF"/>
          </a:solidFill>
          <a:ln w="9525">
            <a:solidFill>
              <a:srgbClr val="DCE6F2"/>
            </a:solidFill>
          </a:ln>
        </p:spPr>
        <p:txBody>
          <a:bodyPr rtlCol="0" anchor="ctr" wrap="square" lIns="54864" rIns="54864" tIns="54864" bIns="54864"/>
          <a:lstStyle/>
          <a:p>
            <a:pPr algn="ctr"/>
          </a:p>
        </p:txBody>
      </p:sp>
      <p:sp>
        <p:nvSpPr>
          <p:cNvPr id="25" name="TextBox 24"/>
          <p:cNvSpPr txBox="1"/>
          <p:nvPr/>
        </p:nvSpPr>
        <p:spPr>
          <a:xfrm>
            <a:off x="3470148" y="2852928"/>
            <a:ext cx="2203704" cy="731520"/>
          </a:xfrm>
          <a:prstGeom prst="rect">
            <a:avLst/>
          </a:prstGeom>
          <a:noFill/>
        </p:spPr>
        <p:txBody>
          <a:bodyPr wrap="square" anchor="ctr" lIns="36576" rIns="36576" tIns="36576" bIns="36576"/>
          <a:lstStyle/>
          <a:p>
            <a:pPr algn="l">
              <a:spcAft>
                <a:spcPts val="0"/>
              </a:spcAft>
            </a:pPr>
            <a:r>
              <a:rPr sz="1400" b="1" i="0">
                <a:solidFill>
                  <a:srgbClr val="76923C"/>
                </a:solidFill>
                <a:latin typeface="Calibri"/>
              </a:rPr>
              <a:t>Specialisation</a:t>
            </a:r>
          </a:p>
          <a:p>
            <a:pPr algn="l">
              <a:spcAft>
                <a:spcPts val="0"/>
              </a:spcAft>
            </a:pPr>
            <a:r>
              <a:rPr sz="1200" b="0" i="0">
                <a:solidFill>
                  <a:srgbClr val="262626"/>
                </a:solidFill>
                <a:latin typeface="Calibri"/>
              </a:rPr>
              <a:t>agents work in parallel</a:t>
            </a:r>
          </a:p>
        </p:txBody>
      </p:sp>
      <p:sp>
        <p:nvSpPr>
          <p:cNvPr id="26" name="Rounded Rectangle 25"/>
          <p:cNvSpPr/>
          <p:nvPr/>
        </p:nvSpPr>
        <p:spPr>
          <a:xfrm>
            <a:off x="3378708" y="3685032"/>
            <a:ext cx="2386584" cy="786384"/>
          </a:xfrm>
          <a:prstGeom prst="roundRect">
            <a:avLst>
              <a:gd name="adj" fmla="val 9302"/>
            </a:avLst>
          </a:prstGeom>
          <a:solidFill>
            <a:srgbClr val="FFFFFF"/>
          </a:solidFill>
          <a:ln w="9525">
            <a:solidFill>
              <a:srgbClr val="DCE6F2"/>
            </a:solidFill>
          </a:ln>
        </p:spPr>
        <p:txBody>
          <a:bodyPr rtlCol="0" anchor="ctr" wrap="square" lIns="54864" rIns="54864" tIns="54864" bIns="54864"/>
          <a:lstStyle/>
          <a:p>
            <a:pPr algn="ctr"/>
          </a:p>
        </p:txBody>
      </p:sp>
      <p:sp>
        <p:nvSpPr>
          <p:cNvPr id="27" name="TextBox 26"/>
          <p:cNvSpPr txBox="1"/>
          <p:nvPr/>
        </p:nvSpPr>
        <p:spPr>
          <a:xfrm>
            <a:off x="3470148" y="3712464"/>
            <a:ext cx="2203704" cy="731520"/>
          </a:xfrm>
          <a:prstGeom prst="rect">
            <a:avLst/>
          </a:prstGeom>
          <a:noFill/>
        </p:spPr>
        <p:txBody>
          <a:bodyPr wrap="square" anchor="ctr" lIns="36576" rIns="36576" tIns="36576" bIns="36576"/>
          <a:lstStyle/>
          <a:p>
            <a:pPr algn="l">
              <a:spcAft>
                <a:spcPts val="0"/>
              </a:spcAft>
            </a:pPr>
            <a:r>
              <a:rPr sz="1400" b="1" i="0">
                <a:solidFill>
                  <a:srgbClr val="76923C"/>
                </a:solidFill>
                <a:latin typeface="Calibri"/>
              </a:rPr>
              <a:t>Live data</a:t>
            </a:r>
          </a:p>
          <a:p>
            <a:pPr algn="l">
              <a:spcAft>
                <a:spcPts val="0"/>
              </a:spcAft>
            </a:pPr>
            <a:r>
              <a:rPr sz="1200" b="0" i="0">
                <a:solidFill>
                  <a:srgbClr val="262626"/>
                </a:solidFill>
                <a:latin typeface="Calibri"/>
              </a:rPr>
              <a:t>external tools and sources</a:t>
            </a:r>
          </a:p>
        </p:txBody>
      </p:sp>
      <p:sp>
        <p:nvSpPr>
          <p:cNvPr id="28" name="Rounded Rectangle 27"/>
          <p:cNvSpPr/>
          <p:nvPr/>
        </p:nvSpPr>
        <p:spPr>
          <a:xfrm>
            <a:off x="3378708" y="4544568"/>
            <a:ext cx="2386584" cy="786384"/>
          </a:xfrm>
          <a:prstGeom prst="roundRect">
            <a:avLst>
              <a:gd name="adj" fmla="val 9302"/>
            </a:avLst>
          </a:prstGeom>
          <a:solidFill>
            <a:srgbClr val="FFFFFF"/>
          </a:solidFill>
          <a:ln w="9525">
            <a:solidFill>
              <a:srgbClr val="DCE6F2"/>
            </a:solidFill>
          </a:ln>
        </p:spPr>
        <p:txBody>
          <a:bodyPr rtlCol="0" anchor="ctr" wrap="square" lIns="54864" rIns="54864" tIns="54864" bIns="54864"/>
          <a:lstStyle/>
          <a:p>
            <a:pPr algn="ctr"/>
          </a:p>
        </p:txBody>
      </p:sp>
      <p:sp>
        <p:nvSpPr>
          <p:cNvPr id="29" name="TextBox 28"/>
          <p:cNvSpPr txBox="1"/>
          <p:nvPr/>
        </p:nvSpPr>
        <p:spPr>
          <a:xfrm>
            <a:off x="3470148" y="4572000"/>
            <a:ext cx="2203704" cy="731520"/>
          </a:xfrm>
          <a:prstGeom prst="rect">
            <a:avLst/>
          </a:prstGeom>
          <a:noFill/>
        </p:spPr>
        <p:txBody>
          <a:bodyPr wrap="square" anchor="ctr" lIns="36576" rIns="36576" tIns="36576" bIns="36576"/>
          <a:lstStyle/>
          <a:p>
            <a:pPr algn="l">
              <a:spcAft>
                <a:spcPts val="0"/>
              </a:spcAft>
            </a:pPr>
            <a:r>
              <a:rPr sz="1400" b="1" i="0">
                <a:solidFill>
                  <a:srgbClr val="76923C"/>
                </a:solidFill>
                <a:latin typeface="Calibri"/>
              </a:rPr>
              <a:t>Productivity</a:t>
            </a:r>
          </a:p>
          <a:p>
            <a:pPr algn="l">
              <a:spcAft>
                <a:spcPts val="0"/>
              </a:spcAft>
            </a:pPr>
            <a:r>
              <a:rPr sz="1200" b="0" i="0">
                <a:solidFill>
                  <a:srgbClr val="262626"/>
                </a:solidFill>
                <a:latin typeface="Calibri"/>
              </a:rPr>
              <a:t>less repetitive human effort</a:t>
            </a:r>
          </a:p>
        </p:txBody>
      </p:sp>
      <p:sp>
        <p:nvSpPr>
          <p:cNvPr id="30" name="Rounded Rectangle 29"/>
          <p:cNvSpPr/>
          <p:nvPr/>
        </p:nvSpPr>
        <p:spPr>
          <a:xfrm>
            <a:off x="3378708" y="5404104"/>
            <a:ext cx="2386584" cy="786384"/>
          </a:xfrm>
          <a:prstGeom prst="roundRect">
            <a:avLst>
              <a:gd name="adj" fmla="val 9302"/>
            </a:avLst>
          </a:prstGeom>
          <a:solidFill>
            <a:srgbClr val="FFFFFF"/>
          </a:solidFill>
          <a:ln w="9525">
            <a:solidFill>
              <a:srgbClr val="DCE6F2"/>
            </a:solidFill>
          </a:ln>
        </p:spPr>
        <p:txBody>
          <a:bodyPr rtlCol="0" anchor="ctr" wrap="square" lIns="54864" rIns="54864" tIns="54864" bIns="54864"/>
          <a:lstStyle/>
          <a:p>
            <a:pPr algn="ctr"/>
          </a:p>
        </p:txBody>
      </p:sp>
      <p:sp>
        <p:nvSpPr>
          <p:cNvPr id="31" name="TextBox 30"/>
          <p:cNvSpPr txBox="1"/>
          <p:nvPr/>
        </p:nvSpPr>
        <p:spPr>
          <a:xfrm>
            <a:off x="3470148" y="5431536"/>
            <a:ext cx="2203704" cy="731520"/>
          </a:xfrm>
          <a:prstGeom prst="rect">
            <a:avLst/>
          </a:prstGeom>
          <a:noFill/>
        </p:spPr>
        <p:txBody>
          <a:bodyPr wrap="square" anchor="ctr" lIns="36576" rIns="36576" tIns="36576" bIns="36576"/>
          <a:lstStyle/>
          <a:p>
            <a:pPr algn="l">
              <a:spcAft>
                <a:spcPts val="0"/>
              </a:spcAft>
            </a:pPr>
            <a:r>
              <a:rPr sz="1400" b="1" i="0">
                <a:solidFill>
                  <a:srgbClr val="76923C"/>
                </a:solidFill>
                <a:latin typeface="Calibri"/>
              </a:rPr>
              <a:t>Interoperable</a:t>
            </a:r>
          </a:p>
          <a:p>
            <a:pPr algn="l">
              <a:spcAft>
                <a:spcPts val="0"/>
              </a:spcAft>
            </a:pPr>
            <a:r>
              <a:rPr sz="1200" b="0" i="0">
                <a:solidFill>
                  <a:srgbClr val="262626"/>
                </a:solidFill>
                <a:latin typeface="Calibri"/>
              </a:rPr>
              <a:t>MCP / A2A ease scaling [6]</a:t>
            </a:r>
          </a:p>
        </p:txBody>
      </p:sp>
      <p:sp>
        <p:nvSpPr>
          <p:cNvPr id="32" name="Rounded Rectangle 31"/>
          <p:cNvSpPr/>
          <p:nvPr/>
        </p:nvSpPr>
        <p:spPr>
          <a:xfrm>
            <a:off x="6080760" y="1234440"/>
            <a:ext cx="2606040" cy="4937760"/>
          </a:xfrm>
          <a:prstGeom prst="roundRect">
            <a:avLst>
              <a:gd name="adj" fmla="val 2807"/>
            </a:avLst>
          </a:prstGeom>
          <a:solidFill>
            <a:srgbClr val="F2F6FB"/>
          </a:solidFill>
          <a:ln>
            <a:noFill/>
          </a:ln>
        </p:spPr>
        <p:txBody>
          <a:bodyPr rtlCol="0" anchor="ctr" wrap="square" lIns="54864" rIns="54864" tIns="54864" bIns="54864"/>
          <a:lstStyle/>
          <a:p>
            <a:pPr algn="ctr"/>
          </a:p>
        </p:txBody>
      </p:sp>
      <p:sp>
        <p:nvSpPr>
          <p:cNvPr id="33" name="Rounded Rectangle 32"/>
          <p:cNvSpPr/>
          <p:nvPr/>
        </p:nvSpPr>
        <p:spPr>
          <a:xfrm>
            <a:off x="6080760" y="1234440"/>
            <a:ext cx="2606040" cy="566928"/>
          </a:xfrm>
          <a:prstGeom prst="roundRect">
            <a:avLst>
              <a:gd name="adj" fmla="val 12903"/>
            </a:avLst>
          </a:prstGeom>
          <a:solidFill>
            <a:srgbClr val="C0504D"/>
          </a:solidFill>
          <a:ln>
            <a:noFill/>
          </a:ln>
        </p:spPr>
        <p:txBody>
          <a:bodyPr rtlCol="0" anchor="ctr" wrap="square" lIns="109728" rIns="109728" tIns="109728" bIns="109728"/>
          <a:lstStyle/>
          <a:p>
            <a:pPr algn="l">
              <a:spcAft>
                <a:spcPts val="0"/>
              </a:spcAft>
            </a:pPr>
            <a:r>
              <a:rPr sz="1700" b="1" i="0">
                <a:solidFill>
                  <a:srgbClr val="FFFFFF"/>
                </a:solidFill>
                <a:latin typeface="Calibri"/>
              </a:rPr>
              <a:t>Disadvantages</a:t>
            </a:r>
          </a:p>
        </p:txBody>
      </p:sp>
      <p:pic>
        <p:nvPicPr>
          <p:cNvPr id="34" name="Picture 33" descr="warn_w.png"/>
          <p:cNvPicPr>
            <a:picLocks noChangeAspect="1"/>
          </p:cNvPicPr>
          <p:nvPr/>
        </p:nvPicPr>
        <p:blipFill>
          <a:blip r:embed="rId5"/>
          <a:stretch>
            <a:fillRect/>
          </a:stretch>
        </p:blipFill>
        <p:spPr>
          <a:xfrm>
            <a:off x="8211312" y="1335024"/>
            <a:ext cx="365760" cy="365760"/>
          </a:xfrm>
          <a:prstGeom prst="rect">
            <a:avLst/>
          </a:prstGeom>
        </p:spPr>
      </p:pic>
      <p:sp>
        <p:nvSpPr>
          <p:cNvPr id="35" name="Rounded Rectangle 34"/>
          <p:cNvSpPr/>
          <p:nvPr/>
        </p:nvSpPr>
        <p:spPr>
          <a:xfrm>
            <a:off x="6190488" y="1965960"/>
            <a:ext cx="2386584" cy="786384"/>
          </a:xfrm>
          <a:prstGeom prst="roundRect">
            <a:avLst>
              <a:gd name="adj" fmla="val 9302"/>
            </a:avLst>
          </a:prstGeom>
          <a:solidFill>
            <a:srgbClr val="FFFFFF"/>
          </a:solidFill>
          <a:ln w="9525">
            <a:solidFill>
              <a:srgbClr val="DCE6F2"/>
            </a:solidFill>
          </a:ln>
        </p:spPr>
        <p:txBody>
          <a:bodyPr rtlCol="0" anchor="ctr" wrap="square" lIns="54864" rIns="54864" tIns="54864" bIns="54864"/>
          <a:lstStyle/>
          <a:p>
            <a:pPr algn="ctr"/>
          </a:p>
        </p:txBody>
      </p:sp>
      <p:sp>
        <p:nvSpPr>
          <p:cNvPr id="36" name="TextBox 35"/>
          <p:cNvSpPr txBox="1"/>
          <p:nvPr/>
        </p:nvSpPr>
        <p:spPr>
          <a:xfrm>
            <a:off x="6281928" y="1993392"/>
            <a:ext cx="2203704" cy="731520"/>
          </a:xfrm>
          <a:prstGeom prst="rect">
            <a:avLst/>
          </a:prstGeom>
          <a:noFill/>
        </p:spPr>
        <p:txBody>
          <a:bodyPr wrap="square" anchor="ctr" lIns="36576" rIns="36576" tIns="36576" bIns="36576"/>
          <a:lstStyle/>
          <a:p>
            <a:pPr algn="l">
              <a:spcAft>
                <a:spcPts val="0"/>
              </a:spcAft>
            </a:pPr>
            <a:r>
              <a:rPr sz="1400" b="1" i="0">
                <a:solidFill>
                  <a:srgbClr val="C0504D"/>
                </a:solidFill>
                <a:latin typeface="Calibri"/>
              </a:rPr>
              <a:t>Error chains</a:t>
            </a:r>
          </a:p>
          <a:p>
            <a:pPr algn="l">
              <a:spcAft>
                <a:spcPts val="0"/>
              </a:spcAft>
            </a:pPr>
            <a:r>
              <a:rPr sz="1200" b="0" i="0">
                <a:solidFill>
                  <a:srgbClr val="262626"/>
                </a:solidFill>
                <a:latin typeface="Calibri"/>
              </a:rPr>
              <a:t>mistakes compound over steps</a:t>
            </a:r>
          </a:p>
        </p:txBody>
      </p:sp>
      <p:sp>
        <p:nvSpPr>
          <p:cNvPr id="37" name="Rounded Rectangle 36"/>
          <p:cNvSpPr/>
          <p:nvPr/>
        </p:nvSpPr>
        <p:spPr>
          <a:xfrm>
            <a:off x="6190488" y="2825496"/>
            <a:ext cx="2386584" cy="786384"/>
          </a:xfrm>
          <a:prstGeom prst="roundRect">
            <a:avLst>
              <a:gd name="adj" fmla="val 9302"/>
            </a:avLst>
          </a:prstGeom>
          <a:solidFill>
            <a:srgbClr val="FFFFFF"/>
          </a:solidFill>
          <a:ln w="9525">
            <a:solidFill>
              <a:srgbClr val="DCE6F2"/>
            </a:solidFill>
          </a:ln>
        </p:spPr>
        <p:txBody>
          <a:bodyPr rtlCol="0" anchor="ctr" wrap="square" lIns="54864" rIns="54864" tIns="54864" bIns="54864"/>
          <a:lstStyle/>
          <a:p>
            <a:pPr algn="ctr"/>
          </a:p>
        </p:txBody>
      </p:sp>
      <p:sp>
        <p:nvSpPr>
          <p:cNvPr id="38" name="TextBox 37"/>
          <p:cNvSpPr txBox="1"/>
          <p:nvPr/>
        </p:nvSpPr>
        <p:spPr>
          <a:xfrm>
            <a:off x="6281928" y="2852928"/>
            <a:ext cx="2203704" cy="731520"/>
          </a:xfrm>
          <a:prstGeom prst="rect">
            <a:avLst/>
          </a:prstGeom>
          <a:noFill/>
        </p:spPr>
        <p:txBody>
          <a:bodyPr wrap="square" anchor="ctr" lIns="36576" rIns="36576" tIns="36576" bIns="36576"/>
          <a:lstStyle/>
          <a:p>
            <a:pPr algn="l">
              <a:spcAft>
                <a:spcPts val="0"/>
              </a:spcAft>
            </a:pPr>
            <a:r>
              <a:rPr sz="1400" b="1" i="0">
                <a:solidFill>
                  <a:srgbClr val="C0504D"/>
                </a:solidFill>
                <a:latin typeface="Calibri"/>
              </a:rPr>
              <a:t>Security</a:t>
            </a:r>
          </a:p>
          <a:p>
            <a:pPr algn="l">
              <a:spcAft>
                <a:spcPts val="0"/>
              </a:spcAft>
            </a:pPr>
            <a:r>
              <a:rPr sz="1200" b="0" i="0">
                <a:solidFill>
                  <a:srgbClr val="262626"/>
                </a:solidFill>
                <a:latin typeface="Calibri"/>
              </a:rPr>
              <a:t>prompt injection, tool abuse [8]</a:t>
            </a:r>
          </a:p>
        </p:txBody>
      </p:sp>
      <p:sp>
        <p:nvSpPr>
          <p:cNvPr id="39" name="Rounded Rectangle 38"/>
          <p:cNvSpPr/>
          <p:nvPr/>
        </p:nvSpPr>
        <p:spPr>
          <a:xfrm>
            <a:off x="6190488" y="3685032"/>
            <a:ext cx="2386584" cy="786384"/>
          </a:xfrm>
          <a:prstGeom prst="roundRect">
            <a:avLst>
              <a:gd name="adj" fmla="val 9302"/>
            </a:avLst>
          </a:prstGeom>
          <a:solidFill>
            <a:srgbClr val="FFFFFF"/>
          </a:solidFill>
          <a:ln w="9525">
            <a:solidFill>
              <a:srgbClr val="DCE6F2"/>
            </a:solidFill>
          </a:ln>
        </p:spPr>
        <p:txBody>
          <a:bodyPr rtlCol="0" anchor="ctr" wrap="square" lIns="54864" rIns="54864" tIns="54864" bIns="54864"/>
          <a:lstStyle/>
          <a:p>
            <a:pPr algn="ctr"/>
          </a:p>
        </p:txBody>
      </p:sp>
      <p:sp>
        <p:nvSpPr>
          <p:cNvPr id="40" name="TextBox 39"/>
          <p:cNvSpPr txBox="1"/>
          <p:nvPr/>
        </p:nvSpPr>
        <p:spPr>
          <a:xfrm>
            <a:off x="6281928" y="3712464"/>
            <a:ext cx="2203704" cy="731520"/>
          </a:xfrm>
          <a:prstGeom prst="rect">
            <a:avLst/>
          </a:prstGeom>
          <a:noFill/>
        </p:spPr>
        <p:txBody>
          <a:bodyPr wrap="square" anchor="ctr" lIns="36576" rIns="36576" tIns="36576" bIns="36576"/>
          <a:lstStyle/>
          <a:p>
            <a:pPr algn="l">
              <a:spcAft>
                <a:spcPts val="0"/>
              </a:spcAft>
            </a:pPr>
            <a:r>
              <a:rPr sz="1400" b="1" i="0">
                <a:solidFill>
                  <a:srgbClr val="C0504D"/>
                </a:solidFill>
                <a:latin typeface="Calibri"/>
              </a:rPr>
              <a:t>Cost</a:t>
            </a:r>
          </a:p>
          <a:p>
            <a:pPr algn="l">
              <a:spcAft>
                <a:spcPts val="0"/>
              </a:spcAft>
            </a:pPr>
            <a:r>
              <a:rPr sz="1200" b="0" i="0">
                <a:solidFill>
                  <a:srgbClr val="262626"/>
                </a:solidFill>
                <a:latin typeface="Calibri"/>
              </a:rPr>
              <a:t>many LLM calls, higher latency</a:t>
            </a:r>
          </a:p>
        </p:txBody>
      </p:sp>
      <p:sp>
        <p:nvSpPr>
          <p:cNvPr id="41" name="Rounded Rectangle 40"/>
          <p:cNvSpPr/>
          <p:nvPr/>
        </p:nvSpPr>
        <p:spPr>
          <a:xfrm>
            <a:off x="6190488" y="4544568"/>
            <a:ext cx="2386584" cy="786384"/>
          </a:xfrm>
          <a:prstGeom prst="roundRect">
            <a:avLst>
              <a:gd name="adj" fmla="val 9302"/>
            </a:avLst>
          </a:prstGeom>
          <a:solidFill>
            <a:srgbClr val="FFFFFF"/>
          </a:solidFill>
          <a:ln w="9525">
            <a:solidFill>
              <a:srgbClr val="DCE6F2"/>
            </a:solidFill>
          </a:ln>
        </p:spPr>
        <p:txBody>
          <a:bodyPr rtlCol="0" anchor="ctr" wrap="square" lIns="54864" rIns="54864" tIns="54864" bIns="54864"/>
          <a:lstStyle/>
          <a:p>
            <a:pPr algn="ctr"/>
          </a:p>
        </p:txBody>
      </p:sp>
      <p:sp>
        <p:nvSpPr>
          <p:cNvPr id="42" name="TextBox 41"/>
          <p:cNvSpPr txBox="1"/>
          <p:nvPr/>
        </p:nvSpPr>
        <p:spPr>
          <a:xfrm>
            <a:off x="6281928" y="4572000"/>
            <a:ext cx="2203704" cy="731520"/>
          </a:xfrm>
          <a:prstGeom prst="rect">
            <a:avLst/>
          </a:prstGeom>
          <a:noFill/>
        </p:spPr>
        <p:txBody>
          <a:bodyPr wrap="square" anchor="ctr" lIns="36576" rIns="36576" tIns="36576" bIns="36576"/>
          <a:lstStyle/>
          <a:p>
            <a:pPr algn="l">
              <a:spcAft>
                <a:spcPts val="0"/>
              </a:spcAft>
            </a:pPr>
            <a:r>
              <a:rPr sz="1400" b="1" i="0">
                <a:solidFill>
                  <a:srgbClr val="C0504D"/>
                </a:solidFill>
                <a:latin typeface="Calibri"/>
              </a:rPr>
              <a:t>Evaluation</a:t>
            </a:r>
          </a:p>
          <a:p>
            <a:pPr algn="l">
              <a:spcAft>
                <a:spcPts val="0"/>
              </a:spcAft>
            </a:pPr>
            <a:r>
              <a:rPr sz="1200" b="0" i="0">
                <a:solidFill>
                  <a:srgbClr val="262626"/>
                </a:solidFill>
                <a:latin typeface="Calibri"/>
              </a:rPr>
              <a:t>hard to test reliably [2]</a:t>
            </a:r>
          </a:p>
        </p:txBody>
      </p:sp>
      <p:sp>
        <p:nvSpPr>
          <p:cNvPr id="43" name="Rounded Rectangle 42"/>
          <p:cNvSpPr/>
          <p:nvPr/>
        </p:nvSpPr>
        <p:spPr>
          <a:xfrm>
            <a:off x="6190488" y="5404104"/>
            <a:ext cx="2386584" cy="786384"/>
          </a:xfrm>
          <a:prstGeom prst="roundRect">
            <a:avLst>
              <a:gd name="adj" fmla="val 9302"/>
            </a:avLst>
          </a:prstGeom>
          <a:solidFill>
            <a:srgbClr val="FFFFFF"/>
          </a:solidFill>
          <a:ln w="9525">
            <a:solidFill>
              <a:srgbClr val="DCE6F2"/>
            </a:solidFill>
          </a:ln>
        </p:spPr>
        <p:txBody>
          <a:bodyPr rtlCol="0" anchor="ctr" wrap="square" lIns="54864" rIns="54864" tIns="54864" bIns="54864"/>
          <a:lstStyle/>
          <a:p>
            <a:pPr algn="ctr"/>
          </a:p>
        </p:txBody>
      </p:sp>
      <p:sp>
        <p:nvSpPr>
          <p:cNvPr id="44" name="TextBox 43"/>
          <p:cNvSpPr txBox="1"/>
          <p:nvPr/>
        </p:nvSpPr>
        <p:spPr>
          <a:xfrm>
            <a:off x="6281928" y="5431536"/>
            <a:ext cx="2203704" cy="731520"/>
          </a:xfrm>
          <a:prstGeom prst="rect">
            <a:avLst/>
          </a:prstGeom>
          <a:noFill/>
        </p:spPr>
        <p:txBody>
          <a:bodyPr wrap="square" anchor="ctr" lIns="36576" rIns="36576" tIns="36576" bIns="36576"/>
          <a:lstStyle/>
          <a:p>
            <a:pPr algn="l">
              <a:spcAft>
                <a:spcPts val="0"/>
              </a:spcAft>
            </a:pPr>
            <a:r>
              <a:rPr sz="1400" b="1" i="0">
                <a:solidFill>
                  <a:srgbClr val="C0504D"/>
                </a:solidFill>
                <a:latin typeface="Calibri"/>
              </a:rPr>
              <a:t>Oversight</a:t>
            </a:r>
          </a:p>
          <a:p>
            <a:pPr algn="l">
              <a:spcAft>
                <a:spcPts val="0"/>
              </a:spcAft>
            </a:pPr>
            <a:r>
              <a:rPr sz="1200" b="0" i="0">
                <a:solidFill>
                  <a:srgbClr val="262626"/>
                </a:solidFill>
                <a:latin typeface="Calibri"/>
              </a:rPr>
              <a:t>still needs human checks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182880"/>
            <a:ext cx="6766560" cy="822960"/>
          </a:xfrm>
        </p:spPr>
        <p:txBody>
          <a:bodyPr wrap="square" anchor="ctr"/>
          <a:lstStyle/>
          <a:p>
            <a:pPr algn="ctr"/>
            <a:r>
              <a:rPr sz="3000">
                <a:solidFill>
                  <a:srgbClr val="000000"/>
                </a:solidFill>
                <a:latin typeface="Times New Roman"/>
              </a:rPr>
              <a:t>Applications</a:t>
            </a:r>
            <a:endParaRPr lang="en-IN" dirty="0"/>
          </a:p>
        </p:txBody>
      </p:sp>
      <p:sp>
        <p:nvSpPr>
          <p:cNvPr id="4" name="Slide Number Placeholder 3"/>
          <p:cNvSpPr>
            <a:spLocks noGrp="1"/>
          </p:cNvSpPr>
          <p:nvPr>
            <p:ph type="sldNum" sz="quarter" idx="12"/>
          </p:nvPr>
        </p:nvSpPr>
        <p:spPr/>
        <p:txBody>
          <a:bodyPr/>
          <a:lstStyle/>
          <a:p>
            <a:fld id="{1EC248AB-E565-412B-9D95-9B07D6A4F3F3}" type="slidenum">
              <a:rPr lang="en-GB" smtClean="0"/>
              <a:pPr/>
              <a:t>6</a:t>
            </a:fld>
            <a:endParaRPr lang="en-GB"/>
          </a:p>
        </p:txBody>
      </p:sp>
      <p:pic>
        <p:nvPicPr>
          <p:cNvPr id="5" name="Picture 4" descr="image.jpeg"/>
          <p:cNvPicPr>
            <a:picLocks noChangeAspect="1"/>
          </p:cNvPicPr>
          <p:nvPr/>
        </p:nvPicPr>
        <p:blipFill>
          <a:blip r:embed="rId2"/>
          <a:stretch>
            <a:fillRect/>
          </a:stretch>
        </p:blipFill>
        <p:spPr>
          <a:xfrm>
            <a:off x="164592" y="128016"/>
            <a:ext cx="987552" cy="743789"/>
          </a:xfrm>
          <a:prstGeom prst="rect">
            <a:avLst/>
          </a:prstGeom>
        </p:spPr>
      </p:pic>
      <p:sp>
        <p:nvSpPr>
          <p:cNvPr id="6" name="Rounded Rectangle 5"/>
          <p:cNvSpPr/>
          <p:nvPr/>
        </p:nvSpPr>
        <p:spPr>
          <a:xfrm>
            <a:off x="457200" y="1325880"/>
            <a:ext cx="2606040" cy="2240280"/>
          </a:xfrm>
          <a:prstGeom prst="roundRect">
            <a:avLst>
              <a:gd name="adj" fmla="val 3265"/>
            </a:avLst>
          </a:prstGeom>
          <a:solidFill>
            <a:srgbClr val="F2F6FB"/>
          </a:solidFill>
          <a:ln>
            <a:noFill/>
          </a:ln>
        </p:spPr>
        <p:txBody>
          <a:bodyPr rtlCol="0" anchor="ctr" wrap="square" lIns="54864" rIns="54864" tIns="54864" bIns="54864"/>
          <a:lstStyle/>
          <a:p>
            <a:pPr algn="ctr"/>
          </a:p>
        </p:txBody>
      </p:sp>
      <p:sp>
        <p:nvSpPr>
          <p:cNvPr id="7" name="Oval 6"/>
          <p:cNvSpPr/>
          <p:nvPr/>
        </p:nvSpPr>
        <p:spPr>
          <a:xfrm>
            <a:off x="1394460" y="1508760"/>
            <a:ext cx="731520" cy="731520"/>
          </a:xfrm>
          <a:prstGeom prst="ellipse">
            <a:avLst/>
          </a:prstGeom>
          <a:solidFill>
            <a:srgbClr val="1F497D"/>
          </a:solidFill>
          <a:ln>
            <a:noFill/>
          </a:ln>
        </p:spPr>
        <p:txBody>
          <a:bodyPr rtlCol="0" anchor="ctr" wrap="square" lIns="54864" rIns="54864" tIns="54864" bIns="54864"/>
          <a:lstStyle/>
          <a:p>
            <a:pPr algn="ctr"/>
          </a:p>
        </p:txBody>
      </p:sp>
      <p:pic>
        <p:nvPicPr>
          <p:cNvPr id="8" name="Picture 7" descr="code_w.png"/>
          <p:cNvPicPr>
            <a:picLocks noChangeAspect="1"/>
          </p:cNvPicPr>
          <p:nvPr/>
        </p:nvPicPr>
        <p:blipFill>
          <a:blip r:embed="rId3"/>
          <a:stretch>
            <a:fillRect/>
          </a:stretch>
        </p:blipFill>
        <p:spPr>
          <a:xfrm>
            <a:off x="1570024" y="1684324"/>
            <a:ext cx="380390" cy="380390"/>
          </a:xfrm>
          <a:prstGeom prst="rect">
            <a:avLst/>
          </a:prstGeom>
        </p:spPr>
      </p:pic>
      <p:sp>
        <p:nvSpPr>
          <p:cNvPr id="9" name="TextBox 8"/>
          <p:cNvSpPr txBox="1"/>
          <p:nvPr/>
        </p:nvSpPr>
        <p:spPr>
          <a:xfrm>
            <a:off x="566928" y="2331720"/>
            <a:ext cx="2386584" cy="384048"/>
          </a:xfrm>
          <a:prstGeom prst="rect">
            <a:avLst/>
          </a:prstGeom>
          <a:noFill/>
        </p:spPr>
        <p:txBody>
          <a:bodyPr wrap="square" anchor="ctr" lIns="36576" rIns="36576" tIns="36576" bIns="36576"/>
          <a:lstStyle/>
          <a:p>
            <a:pPr algn="ctr">
              <a:spcAft>
                <a:spcPts val="400"/>
              </a:spcAft>
            </a:pPr>
            <a:r>
              <a:rPr sz="1600" b="1" i="0">
                <a:solidFill>
                  <a:srgbClr val="1F497D"/>
                </a:solidFill>
                <a:latin typeface="Calibri"/>
              </a:rPr>
              <a:t>Software Engineering</a:t>
            </a:r>
          </a:p>
        </p:txBody>
      </p:sp>
      <p:sp>
        <p:nvSpPr>
          <p:cNvPr id="10" name="TextBox 9"/>
          <p:cNvSpPr txBox="1"/>
          <p:nvPr/>
        </p:nvSpPr>
        <p:spPr>
          <a:xfrm>
            <a:off x="594360" y="2715768"/>
            <a:ext cx="2331720" cy="777240"/>
          </a:xfrm>
          <a:prstGeom prst="rect">
            <a:avLst/>
          </a:prstGeom>
          <a:noFill/>
        </p:spPr>
        <p:txBody>
          <a:bodyPr wrap="square" anchor="t" lIns="36576" rIns="36576" tIns="36576" bIns="36576"/>
          <a:lstStyle/>
          <a:p>
            <a:pPr algn="ctr">
              <a:spcAft>
                <a:spcPts val="400"/>
              </a:spcAft>
            </a:pPr>
            <a:r>
              <a:rPr sz="1400" b="0" i="0">
                <a:solidFill>
                  <a:srgbClr val="262626"/>
                </a:solidFill>
                <a:latin typeface="Calibri"/>
              </a:rPr>
              <a:t>Coding agents write, run, test and debug code in a loop.</a:t>
            </a:r>
          </a:p>
        </p:txBody>
      </p:sp>
      <p:sp>
        <p:nvSpPr>
          <p:cNvPr id="11" name="Rounded Rectangle 10"/>
          <p:cNvSpPr/>
          <p:nvPr/>
        </p:nvSpPr>
        <p:spPr>
          <a:xfrm>
            <a:off x="3268980" y="1325880"/>
            <a:ext cx="2606040" cy="2240280"/>
          </a:xfrm>
          <a:prstGeom prst="roundRect">
            <a:avLst>
              <a:gd name="adj" fmla="val 3265"/>
            </a:avLst>
          </a:prstGeom>
          <a:solidFill>
            <a:srgbClr val="F2F6FB"/>
          </a:solidFill>
          <a:ln>
            <a:noFill/>
          </a:ln>
        </p:spPr>
        <p:txBody>
          <a:bodyPr rtlCol="0" anchor="ctr" wrap="square" lIns="54864" rIns="54864" tIns="54864" bIns="54864"/>
          <a:lstStyle/>
          <a:p>
            <a:pPr algn="ctr"/>
          </a:p>
        </p:txBody>
      </p:sp>
      <p:sp>
        <p:nvSpPr>
          <p:cNvPr id="12" name="Oval 11"/>
          <p:cNvSpPr/>
          <p:nvPr/>
        </p:nvSpPr>
        <p:spPr>
          <a:xfrm>
            <a:off x="4206240" y="1508760"/>
            <a:ext cx="731520" cy="731520"/>
          </a:xfrm>
          <a:prstGeom prst="ellipse">
            <a:avLst/>
          </a:prstGeom>
          <a:solidFill>
            <a:srgbClr val="1F497D"/>
          </a:solidFill>
          <a:ln>
            <a:noFill/>
          </a:ln>
        </p:spPr>
        <p:txBody>
          <a:bodyPr rtlCol="0" anchor="ctr" wrap="square" lIns="54864" rIns="54864" tIns="54864" bIns="54864"/>
          <a:lstStyle/>
          <a:p>
            <a:pPr algn="ctr"/>
          </a:p>
        </p:txBody>
      </p:sp>
      <p:pic>
        <p:nvPicPr>
          <p:cNvPr id="13" name="Picture 12" descr="search_w.png"/>
          <p:cNvPicPr>
            <a:picLocks noChangeAspect="1"/>
          </p:cNvPicPr>
          <p:nvPr/>
        </p:nvPicPr>
        <p:blipFill>
          <a:blip r:embed="rId4"/>
          <a:stretch>
            <a:fillRect/>
          </a:stretch>
        </p:blipFill>
        <p:spPr>
          <a:xfrm>
            <a:off x="4381804" y="1684324"/>
            <a:ext cx="380390" cy="380390"/>
          </a:xfrm>
          <a:prstGeom prst="rect">
            <a:avLst/>
          </a:prstGeom>
        </p:spPr>
      </p:pic>
      <p:sp>
        <p:nvSpPr>
          <p:cNvPr id="14" name="TextBox 13"/>
          <p:cNvSpPr txBox="1"/>
          <p:nvPr/>
        </p:nvSpPr>
        <p:spPr>
          <a:xfrm>
            <a:off x="3378708" y="2331720"/>
            <a:ext cx="2386584" cy="384048"/>
          </a:xfrm>
          <a:prstGeom prst="rect">
            <a:avLst/>
          </a:prstGeom>
          <a:noFill/>
        </p:spPr>
        <p:txBody>
          <a:bodyPr wrap="square" anchor="ctr" lIns="36576" rIns="36576" tIns="36576" bIns="36576"/>
          <a:lstStyle/>
          <a:p>
            <a:pPr algn="ctr">
              <a:spcAft>
                <a:spcPts val="400"/>
              </a:spcAft>
            </a:pPr>
            <a:r>
              <a:rPr sz="1600" b="1" i="0">
                <a:solidFill>
                  <a:srgbClr val="1F497D"/>
                </a:solidFill>
                <a:latin typeface="Calibri"/>
              </a:rPr>
              <a:t>Research Assistants</a:t>
            </a:r>
          </a:p>
        </p:txBody>
      </p:sp>
      <p:sp>
        <p:nvSpPr>
          <p:cNvPr id="15" name="TextBox 14"/>
          <p:cNvSpPr txBox="1"/>
          <p:nvPr/>
        </p:nvSpPr>
        <p:spPr>
          <a:xfrm>
            <a:off x="3406140" y="2715768"/>
            <a:ext cx="2331720" cy="777240"/>
          </a:xfrm>
          <a:prstGeom prst="rect">
            <a:avLst/>
          </a:prstGeom>
          <a:noFill/>
        </p:spPr>
        <p:txBody>
          <a:bodyPr wrap="square" anchor="t" lIns="36576" rIns="36576" tIns="36576" bIns="36576"/>
          <a:lstStyle/>
          <a:p>
            <a:pPr algn="ctr">
              <a:spcAft>
                <a:spcPts val="400"/>
              </a:spcAft>
            </a:pPr>
            <a:r>
              <a:rPr sz="1400" b="0" i="0">
                <a:solidFill>
                  <a:srgbClr val="262626"/>
                </a:solidFill>
                <a:latin typeface="Calibri"/>
              </a:rPr>
              <a:t>Orchestrator + parallel search agents compile reports [11].</a:t>
            </a:r>
          </a:p>
        </p:txBody>
      </p:sp>
      <p:sp>
        <p:nvSpPr>
          <p:cNvPr id="16" name="Rounded Rectangle 15"/>
          <p:cNvSpPr/>
          <p:nvPr/>
        </p:nvSpPr>
        <p:spPr>
          <a:xfrm>
            <a:off x="6080760" y="1325880"/>
            <a:ext cx="2606040" cy="2240280"/>
          </a:xfrm>
          <a:prstGeom prst="roundRect">
            <a:avLst>
              <a:gd name="adj" fmla="val 3265"/>
            </a:avLst>
          </a:prstGeom>
          <a:solidFill>
            <a:srgbClr val="F2F6FB"/>
          </a:solidFill>
          <a:ln>
            <a:noFill/>
          </a:ln>
        </p:spPr>
        <p:txBody>
          <a:bodyPr rtlCol="0" anchor="ctr" wrap="square" lIns="54864" rIns="54864" tIns="54864" bIns="54864"/>
          <a:lstStyle/>
          <a:p>
            <a:pPr algn="ctr"/>
          </a:p>
        </p:txBody>
      </p:sp>
      <p:sp>
        <p:nvSpPr>
          <p:cNvPr id="17" name="Oval 16"/>
          <p:cNvSpPr/>
          <p:nvPr/>
        </p:nvSpPr>
        <p:spPr>
          <a:xfrm>
            <a:off x="7018020" y="1508760"/>
            <a:ext cx="731520" cy="731520"/>
          </a:xfrm>
          <a:prstGeom prst="ellipse">
            <a:avLst/>
          </a:prstGeom>
          <a:solidFill>
            <a:srgbClr val="1F497D"/>
          </a:solidFill>
          <a:ln>
            <a:noFill/>
          </a:ln>
        </p:spPr>
        <p:txBody>
          <a:bodyPr rtlCol="0" anchor="ctr" wrap="square" lIns="54864" rIns="54864" tIns="54864" bIns="54864"/>
          <a:lstStyle/>
          <a:p>
            <a:pPr algn="ctr"/>
          </a:p>
        </p:txBody>
      </p:sp>
      <p:pic>
        <p:nvPicPr>
          <p:cNvPr id="18" name="Picture 17" descr="bug_w.png"/>
          <p:cNvPicPr>
            <a:picLocks noChangeAspect="1"/>
          </p:cNvPicPr>
          <p:nvPr/>
        </p:nvPicPr>
        <p:blipFill>
          <a:blip r:embed="rId5"/>
          <a:stretch>
            <a:fillRect/>
          </a:stretch>
        </p:blipFill>
        <p:spPr>
          <a:xfrm>
            <a:off x="7193584" y="1684324"/>
            <a:ext cx="380390" cy="380390"/>
          </a:xfrm>
          <a:prstGeom prst="rect">
            <a:avLst/>
          </a:prstGeom>
        </p:spPr>
      </p:pic>
      <p:sp>
        <p:nvSpPr>
          <p:cNvPr id="19" name="TextBox 18"/>
          <p:cNvSpPr txBox="1"/>
          <p:nvPr/>
        </p:nvSpPr>
        <p:spPr>
          <a:xfrm>
            <a:off x="6190488" y="2331720"/>
            <a:ext cx="2386584" cy="384048"/>
          </a:xfrm>
          <a:prstGeom prst="rect">
            <a:avLst/>
          </a:prstGeom>
          <a:noFill/>
        </p:spPr>
        <p:txBody>
          <a:bodyPr wrap="square" anchor="ctr" lIns="36576" rIns="36576" tIns="36576" bIns="36576"/>
          <a:lstStyle/>
          <a:p>
            <a:pPr algn="ctr">
              <a:spcAft>
                <a:spcPts val="400"/>
              </a:spcAft>
            </a:pPr>
            <a:r>
              <a:rPr sz="1600" b="1" i="0">
                <a:solidFill>
                  <a:srgbClr val="1F497D"/>
                </a:solidFill>
                <a:latin typeface="Calibri"/>
              </a:rPr>
              <a:t>Cybersecurity</a:t>
            </a:r>
          </a:p>
        </p:txBody>
      </p:sp>
      <p:sp>
        <p:nvSpPr>
          <p:cNvPr id="20" name="TextBox 19"/>
          <p:cNvSpPr txBox="1"/>
          <p:nvPr/>
        </p:nvSpPr>
        <p:spPr>
          <a:xfrm>
            <a:off x="6217920" y="2715768"/>
            <a:ext cx="2331720" cy="777240"/>
          </a:xfrm>
          <a:prstGeom prst="rect">
            <a:avLst/>
          </a:prstGeom>
          <a:noFill/>
        </p:spPr>
        <p:txBody>
          <a:bodyPr wrap="square" anchor="t" lIns="36576" rIns="36576" tIns="36576" bIns="36576"/>
          <a:lstStyle/>
          <a:p>
            <a:pPr algn="ctr">
              <a:spcAft>
                <a:spcPts val="400"/>
              </a:spcAft>
            </a:pPr>
            <a:r>
              <a:rPr sz="1400" b="0" i="0">
                <a:solidFill>
                  <a:srgbClr val="262626"/>
                </a:solidFill>
                <a:latin typeface="Calibri"/>
              </a:rPr>
              <a:t>Agents discover vulnerabilities and run security tests [7].</a:t>
            </a:r>
          </a:p>
        </p:txBody>
      </p:sp>
      <p:sp>
        <p:nvSpPr>
          <p:cNvPr id="21" name="Rounded Rectangle 20"/>
          <p:cNvSpPr/>
          <p:nvPr/>
        </p:nvSpPr>
        <p:spPr>
          <a:xfrm>
            <a:off x="457200" y="3840480"/>
            <a:ext cx="2606040" cy="2240280"/>
          </a:xfrm>
          <a:prstGeom prst="roundRect">
            <a:avLst>
              <a:gd name="adj" fmla="val 3265"/>
            </a:avLst>
          </a:prstGeom>
          <a:solidFill>
            <a:srgbClr val="F2F6FB"/>
          </a:solidFill>
          <a:ln>
            <a:noFill/>
          </a:ln>
        </p:spPr>
        <p:txBody>
          <a:bodyPr rtlCol="0" anchor="ctr" wrap="square" lIns="54864" rIns="54864" tIns="54864" bIns="54864"/>
          <a:lstStyle/>
          <a:p>
            <a:pPr algn="ctr"/>
          </a:p>
        </p:txBody>
      </p:sp>
      <p:sp>
        <p:nvSpPr>
          <p:cNvPr id="22" name="Oval 21"/>
          <p:cNvSpPr/>
          <p:nvPr/>
        </p:nvSpPr>
        <p:spPr>
          <a:xfrm>
            <a:off x="1394460" y="4023360"/>
            <a:ext cx="731520" cy="731520"/>
          </a:xfrm>
          <a:prstGeom prst="ellipse">
            <a:avLst/>
          </a:prstGeom>
          <a:solidFill>
            <a:srgbClr val="1F497D"/>
          </a:solidFill>
          <a:ln>
            <a:noFill/>
          </a:ln>
        </p:spPr>
        <p:txBody>
          <a:bodyPr rtlCol="0" anchor="ctr" wrap="square" lIns="54864" rIns="54864" tIns="54864" bIns="54864"/>
          <a:lstStyle/>
          <a:p>
            <a:pPr algn="ctr"/>
          </a:p>
        </p:txBody>
      </p:sp>
      <p:pic>
        <p:nvPicPr>
          <p:cNvPr id="23" name="Picture 22" descr="robot_w.png"/>
          <p:cNvPicPr>
            <a:picLocks noChangeAspect="1"/>
          </p:cNvPicPr>
          <p:nvPr/>
        </p:nvPicPr>
        <p:blipFill>
          <a:blip r:embed="rId6"/>
          <a:stretch>
            <a:fillRect/>
          </a:stretch>
        </p:blipFill>
        <p:spPr>
          <a:xfrm>
            <a:off x="1570024" y="4198924"/>
            <a:ext cx="380390" cy="380390"/>
          </a:xfrm>
          <a:prstGeom prst="rect">
            <a:avLst/>
          </a:prstGeom>
        </p:spPr>
      </p:pic>
      <p:sp>
        <p:nvSpPr>
          <p:cNvPr id="24" name="TextBox 23"/>
          <p:cNvSpPr txBox="1"/>
          <p:nvPr/>
        </p:nvSpPr>
        <p:spPr>
          <a:xfrm>
            <a:off x="566928" y="4846320"/>
            <a:ext cx="2386584" cy="384048"/>
          </a:xfrm>
          <a:prstGeom prst="rect">
            <a:avLst/>
          </a:prstGeom>
          <a:noFill/>
        </p:spPr>
        <p:txBody>
          <a:bodyPr wrap="square" anchor="ctr" lIns="36576" rIns="36576" tIns="36576" bIns="36576"/>
          <a:lstStyle/>
          <a:p>
            <a:pPr algn="ctr">
              <a:spcAft>
                <a:spcPts val="400"/>
              </a:spcAft>
            </a:pPr>
            <a:r>
              <a:rPr sz="1600" b="1" i="0">
                <a:solidFill>
                  <a:srgbClr val="1F497D"/>
                </a:solidFill>
                <a:latin typeface="Calibri"/>
              </a:rPr>
              <a:t>Industrial Robotics</a:t>
            </a:r>
          </a:p>
        </p:txBody>
      </p:sp>
      <p:sp>
        <p:nvSpPr>
          <p:cNvPr id="25" name="TextBox 24"/>
          <p:cNvSpPr txBox="1"/>
          <p:nvPr/>
        </p:nvSpPr>
        <p:spPr>
          <a:xfrm>
            <a:off x="594360" y="5230368"/>
            <a:ext cx="2331720" cy="777240"/>
          </a:xfrm>
          <a:prstGeom prst="rect">
            <a:avLst/>
          </a:prstGeom>
          <a:noFill/>
        </p:spPr>
        <p:txBody>
          <a:bodyPr wrap="square" anchor="t" lIns="36576" rIns="36576" tIns="36576" bIns="36576"/>
          <a:lstStyle/>
          <a:p>
            <a:pPr algn="ctr">
              <a:spcAft>
                <a:spcPts val="400"/>
              </a:spcAft>
            </a:pPr>
            <a:r>
              <a:rPr sz="1400" b="0" i="0">
                <a:solidFill>
                  <a:srgbClr val="262626"/>
                </a:solidFill>
                <a:latin typeface="Calibri"/>
              </a:rPr>
              <a:t>Long-horizon task planning with failure-aware replanning [9].</a:t>
            </a:r>
          </a:p>
        </p:txBody>
      </p:sp>
      <p:sp>
        <p:nvSpPr>
          <p:cNvPr id="26" name="Rounded Rectangle 25"/>
          <p:cNvSpPr/>
          <p:nvPr/>
        </p:nvSpPr>
        <p:spPr>
          <a:xfrm>
            <a:off x="3268980" y="3840480"/>
            <a:ext cx="2606040" cy="2240280"/>
          </a:xfrm>
          <a:prstGeom prst="roundRect">
            <a:avLst>
              <a:gd name="adj" fmla="val 3265"/>
            </a:avLst>
          </a:prstGeom>
          <a:solidFill>
            <a:srgbClr val="F2F6FB"/>
          </a:solidFill>
          <a:ln>
            <a:noFill/>
          </a:ln>
        </p:spPr>
        <p:txBody>
          <a:bodyPr rtlCol="0" anchor="ctr" wrap="square" lIns="54864" rIns="54864" tIns="54864" bIns="54864"/>
          <a:lstStyle/>
          <a:p>
            <a:pPr algn="ctr"/>
          </a:p>
        </p:txBody>
      </p:sp>
      <p:sp>
        <p:nvSpPr>
          <p:cNvPr id="27" name="Oval 26"/>
          <p:cNvSpPr/>
          <p:nvPr/>
        </p:nvSpPr>
        <p:spPr>
          <a:xfrm>
            <a:off x="4206240" y="4023360"/>
            <a:ext cx="731520" cy="731520"/>
          </a:xfrm>
          <a:prstGeom prst="ellipse">
            <a:avLst/>
          </a:prstGeom>
          <a:solidFill>
            <a:srgbClr val="1F497D"/>
          </a:solidFill>
          <a:ln>
            <a:noFill/>
          </a:ln>
        </p:spPr>
        <p:txBody>
          <a:bodyPr rtlCol="0" anchor="ctr" wrap="square" lIns="54864" rIns="54864" tIns="54864" bIns="54864"/>
          <a:lstStyle/>
          <a:p>
            <a:pPr algn="ctr"/>
          </a:p>
        </p:txBody>
      </p:sp>
      <p:pic>
        <p:nvPicPr>
          <p:cNvPr id="28" name="Picture 27" descr="cogs_w.png"/>
          <p:cNvPicPr>
            <a:picLocks noChangeAspect="1"/>
          </p:cNvPicPr>
          <p:nvPr/>
        </p:nvPicPr>
        <p:blipFill>
          <a:blip r:embed="rId7"/>
          <a:stretch>
            <a:fillRect/>
          </a:stretch>
        </p:blipFill>
        <p:spPr>
          <a:xfrm>
            <a:off x="4381804" y="4198924"/>
            <a:ext cx="380390" cy="380390"/>
          </a:xfrm>
          <a:prstGeom prst="rect">
            <a:avLst/>
          </a:prstGeom>
        </p:spPr>
      </p:pic>
      <p:sp>
        <p:nvSpPr>
          <p:cNvPr id="29" name="TextBox 28"/>
          <p:cNvSpPr txBox="1"/>
          <p:nvPr/>
        </p:nvSpPr>
        <p:spPr>
          <a:xfrm>
            <a:off x="3378708" y="4846320"/>
            <a:ext cx="2386584" cy="384048"/>
          </a:xfrm>
          <a:prstGeom prst="rect">
            <a:avLst/>
          </a:prstGeom>
          <a:noFill/>
        </p:spPr>
        <p:txBody>
          <a:bodyPr wrap="square" anchor="ctr" lIns="36576" rIns="36576" tIns="36576" bIns="36576"/>
          <a:lstStyle/>
          <a:p>
            <a:pPr algn="ctr">
              <a:spcAft>
                <a:spcPts val="400"/>
              </a:spcAft>
            </a:pPr>
            <a:r>
              <a:rPr sz="1600" b="1" i="0">
                <a:solidFill>
                  <a:srgbClr val="1F497D"/>
                </a:solidFill>
                <a:latin typeface="Calibri"/>
              </a:rPr>
              <a:t>Business Workflows</a:t>
            </a:r>
          </a:p>
        </p:txBody>
      </p:sp>
      <p:sp>
        <p:nvSpPr>
          <p:cNvPr id="30" name="TextBox 29"/>
          <p:cNvSpPr txBox="1"/>
          <p:nvPr/>
        </p:nvSpPr>
        <p:spPr>
          <a:xfrm>
            <a:off x="3406140" y="5230368"/>
            <a:ext cx="2331720" cy="777240"/>
          </a:xfrm>
          <a:prstGeom prst="rect">
            <a:avLst/>
          </a:prstGeom>
          <a:noFill/>
        </p:spPr>
        <p:txBody>
          <a:bodyPr wrap="square" anchor="t" lIns="36576" rIns="36576" tIns="36576" bIns="36576"/>
          <a:lstStyle/>
          <a:p>
            <a:pPr algn="ctr">
              <a:spcAft>
                <a:spcPts val="400"/>
              </a:spcAft>
            </a:pPr>
            <a:r>
              <a:rPr sz="1400" b="0" i="0">
                <a:solidFill>
                  <a:srgbClr val="262626"/>
                </a:solidFill>
                <a:latin typeface="Calibri"/>
              </a:rPr>
              <a:t>Automating support tickets, data entry and reporting.</a:t>
            </a:r>
          </a:p>
        </p:txBody>
      </p:sp>
      <p:sp>
        <p:nvSpPr>
          <p:cNvPr id="31" name="Rounded Rectangle 30"/>
          <p:cNvSpPr/>
          <p:nvPr/>
        </p:nvSpPr>
        <p:spPr>
          <a:xfrm>
            <a:off x="6080760" y="3840480"/>
            <a:ext cx="2606040" cy="2240280"/>
          </a:xfrm>
          <a:prstGeom prst="roundRect">
            <a:avLst>
              <a:gd name="adj" fmla="val 3265"/>
            </a:avLst>
          </a:prstGeom>
          <a:solidFill>
            <a:srgbClr val="F2F6FB"/>
          </a:solidFill>
          <a:ln>
            <a:noFill/>
          </a:ln>
        </p:spPr>
        <p:txBody>
          <a:bodyPr rtlCol="0" anchor="ctr" wrap="square" lIns="54864" rIns="54864" tIns="54864" bIns="54864"/>
          <a:lstStyle/>
          <a:p>
            <a:pPr algn="ctr"/>
          </a:p>
        </p:txBody>
      </p:sp>
      <p:sp>
        <p:nvSpPr>
          <p:cNvPr id="32" name="Oval 31"/>
          <p:cNvSpPr/>
          <p:nvPr/>
        </p:nvSpPr>
        <p:spPr>
          <a:xfrm>
            <a:off x="7018020" y="4023360"/>
            <a:ext cx="731520" cy="731520"/>
          </a:xfrm>
          <a:prstGeom prst="ellipse">
            <a:avLst/>
          </a:prstGeom>
          <a:solidFill>
            <a:srgbClr val="1F497D"/>
          </a:solidFill>
          <a:ln>
            <a:noFill/>
          </a:ln>
        </p:spPr>
        <p:txBody>
          <a:bodyPr rtlCol="0" anchor="ctr" wrap="square" lIns="54864" rIns="54864" tIns="54864" bIns="54864"/>
          <a:lstStyle/>
          <a:p>
            <a:pPr algn="ctr"/>
          </a:p>
        </p:txBody>
      </p:sp>
      <p:pic>
        <p:nvPicPr>
          <p:cNvPr id="33" name="Picture 32" descr="user_w.png"/>
          <p:cNvPicPr>
            <a:picLocks noChangeAspect="1"/>
          </p:cNvPicPr>
          <p:nvPr/>
        </p:nvPicPr>
        <p:blipFill>
          <a:blip r:embed="rId8"/>
          <a:stretch>
            <a:fillRect/>
          </a:stretch>
        </p:blipFill>
        <p:spPr>
          <a:xfrm>
            <a:off x="7193584" y="4198924"/>
            <a:ext cx="380390" cy="380390"/>
          </a:xfrm>
          <a:prstGeom prst="rect">
            <a:avLst/>
          </a:prstGeom>
        </p:spPr>
      </p:pic>
      <p:sp>
        <p:nvSpPr>
          <p:cNvPr id="34" name="TextBox 33"/>
          <p:cNvSpPr txBox="1"/>
          <p:nvPr/>
        </p:nvSpPr>
        <p:spPr>
          <a:xfrm>
            <a:off x="6190488" y="4846320"/>
            <a:ext cx="2386584" cy="384048"/>
          </a:xfrm>
          <a:prstGeom prst="rect">
            <a:avLst/>
          </a:prstGeom>
          <a:noFill/>
        </p:spPr>
        <p:txBody>
          <a:bodyPr wrap="square" anchor="ctr" lIns="36576" rIns="36576" tIns="36576" bIns="36576"/>
          <a:lstStyle/>
          <a:p>
            <a:pPr algn="ctr">
              <a:spcAft>
                <a:spcPts val="400"/>
              </a:spcAft>
            </a:pPr>
            <a:r>
              <a:rPr sz="1600" b="1" i="0">
                <a:solidFill>
                  <a:srgbClr val="1F497D"/>
                </a:solidFill>
                <a:latin typeface="Calibri"/>
              </a:rPr>
              <a:t>Personal Assistants</a:t>
            </a:r>
          </a:p>
        </p:txBody>
      </p:sp>
      <p:sp>
        <p:nvSpPr>
          <p:cNvPr id="35" name="TextBox 34"/>
          <p:cNvSpPr txBox="1"/>
          <p:nvPr/>
        </p:nvSpPr>
        <p:spPr>
          <a:xfrm>
            <a:off x="6217920" y="5230368"/>
            <a:ext cx="2331720" cy="777240"/>
          </a:xfrm>
          <a:prstGeom prst="rect">
            <a:avLst/>
          </a:prstGeom>
          <a:noFill/>
        </p:spPr>
        <p:txBody>
          <a:bodyPr wrap="square" anchor="t" lIns="36576" rIns="36576" tIns="36576" bIns="36576"/>
          <a:lstStyle/>
          <a:p>
            <a:pPr algn="ctr">
              <a:spcAft>
                <a:spcPts val="400"/>
              </a:spcAft>
            </a:pPr>
            <a:r>
              <a:rPr sz="1400" b="0" i="0">
                <a:solidFill>
                  <a:srgbClr val="262626"/>
                </a:solidFill>
                <a:latin typeface="Calibri"/>
              </a:rPr>
              <a:t>Email, scheduling and travel booking through tools.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182880"/>
            <a:ext cx="6766560" cy="822960"/>
          </a:xfrm>
        </p:spPr>
        <p:txBody>
          <a:bodyPr wrap="square" anchor="ctr"/>
          <a:lstStyle/>
          <a:p>
            <a:pPr algn="ctr"/>
            <a:r>
              <a:rPr sz="3000">
                <a:solidFill>
                  <a:srgbClr val="000000"/>
                </a:solidFill>
                <a:latin typeface="Times New Roman"/>
              </a:rPr>
              <a:t>Analysis / Comparison</a:t>
            </a:r>
            <a:endParaRPr lang="en-IN" dirty="0"/>
          </a:p>
        </p:txBody>
      </p:sp>
      <p:sp>
        <p:nvSpPr>
          <p:cNvPr id="4" name="Slide Number Placeholder 3"/>
          <p:cNvSpPr>
            <a:spLocks noGrp="1"/>
          </p:cNvSpPr>
          <p:nvPr>
            <p:ph type="sldNum" sz="quarter" idx="12"/>
          </p:nvPr>
        </p:nvSpPr>
        <p:spPr/>
        <p:txBody>
          <a:bodyPr/>
          <a:lstStyle/>
          <a:p>
            <a:fld id="{1EC248AB-E565-412B-9D95-9B07D6A4F3F3}" type="slidenum">
              <a:rPr lang="en-GB" smtClean="0"/>
              <a:pPr/>
              <a:t>6</a:t>
            </a:fld>
            <a:endParaRPr lang="en-GB"/>
          </a:p>
        </p:txBody>
      </p:sp>
      <p:pic>
        <p:nvPicPr>
          <p:cNvPr id="5" name="Picture 4" descr="image.jpeg"/>
          <p:cNvPicPr>
            <a:picLocks noChangeAspect="1"/>
          </p:cNvPicPr>
          <p:nvPr/>
        </p:nvPicPr>
        <p:blipFill>
          <a:blip r:embed="rId2"/>
          <a:stretch>
            <a:fillRect/>
          </a:stretch>
        </p:blipFill>
        <p:spPr>
          <a:xfrm>
            <a:off x="164592" y="128016"/>
            <a:ext cx="987552" cy="743789"/>
          </a:xfrm>
          <a:prstGeom prst="rect">
            <a:avLst/>
          </a:prstGeom>
        </p:spPr>
      </p:pic>
      <p:graphicFrame>
        <p:nvGraphicFramePr>
          <p:cNvPr id="6" name="Table 5"/>
          <p:cNvGraphicFramePr>
            <a:graphicFrameLocks noGrp="1"/>
          </p:cNvGraphicFramePr>
          <p:nvPr/>
        </p:nvGraphicFramePr>
        <p:xfrm>
          <a:off x="411480" y="1188720"/>
          <a:ext cx="8321040" cy="3749040"/>
        </p:xfrm>
        <a:graphic>
          <a:graphicData uri="http://schemas.openxmlformats.org/drawingml/2006/table">
            <a:tbl>
              <a:tblPr firstRow="1" bandRow="1">
                <a:tableStyleId>{5C22544A-7EE6-4342-B048-85BDC9FD1C3A}</a:tableStyleId>
              </a:tblPr>
              <a:tblGrid>
                <a:gridCol w="1417320"/>
                <a:gridCol w="2194560"/>
                <a:gridCol w="2240280"/>
                <a:gridCol w="2468880"/>
              </a:tblGrid>
              <a:tr h="457200">
                <a:tc>
                  <a:txBody>
                    <a:bodyPr wrap="square"/>
                    <a:lstStyle/>
                    <a:p>
                      <a:pPr algn="l">
                        <a:spcAft>
                          <a:spcPts val="0"/>
                        </a:spcAft>
                      </a:pPr>
                      <a:r>
                        <a:rPr sz="1300" b="1" i="0">
                          <a:solidFill>
                            <a:srgbClr val="FFFFFF"/>
                          </a:solidFill>
                          <a:latin typeface="Calibri"/>
                        </a:rPr>
                        <a:t>Aspect</a:t>
                      </a:r>
                    </a:p>
                  </a:txBody>
                  <a:tcPr marL="64008" marR="64008" marT="36576" marB="36576" anchor="ctr"/>
                </a:tc>
                <a:tc>
                  <a:txBody>
                    <a:bodyPr wrap="square"/>
                    <a:lstStyle/>
                    <a:p>
                      <a:pPr algn="l">
                        <a:spcAft>
                          <a:spcPts val="0"/>
                        </a:spcAft>
                      </a:pPr>
                      <a:r>
                        <a:rPr sz="1300" b="1" i="0">
                          <a:solidFill>
                            <a:srgbClr val="FFFFFF"/>
                          </a:solidFill>
                          <a:latin typeface="Calibri"/>
                        </a:rPr>
                        <a:t>Single LLM (prompt-response)</a:t>
                      </a:r>
                    </a:p>
                  </a:txBody>
                  <a:tcPr marL="64008" marR="64008" marT="36576" marB="36576" anchor="ctr"/>
                </a:tc>
                <a:tc>
                  <a:txBody>
                    <a:bodyPr wrap="square"/>
                    <a:lstStyle/>
                    <a:p>
                      <a:pPr algn="l">
                        <a:spcAft>
                          <a:spcPts val="0"/>
                        </a:spcAft>
                      </a:pPr>
                      <a:r>
                        <a:rPr sz="1300" b="1" i="0">
                          <a:solidFill>
                            <a:srgbClr val="FFFFFF"/>
                          </a:solidFill>
                          <a:latin typeface="Calibri"/>
                        </a:rPr>
                        <a:t>Single Agent (ReAct + tools)</a:t>
                      </a:r>
                    </a:p>
                  </a:txBody>
                  <a:tcPr marL="64008" marR="64008" marT="36576" marB="36576" anchor="ctr"/>
                </a:tc>
                <a:tc>
                  <a:txBody>
                    <a:bodyPr wrap="square"/>
                    <a:lstStyle/>
                    <a:p>
                      <a:pPr algn="l">
                        <a:spcAft>
                          <a:spcPts val="0"/>
                        </a:spcAft>
                      </a:pPr>
                      <a:r>
                        <a:rPr sz="1300" b="1" i="0">
                          <a:solidFill>
                            <a:srgbClr val="FFFFFF"/>
                          </a:solidFill>
                          <a:latin typeface="Calibri"/>
                        </a:rPr>
                        <a:t>Multi-Agent System</a:t>
                      </a:r>
                    </a:p>
                  </a:txBody>
                  <a:tcPr marL="64008" marR="64008" marT="36576" marB="36576" anchor="ctr"/>
                </a:tc>
              </a:tr>
              <a:tr h="548640">
                <a:tc>
                  <a:txBody>
                    <a:bodyPr wrap="square"/>
                    <a:lstStyle/>
                    <a:p>
                      <a:pPr algn="l">
                        <a:spcAft>
                          <a:spcPts val="0"/>
                        </a:spcAft>
                      </a:pPr>
                      <a:r>
                        <a:rPr sz="1300" b="1" i="0">
                          <a:solidFill>
                            <a:srgbClr val="262626"/>
                          </a:solidFill>
                          <a:latin typeface="Calibri"/>
                        </a:rPr>
                        <a:t>Task type</a:t>
                      </a:r>
                    </a:p>
                  </a:txBody>
                  <a:tcPr marL="64008" marR="64008" marT="36576" marB="36576" anchor="ctr"/>
                </a:tc>
                <a:tc>
                  <a:txBody>
                    <a:bodyPr wrap="square"/>
                    <a:lstStyle/>
                    <a:p>
                      <a:pPr algn="l">
                        <a:spcAft>
                          <a:spcPts val="0"/>
                        </a:spcAft>
                      </a:pPr>
                      <a:r>
                        <a:rPr sz="1300" b="0" i="0">
                          <a:solidFill>
                            <a:srgbClr val="262626"/>
                          </a:solidFill>
                          <a:latin typeface="Calibri"/>
                        </a:rPr>
                        <a:t>One-shot answers</a:t>
                      </a:r>
                    </a:p>
                  </a:txBody>
                  <a:tcPr marL="64008" marR="64008" marT="36576" marB="36576" anchor="ctr"/>
                </a:tc>
                <a:tc>
                  <a:txBody>
                    <a:bodyPr wrap="square"/>
                    <a:lstStyle/>
                    <a:p>
                      <a:pPr algn="l">
                        <a:spcAft>
                          <a:spcPts val="0"/>
                        </a:spcAft>
                      </a:pPr>
                      <a:r>
                        <a:rPr sz="1300" b="0" i="0">
                          <a:solidFill>
                            <a:srgbClr val="262626"/>
                          </a:solidFill>
                          <a:latin typeface="Calibri"/>
                        </a:rPr>
                        <a:t>Multi-step tasks</a:t>
                      </a:r>
                    </a:p>
                  </a:txBody>
                  <a:tcPr marL="64008" marR="64008" marT="36576" marB="36576" anchor="ctr"/>
                </a:tc>
                <a:tc>
                  <a:txBody>
                    <a:bodyPr wrap="square"/>
                    <a:lstStyle/>
                    <a:p>
                      <a:pPr algn="l">
                        <a:spcAft>
                          <a:spcPts val="0"/>
                        </a:spcAft>
                      </a:pPr>
                      <a:r>
                        <a:rPr sz="1300" b="0" i="0">
                          <a:solidFill>
                            <a:srgbClr val="262626"/>
                          </a:solidFill>
                          <a:latin typeface="Calibri"/>
                        </a:rPr>
                        <a:t>Large, parallel, multi-skill tasks</a:t>
                      </a:r>
                    </a:p>
                  </a:txBody>
                  <a:tcPr marL="64008" marR="64008" marT="36576" marB="36576" anchor="ctr"/>
                </a:tc>
              </a:tr>
              <a:tr h="548640">
                <a:tc>
                  <a:txBody>
                    <a:bodyPr wrap="square"/>
                    <a:lstStyle/>
                    <a:p>
                      <a:pPr algn="l">
                        <a:spcAft>
                          <a:spcPts val="0"/>
                        </a:spcAft>
                      </a:pPr>
                      <a:r>
                        <a:rPr sz="1300" b="1" i="0">
                          <a:solidFill>
                            <a:srgbClr val="262626"/>
                          </a:solidFill>
                          <a:latin typeface="Calibri"/>
                        </a:rPr>
                        <a:t>Tools</a:t>
                      </a:r>
                    </a:p>
                  </a:txBody>
                  <a:tcPr marL="64008" marR="64008" marT="36576" marB="36576" anchor="ctr"/>
                </a:tc>
                <a:tc>
                  <a:txBody>
                    <a:bodyPr wrap="square"/>
                    <a:lstStyle/>
                    <a:p>
                      <a:pPr algn="l">
                        <a:spcAft>
                          <a:spcPts val="0"/>
                        </a:spcAft>
                      </a:pPr>
                      <a:r>
                        <a:rPr sz="1300" b="0" i="0">
                          <a:solidFill>
                            <a:srgbClr val="262626"/>
                          </a:solidFill>
                          <a:latin typeface="Calibri"/>
                        </a:rPr>
                        <a:t>None</a:t>
                      </a:r>
                    </a:p>
                  </a:txBody>
                  <a:tcPr marL="64008" marR="64008" marT="36576" marB="36576" anchor="ctr"/>
                </a:tc>
                <a:tc>
                  <a:txBody>
                    <a:bodyPr wrap="square"/>
                    <a:lstStyle/>
                    <a:p>
                      <a:pPr algn="l">
                        <a:spcAft>
                          <a:spcPts val="0"/>
                        </a:spcAft>
                      </a:pPr>
                      <a:r>
                        <a:rPr sz="1300" b="0" i="0">
                          <a:solidFill>
                            <a:srgbClr val="262626"/>
                          </a:solidFill>
                          <a:latin typeface="Calibri"/>
                        </a:rPr>
                        <a:t>Yes</a:t>
                      </a:r>
                    </a:p>
                  </a:txBody>
                  <a:tcPr marL="64008" marR="64008" marT="36576" marB="36576" anchor="ctr"/>
                </a:tc>
                <a:tc>
                  <a:txBody>
                    <a:bodyPr wrap="square"/>
                    <a:lstStyle/>
                    <a:p>
                      <a:pPr algn="l">
                        <a:spcAft>
                          <a:spcPts val="0"/>
                        </a:spcAft>
                      </a:pPr>
                      <a:r>
                        <a:rPr sz="1300" b="0" i="0">
                          <a:solidFill>
                            <a:srgbClr val="262626"/>
                          </a:solidFill>
                          <a:latin typeface="Calibri"/>
                        </a:rPr>
                        <a:t>Specialised tools per agent</a:t>
                      </a:r>
                    </a:p>
                  </a:txBody>
                  <a:tcPr marL="64008" marR="64008" marT="36576" marB="36576" anchor="ctr"/>
                </a:tc>
              </a:tr>
              <a:tr h="548640">
                <a:tc>
                  <a:txBody>
                    <a:bodyPr wrap="square"/>
                    <a:lstStyle/>
                    <a:p>
                      <a:pPr algn="l">
                        <a:spcAft>
                          <a:spcPts val="0"/>
                        </a:spcAft>
                      </a:pPr>
                      <a:r>
                        <a:rPr sz="1300" b="1" i="0">
                          <a:solidFill>
                            <a:srgbClr val="262626"/>
                          </a:solidFill>
                          <a:latin typeface="Calibri"/>
                        </a:rPr>
                        <a:t>Memory</a:t>
                      </a:r>
                    </a:p>
                  </a:txBody>
                  <a:tcPr marL="64008" marR="64008" marT="36576" marB="36576" anchor="ctr"/>
                </a:tc>
                <a:tc>
                  <a:txBody>
                    <a:bodyPr wrap="square"/>
                    <a:lstStyle/>
                    <a:p>
                      <a:pPr algn="l">
                        <a:spcAft>
                          <a:spcPts val="0"/>
                        </a:spcAft>
                      </a:pPr>
                      <a:r>
                        <a:rPr sz="1300" b="0" i="0">
                          <a:solidFill>
                            <a:srgbClr val="262626"/>
                          </a:solidFill>
                          <a:latin typeface="Calibri"/>
                        </a:rPr>
                        <a:t>Prompt window only</a:t>
                      </a:r>
                    </a:p>
                  </a:txBody>
                  <a:tcPr marL="64008" marR="64008" marT="36576" marB="36576" anchor="ctr"/>
                </a:tc>
                <a:tc>
                  <a:txBody>
                    <a:bodyPr wrap="square"/>
                    <a:lstStyle/>
                    <a:p>
                      <a:pPr algn="l">
                        <a:spcAft>
                          <a:spcPts val="0"/>
                        </a:spcAft>
                      </a:pPr>
                      <a:r>
                        <a:rPr sz="1300" b="0" i="0">
                          <a:solidFill>
                            <a:srgbClr val="262626"/>
                          </a:solidFill>
                          <a:latin typeface="Calibri"/>
                        </a:rPr>
                        <a:t>Short + long-term</a:t>
                      </a:r>
                    </a:p>
                  </a:txBody>
                  <a:tcPr marL="64008" marR="64008" marT="36576" marB="36576" anchor="ctr"/>
                </a:tc>
                <a:tc>
                  <a:txBody>
                    <a:bodyPr wrap="square"/>
                    <a:lstStyle/>
                    <a:p>
                      <a:pPr algn="l">
                        <a:spcAft>
                          <a:spcPts val="0"/>
                        </a:spcAft>
                      </a:pPr>
                      <a:r>
                        <a:rPr sz="1300" b="0" i="0">
                          <a:solidFill>
                            <a:srgbClr val="262626"/>
                          </a:solidFill>
                          <a:latin typeface="Calibri"/>
                        </a:rPr>
                        <a:t>Per-agent + shared</a:t>
                      </a:r>
                    </a:p>
                  </a:txBody>
                  <a:tcPr marL="64008" marR="64008" marT="36576" marB="36576" anchor="ctr"/>
                </a:tc>
              </a:tr>
              <a:tr h="548640">
                <a:tc>
                  <a:txBody>
                    <a:bodyPr wrap="square"/>
                    <a:lstStyle/>
                    <a:p>
                      <a:pPr algn="l">
                        <a:spcAft>
                          <a:spcPts val="0"/>
                        </a:spcAft>
                      </a:pPr>
                      <a:r>
                        <a:rPr sz="1300" b="1" i="0">
                          <a:solidFill>
                            <a:srgbClr val="262626"/>
                          </a:solidFill>
                          <a:latin typeface="Calibri"/>
                        </a:rPr>
                        <a:t>Error handling</a:t>
                      </a:r>
                    </a:p>
                  </a:txBody>
                  <a:tcPr marL="64008" marR="64008" marT="36576" marB="36576" anchor="ctr"/>
                </a:tc>
                <a:tc>
                  <a:txBody>
                    <a:bodyPr wrap="square"/>
                    <a:lstStyle/>
                    <a:p>
                      <a:pPr algn="l">
                        <a:spcAft>
                          <a:spcPts val="0"/>
                        </a:spcAft>
                      </a:pPr>
                      <a:r>
                        <a:rPr sz="1300" b="0" i="0">
                          <a:solidFill>
                            <a:srgbClr val="262626"/>
                          </a:solidFill>
                          <a:latin typeface="Calibri"/>
                        </a:rPr>
                        <a:t>User re-prompts</a:t>
                      </a:r>
                    </a:p>
                  </a:txBody>
                  <a:tcPr marL="64008" marR="64008" marT="36576" marB="36576" anchor="ctr"/>
                </a:tc>
                <a:tc>
                  <a:txBody>
                    <a:bodyPr wrap="square"/>
                    <a:lstStyle/>
                    <a:p>
                      <a:pPr algn="l">
                        <a:spcAft>
                          <a:spcPts val="0"/>
                        </a:spcAft>
                      </a:pPr>
                      <a:r>
                        <a:rPr sz="1300" b="0" i="0">
                          <a:solidFill>
                            <a:srgbClr val="262626"/>
                          </a:solidFill>
                          <a:latin typeface="Calibri"/>
                        </a:rPr>
                        <a:t>Self-reflection loop</a:t>
                      </a:r>
                    </a:p>
                  </a:txBody>
                  <a:tcPr marL="64008" marR="64008" marT="36576" marB="36576" anchor="ctr"/>
                </a:tc>
                <a:tc>
                  <a:txBody>
                    <a:bodyPr wrap="square"/>
                    <a:lstStyle/>
                    <a:p>
                      <a:pPr algn="l">
                        <a:spcAft>
                          <a:spcPts val="0"/>
                        </a:spcAft>
                      </a:pPr>
                      <a:r>
                        <a:rPr sz="1300" b="0" i="0">
                          <a:solidFill>
                            <a:srgbClr val="262626"/>
                          </a:solidFill>
                          <a:latin typeface="Calibri"/>
                        </a:rPr>
                        <a:t>Critique agents + verification</a:t>
                      </a:r>
                    </a:p>
                  </a:txBody>
                  <a:tcPr marL="64008" marR="64008" marT="36576" marB="36576" anchor="ctr"/>
                </a:tc>
              </a:tr>
              <a:tr h="548640">
                <a:tc>
                  <a:txBody>
                    <a:bodyPr wrap="square"/>
                    <a:lstStyle/>
                    <a:p>
                      <a:pPr algn="l">
                        <a:spcAft>
                          <a:spcPts val="0"/>
                        </a:spcAft>
                      </a:pPr>
                      <a:r>
                        <a:rPr sz="1300" b="1" i="0">
                          <a:solidFill>
                            <a:srgbClr val="262626"/>
                          </a:solidFill>
                          <a:latin typeface="Calibri"/>
                        </a:rPr>
                        <a:t>Cost / latency</a:t>
                      </a:r>
                    </a:p>
                  </a:txBody>
                  <a:tcPr marL="64008" marR="64008" marT="36576" marB="36576" anchor="ctr"/>
                </a:tc>
                <a:tc>
                  <a:txBody>
                    <a:bodyPr wrap="square"/>
                    <a:lstStyle/>
                    <a:p>
                      <a:pPr algn="l">
                        <a:spcAft>
                          <a:spcPts val="0"/>
                        </a:spcAft>
                      </a:pPr>
                      <a:r>
                        <a:rPr sz="1300" b="0" i="0">
                          <a:solidFill>
                            <a:srgbClr val="262626"/>
                          </a:solidFill>
                          <a:latin typeface="Calibri"/>
                        </a:rPr>
                        <a:t>Low</a:t>
                      </a:r>
                    </a:p>
                  </a:txBody>
                  <a:tcPr marL="64008" marR="64008" marT="36576" marB="36576" anchor="ctr"/>
                </a:tc>
                <a:tc>
                  <a:txBody>
                    <a:bodyPr wrap="square"/>
                    <a:lstStyle/>
                    <a:p>
                      <a:pPr algn="l">
                        <a:spcAft>
                          <a:spcPts val="0"/>
                        </a:spcAft>
                      </a:pPr>
                      <a:r>
                        <a:rPr sz="1300" b="0" i="0">
                          <a:solidFill>
                            <a:srgbClr val="262626"/>
                          </a:solidFill>
                          <a:latin typeface="Calibri"/>
                        </a:rPr>
                        <a:t>Medium</a:t>
                      </a:r>
                    </a:p>
                  </a:txBody>
                  <a:tcPr marL="64008" marR="64008" marT="36576" marB="36576" anchor="ctr"/>
                </a:tc>
                <a:tc>
                  <a:txBody>
                    <a:bodyPr wrap="square"/>
                    <a:lstStyle/>
                    <a:p>
                      <a:pPr algn="l">
                        <a:spcAft>
                          <a:spcPts val="0"/>
                        </a:spcAft>
                      </a:pPr>
                      <a:r>
                        <a:rPr sz="1300" b="0" i="0">
                          <a:solidFill>
                            <a:srgbClr val="262626"/>
                          </a:solidFill>
                          <a:latin typeface="Calibri"/>
                        </a:rPr>
                        <a:t>High (many LLM calls) [11]</a:t>
                      </a:r>
                    </a:p>
                  </a:txBody>
                  <a:tcPr marL="64008" marR="64008" marT="36576" marB="36576" anchor="ctr"/>
                </a:tc>
              </a:tr>
              <a:tr h="548640">
                <a:tc>
                  <a:txBody>
                    <a:bodyPr wrap="square"/>
                    <a:lstStyle/>
                    <a:p>
                      <a:pPr algn="l">
                        <a:spcAft>
                          <a:spcPts val="0"/>
                        </a:spcAft>
                      </a:pPr>
                      <a:r>
                        <a:rPr sz="1300" b="1" i="0">
                          <a:solidFill>
                            <a:srgbClr val="262626"/>
                          </a:solidFill>
                          <a:latin typeface="Calibri"/>
                        </a:rPr>
                        <a:t>Main risk</a:t>
                      </a:r>
                    </a:p>
                  </a:txBody>
                  <a:tcPr marL="64008" marR="64008" marT="36576" marB="36576" anchor="ctr"/>
                </a:tc>
                <a:tc>
                  <a:txBody>
                    <a:bodyPr wrap="square"/>
                    <a:lstStyle/>
                    <a:p>
                      <a:pPr algn="l">
                        <a:spcAft>
                          <a:spcPts val="0"/>
                        </a:spcAft>
                      </a:pPr>
                      <a:r>
                        <a:rPr sz="1300" b="0" i="0">
                          <a:solidFill>
                            <a:srgbClr val="262626"/>
                          </a:solidFill>
                          <a:latin typeface="Calibri"/>
                        </a:rPr>
                        <a:t>Hallucination</a:t>
                      </a:r>
                    </a:p>
                  </a:txBody>
                  <a:tcPr marL="64008" marR="64008" marT="36576" marB="36576" anchor="ctr"/>
                </a:tc>
                <a:tc>
                  <a:txBody>
                    <a:bodyPr wrap="square"/>
                    <a:lstStyle/>
                    <a:p>
                      <a:pPr algn="l">
                        <a:spcAft>
                          <a:spcPts val="0"/>
                        </a:spcAft>
                      </a:pPr>
                      <a:r>
                        <a:rPr sz="1300" b="0" i="0">
                          <a:solidFill>
                            <a:srgbClr val="262626"/>
                          </a:solidFill>
                          <a:latin typeface="Calibri"/>
                        </a:rPr>
                        <a:t>Tool misuse, loops</a:t>
                      </a:r>
                    </a:p>
                  </a:txBody>
                  <a:tcPr marL="64008" marR="64008" marT="36576" marB="36576" anchor="ctr"/>
                </a:tc>
                <a:tc>
                  <a:txBody>
                    <a:bodyPr wrap="square"/>
                    <a:lstStyle/>
                    <a:p>
                      <a:pPr algn="l">
                        <a:spcAft>
                          <a:spcPts val="0"/>
                        </a:spcAft>
                      </a:pPr>
                      <a:r>
                        <a:rPr sz="1300" b="0" i="0">
                          <a:solidFill>
                            <a:srgbClr val="262626"/>
                          </a:solidFill>
                          <a:latin typeface="Calibri"/>
                        </a:rPr>
                        <a:t>Coordination failures</a:t>
                      </a:r>
                    </a:p>
                  </a:txBody>
                  <a:tcPr marL="64008" marR="64008" marT="36576" marB="36576" anchor="ctr"/>
                </a:tc>
              </a:tr>
            </a:tbl>
          </a:graphicData>
        </a:graphic>
      </p:graphicFrame>
      <p:sp>
        <p:nvSpPr>
          <p:cNvPr id="7" name="Rounded Rectangle 6"/>
          <p:cNvSpPr/>
          <p:nvPr/>
        </p:nvSpPr>
        <p:spPr>
          <a:xfrm>
            <a:off x="411480" y="5257800"/>
            <a:ext cx="8321040" cy="960120"/>
          </a:xfrm>
          <a:prstGeom prst="roundRect">
            <a:avLst>
              <a:gd name="adj" fmla="val 7619"/>
            </a:avLst>
          </a:prstGeom>
          <a:solidFill>
            <a:srgbClr val="F2F6FB"/>
          </a:solidFill>
          <a:ln>
            <a:noFill/>
          </a:ln>
        </p:spPr>
        <p:txBody>
          <a:bodyPr rtlCol="0" anchor="ctr" wrap="square" lIns="128016" rIns="128016" tIns="128016" bIns="128016"/>
          <a:lstStyle/>
          <a:p>
            <a:pPr algn="l">
              <a:spcAft>
                <a:spcPts val="400"/>
              </a:spcAft>
            </a:pPr>
            <a:r>
              <a:rPr sz="1300" b="1" i="0">
                <a:solidFill>
                  <a:srgbClr val="1F497D"/>
                </a:solidFill>
                <a:latin typeface="Calibri"/>
              </a:rPr>
              <a:t>Framework study [10]: </a:t>
            </a:r>
            <a:r>
              <a:rPr sz="1300" b="0" i="0">
                <a:solidFill>
                  <a:srgbClr val="262626"/>
                </a:solidFill>
                <a:latin typeface="Calibri"/>
              </a:rPr>
              <a:t>CrewAI, AutoGen and LangChain each suit different workloads; a hybrid design is proposed (gains reported on its own benchmark).</a:t>
            </a:r>
          </a:p>
          <a:p>
            <a:pPr algn="l">
              <a:spcAft>
                <a:spcPts val="400"/>
              </a:spcAft>
            </a:pPr>
            <a:r>
              <a:rPr sz="1300" b="1" i="0">
                <a:solidFill>
                  <a:srgbClr val="31859C"/>
                </a:solidFill>
                <a:latin typeface="Calibri"/>
              </a:rPr>
              <a:t>Design rule: </a:t>
            </a:r>
            <a:r>
              <a:rPr sz="1300" b="0" i="0">
                <a:solidFill>
                  <a:srgbClr val="262626"/>
                </a:solidFill>
                <a:latin typeface="Calibri"/>
              </a:rPr>
              <a:t>use the simplest design that works — add agents only for parallelism or specialisation.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88720" y="182880"/>
            <a:ext cx="6766560" cy="822960"/>
          </a:xfrm>
        </p:spPr>
        <p:txBody>
          <a:bodyPr wrap="square" anchor="ctr"/>
          <a:lstStyle/>
          <a:p>
            <a:pPr algn="ctr"/>
            <a:r>
              <a:rPr sz="3000">
                <a:solidFill>
                  <a:srgbClr val="000000"/>
                </a:solidFill>
                <a:latin typeface="Times New Roman"/>
              </a:rPr>
              <a:t>Conclusion</a:t>
            </a:r>
            <a:endParaRPr lang="en-IN" dirty="0"/>
          </a:p>
        </p:txBody>
      </p:sp>
      <p:sp>
        <p:nvSpPr>
          <p:cNvPr id="4" name="Slide Number Placeholder 3"/>
          <p:cNvSpPr>
            <a:spLocks noGrp="1"/>
          </p:cNvSpPr>
          <p:nvPr>
            <p:ph type="sldNum" sz="quarter" idx="12"/>
          </p:nvPr>
        </p:nvSpPr>
        <p:spPr/>
        <p:txBody>
          <a:bodyPr/>
          <a:lstStyle/>
          <a:p>
            <a:fld id="{1EC248AB-E565-412B-9D95-9B07D6A4F3F3}" type="slidenum">
              <a:rPr lang="en-GB" smtClean="0"/>
              <a:pPr/>
              <a:t>14</a:t>
            </a:fld>
            <a:endParaRPr lang="en-GB"/>
          </a:p>
        </p:txBody>
      </p:sp>
      <p:pic>
        <p:nvPicPr>
          <p:cNvPr id="5" name="Picture 4" descr="image.jpeg"/>
          <p:cNvPicPr>
            <a:picLocks noChangeAspect="1"/>
          </p:cNvPicPr>
          <p:nvPr/>
        </p:nvPicPr>
        <p:blipFill>
          <a:blip r:embed="rId2"/>
          <a:stretch>
            <a:fillRect/>
          </a:stretch>
        </p:blipFill>
        <p:spPr>
          <a:xfrm>
            <a:off x="164592" y="128016"/>
            <a:ext cx="987552" cy="743789"/>
          </a:xfrm>
          <a:prstGeom prst="rect">
            <a:avLst/>
          </a:prstGeom>
        </p:spPr>
      </p:pic>
      <p:sp>
        <p:nvSpPr>
          <p:cNvPr id="6" name="Oval 5"/>
          <p:cNvSpPr/>
          <p:nvPr/>
        </p:nvSpPr>
        <p:spPr>
          <a:xfrm>
            <a:off x="457200" y="1234440"/>
            <a:ext cx="457200" cy="457200"/>
          </a:xfrm>
          <a:prstGeom prst="ellipse">
            <a:avLst/>
          </a:prstGeom>
          <a:solidFill>
            <a:srgbClr val="1F497D"/>
          </a:solidFill>
          <a:ln>
            <a:noFill/>
          </a:ln>
        </p:spPr>
        <p:txBody>
          <a:bodyPr rtlCol="0" anchor="ctr" wrap="square" lIns="54864" rIns="54864" tIns="54864" bIns="54864"/>
          <a:lstStyle/>
          <a:p>
            <a:pPr algn="ctr"/>
          </a:p>
        </p:txBody>
      </p:sp>
      <p:pic>
        <p:nvPicPr>
          <p:cNvPr id="7" name="Picture 6" descr="check_w.png"/>
          <p:cNvPicPr>
            <a:picLocks noChangeAspect="1"/>
          </p:cNvPicPr>
          <p:nvPr/>
        </p:nvPicPr>
        <p:blipFill>
          <a:blip r:embed="rId3"/>
          <a:stretch>
            <a:fillRect/>
          </a:stretch>
        </p:blipFill>
        <p:spPr>
          <a:xfrm>
            <a:off x="566928" y="1344168"/>
            <a:ext cx="237744" cy="237744"/>
          </a:xfrm>
          <a:prstGeom prst="rect">
            <a:avLst/>
          </a:prstGeom>
        </p:spPr>
      </p:pic>
      <p:sp>
        <p:nvSpPr>
          <p:cNvPr id="8" name="TextBox 7"/>
          <p:cNvSpPr txBox="1"/>
          <p:nvPr/>
        </p:nvSpPr>
        <p:spPr>
          <a:xfrm>
            <a:off x="1005840" y="1234440"/>
            <a:ext cx="3291840" cy="457200"/>
          </a:xfrm>
          <a:prstGeom prst="rect">
            <a:avLst/>
          </a:prstGeom>
          <a:noFill/>
        </p:spPr>
        <p:txBody>
          <a:bodyPr wrap="square" anchor="ctr" lIns="36576" rIns="36576" tIns="36576" bIns="36576"/>
          <a:lstStyle/>
          <a:p>
            <a:pPr algn="l">
              <a:spcAft>
                <a:spcPts val="400"/>
              </a:spcAft>
            </a:pPr>
            <a:r>
              <a:rPr sz="2000" b="1" i="0">
                <a:solidFill>
                  <a:srgbClr val="1F497D"/>
                </a:solidFill>
                <a:latin typeface="Calibri"/>
              </a:rPr>
              <a:t>Key Takeaways</a:t>
            </a:r>
          </a:p>
        </p:txBody>
      </p:sp>
      <p:sp>
        <p:nvSpPr>
          <p:cNvPr id="9" name="Rounded Rectangle 8"/>
          <p:cNvSpPr/>
          <p:nvPr/>
        </p:nvSpPr>
        <p:spPr>
          <a:xfrm>
            <a:off x="457200" y="1874519"/>
            <a:ext cx="4023360" cy="749808"/>
          </a:xfrm>
          <a:prstGeom prst="roundRect">
            <a:avLst>
              <a:gd name="adj" fmla="val 9756"/>
            </a:avLst>
          </a:prstGeom>
          <a:solidFill>
            <a:srgbClr val="F2F6FB"/>
          </a:solidFill>
          <a:ln>
            <a:noFill/>
          </a:ln>
        </p:spPr>
        <p:txBody>
          <a:bodyPr rtlCol="0" anchor="ctr" wrap="square" lIns="54864" rIns="54864" tIns="54864" bIns="54864"/>
          <a:lstStyle/>
          <a:p>
            <a:pPr algn="ctr"/>
          </a:p>
        </p:txBody>
      </p:sp>
      <p:sp>
        <p:nvSpPr>
          <p:cNvPr id="10" name="TextBox 9"/>
          <p:cNvSpPr txBox="1"/>
          <p:nvPr/>
        </p:nvSpPr>
        <p:spPr>
          <a:xfrm>
            <a:off x="594360" y="1892807"/>
            <a:ext cx="3749039" cy="713232"/>
          </a:xfrm>
          <a:prstGeom prst="rect">
            <a:avLst/>
          </a:prstGeom>
          <a:noFill/>
        </p:spPr>
        <p:txBody>
          <a:bodyPr wrap="square" anchor="ctr" lIns="36576" rIns="36576" tIns="36576" bIns="36576"/>
          <a:lstStyle/>
          <a:p>
            <a:pPr algn="l">
              <a:spcAft>
                <a:spcPts val="400"/>
              </a:spcAft>
            </a:pPr>
            <a:r>
              <a:rPr sz="1400" b="0" i="0">
                <a:solidFill>
                  <a:srgbClr val="262626"/>
                </a:solidFill>
                <a:latin typeface="Calibri"/>
              </a:rPr>
              <a:t>Agentic AI moves LLMs from answering prompts to completing goals.</a:t>
            </a:r>
          </a:p>
        </p:txBody>
      </p:sp>
      <p:sp>
        <p:nvSpPr>
          <p:cNvPr id="11" name="Rounded Rectangle 10"/>
          <p:cNvSpPr/>
          <p:nvPr/>
        </p:nvSpPr>
        <p:spPr>
          <a:xfrm>
            <a:off x="457200" y="2743200"/>
            <a:ext cx="4023360" cy="749808"/>
          </a:xfrm>
          <a:prstGeom prst="roundRect">
            <a:avLst>
              <a:gd name="adj" fmla="val 9756"/>
            </a:avLst>
          </a:prstGeom>
          <a:solidFill>
            <a:srgbClr val="F2F6FB"/>
          </a:solidFill>
          <a:ln>
            <a:noFill/>
          </a:ln>
        </p:spPr>
        <p:txBody>
          <a:bodyPr rtlCol="0" anchor="ctr" wrap="square" lIns="54864" rIns="54864" tIns="54864" bIns="54864"/>
          <a:lstStyle/>
          <a:p>
            <a:pPr algn="ctr"/>
          </a:p>
        </p:txBody>
      </p:sp>
      <p:sp>
        <p:nvSpPr>
          <p:cNvPr id="12" name="TextBox 11"/>
          <p:cNvSpPr txBox="1"/>
          <p:nvPr/>
        </p:nvSpPr>
        <p:spPr>
          <a:xfrm>
            <a:off x="594360" y="2761488"/>
            <a:ext cx="3749039" cy="713232"/>
          </a:xfrm>
          <a:prstGeom prst="rect">
            <a:avLst/>
          </a:prstGeom>
          <a:noFill/>
        </p:spPr>
        <p:txBody>
          <a:bodyPr wrap="square" anchor="ctr" lIns="36576" rIns="36576" tIns="36576" bIns="36576"/>
          <a:lstStyle/>
          <a:p>
            <a:pPr algn="l">
              <a:spcAft>
                <a:spcPts val="400"/>
              </a:spcAft>
            </a:pPr>
            <a:r>
              <a:rPr sz="1400" b="0" i="0">
                <a:solidFill>
                  <a:srgbClr val="262626"/>
                </a:solidFill>
                <a:latin typeface="Calibri"/>
              </a:rPr>
              <a:t>ReAct loops, task decomposition and memory are the core building blocks.</a:t>
            </a:r>
          </a:p>
        </p:txBody>
      </p:sp>
      <p:sp>
        <p:nvSpPr>
          <p:cNvPr id="13" name="Rounded Rectangle 12"/>
          <p:cNvSpPr/>
          <p:nvPr/>
        </p:nvSpPr>
        <p:spPr>
          <a:xfrm>
            <a:off x="457200" y="3611879"/>
            <a:ext cx="4023360" cy="749808"/>
          </a:xfrm>
          <a:prstGeom prst="roundRect">
            <a:avLst>
              <a:gd name="adj" fmla="val 9756"/>
            </a:avLst>
          </a:prstGeom>
          <a:solidFill>
            <a:srgbClr val="F2F6FB"/>
          </a:solidFill>
          <a:ln>
            <a:noFill/>
          </a:ln>
        </p:spPr>
        <p:txBody>
          <a:bodyPr rtlCol="0" anchor="ctr" wrap="square" lIns="54864" rIns="54864" tIns="54864" bIns="54864"/>
          <a:lstStyle/>
          <a:p>
            <a:pPr algn="ctr"/>
          </a:p>
        </p:txBody>
      </p:sp>
      <p:sp>
        <p:nvSpPr>
          <p:cNvPr id="14" name="TextBox 13"/>
          <p:cNvSpPr txBox="1"/>
          <p:nvPr/>
        </p:nvSpPr>
        <p:spPr>
          <a:xfrm>
            <a:off x="594360" y="3630168"/>
            <a:ext cx="3749039" cy="713232"/>
          </a:xfrm>
          <a:prstGeom prst="rect">
            <a:avLst/>
          </a:prstGeom>
          <a:noFill/>
        </p:spPr>
        <p:txBody>
          <a:bodyPr wrap="square" anchor="ctr" lIns="36576" rIns="36576" tIns="36576" bIns="36576"/>
          <a:lstStyle/>
          <a:p>
            <a:pPr algn="l">
              <a:spcAft>
                <a:spcPts val="400"/>
              </a:spcAft>
            </a:pPr>
            <a:r>
              <a:rPr sz="1400" b="0" i="0">
                <a:solidFill>
                  <a:srgbClr val="262626"/>
                </a:solidFill>
                <a:latin typeface="Calibri"/>
              </a:rPr>
              <a:t>Multi-agent designs add specialisation and parallelism — at higher cost.</a:t>
            </a:r>
          </a:p>
        </p:txBody>
      </p:sp>
      <p:sp>
        <p:nvSpPr>
          <p:cNvPr id="15" name="Rounded Rectangle 14"/>
          <p:cNvSpPr/>
          <p:nvPr/>
        </p:nvSpPr>
        <p:spPr>
          <a:xfrm>
            <a:off x="457200" y="4480559"/>
            <a:ext cx="4023360" cy="749808"/>
          </a:xfrm>
          <a:prstGeom prst="roundRect">
            <a:avLst>
              <a:gd name="adj" fmla="val 9756"/>
            </a:avLst>
          </a:prstGeom>
          <a:solidFill>
            <a:srgbClr val="F2F6FB"/>
          </a:solidFill>
          <a:ln>
            <a:noFill/>
          </a:ln>
        </p:spPr>
        <p:txBody>
          <a:bodyPr rtlCol="0" anchor="ctr" wrap="square" lIns="54864" rIns="54864" tIns="54864" bIns="54864"/>
          <a:lstStyle/>
          <a:p>
            <a:pPr algn="ctr"/>
          </a:p>
        </p:txBody>
      </p:sp>
      <p:sp>
        <p:nvSpPr>
          <p:cNvPr id="16" name="TextBox 15"/>
          <p:cNvSpPr txBox="1"/>
          <p:nvPr/>
        </p:nvSpPr>
        <p:spPr>
          <a:xfrm>
            <a:off x="594360" y="4498847"/>
            <a:ext cx="3749039" cy="713232"/>
          </a:xfrm>
          <a:prstGeom prst="rect">
            <a:avLst/>
          </a:prstGeom>
          <a:noFill/>
        </p:spPr>
        <p:txBody>
          <a:bodyPr wrap="square" anchor="ctr" lIns="36576" rIns="36576" tIns="36576" bIns="36576"/>
          <a:lstStyle/>
          <a:p>
            <a:pPr algn="l">
              <a:spcAft>
                <a:spcPts val="400"/>
              </a:spcAft>
            </a:pPr>
            <a:r>
              <a:rPr sz="1400" b="0" i="0">
                <a:solidFill>
                  <a:srgbClr val="262626"/>
                </a:solidFill>
                <a:latin typeface="Calibri"/>
              </a:rPr>
              <a:t>MCP and A2A make tools and agents interoperable.</a:t>
            </a:r>
          </a:p>
        </p:txBody>
      </p:sp>
      <p:sp>
        <p:nvSpPr>
          <p:cNvPr id="17" name="Oval 16"/>
          <p:cNvSpPr/>
          <p:nvPr/>
        </p:nvSpPr>
        <p:spPr>
          <a:xfrm>
            <a:off x="4663440" y="1234440"/>
            <a:ext cx="457200" cy="457200"/>
          </a:xfrm>
          <a:prstGeom prst="ellipse">
            <a:avLst/>
          </a:prstGeom>
          <a:solidFill>
            <a:srgbClr val="E46C0A"/>
          </a:solidFill>
          <a:ln>
            <a:noFill/>
          </a:ln>
        </p:spPr>
        <p:txBody>
          <a:bodyPr rtlCol="0" anchor="ctr" wrap="square" lIns="54864" rIns="54864" tIns="54864" bIns="54864"/>
          <a:lstStyle/>
          <a:p>
            <a:pPr algn="ctr"/>
          </a:p>
        </p:txBody>
      </p:sp>
      <p:pic>
        <p:nvPicPr>
          <p:cNvPr id="18" name="Picture 17" descr="lightbulb_w.png"/>
          <p:cNvPicPr>
            <a:picLocks noChangeAspect="1"/>
          </p:cNvPicPr>
          <p:nvPr/>
        </p:nvPicPr>
        <p:blipFill>
          <a:blip r:embed="rId4"/>
          <a:stretch>
            <a:fillRect/>
          </a:stretch>
        </p:blipFill>
        <p:spPr>
          <a:xfrm>
            <a:off x="4773168" y="1344168"/>
            <a:ext cx="237744" cy="237744"/>
          </a:xfrm>
          <a:prstGeom prst="rect">
            <a:avLst/>
          </a:prstGeom>
        </p:spPr>
      </p:pic>
      <p:sp>
        <p:nvSpPr>
          <p:cNvPr id="19" name="TextBox 18"/>
          <p:cNvSpPr txBox="1"/>
          <p:nvPr/>
        </p:nvSpPr>
        <p:spPr>
          <a:xfrm>
            <a:off x="5212079" y="1234440"/>
            <a:ext cx="3291840" cy="457200"/>
          </a:xfrm>
          <a:prstGeom prst="rect">
            <a:avLst/>
          </a:prstGeom>
          <a:noFill/>
        </p:spPr>
        <p:txBody>
          <a:bodyPr wrap="square" anchor="ctr" lIns="36576" rIns="36576" tIns="36576" bIns="36576"/>
          <a:lstStyle/>
          <a:p>
            <a:pPr algn="l">
              <a:spcAft>
                <a:spcPts val="400"/>
              </a:spcAft>
            </a:pPr>
            <a:r>
              <a:rPr sz="2000" b="1" i="0">
                <a:solidFill>
                  <a:srgbClr val="E46C0A"/>
                </a:solidFill>
                <a:latin typeface="Calibri"/>
              </a:rPr>
              <a:t>Future Scope</a:t>
            </a:r>
          </a:p>
        </p:txBody>
      </p:sp>
      <p:sp>
        <p:nvSpPr>
          <p:cNvPr id="20" name="Rounded Rectangle 19"/>
          <p:cNvSpPr/>
          <p:nvPr/>
        </p:nvSpPr>
        <p:spPr>
          <a:xfrm>
            <a:off x="4663440" y="1874519"/>
            <a:ext cx="4023360" cy="749808"/>
          </a:xfrm>
          <a:prstGeom prst="roundRect">
            <a:avLst>
              <a:gd name="adj" fmla="val 9756"/>
            </a:avLst>
          </a:prstGeom>
          <a:solidFill>
            <a:srgbClr val="F2F6FB"/>
          </a:solidFill>
          <a:ln>
            <a:noFill/>
          </a:ln>
        </p:spPr>
        <p:txBody>
          <a:bodyPr rtlCol="0" anchor="ctr" wrap="square" lIns="54864" rIns="54864" tIns="54864" bIns="54864"/>
          <a:lstStyle/>
          <a:p>
            <a:pPr algn="ctr"/>
          </a:p>
        </p:txBody>
      </p:sp>
      <p:sp>
        <p:nvSpPr>
          <p:cNvPr id="21" name="TextBox 20"/>
          <p:cNvSpPr txBox="1"/>
          <p:nvPr/>
        </p:nvSpPr>
        <p:spPr>
          <a:xfrm>
            <a:off x="4800600" y="1892807"/>
            <a:ext cx="3749039" cy="713232"/>
          </a:xfrm>
          <a:prstGeom prst="rect">
            <a:avLst/>
          </a:prstGeom>
          <a:noFill/>
        </p:spPr>
        <p:txBody>
          <a:bodyPr wrap="square" anchor="ctr" lIns="36576" rIns="36576" tIns="36576" bIns="36576"/>
          <a:lstStyle/>
          <a:p>
            <a:pPr algn="l">
              <a:spcAft>
                <a:spcPts val="400"/>
              </a:spcAft>
            </a:pPr>
            <a:r>
              <a:rPr sz="1400" b="0" i="0">
                <a:solidFill>
                  <a:srgbClr val="262626"/>
                </a:solidFill>
                <a:latin typeface="Calibri"/>
              </a:rPr>
              <a:t>Learned long-term memory management [5]</a:t>
            </a:r>
          </a:p>
        </p:txBody>
      </p:sp>
      <p:sp>
        <p:nvSpPr>
          <p:cNvPr id="22" name="Rounded Rectangle 21"/>
          <p:cNvSpPr/>
          <p:nvPr/>
        </p:nvSpPr>
        <p:spPr>
          <a:xfrm>
            <a:off x="4663440" y="2743200"/>
            <a:ext cx="4023360" cy="749808"/>
          </a:xfrm>
          <a:prstGeom prst="roundRect">
            <a:avLst>
              <a:gd name="adj" fmla="val 9756"/>
            </a:avLst>
          </a:prstGeom>
          <a:solidFill>
            <a:srgbClr val="F2F6FB"/>
          </a:solidFill>
          <a:ln>
            <a:noFill/>
          </a:ln>
        </p:spPr>
        <p:txBody>
          <a:bodyPr rtlCol="0" anchor="ctr" wrap="square" lIns="54864" rIns="54864" tIns="54864" bIns="54864"/>
          <a:lstStyle/>
          <a:p>
            <a:pPr algn="ctr"/>
          </a:p>
        </p:txBody>
      </p:sp>
      <p:sp>
        <p:nvSpPr>
          <p:cNvPr id="23" name="TextBox 22"/>
          <p:cNvSpPr txBox="1"/>
          <p:nvPr/>
        </p:nvSpPr>
        <p:spPr>
          <a:xfrm>
            <a:off x="4800600" y="2761488"/>
            <a:ext cx="3749039" cy="713232"/>
          </a:xfrm>
          <a:prstGeom prst="rect">
            <a:avLst/>
          </a:prstGeom>
          <a:noFill/>
        </p:spPr>
        <p:txBody>
          <a:bodyPr wrap="square" anchor="ctr" lIns="36576" rIns="36576" tIns="36576" bIns="36576"/>
          <a:lstStyle/>
          <a:p>
            <a:pPr algn="l">
              <a:spcAft>
                <a:spcPts val="400"/>
              </a:spcAft>
            </a:pPr>
            <a:r>
              <a:rPr sz="1400" b="0" i="0">
                <a:solidFill>
                  <a:srgbClr val="262626"/>
                </a:solidFill>
                <a:latin typeface="Calibri"/>
              </a:rPr>
              <a:t>Standard benchmarks for agent reliability [2]</a:t>
            </a:r>
          </a:p>
        </p:txBody>
      </p:sp>
      <p:sp>
        <p:nvSpPr>
          <p:cNvPr id="24" name="Rounded Rectangle 23"/>
          <p:cNvSpPr/>
          <p:nvPr/>
        </p:nvSpPr>
        <p:spPr>
          <a:xfrm>
            <a:off x="4663440" y="3611879"/>
            <a:ext cx="4023360" cy="749808"/>
          </a:xfrm>
          <a:prstGeom prst="roundRect">
            <a:avLst>
              <a:gd name="adj" fmla="val 9756"/>
            </a:avLst>
          </a:prstGeom>
          <a:solidFill>
            <a:srgbClr val="F2F6FB"/>
          </a:solidFill>
          <a:ln>
            <a:noFill/>
          </a:ln>
        </p:spPr>
        <p:txBody>
          <a:bodyPr rtlCol="0" anchor="ctr" wrap="square" lIns="54864" rIns="54864" tIns="54864" bIns="54864"/>
          <a:lstStyle/>
          <a:p>
            <a:pPr algn="ctr"/>
          </a:p>
        </p:txBody>
      </p:sp>
      <p:sp>
        <p:nvSpPr>
          <p:cNvPr id="25" name="TextBox 24"/>
          <p:cNvSpPr txBox="1"/>
          <p:nvPr/>
        </p:nvSpPr>
        <p:spPr>
          <a:xfrm>
            <a:off x="4800600" y="3630168"/>
            <a:ext cx="3749039" cy="713232"/>
          </a:xfrm>
          <a:prstGeom prst="rect">
            <a:avLst/>
          </a:prstGeom>
          <a:noFill/>
        </p:spPr>
        <p:txBody>
          <a:bodyPr wrap="square" anchor="ctr" lIns="36576" rIns="36576" tIns="36576" bIns="36576"/>
          <a:lstStyle/>
          <a:p>
            <a:pPr algn="l">
              <a:spcAft>
                <a:spcPts val="400"/>
              </a:spcAft>
            </a:pPr>
            <a:r>
              <a:rPr sz="1400" b="0" i="0">
                <a:solidFill>
                  <a:srgbClr val="262626"/>
                </a:solidFill>
                <a:latin typeface="Calibri"/>
              </a:rPr>
              <a:t>Stronger defences against prompt injection [8]</a:t>
            </a:r>
          </a:p>
        </p:txBody>
      </p:sp>
      <p:sp>
        <p:nvSpPr>
          <p:cNvPr id="26" name="Rounded Rectangle 25"/>
          <p:cNvSpPr/>
          <p:nvPr/>
        </p:nvSpPr>
        <p:spPr>
          <a:xfrm>
            <a:off x="4663440" y="4480559"/>
            <a:ext cx="4023360" cy="749808"/>
          </a:xfrm>
          <a:prstGeom prst="roundRect">
            <a:avLst>
              <a:gd name="adj" fmla="val 9756"/>
            </a:avLst>
          </a:prstGeom>
          <a:solidFill>
            <a:srgbClr val="F2F6FB"/>
          </a:solidFill>
          <a:ln>
            <a:noFill/>
          </a:ln>
        </p:spPr>
        <p:txBody>
          <a:bodyPr rtlCol="0" anchor="ctr" wrap="square" lIns="54864" rIns="54864" tIns="54864" bIns="54864"/>
          <a:lstStyle/>
          <a:p>
            <a:pPr algn="ctr"/>
          </a:p>
        </p:txBody>
      </p:sp>
      <p:sp>
        <p:nvSpPr>
          <p:cNvPr id="27" name="TextBox 26"/>
          <p:cNvSpPr txBox="1"/>
          <p:nvPr/>
        </p:nvSpPr>
        <p:spPr>
          <a:xfrm>
            <a:off x="4800600" y="4498847"/>
            <a:ext cx="3749039" cy="713232"/>
          </a:xfrm>
          <a:prstGeom prst="rect">
            <a:avLst/>
          </a:prstGeom>
          <a:noFill/>
        </p:spPr>
        <p:txBody>
          <a:bodyPr wrap="square" anchor="ctr" lIns="36576" rIns="36576" tIns="36576" bIns="36576"/>
          <a:lstStyle/>
          <a:p>
            <a:pPr algn="l">
              <a:spcAft>
                <a:spcPts val="400"/>
              </a:spcAft>
            </a:pPr>
            <a:r>
              <a:rPr sz="1400" b="0" i="0">
                <a:solidFill>
                  <a:srgbClr val="262626"/>
                </a:solidFill>
                <a:latin typeface="Calibri"/>
              </a:rPr>
              <a:t>Domain agents: software, security, robotics [7], [9]</a:t>
            </a:r>
          </a:p>
        </p:txBody>
      </p:sp>
      <p:sp>
        <p:nvSpPr>
          <p:cNvPr id="28" name="Rounded Rectangle 27"/>
          <p:cNvSpPr/>
          <p:nvPr/>
        </p:nvSpPr>
        <p:spPr>
          <a:xfrm>
            <a:off x="457200" y="5440680"/>
            <a:ext cx="8229600" cy="749808"/>
          </a:xfrm>
          <a:prstGeom prst="roundRect">
            <a:avLst>
              <a:gd name="adj" fmla="val 9756"/>
            </a:avLst>
          </a:prstGeom>
          <a:solidFill>
            <a:srgbClr val="1F497D"/>
          </a:solidFill>
          <a:ln>
            <a:noFill/>
          </a:ln>
        </p:spPr>
        <p:txBody>
          <a:bodyPr rtlCol="0" anchor="ctr" wrap="square" lIns="109728" rIns="109728" tIns="109728" bIns="109728"/>
          <a:lstStyle/>
          <a:p>
            <a:pPr algn="ctr">
              <a:spcAft>
                <a:spcPts val="0"/>
              </a:spcAft>
            </a:pPr>
            <a:r>
              <a:rPr sz="1500" b="1" i="0">
                <a:solidFill>
                  <a:srgbClr val="FFFFFF"/>
                </a:solidFill>
                <a:latin typeface="Calibri"/>
              </a:rPr>
              <a:t>Reliable agents = orchestration + memory + coordination + evaluation + safeguards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24"/>
            <a:ext cx="9144000" cy="1143000"/>
          </a:xfrm>
        </p:spPr>
        <p:style>
          <a:lnRef idx="1">
            <a:schemeClr val="accent1"/>
          </a:lnRef>
          <a:fillRef idx="2">
            <a:schemeClr val="accent1"/>
          </a:fillRef>
          <a:effectRef idx="1">
            <a:schemeClr val="accent1"/>
          </a:effectRef>
          <a:fontRef idx="minor">
            <a:schemeClr val="dk1"/>
          </a:fontRef>
        </p:style>
        <p:txBody>
          <a:bodyPr>
            <a:normAutofit/>
          </a:bodyPr>
          <a:lstStyle/>
          <a:p>
            <a:r>
              <a:rPr lang="en-US" dirty="0"/>
              <a:t>References </a:t>
            </a:r>
          </a:p>
        </p:txBody>
      </p:sp>
      <p:sp>
        <p:nvSpPr>
          <p:cNvPr id="5" name="Title 7"/>
          <p:cNvSpPr>
            <a:spLocks noGrp="1"/>
          </p:cNvSpPr>
          <p:nvPr>
            <p:ph idx="1"/>
          </p:nvPr>
        </p:nvSpPr>
        <p:spPr>
          <a:xfrm>
            <a:off x="320040" y="1280160"/>
            <a:ext cx="8503920" cy="4983480"/>
          </a:xfrm>
        </p:spPr>
        <p:txBody>
          <a:bodyPr vert="horz" lIns="91440" tIns="45720" rIns="91440" bIns="45720" rtlCol="0">
            <a:noAutofit/>
          </a:bodyPr>
          <a:lstStyle/>
          <a:p>
            <a:pPr algn="l" marL="411480" indent="-411480">
              <a:spcAft>
                <a:spcPts val="1000"/>
              </a:spcAft>
              <a:buNone/>
            </a:pPr>
            <a:r>
              <a:rPr sz="1400" b="1" i="0">
                <a:solidFill>
                  <a:srgbClr val="1F497D"/>
                </a:solidFill>
                <a:latin typeface="Times New Roman"/>
              </a:rPr>
              <a:t>[1]  </a:t>
            </a:r>
            <a:r>
              <a:rPr sz="1400" b="0" i="0">
                <a:solidFill>
                  <a:srgbClr val="262626"/>
                </a:solidFill>
                <a:latin typeface="Times New Roman"/>
              </a:rPr>
              <a:t>“A Survey on LLM Agents: Architecture, Applications, and Challenges,” in Proc. Int. Conf. Information Networking (ICOIN), IEEE, 2026. [Online]. Available: https://ieeexplore.ieee.org/document/11480623/</a:t>
            </a:r>
          </a:p>
          <a:p>
            <a:pPr algn="l" marL="411480" indent="-411480">
              <a:spcAft>
                <a:spcPts val="1000"/>
              </a:spcAft>
              <a:buNone/>
            </a:pPr>
            <a:r>
              <a:rPr sz="1400" b="1" i="0">
                <a:solidFill>
                  <a:srgbClr val="1F497D"/>
                </a:solidFill>
                <a:latin typeface="Times New Roman"/>
              </a:rPr>
              <a:t>[2]  </a:t>
            </a:r>
            <a:r>
              <a:rPr sz="1400" b="0" i="0">
                <a:solidFill>
                  <a:srgbClr val="262626"/>
                </a:solidFill>
                <a:latin typeface="Times New Roman"/>
              </a:rPr>
              <a:t>V. Arunkumar, G. R. Gangadharan, and R. Buyya, “Agentic Artificial Intelligence (AI): Architectures, Taxonomies, and Evaluation of Large Language Model Agents,” arXiv:2601.12560, 2026.</a:t>
            </a:r>
          </a:p>
          <a:p>
            <a:pPr algn="l" marL="411480" indent="-411480">
              <a:spcAft>
                <a:spcPts val="1000"/>
              </a:spcAft>
              <a:buNone/>
            </a:pPr>
            <a:r>
              <a:rPr sz="1400" b="1" i="0">
                <a:solidFill>
                  <a:srgbClr val="1F497D"/>
                </a:solidFill>
                <a:latin typeface="Times New Roman"/>
              </a:rPr>
              <a:t>[3]  </a:t>
            </a:r>
            <a:r>
              <a:rPr sz="1400" b="0" i="0">
                <a:solidFill>
                  <a:srgbClr val="262626"/>
                </a:solidFill>
                <a:latin typeface="Times New Roman"/>
              </a:rPr>
              <a:t>M. Alenezi, “From Prompt-Response to Goal-Directed Systems: The Evolution of Agentic AI Software Architecture,” arXiv:2602.10479, 2026.</a:t>
            </a:r>
          </a:p>
          <a:p>
            <a:pPr algn="l" marL="411480" indent="-411480">
              <a:spcAft>
                <a:spcPts val="1000"/>
              </a:spcAft>
              <a:buNone/>
            </a:pPr>
            <a:r>
              <a:rPr sz="1400" b="1" i="0">
                <a:solidFill>
                  <a:srgbClr val="1F497D"/>
                </a:solidFill>
                <a:latin typeface="Times New Roman"/>
              </a:rPr>
              <a:t>[4]  </a:t>
            </a:r>
            <a:r>
              <a:rPr sz="1400" b="0" i="0">
                <a:solidFill>
                  <a:srgbClr val="262626"/>
                </a:solidFill>
                <a:latin typeface="Times New Roman"/>
              </a:rPr>
              <a:t>S. Cao et al., “The Auton Agentic AI Framework,” arXiv:2602.23720, 2026.</a:t>
            </a:r>
          </a:p>
          <a:p>
            <a:pPr algn="l" marL="411480" indent="-411480">
              <a:spcAft>
                <a:spcPts val="1000"/>
              </a:spcAft>
              <a:buNone/>
            </a:pPr>
            <a:r>
              <a:rPr sz="1400" b="1" i="0">
                <a:solidFill>
                  <a:srgbClr val="1F497D"/>
                </a:solidFill>
                <a:latin typeface="Times New Roman"/>
              </a:rPr>
              <a:t>[5]  </a:t>
            </a:r>
            <a:r>
              <a:rPr sz="1400" b="0" i="0">
                <a:solidFill>
                  <a:srgbClr val="262626"/>
                </a:solidFill>
                <a:latin typeface="Times New Roman"/>
              </a:rPr>
              <a:t>Y. Yu et al., “Agentic Memory: Learning Unified Long-Term and Short-Term Memory Management for Large Language Model Agents,” in Proc. 64th Annu. Meeting Assoc. Comput. Linguistics (ACL), 2026.</a:t>
            </a:r>
          </a:p>
          <a:p>
            <a:pPr algn="l" marL="411480" indent="-411480">
              <a:spcAft>
                <a:spcPts val="1000"/>
              </a:spcAft>
              <a:buNone/>
            </a:pPr>
            <a:r>
              <a:rPr sz="1400" b="1" i="0">
                <a:solidFill>
                  <a:srgbClr val="1F497D"/>
                </a:solidFill>
                <a:latin typeface="Times New Roman"/>
              </a:rPr>
              <a:t>[6]  </a:t>
            </a:r>
            <a:r>
              <a:rPr sz="1400" b="0" i="0">
                <a:solidFill>
                  <a:srgbClr val="262626"/>
                </a:solidFill>
                <a:latin typeface="Times New Roman"/>
              </a:rPr>
              <a:t>“Model Context Protocol (MCP) and Agent-to-Agent (A2A) Protocol for Scalable Agentic AI Systems,” in Proc. IEEE ICICDS, 2026. [Online]. Available: https://ieeexplore.ieee.org/document/11604962/</a:t>
            </a:r>
          </a:p>
        </p:txBody>
      </p:sp>
      <p:sp>
        <p:nvSpPr>
          <p:cNvPr id="6" name="Slide Number Placeholder 5"/>
          <p:cNvSpPr>
            <a:spLocks noGrp="1"/>
          </p:cNvSpPr>
          <p:nvPr>
            <p:ph type="sldNum" sz="quarter" idx="12"/>
          </p:nvPr>
        </p:nvSpPr>
        <p:spPr/>
        <p:txBody>
          <a:bodyPr/>
          <a:lstStyle/>
          <a:p>
            <a:fld id="{1EC248AB-E565-412B-9D95-9B07D6A4F3F3}" type="slidenum">
              <a:rPr lang="en-GB" smtClean="0"/>
              <a:pPr/>
              <a:t>15</a:t>
            </a:fld>
            <a:endParaRPr lang="en-GB"/>
          </a:p>
        </p:txBody>
      </p:sp>
      <p:pic>
        <p:nvPicPr>
          <p:cNvPr id="8" name="Picture 7"/>
          <p:cNvPicPr>
            <a:picLocks noChangeAspect="1"/>
          </p:cNvPicPr>
          <p:nvPr/>
        </p:nvPicPr>
        <p:blipFill>
          <a:blip r:embed="rId2" cstate="print">
            <a:clrChange>
              <a:clrFrom>
                <a:srgbClr val="FDFCFA"/>
              </a:clrFrom>
              <a:clrTo>
                <a:srgbClr val="FDFCFA">
                  <a:alpha val="0"/>
                </a:srgbClr>
              </a:clrTo>
            </a:clrChange>
            <a:extLst>
              <a:ext uri="{28A0092B-C50C-407E-A947-70E740481C1C}">
                <a14:useLocalDpi xmlns:a14="http://schemas.microsoft.com/office/drawing/2010/main" val="0"/>
              </a:ext>
            </a:extLst>
          </a:blip>
          <a:stretch>
            <a:fillRect/>
          </a:stretch>
        </p:blipFill>
        <p:spPr>
          <a:xfrm>
            <a:off x="-1" y="19188"/>
            <a:ext cx="1312443" cy="1086343"/>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0" y="-24"/>
            <a:ext cx="9144000" cy="1143000"/>
          </a:xfrm>
        </p:spPr>
        <p:style>
          <a:lnRef idx="1">
            <a:schemeClr val="accent1"/>
          </a:lnRef>
          <a:fillRef idx="2">
            <a:schemeClr val="accent1"/>
          </a:fillRef>
          <a:effectRef idx="1">
            <a:schemeClr val="accent1"/>
          </a:effectRef>
          <a:fontRef idx="minor">
            <a:schemeClr val="dk1"/>
          </a:fontRef>
        </p:style>
        <p:txBody>
          <a:bodyPr>
            <a:normAutofit/>
          </a:bodyPr>
          <a:lstStyle/>
          <a:p>
            <a:r>
              <a:rPr lang="en-US" dirty="0"/>
              <a:t>References </a:t>
            </a:r>
          </a:p>
        </p:txBody>
      </p:sp>
      <p:sp>
        <p:nvSpPr>
          <p:cNvPr id="5" name="Title 7"/>
          <p:cNvSpPr>
            <a:spLocks noGrp="1"/>
          </p:cNvSpPr>
          <p:nvPr>
            <p:ph idx="1"/>
          </p:nvPr>
        </p:nvSpPr>
        <p:spPr>
          <a:xfrm>
            <a:off x="320040" y="1280160"/>
            <a:ext cx="8503920" cy="4983480"/>
          </a:xfrm>
        </p:spPr>
        <p:txBody>
          <a:bodyPr vert="horz" lIns="91440" tIns="45720" rIns="91440" bIns="45720" rtlCol="0">
            <a:noAutofit/>
          </a:bodyPr>
          <a:lstStyle/>
          <a:p>
            <a:pPr algn="l" marL="411480" indent="-411480">
              <a:spcAft>
                <a:spcPts val="1000"/>
              </a:spcAft>
              <a:buNone/>
            </a:pPr>
            <a:r>
              <a:rPr sz="1400" b="1" i="0">
                <a:solidFill>
                  <a:srgbClr val="1F497D"/>
                </a:solidFill>
                <a:latin typeface="Times New Roman"/>
              </a:rPr>
              <a:t>[7]  </a:t>
            </a:r>
            <a:r>
              <a:rPr sz="1400" b="0" i="0">
                <a:solidFill>
                  <a:srgbClr val="262626"/>
                </a:solidFill>
                <a:latin typeface="Times New Roman"/>
              </a:rPr>
              <a:t>“LLM-Based Intelligent Agents for Cybersecurity: A Tutorial and Survey of Automated Vulnerability Discovery,” IEEE Access, 2026. [Online]. Available: https://ieeexplore.ieee.org/document/11580353/</a:t>
            </a:r>
          </a:p>
          <a:p>
            <a:pPr algn="l" marL="411480" indent="-411480">
              <a:spcAft>
                <a:spcPts val="1000"/>
              </a:spcAft>
              <a:buNone/>
            </a:pPr>
            <a:r>
              <a:rPr sz="1400" b="1" i="0">
                <a:solidFill>
                  <a:srgbClr val="1F497D"/>
                </a:solidFill>
                <a:latin typeface="Times New Roman"/>
              </a:rPr>
              <a:t>[8]  </a:t>
            </a:r>
            <a:r>
              <a:rPr sz="1400" b="0" i="0">
                <a:solidFill>
                  <a:srgbClr val="262626"/>
                </a:solidFill>
                <a:latin typeface="Times New Roman"/>
              </a:rPr>
              <a:t>“A Survey of Fuzzing Techniques for Large Language Model Agents: Challenges, Methods, and Future Directions,” in Proc. IEEE BDAI, 2026. [Online]. Available: https://ieeexplore.ieee.org/document/11655176/</a:t>
            </a:r>
          </a:p>
          <a:p>
            <a:pPr algn="l" marL="411480" indent="-411480">
              <a:spcAft>
                <a:spcPts val="1000"/>
              </a:spcAft>
              <a:buNone/>
            </a:pPr>
            <a:r>
              <a:rPr sz="1400" b="1" i="0">
                <a:solidFill>
                  <a:srgbClr val="1F497D"/>
                </a:solidFill>
                <a:latin typeface="Times New Roman"/>
              </a:rPr>
              <a:t>[9]  </a:t>
            </a:r>
            <a:r>
              <a:rPr sz="1400" b="0" i="0">
                <a:solidFill>
                  <a:srgbClr val="262626"/>
                </a:solidFill>
                <a:latin typeface="Times New Roman"/>
              </a:rPr>
              <a:t>“GLaMP: A Grounded Language Model-Based Multiagent System for Long-Horizon Robotic Task Planning in Industrial Settings,” IEEE Trans. Ind. Electron., 2026. [Online]. Available: https://ieeexplore.ieee.org/document/11641677/</a:t>
            </a:r>
          </a:p>
          <a:p>
            <a:pPr algn="l" marL="411480" indent="-411480">
              <a:spcAft>
                <a:spcPts val="1000"/>
              </a:spcAft>
              <a:buNone/>
            </a:pPr>
            <a:r>
              <a:rPr sz="1400" b="1" i="0">
                <a:solidFill>
                  <a:srgbClr val="1F497D"/>
                </a:solidFill>
                <a:latin typeface="Times New Roman"/>
              </a:rPr>
              <a:t>[10]  </a:t>
            </a:r>
            <a:r>
              <a:rPr sz="1400" b="0" i="0">
                <a:solidFill>
                  <a:srgbClr val="262626"/>
                </a:solidFill>
                <a:latin typeface="Times New Roman"/>
              </a:rPr>
              <a:t>“Beyond Single-Framework Architectures: A Systematic Evaluation and Hybrid Design for Scalable Multi-Agent Coordination,” IEEE Access, 2026. [Online]. Available: https://ieeexplore.ieee.org/document/11481053/</a:t>
            </a:r>
          </a:p>
          <a:p>
            <a:pPr algn="l" marL="411480" indent="-411480">
              <a:spcAft>
                <a:spcPts val="1000"/>
              </a:spcAft>
              <a:buNone/>
            </a:pPr>
            <a:r>
              <a:rPr sz="1400" b="1" i="0">
                <a:solidFill>
                  <a:srgbClr val="1F497D"/>
                </a:solidFill>
                <a:latin typeface="Times New Roman"/>
              </a:rPr>
              <a:t>[11]  </a:t>
            </a:r>
            <a:r>
              <a:rPr sz="1400" b="0" i="0">
                <a:solidFill>
                  <a:srgbClr val="262626"/>
                </a:solidFill>
                <a:latin typeface="Times New Roman"/>
              </a:rPr>
              <a:t>Anthropic, “How we built our multi-agent research system,” Anthropic Engineering Blog, Jun. 2025. [Online]. Available: https://www.anthropic.com/engineering/multi-agent-research-system</a:t>
            </a:r>
          </a:p>
          <a:p>
            <a:pPr algn="l" marL="411480" indent="-411480">
              <a:spcAft>
                <a:spcPts val="1000"/>
              </a:spcAft>
              <a:buNone/>
            </a:pPr>
            <a:r>
              <a:rPr sz="1400" b="1" i="0">
                <a:solidFill>
                  <a:srgbClr val="1F497D"/>
                </a:solidFill>
                <a:latin typeface="Times New Roman"/>
              </a:rPr>
              <a:t>[12]  </a:t>
            </a:r>
            <a:r>
              <a:rPr sz="1400" b="0" i="0">
                <a:solidFill>
                  <a:srgbClr val="262626"/>
                </a:solidFill>
                <a:latin typeface="Times New Roman"/>
              </a:rPr>
              <a:t>S. Yao et al., “ReAct: Synergizing Reasoning and Acting in Language Models,” in Proc. Int. Conf. Learning Representations (ICLR), 2023, arXiv:2210.03629.</a:t>
            </a:r>
          </a:p>
        </p:txBody>
      </p:sp>
      <p:sp>
        <p:nvSpPr>
          <p:cNvPr id="6" name="Slide Number Placeholder 5"/>
          <p:cNvSpPr>
            <a:spLocks noGrp="1"/>
          </p:cNvSpPr>
          <p:nvPr>
            <p:ph type="sldNum" sz="quarter" idx="12"/>
          </p:nvPr>
        </p:nvSpPr>
        <p:spPr/>
        <p:txBody>
          <a:bodyPr/>
          <a:lstStyle/>
          <a:p>
            <a:fld id="{1EC248AB-E565-412B-9D95-9B07D6A4F3F3}" type="slidenum">
              <a:rPr lang="en-GB" smtClean="0"/>
              <a:pPr/>
              <a:t>15</a:t>
            </a:fld>
            <a:endParaRPr lang="en-GB"/>
          </a:p>
        </p:txBody>
      </p:sp>
      <p:pic>
        <p:nvPicPr>
          <p:cNvPr id="8" name="Picture 7"/>
          <p:cNvPicPr>
            <a:picLocks noChangeAspect="1"/>
          </p:cNvPicPr>
          <p:nvPr/>
        </p:nvPicPr>
        <p:blipFill>
          <a:blip r:embed="rId2" cstate="print">
            <a:clrChange>
              <a:clrFrom>
                <a:srgbClr val="FDFCFA"/>
              </a:clrFrom>
              <a:clrTo>
                <a:srgbClr val="FDFCFA">
                  <a:alpha val="0"/>
                </a:srgbClr>
              </a:clrTo>
            </a:clrChange>
            <a:extLst>
              <a:ext uri="{28A0092B-C50C-407E-A947-70E740481C1C}">
                <a14:useLocalDpi xmlns:a14="http://schemas.microsoft.com/office/drawing/2010/main" val="0"/>
              </a:ext>
            </a:extLst>
          </a:blip>
          <a:stretch>
            <a:fillRect/>
          </a:stretch>
        </p:blipFill>
        <p:spPr>
          <a:xfrm>
            <a:off x="-1" y="19188"/>
            <a:ext cx="1312443" cy="1086343"/>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l="11745" r="3185"/>
          <a:stretch/>
        </p:blipFill>
        <p:spPr>
          <a:xfrm>
            <a:off x="1167826" y="54591"/>
            <a:ext cx="6984776" cy="1196752"/>
          </a:xfrm>
          <a:prstGeom prst="rect">
            <a:avLst/>
          </a:prstGeom>
        </p:spPr>
      </p:pic>
      <p:pic>
        <p:nvPicPr>
          <p:cNvPr id="8" name="Picture 7"/>
          <p:cNvPicPr>
            <a:picLocks noChangeAspect="1"/>
          </p:cNvPicPr>
          <p:nvPr/>
        </p:nvPicPr>
        <p:blipFill>
          <a:blip r:embed="rId3" cstate="print">
            <a:clrChange>
              <a:clrFrom>
                <a:srgbClr val="FDFCFA"/>
              </a:clrFrom>
              <a:clrTo>
                <a:srgbClr val="FDFCFA">
                  <a:alpha val="0"/>
                </a:srgbClr>
              </a:clrTo>
            </a:clrChange>
            <a:extLst>
              <a:ext uri="{28A0092B-C50C-407E-A947-70E740481C1C}">
                <a14:useLocalDpi xmlns:a14="http://schemas.microsoft.com/office/drawing/2010/main" val="0"/>
              </a:ext>
            </a:extLst>
          </a:blip>
          <a:stretch>
            <a:fillRect/>
          </a:stretch>
        </p:blipFill>
        <p:spPr>
          <a:xfrm>
            <a:off x="226388" y="218109"/>
            <a:ext cx="918823" cy="760533"/>
          </a:xfrm>
          <a:prstGeom prst="rect">
            <a:avLst/>
          </a:prstGeom>
        </p:spPr>
      </p:pic>
      <p:sp>
        <p:nvSpPr>
          <p:cNvPr id="9" name="TextBox 8"/>
          <p:cNvSpPr txBox="1"/>
          <p:nvPr/>
        </p:nvSpPr>
        <p:spPr>
          <a:xfrm>
            <a:off x="685800" y="2286000"/>
            <a:ext cx="7772400" cy="1005840"/>
          </a:xfrm>
          <a:prstGeom prst="rect">
            <a:avLst/>
          </a:prstGeom>
          <a:noFill/>
        </p:spPr>
        <p:txBody>
          <a:bodyPr wrap="square" anchor="ctr" lIns="36576" rIns="36576" tIns="36576" bIns="36576"/>
          <a:lstStyle/>
          <a:p>
            <a:pPr algn="ctr">
              <a:spcAft>
                <a:spcPts val="400"/>
              </a:spcAft>
            </a:pPr>
            <a:r>
              <a:rPr sz="4800" b="1" i="0">
                <a:solidFill>
                  <a:srgbClr val="1F497D"/>
                </a:solidFill>
                <a:latin typeface="Times New Roman"/>
              </a:rPr>
              <a:t>Thank You</a:t>
            </a:r>
          </a:p>
        </p:txBody>
      </p:sp>
      <p:sp>
        <p:nvSpPr>
          <p:cNvPr id="10" name="TextBox 9"/>
          <p:cNvSpPr txBox="1"/>
          <p:nvPr/>
        </p:nvSpPr>
        <p:spPr>
          <a:xfrm>
            <a:off x="685800" y="3291840"/>
            <a:ext cx="7772400" cy="548640"/>
          </a:xfrm>
          <a:prstGeom prst="rect">
            <a:avLst/>
          </a:prstGeom>
          <a:noFill/>
        </p:spPr>
        <p:txBody>
          <a:bodyPr wrap="square" anchor="ctr" lIns="36576" rIns="36576" tIns="36576" bIns="36576"/>
          <a:lstStyle/>
          <a:p>
            <a:pPr algn="ctr">
              <a:spcAft>
                <a:spcPts val="400"/>
              </a:spcAft>
            </a:pPr>
            <a:r>
              <a:rPr sz="2400" b="0" i="0">
                <a:solidFill>
                  <a:srgbClr val="262626"/>
                </a:solidFill>
                <a:latin typeface="Times New Roman"/>
              </a:rPr>
              <a:t>Questions &amp; Discussion</a:t>
            </a:r>
          </a:p>
        </p:txBody>
      </p:sp>
      <p:sp>
        <p:nvSpPr>
          <p:cNvPr id="11" name="TextBox 10"/>
          <p:cNvSpPr txBox="1"/>
          <p:nvPr/>
        </p:nvSpPr>
        <p:spPr>
          <a:xfrm>
            <a:off x="685800" y="4572000"/>
            <a:ext cx="7772400" cy="1005840"/>
          </a:xfrm>
          <a:prstGeom prst="rect">
            <a:avLst/>
          </a:prstGeom>
          <a:noFill/>
        </p:spPr>
        <p:txBody>
          <a:bodyPr wrap="square" anchor="t" lIns="36576" rIns="36576" tIns="36576" bIns="36576"/>
          <a:lstStyle/>
          <a:p>
            <a:pPr algn="ctr">
              <a:spcAft>
                <a:spcPts val="200"/>
              </a:spcAft>
            </a:pPr>
            <a:r>
              <a:rPr sz="1600" b="0" i="0">
                <a:solidFill>
                  <a:srgbClr val="595959"/>
                </a:solidFill>
                <a:latin typeface="Times New Roman"/>
              </a:rPr>
              <a:t>Utkarsh Kale  |  Roll No.: B342</a:t>
            </a:r>
          </a:p>
          <a:p>
            <a:pPr algn="ctr">
              <a:spcAft>
                <a:spcPts val="200"/>
              </a:spcAft>
            </a:pPr>
            <a:r>
              <a:rPr sz="1600" b="0" i="0">
                <a:solidFill>
                  <a:srgbClr val="595959"/>
                </a:solidFill>
                <a:latin typeface="Times New Roman"/>
              </a:rPr>
              <a:t>Department of Computer Engineering, BIT, Wardha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Median</Template>
  <TotalTime>17307</TotalTime>
  <Words>822</Words>
  <Application>Microsoft Office PowerPoint</Application>
  <PresentationFormat>On-screen Show (4:3)</PresentationFormat>
  <Paragraphs>87</Paragraphs>
  <Slides>16</Slides>
  <Notes>1</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16</vt:i4>
      </vt:variant>
    </vt:vector>
  </HeadingPairs>
  <TitlesOfParts>
    <vt:vector size="21" baseType="lpstr">
      <vt:lpstr>Arial</vt:lpstr>
      <vt:lpstr>Calibri</vt:lpstr>
      <vt:lpstr>Times New Roman</vt:lpstr>
      <vt:lpstr>Office Theme</vt:lpstr>
      <vt:lpstr>2_Office Theme</vt:lpstr>
      <vt:lpstr>Points to Note</vt:lpstr>
      <vt:lpstr>PowerPoint Presentation</vt:lpstr>
      <vt:lpstr>Title   Delivered By:  Name of Student  Department of Computer Engineering Bajaj Institute of Technology, Wardha.  Under Supervision of:    Name of Faculty Designation of faculty  Computer Engineering Department, BIT, Wardha     </vt:lpstr>
      <vt:lpstr>Index</vt:lpstr>
      <vt:lpstr>PowerPoint Presentation</vt:lpstr>
      <vt:lpstr>Objective </vt:lpstr>
      <vt:lpstr> Literature Review </vt:lpstr>
      <vt:lpstr>PowerPoint Presentation</vt:lpstr>
      <vt:lpstr> Baseline Papers Selected for Seminar Work </vt:lpstr>
      <vt:lpstr>System architecture/Algorithms Studied</vt:lpstr>
      <vt:lpstr>Features/Advantages/Disadvantages </vt:lpstr>
      <vt:lpstr>Applications </vt:lpstr>
      <vt:lpstr>Analysis/Comparison </vt:lpstr>
      <vt:lpstr>Conclusion </vt:lpstr>
      <vt:lpstr>References </vt:lpstr>
      <vt:lpstr>References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Kevin Hickey</dc:creator>
  <cp:lastModifiedBy>Gajanan Tikhe</cp:lastModifiedBy>
  <cp:revision>764</cp:revision>
  <dcterms:created xsi:type="dcterms:W3CDTF">2010-06-24T14:41:07Z</dcterms:created>
  <dcterms:modified xsi:type="dcterms:W3CDTF">2026-09-05T04:49:03Z</dcterms:modified>
</cp:coreProperties>
</file>